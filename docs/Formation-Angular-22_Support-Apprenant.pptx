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17"/>
  </p:handoutMasterIdLst>
  <p:sldIdLst>
    <p:sldId id="256" r:id="rId7"/>
    <p:sldId id="257" r:id="rId9"/>
    <p:sldId id="258" r:id="rId10"/>
    <p:sldId id="259" r:id="rId11"/>
    <p:sldId id="260" r:id="rId12"/>
    <p:sldId id="261" r:id="rId13"/>
    <p:sldId id="262" r:id="rId14"/>
    <p:sldId id="263" r:id="rId15"/>
    <p:sldId id="264" r:id="rId16"/>
    <p:sldId id="265" r:id="rId6"/>
    <p:sldId id="266" r:id="rId5"/>
    <p:sldId id="267" r:id="rId4"/>
    <p:sldId id="268" r:id="rId3"/>
    <p:sldId id="269" r:id="rId2"/>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EF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p:scale>
          <a:sx n="42" d="100"/>
          <a:sy n="42" d="100"/>
        </p:scale>
        <p:origin x="326" y="254"/>
      </p:cViewPr>
      <p:guideLst>
        <p:guide orient="horz" pos="2880"/>
        <p:guide pos="2160"/>
      </p:guideLst>
    </p:cSldViewPr>
  </p:slideViewPr>
  <p:notesTextViewPr>
    <p:cViewPr>
      <p:scale>
        <a:sx n="100" d="100"/>
        <a:sy n="100" d="100"/>
      </p:scale>
      <p:origin x="0" y="0"/>
    </p:cViewPr>
  </p:notesTextViewPr>
  <p:notesViewPr>
    <p:cSldViewPr>
      <p:cViewPr varScale="1">
        <p:scale>
          <a:sx n="100" d="100"/>
          <a:sy n="100" d="100"/>
        </p:scale>
        <p:origin x="440" y="6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4.xml"/><Relationship Id="rId3" Type="http://schemas.openxmlformats.org/officeDocument/2006/relationships/slide" Target="slides/slide13.xml"/><Relationship Id="rId4" Type="http://schemas.openxmlformats.org/officeDocument/2006/relationships/slide" Target="slides/slide12.xml"/><Relationship Id="rId5" Type="http://schemas.openxmlformats.org/officeDocument/2006/relationships/slide" Target="slides/slide11.xml"/><Relationship Id="rId6" Type="http://schemas.openxmlformats.org/officeDocument/2006/relationships/slide" Target="slides/slide10.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F963B08C-B715-40F6-9D80-6E0FF7B681A1}"/>
              </a:ext>
            </a:extLst>
          </p:cNvPr>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F118F154-1AC5-4CDA-9133-9651E0F5B860}"/>
              </a:ext>
            </a:extLst>
          </p:cNvPr>
          <p:cNvSpPr>
            <a:spLocks noGrp="1"/>
          </p:cNvSpPr>
          <p:nvPr>
            <p:ph type="dt" sz="quarter" idx="1"/>
          </p:nvPr>
        </p:nvSpPr>
        <p:spPr>
          <a:xfrm>
            <a:off x="11387138" y="0"/>
            <a:ext cx="8712200" cy="566738"/>
          </a:xfrm>
          <a:prstGeom prst="rect">
            <a:avLst/>
          </a:prstGeom>
        </p:spPr>
        <p:txBody>
          <a:bodyPr vert="horz" lIns="91440" tIns="45720" rIns="91440" bIns="45720" rtlCol="0"/>
          <a:lstStyle>
            <a:lvl1pPr algn="r">
              <a:defRPr sz="1200"/>
            </a:lvl1pPr>
          </a:lstStyle>
          <a:p>
            <a:fld id="{ACC6F1A1-7284-46F2-96DF-67F8D50FB673}" type="datetimeFigureOut">
              <a:rPr lang="fr-FR" smtClean="0"/>
              <a:t>21/11/2025</a:t>
            </a:fld>
            <a:endParaRPr lang="fr-FR"/>
          </a:p>
        </p:txBody>
      </p:sp>
      <p:sp>
        <p:nvSpPr>
          <p:cNvPr id="4" name="Espace réservé du pied de page 3">
            <a:extLst>
              <a:ext uri="{FF2B5EF4-FFF2-40B4-BE49-F238E27FC236}">
                <a16:creationId xmlns:a16="http://schemas.microsoft.com/office/drawing/2014/main" id="{43038504-AA78-4D48-9B9D-72B06ACBBB2B}"/>
              </a:ext>
            </a:extLst>
          </p:cNvPr>
          <p:cNvSpPr>
            <a:spLocks noGrp="1"/>
          </p:cNvSpPr>
          <p:nvPr>
            <p:ph type="ftr" sz="quarter" idx="2"/>
          </p:nvPr>
        </p:nvSpPr>
        <p:spPr>
          <a:xfrm>
            <a:off x="0" y="10742613"/>
            <a:ext cx="8712200" cy="56673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86F187EB-A9EA-4571-AB71-BDFFDC2DFEC6}"/>
              </a:ext>
            </a:extLst>
          </p:cNvPr>
          <p:cNvSpPr>
            <a:spLocks noGrp="1"/>
          </p:cNvSpPr>
          <p:nvPr>
            <p:ph type="sldNum" sz="quarter" idx="3"/>
          </p:nvPr>
        </p:nvSpPr>
        <p:spPr>
          <a:xfrm>
            <a:off x="11387138" y="10742613"/>
            <a:ext cx="8712200" cy="566737"/>
          </a:xfrm>
          <a:prstGeom prst="rect">
            <a:avLst/>
          </a:prstGeom>
        </p:spPr>
        <p:txBody>
          <a:bodyPr vert="horz" lIns="91440" tIns="45720" rIns="91440" bIns="45720" rtlCol="0" anchor="b"/>
          <a:lstStyle>
            <a:lvl1pPr algn="r">
              <a:defRPr sz="1200"/>
            </a:lvl1pPr>
          </a:lstStyle>
          <a:p>
            <a:fld id="{C18F3559-4933-4CC2-89C5-F4CD9ADA6968}" type="slidenum">
              <a:rPr lang="fr-FR" smtClean="0"/>
              <a:t>‹N°›</a:t>
            </a:fld>
            <a:endParaRPr lang="fr-FR"/>
          </a:p>
        </p:txBody>
      </p:sp>
    </p:spTree>
    <p:extLst>
      <p:ext uri="{BB962C8B-B14F-4D97-AF65-F5344CB8AC3E}">
        <p14:creationId xmlns:p14="http://schemas.microsoft.com/office/powerpoint/2010/main" val="42091974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Accueil (5 min). Présenter le fil rouge : une application de rapprochement de factures, construite couche par couche sur 3 jours. Le support est un document de révision : il ne remplace pas les TPs. Annoncer les 3 livrables : liste filtrée J1, parcours CRUD J2, rapprochement testé J3.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Expliquer la logique : 1 slide = 1 idée, avec un message clé, des points essentiels et, si besoin, du code. Les apprenants peuvent suivre en formation puis reprendre les slides seuls. Signaler que le sommaire et les numéros de page sont cliquables.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sommaire est interactif : cliquer sur un chapitre ou son numéro. Les pages seront mises à jour automatiquement en fin de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Raconter le métier avant le code : pourquoi un rapprochement est nécessaire (éviter les doublons, détecter les litiges, justifier les paiements). Le jeu de données fourni contient des écarts de 0,01 € exprès : ils serviront aux tests.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la progression : on ne jette rien d'un jour à l'autre. J1 produit l'écran de liste ; J2 ajoute les routes, le CRUD et Material ; J3 ajoute le métier, les tests et le build. Insister sur le fil rouge unique.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Vérifier les versions en début de session. Node 20 n'est plus supporté par Angular 22 ; TypeScript 6 est requis. Le backend est fourni : ne pas le réécrire. Si le port 3000 est occupé, changer le port dans json-server.json et l'apiUrl.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transformer la formation en revue de release. Ces six points suffisent pour lire le code et éviter les réflexes obsolètes. Signaler que Signal Forms et resource() sont stables, mais que les TPs restent en Reactive Forms pour couvrir l'existant.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réagir : qui a déjà écrit *ngIf ou ajouté OnPush ? Expliquer que le code legacy reste très présent, d'où l'importance de savoir le lire. Mais les nouveaux projets n'ont plus besoin de ces cérémonies.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1. Annoncer le contrat du jour : à 18 h, la liste des 200 factures s'affiche, se filtre et se totalise. Le matin pose les fondations ; l'après-midi ajoute signals, pipes et données.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Rappeler que le TP de synthèse est évalué sur un critère observable : 200 factures, filtres, badges, total TTC. Le planning est indicatif ; les pauses sont importantes.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CLI n'est pas un détail : elle garantit que des dizaines d'écrans se ressemblent. Montrer les trois fichiers clés, puis l'arborescence cible. Ne pas passer trop de temps sur angular.json.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 guidé, 25 min. Les apprenants tapent les commandes ; ne pas distribuer un projet déjà fait. Le commit « init » est important pour comparer plus tard. Si `ng test` échoue, vérifier le builder Vitest.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`imports` : c'est la grande différence avec les NgModule. Un composant qui utilise un pipe ou une directive doit l'importer lui-même. Faire le lien avec l'erreur NG8001.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le code legacy *ngIf/*ngFor pour qu'ils sachent le lire, puis le contrôle de flux. Le `track` n'est pas optionnel : c'est le point qui revient dans tous les entretiens et dans les tests.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schéma est le message : deux sources, un dérivé, deux vues. Faire remarquer qu'aucun abonnement n'est nécessaire. Le piège classique : écrire un signal dans un effect pour recalculer une valeur dérivée.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 2 (20 min) puis TP 3 (25 min). Le point dur est le computed : beaucoup d'apprenants écrivent une méthode getTotal(). Le comparer au computed en loggant les appels.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la différence avec une méthode : le pipe est mémoïsé et réutilisable. Montrer le chaînage date | uppercase. La locale fr est un point de blocage classique : sans registerLocaleData, le format français ne s'applique pas.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le lien avec les attributs HTML : une directive est un attribut qui devient intelligent. Le host binding évite un template. Attention : les classes CSS doivent exister dans le styles global ou du composant.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les URL dans le navigateur avant de coder. `_sort`, `_page`, `_expand` sont les paramètres à retenir. Ne pas expliquer la v1 de json-server : elle n'est pas utilisée ici.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 final du jour (40 min). Le critère de réussite est observable. Si le total est faux, vérifier que `montantTTC` est un number et non une string. Le filtre doit combiner statut + recherche dans un seul computed.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5 minutes, puis corriger oralement. Ne pas projeter les corrigés tout de suite : les apprenants doivent formuler une réponse, même imparfaite.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reformuler chaque point par un apprenant. Les pièges sont volontairement formulés comme des erreurs fréquentes, pas comme des règles abstraites.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2. Le contrat du jour : passer d'un écran à une application multi-écrans, avec un vrai accès HTTP et des formulaires. Rappeler que le backend est déjà prêt.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livrable du jour est un parcours complet liste → détail → création → édition. Le lazy loading doit être visible dans l'onglet Network. Ne pas passer sous silence la migration fetch → HttpClient.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Pourquoi un routeur plutôt qu'un @if géant : URL partageable, bouton retour, guards, chargement différé. Montrer dans Network que le chunk factures n'est pas dans le bundle initial.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point clé est `withComponentInputBinding()` : l'id de l'URL arrive directement dans un input. Les apprenants confondent souvent `ActivatedRoute` et input binding ; montrer les deux, recommander le second.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 25 min. Le piège classique : placer `{ path: '**' }` avant les routes lazy. Vérifier aussi que `routerLinkActive` ne reste pas actif sur toutes les routes.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CLI 22 génère `@Service()`. `@Injectable({providedIn:'root'})` reste valide pour les cas particuliers (`--injectable`). Expliquer la différence entre service root et service de composant.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crucial : un Observable HttpClient ne fait rien tant qu'on ne s'abonne pas. C'est la cause n°1 des « ça ne charge pas ». Montrer switchMap et la différence avec mergeMap.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vivre le problème : sans switchMap, une réponse lente peut écraser une réponse récente. Avec mergeMap, l'ordre n'est pas garanti. Le debounce évite une requête par frappe.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 35 min. Le service doit exposer des Observables ou des signals, pas les deux au hasard. Insister sur `toSignal` et sur le message d'erreur quand l'API est arrêtée.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Différence clé avec le template-driven : la validation est testable en TypeScript. Montrer `NonNullableFormBuilder` pour éviter les null. Le TTC est désactivé mais mis à jour.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empiler les validators dans le template : tout est dans le modèle. Le validateur de groupe sert aux règles croisées (échéance ≥ émission). L'async teste l'unicité du numéro.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 45 min. Le formulaire sert à la création et à l'édition : un seul composant, deux modes. Le TTC est recalculé via valueChanges et arrondi à 2 décimales. L'édition passe par patchValue.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composant présentationnel ne connaît ni l'API ni le routeur : il reçoit des inputs et émet des outputs. C'est ce qui le rend réutilisable et testable. `model()` évite input + output pour un two-way.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 n'est pas obligatoire, mais il règle l'accessibilité et la cohérence. Le coût est réel : poids et courbe d'apprentissage. Le TP5 est un parcours complet, pas une démo de composants.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insistant sur les conséquences concrètes : requête qui ne part pas, réponses dans le désordre, API du composant. Ces trois questions reviennent souvent en entretien.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le lien avec le jour 3 : les interceptors et les guards vont réutiliser cette architecture. Les pièges sont ceux qui coûtent le plus de temps en TP.</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3. Le contrat du jour : l'application ne se contente plus d'afficher, elle décide. On ajoute le scoring, la validation, les tests, la sécurité et le build. C'est le jour le plus dense : surveiller le temps.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Annoncer le rythme : matin métier, début d'après-midi transverse, puis tests/E2E, sécurité et build. Le TP de rapprochement est le cœur ; le reste fiabilise.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store n'est pas une bibliothèque : c'est un service avec des signals. Distinguer état (factures, paiements, sélection, tolérance) et dérivés (candidats, écart, totaux). Le computed ne recalcule que si une dépendance change.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poids sont un choix métier, pas une vérité. Faire réagir : pourquoi +50 pour le montant ? Pourquoi -1 par jour ? Le jeu de données contient des écarts de 0,01 € pour tester la tolérance.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transactionnel : json-server ne fournit pas de transaction. Les deux PATCH peuvent échouer séparément. En production, on utiliserait un endpoint métier unique ou une saga. En TP, on reste simple mais on explicite le risque.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 90 min, le plus gros du jour. Découper : service paiement, store, scoring, composant, validation, dashboard. Les apprenants peuvent avancer en autonomie ; circuler pour le forkJoin et le formulaire de tolérance.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interceptor n'est pas un fourre-tout : une préoccupation par interceptor. L'ordre d'exécution compte. Le guard CanDeactivate protège contre une sortie de formulaire non enregistré.</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apprenants connaissent souvent Jasmine. Insister sur les points communs (describe/it/expect) et sur les différences (vi, fake timers, pas de done). Vérifier le builder dans angular.json.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Commencer par la fonction score : pas de TestBed, cas limites faciles à énumérer. Puis le pipe avec le temps figé. C'est là que le rapport temps passé / valeur est le meilleur.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test HTTP vérifie l'URL, la méthode et les params, puis flush. Le test de composant vérifie ce que l'utilisateur voit. Éviter de tester les détails d'implémentation.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 45 min. Commencer par score et les pipes, puis le service HTTP, puis un composant. Les tests de composants sont plus lents : en garder 2 ou 3, pas 20.</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opposer les deux outils : les deux font le travail. Playwright est plus rapide et multi-navigateurs ; Cypress a un runner très pédagogique. Le TP est une démonstration guidée, pas un cours exhaustif.</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sujets souvent relégués : la sécurité n'est pas que côté serveur, et la performance ne se devine pas. En v22, OnPush est déjà le défaut : le levier restant est la mesure.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Compodoc n'est pas obligatoire mais rend la doc vivante. `ng update --dry-run` est une simulation à montrer. Le build de production doit être servi par un serveur statique, pas par ng serve.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 30 min. L'atelier IA est un exercice de relecture critique, pas de génération aveugle. Demander aux apprenants de lister ce qu'ils ont corrigé dans la production de l'IA.</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démontrer chaque apprenant (5 min). La grille d'auto-évaluation est individuelle ; les pistes servent à choisir la suite. Ne pas terminer sur une note, mais sur un prochain pas concret.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questions portent sur le métier et la stratégie de test, pas sur la syntaxe. Corriger en discutant les compromis.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Relier chaque point aux slides précédentes. Les pièges sont des erreurs de conception, pas de syntaxe : c'est le niveau attendu en fin de formation.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Fiche à imprimer. Les alias `ng g`, `ng s`, `ng t` sont des raccourcis officiels. Faire répéter les commandes de génération : elles reviennent tous les jours.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Fiche à imprimer. Ne pas apprendre par cœur : savoir retrouver. Les extraits sont volontairement minimaux et copiables.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Fiche à projeter en cas de blocage. Faire lever la main quand un apprenant rencontre l'une de ces erreurs : quelqu'un d'autre a souvent la réponse.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Corrigés à projeter après le quiz. Faire reformuler par les apprenants ; les réponses ne sont pas uniques, surtout sur la question 3 du jour 2.</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projeter une liste de liens sans contexte : choisir deux ou trois ressources et expliquer quand les consulter. La doc officielle reste la référence.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Clôturer sur le prochain pas, pas sur un « c'est fini ». Rappeler que le support et les corrigés restent accessibles. Remercier et donner le canal de contact AELION.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7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Espace réservé du texte 18">
            <a:extLst>
              <a:ext uri="{FF2B5EF4-FFF2-40B4-BE49-F238E27FC236}">
                <a16:creationId xmlns:a16="http://schemas.microsoft.com/office/drawing/2014/main" id="{5E7576F2-96D7-4879-C595-31AEF196E4F7}"/>
              </a:ext>
            </a:extLst>
          </p:cNvPr>
          <p:cNvSpPr>
            <a:spLocks noGrp="1"/>
          </p:cNvSpPr>
          <p:nvPr>
            <p:ph type="body" sz="quarter" idx="10" hasCustomPrompt="1"/>
          </p:nvPr>
        </p:nvSpPr>
        <p:spPr>
          <a:xfrm>
            <a:off x="1639962" y="4862587"/>
            <a:ext cx="6172200" cy="615553"/>
          </a:xfrm>
          <a:prstGeom prst="rect">
            <a:avLst/>
          </a:prstGeom>
        </p:spPr>
        <p:txBody>
          <a:bodyPr/>
          <a:lstStyle>
            <a:lvl1pPr algn="l">
              <a:defRPr sz="4000" b="0">
                <a:solidFill>
                  <a:schemeClr val="bg1"/>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dirty="0"/>
              <a:t>Nom du formateur</a:t>
            </a:r>
          </a:p>
        </p:txBody>
      </p:sp>
      <p:sp>
        <p:nvSpPr>
          <p:cNvPr id="3" name="Espace réservé du texte 20">
            <a:extLst>
              <a:ext uri="{FF2B5EF4-FFF2-40B4-BE49-F238E27FC236}">
                <a16:creationId xmlns:a16="http://schemas.microsoft.com/office/drawing/2014/main" id="{C84FB502-4701-30C4-540E-C8A8154B5FBC}"/>
              </a:ext>
            </a:extLst>
          </p:cNvPr>
          <p:cNvSpPr>
            <a:spLocks noGrp="1"/>
          </p:cNvSpPr>
          <p:nvPr>
            <p:ph type="body" sz="quarter" idx="11" hasCustomPrompt="1"/>
          </p:nvPr>
        </p:nvSpPr>
        <p:spPr>
          <a:xfrm>
            <a:off x="1639962" y="7507138"/>
            <a:ext cx="7620000" cy="615553"/>
          </a:xfrm>
          <a:prstGeom prst="rect">
            <a:avLst/>
          </a:prstGeom>
        </p:spPr>
        <p:txBody>
          <a:bodyPr/>
          <a:lstStyle>
            <a:lvl1pPr algn="l">
              <a:defRPr sz="4800" b="1">
                <a:solidFill>
                  <a:schemeClr val="bg1"/>
                </a:solidFill>
                <a:latin typeface="+mj-lt"/>
              </a:defRPr>
            </a:lvl1pPr>
          </a:lstStyle>
          <a:p>
            <a:pPr lvl="0"/>
            <a:r>
              <a:rPr lang="fr-FR" dirty="0"/>
              <a:t>Intitulé de la formation</a:t>
            </a:r>
          </a:p>
        </p:txBody>
      </p:sp>
      <p:sp>
        <p:nvSpPr>
          <p:cNvPr id="9" name="Espace réservé du texte 20">
            <a:extLst>
              <a:ext uri="{FF2B5EF4-FFF2-40B4-BE49-F238E27FC236}">
                <a16:creationId xmlns:a16="http://schemas.microsoft.com/office/drawing/2014/main" id="{1B8F86BD-B5C7-B927-A9D3-2B75CFF0D7F7}"/>
              </a:ext>
            </a:extLst>
          </p:cNvPr>
          <p:cNvSpPr>
            <a:spLocks noGrp="1"/>
          </p:cNvSpPr>
          <p:nvPr>
            <p:ph type="body" sz="quarter" idx="12" hasCustomPrompt="1"/>
          </p:nvPr>
        </p:nvSpPr>
        <p:spPr>
          <a:xfrm>
            <a:off x="1639962" y="6891585"/>
            <a:ext cx="7620000" cy="615553"/>
          </a:xfrm>
          <a:prstGeom prst="rect">
            <a:avLst/>
          </a:prstGeom>
        </p:spPr>
        <p:txBody>
          <a:bodyPr/>
          <a:lstStyle>
            <a:lvl1pPr algn="l">
              <a:defRPr sz="3200" b="1">
                <a:solidFill>
                  <a:schemeClr val="bg2"/>
                </a:solidFill>
                <a:latin typeface="+mj-lt"/>
              </a:defRPr>
            </a:lvl1pPr>
          </a:lstStyle>
          <a:p>
            <a:pPr lvl="0"/>
            <a:r>
              <a:rPr lang="fr-FR" dirty="0"/>
              <a:t>Thématique de la formation</a:t>
            </a:r>
          </a:p>
        </p:txBody>
      </p:sp>
    </p:spTree>
    <p:extLst>
      <p:ext uri="{BB962C8B-B14F-4D97-AF65-F5344CB8AC3E}">
        <p14:creationId xmlns:p14="http://schemas.microsoft.com/office/powerpoint/2010/main" val="607079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9_Disposition personnalisée">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sp>
        <p:nvSpPr>
          <p:cNvPr id="2" name="Espace réservé du texte 12">
            <a:extLst>
              <a:ext uri="{FF2B5EF4-FFF2-40B4-BE49-F238E27FC236}">
                <a16:creationId xmlns:a16="http://schemas.microsoft.com/office/drawing/2014/main" id="{2E351256-75CD-2ED8-4BB9-764EC4F953FD}"/>
              </a:ext>
            </a:extLst>
          </p:cNvPr>
          <p:cNvSpPr>
            <a:spLocks noGrp="1"/>
          </p:cNvSpPr>
          <p:nvPr>
            <p:ph type="body" sz="quarter" idx="10" hasCustomPrompt="1"/>
          </p:nvPr>
        </p:nvSpPr>
        <p:spPr>
          <a:xfrm>
            <a:off x="8179842" y="1622227"/>
            <a:ext cx="9067800" cy="2078360"/>
          </a:xfrm>
          <a:prstGeom prst="rect">
            <a:avLst/>
          </a:prstGeom>
        </p:spPr>
        <p:txBody>
          <a:bodyPr>
            <a:normAutofit/>
          </a:bodyPr>
          <a:lstStyle>
            <a:lvl1pPr>
              <a:defRPr sz="14000" b="1">
                <a:solidFill>
                  <a:schemeClr val="bg1"/>
                </a:solidFill>
                <a:latin typeface="+mj-lt"/>
              </a:defRPr>
            </a:lvl1pPr>
          </a:lstStyle>
          <a:p>
            <a:pPr lvl="0"/>
            <a:r>
              <a:rPr lang="fr-FR" dirty="0"/>
              <a:t>Sommaire</a:t>
            </a:r>
          </a:p>
        </p:txBody>
      </p:sp>
      <p:sp>
        <p:nvSpPr>
          <p:cNvPr id="3" name="Espace réservé du texte 21">
            <a:extLst>
              <a:ext uri="{FF2B5EF4-FFF2-40B4-BE49-F238E27FC236}">
                <a16:creationId xmlns:a16="http://schemas.microsoft.com/office/drawing/2014/main" id="{E4210765-D18A-93AA-5401-6FE46CD1B5A4}"/>
              </a:ext>
            </a:extLst>
          </p:cNvPr>
          <p:cNvSpPr>
            <a:spLocks noGrp="1"/>
          </p:cNvSpPr>
          <p:nvPr>
            <p:ph type="body" sz="quarter" idx="11" hasCustomPrompt="1"/>
          </p:nvPr>
        </p:nvSpPr>
        <p:spPr>
          <a:xfrm>
            <a:off x="9495111" y="7529002"/>
            <a:ext cx="8382000" cy="471936"/>
          </a:xfrm>
          <a:prstGeom prst="rect">
            <a:avLst/>
          </a:prstGeom>
        </p:spPr>
        <p:txBody>
          <a:bodyPr/>
          <a:lstStyle>
            <a:lvl1pPr>
              <a:defRPr sz="2600">
                <a:solidFill>
                  <a:schemeClr val="bg2"/>
                </a:solidFill>
                <a:latin typeface="+mj-lt"/>
              </a:defRPr>
            </a:lvl1pPr>
          </a:lstStyle>
          <a:p>
            <a:pPr lvl="0"/>
            <a:r>
              <a:rPr lang="fr-FR" dirty="0"/>
              <a:t>Titre du chapitre</a:t>
            </a:r>
          </a:p>
        </p:txBody>
      </p:sp>
      <p:sp>
        <p:nvSpPr>
          <p:cNvPr id="4" name="Espace réservé du texte 21">
            <a:extLst>
              <a:ext uri="{FF2B5EF4-FFF2-40B4-BE49-F238E27FC236}">
                <a16:creationId xmlns:a16="http://schemas.microsoft.com/office/drawing/2014/main" id="{C21EE629-EB1A-113D-97A8-9978DF1EE8D9}"/>
              </a:ext>
            </a:extLst>
          </p:cNvPr>
          <p:cNvSpPr>
            <a:spLocks noGrp="1"/>
          </p:cNvSpPr>
          <p:nvPr>
            <p:ph type="body" sz="quarter" idx="12" hasCustomPrompt="1"/>
          </p:nvPr>
        </p:nvSpPr>
        <p:spPr>
          <a:xfrm>
            <a:off x="9495111" y="5182739"/>
            <a:ext cx="8382000" cy="471936"/>
          </a:xfrm>
          <a:prstGeom prst="rect">
            <a:avLst/>
          </a:prstGeom>
        </p:spPr>
        <p:txBody>
          <a:bodyPr/>
          <a:lstStyle>
            <a:lvl1pPr>
              <a:defRPr sz="2600">
                <a:solidFill>
                  <a:schemeClr val="bg2"/>
                </a:solidFill>
                <a:latin typeface="+mj-lt"/>
              </a:defRPr>
            </a:lvl1pPr>
          </a:lstStyle>
          <a:p>
            <a:pPr lvl="0"/>
            <a:r>
              <a:rPr lang="fr-FR" dirty="0"/>
              <a:t>Titre du chapitre</a:t>
            </a:r>
          </a:p>
        </p:txBody>
      </p:sp>
      <p:sp>
        <p:nvSpPr>
          <p:cNvPr id="5" name="Espace réservé du texte 21">
            <a:extLst>
              <a:ext uri="{FF2B5EF4-FFF2-40B4-BE49-F238E27FC236}">
                <a16:creationId xmlns:a16="http://schemas.microsoft.com/office/drawing/2014/main" id="{DF353674-E326-FAC4-8E39-A794B8C892D6}"/>
              </a:ext>
            </a:extLst>
          </p:cNvPr>
          <p:cNvSpPr>
            <a:spLocks noGrp="1"/>
          </p:cNvSpPr>
          <p:nvPr>
            <p:ph type="body" sz="quarter" idx="13" hasCustomPrompt="1"/>
          </p:nvPr>
        </p:nvSpPr>
        <p:spPr>
          <a:xfrm>
            <a:off x="9495111" y="5946876"/>
            <a:ext cx="8382000" cy="471936"/>
          </a:xfrm>
          <a:prstGeom prst="rect">
            <a:avLst/>
          </a:prstGeom>
        </p:spPr>
        <p:txBody>
          <a:bodyPr/>
          <a:lstStyle>
            <a:lvl1pPr>
              <a:defRPr sz="2600">
                <a:solidFill>
                  <a:schemeClr val="bg2"/>
                </a:solidFill>
                <a:latin typeface="+mj-lt"/>
              </a:defRPr>
            </a:lvl1pPr>
          </a:lstStyle>
          <a:p>
            <a:pPr lvl="0"/>
            <a:r>
              <a:rPr lang="fr-FR" dirty="0"/>
              <a:t>Titre du chapitre</a:t>
            </a:r>
          </a:p>
        </p:txBody>
      </p:sp>
      <p:sp>
        <p:nvSpPr>
          <p:cNvPr id="6" name="Espace réservé du texte 21">
            <a:extLst>
              <a:ext uri="{FF2B5EF4-FFF2-40B4-BE49-F238E27FC236}">
                <a16:creationId xmlns:a16="http://schemas.microsoft.com/office/drawing/2014/main" id="{6FB8EC16-DCC1-A56A-2FCA-A8161FB9A73A}"/>
              </a:ext>
            </a:extLst>
          </p:cNvPr>
          <p:cNvSpPr>
            <a:spLocks noGrp="1"/>
          </p:cNvSpPr>
          <p:nvPr>
            <p:ph type="body" sz="quarter" idx="14" hasCustomPrompt="1"/>
          </p:nvPr>
        </p:nvSpPr>
        <p:spPr>
          <a:xfrm>
            <a:off x="9475986" y="6737939"/>
            <a:ext cx="8382000" cy="471936"/>
          </a:xfrm>
          <a:prstGeom prst="rect">
            <a:avLst/>
          </a:prstGeom>
        </p:spPr>
        <p:txBody>
          <a:bodyPr/>
          <a:lstStyle>
            <a:lvl1pPr>
              <a:defRPr sz="2600">
                <a:solidFill>
                  <a:schemeClr val="bg2"/>
                </a:solidFill>
                <a:latin typeface="+mj-lt"/>
              </a:defRPr>
            </a:lvl1pPr>
          </a:lstStyle>
          <a:p>
            <a:pPr lvl="0"/>
            <a:r>
              <a:rPr lang="fr-FR" dirty="0"/>
              <a:t>Titre du chapitre</a:t>
            </a:r>
          </a:p>
        </p:txBody>
      </p:sp>
      <p:sp>
        <p:nvSpPr>
          <p:cNvPr id="7" name="Espace réservé du texte 21">
            <a:extLst>
              <a:ext uri="{FF2B5EF4-FFF2-40B4-BE49-F238E27FC236}">
                <a16:creationId xmlns:a16="http://schemas.microsoft.com/office/drawing/2014/main" id="{A1C31546-D63A-76DA-451E-F5E3BC95B39E}"/>
              </a:ext>
            </a:extLst>
          </p:cNvPr>
          <p:cNvSpPr>
            <a:spLocks noGrp="1"/>
          </p:cNvSpPr>
          <p:nvPr>
            <p:ph type="body" sz="quarter" idx="15" hasCustomPrompt="1"/>
          </p:nvPr>
        </p:nvSpPr>
        <p:spPr>
          <a:xfrm>
            <a:off x="9475986" y="4418602"/>
            <a:ext cx="8382000" cy="471936"/>
          </a:xfrm>
          <a:prstGeom prst="rect">
            <a:avLst/>
          </a:prstGeom>
        </p:spPr>
        <p:txBody>
          <a:bodyPr/>
          <a:lstStyle>
            <a:lvl1pPr>
              <a:defRPr sz="2600">
                <a:solidFill>
                  <a:schemeClr val="bg2"/>
                </a:solidFill>
                <a:latin typeface="+mj-lt"/>
              </a:defRPr>
            </a:lvl1pPr>
          </a:lstStyle>
          <a:p>
            <a:pPr lvl="0"/>
            <a:r>
              <a:rPr lang="fr-FR" dirty="0"/>
              <a:t>Titre du chapitre</a:t>
            </a:r>
          </a:p>
        </p:txBody>
      </p:sp>
      <p:sp>
        <p:nvSpPr>
          <p:cNvPr id="8" name="Espace réservé du texte 21">
            <a:extLst>
              <a:ext uri="{FF2B5EF4-FFF2-40B4-BE49-F238E27FC236}">
                <a16:creationId xmlns:a16="http://schemas.microsoft.com/office/drawing/2014/main" id="{7C8B2001-5977-1C01-BE50-4A3FAA65C3B2}"/>
              </a:ext>
            </a:extLst>
          </p:cNvPr>
          <p:cNvSpPr>
            <a:spLocks noGrp="1"/>
          </p:cNvSpPr>
          <p:nvPr>
            <p:ph type="body" sz="quarter" idx="16" hasCustomPrompt="1"/>
          </p:nvPr>
        </p:nvSpPr>
        <p:spPr>
          <a:xfrm>
            <a:off x="9495111" y="8320065"/>
            <a:ext cx="8382000" cy="471936"/>
          </a:xfrm>
          <a:prstGeom prst="rect">
            <a:avLst/>
          </a:prstGeom>
        </p:spPr>
        <p:txBody>
          <a:bodyPr/>
          <a:lstStyle>
            <a:lvl1pPr>
              <a:defRPr sz="2600">
                <a:solidFill>
                  <a:schemeClr val="bg2"/>
                </a:solidFill>
                <a:latin typeface="+mj-lt"/>
              </a:defRPr>
            </a:lvl1pPr>
          </a:lstStyle>
          <a:p>
            <a:pPr lvl="0"/>
            <a:r>
              <a:rPr lang="fr-FR" dirty="0"/>
              <a:t>Titre du chapitre</a:t>
            </a:r>
          </a:p>
        </p:txBody>
      </p:sp>
    </p:spTree>
    <p:extLst>
      <p:ext uri="{BB962C8B-B14F-4D97-AF65-F5344CB8AC3E}">
        <p14:creationId xmlns:p14="http://schemas.microsoft.com/office/powerpoint/2010/main" val="3055147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et contenu">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5347DE8B-CF68-40E8-B8D8-090B18DC49C2}"/>
              </a:ext>
            </a:extLst>
          </p:cNvPr>
          <p:cNvSpPr txBox="1"/>
          <p:nvPr userDrawn="1"/>
        </p:nvSpPr>
        <p:spPr>
          <a:xfrm>
            <a:off x="1828800" y="2103120"/>
            <a:ext cx="7315200" cy="6766560"/>
          </a:xfrm>
          <a:prstGeom prst="rect">
            <a:avLst/>
          </a:prstGeom>
          <a:noFill/>
        </p:spPr>
        <p:txBody>
          <a:bodyPr wrap="square" rtlCol="0">
            <a:spAutoFit/>
          </a:bodyPr>
          <a:lstStyle/>
          <a:p>
            <a:pPr algn="l"/>
            <a:r>
              <a:rPr lang="fr-FR" sz="36000" b="1" spc="0" baseline="0" dirty="0">
                <a:solidFill>
                  <a:srgbClr val="ED1548"/>
                </a:solidFill>
                <a:latin typeface="Arial"/>
              </a:rPr>
              <a:t> </a:t>
            </a:r>
            <a:r>
              <a:rPr lang="fr-FR" sz="36000" b="1" spc="0" baseline="0" dirty="0">
                <a:solidFill>
                  <a:srgbClr val="ED1548"/>
                </a:solidFill>
                <a:latin typeface="Arial"/>
              </a:rPr>
              <a:t>01</a:t>
            </a:r>
          </a:p>
        </p:txBody>
      </p:sp>
      <p:pic>
        <p:nvPicPr>
          <p:cNvPr id="10" name="Image 9">
            <a:extLst>
              <a:ext uri="{FF2B5EF4-FFF2-40B4-BE49-F238E27FC236}">
                <a16:creationId xmlns:a16="http://schemas.microsoft.com/office/drawing/2014/main" id="{EDA32E18-A90C-456E-8BC3-30BC34681A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98439" y="8278783"/>
            <a:ext cx="482423" cy="471935"/>
          </a:xfrm>
          <a:prstGeom prst="rect">
            <a:avLst/>
          </a:prstGeom>
        </p:spPr>
      </p:pic>
      <p:sp>
        <p:nvSpPr>
          <p:cNvPr id="13" name="Espace réservé du texte 12">
            <a:extLst>
              <a:ext uri="{FF2B5EF4-FFF2-40B4-BE49-F238E27FC236}">
                <a16:creationId xmlns:a16="http://schemas.microsoft.com/office/drawing/2014/main" id="{66603E52-899B-4BE9-93E0-B72BDAEC294E}"/>
              </a:ext>
            </a:extLst>
          </p:cNvPr>
          <p:cNvSpPr>
            <a:spLocks noGrp="1"/>
          </p:cNvSpPr>
          <p:nvPr>
            <p:ph type="body" sz="quarter" idx="10" hasCustomPrompt="1"/>
          </p:nvPr>
        </p:nvSpPr>
        <p:spPr>
          <a:xfrm>
            <a:off x="9594850" y="3216275"/>
            <a:ext cx="9067800" cy="4876800"/>
          </a:xfrm>
          <a:prstGeom prst="rect">
            <a:avLst/>
          </a:prstGeom>
        </p:spPr>
        <p:txBody>
          <a:bodyPr>
            <a:normAutofit/>
          </a:bodyPr>
          <a:lstStyle>
            <a:lvl1pPr>
              <a:defRPr sz="14000" b="1">
                <a:solidFill>
                  <a:schemeClr val="bg1"/>
                </a:solidFill>
                <a:latin typeface="+mj-lt"/>
              </a:defRPr>
            </a:lvl1pPr>
          </a:lstStyle>
          <a:p>
            <a:pPr lvl="0"/>
            <a:r>
              <a:rPr lang="fr-FR" dirty="0"/>
              <a:t>Titre du chapitre</a:t>
            </a:r>
          </a:p>
        </p:txBody>
      </p:sp>
      <p:sp>
        <p:nvSpPr>
          <p:cNvPr id="22" name="Espace réservé du texte 21">
            <a:extLst>
              <a:ext uri="{FF2B5EF4-FFF2-40B4-BE49-F238E27FC236}">
                <a16:creationId xmlns:a16="http://schemas.microsoft.com/office/drawing/2014/main" id="{B2C1FB38-60A8-4700-B272-5C798855A97C}"/>
              </a:ext>
            </a:extLst>
          </p:cNvPr>
          <p:cNvSpPr>
            <a:spLocks noGrp="1"/>
          </p:cNvSpPr>
          <p:nvPr>
            <p:ph type="body" sz="quarter" idx="11" hasCustomPrompt="1"/>
          </p:nvPr>
        </p:nvSpPr>
        <p:spPr>
          <a:xfrm>
            <a:off x="10280650" y="8245475"/>
            <a:ext cx="8382000" cy="471936"/>
          </a:xfrm>
          <a:prstGeom prst="rect">
            <a:avLst/>
          </a:prstGeom>
        </p:spPr>
        <p:txBody>
          <a:bodyPr/>
          <a:lstStyle>
            <a:lvl1pPr>
              <a:defRPr sz="2600">
                <a:solidFill>
                  <a:schemeClr val="bg2"/>
                </a:solidFill>
                <a:latin typeface="+mj-lt"/>
              </a:defRPr>
            </a:lvl1pPr>
          </a:lstStyle>
          <a:p>
            <a:pPr lvl="0"/>
            <a:r>
              <a:rPr lang="fr-FR" dirty="0"/>
              <a:t>Sous titre du chapitre (détails)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51C0434A-36C1-4E8E-B6B6-0DE86BCE07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98439" y="8278783"/>
            <a:ext cx="482423" cy="471935"/>
          </a:xfrm>
          <a:prstGeom prst="rect">
            <a:avLst/>
          </a:prstGeom>
        </p:spPr>
      </p:pic>
      <p:sp>
        <p:nvSpPr>
          <p:cNvPr id="17" name="Espace réservé du texte 12">
            <a:extLst>
              <a:ext uri="{FF2B5EF4-FFF2-40B4-BE49-F238E27FC236}">
                <a16:creationId xmlns:a16="http://schemas.microsoft.com/office/drawing/2014/main" id="{D9A42879-4001-4FD1-9124-24DA9AC15A06}"/>
              </a:ext>
            </a:extLst>
          </p:cNvPr>
          <p:cNvSpPr>
            <a:spLocks noGrp="1"/>
          </p:cNvSpPr>
          <p:nvPr>
            <p:ph type="body" sz="quarter" idx="10" hasCustomPrompt="1"/>
          </p:nvPr>
        </p:nvSpPr>
        <p:spPr>
          <a:xfrm>
            <a:off x="9594850" y="3216275"/>
            <a:ext cx="9067800" cy="4876800"/>
          </a:xfrm>
          <a:prstGeom prst="rect">
            <a:avLst/>
          </a:prstGeom>
        </p:spPr>
        <p:txBody>
          <a:bodyPr>
            <a:normAutofit/>
          </a:bodyPr>
          <a:lstStyle>
            <a:lvl1pPr>
              <a:defRPr sz="14000" b="1">
                <a:solidFill>
                  <a:schemeClr val="bg1"/>
                </a:solidFill>
                <a:latin typeface="+mj-lt"/>
              </a:defRPr>
            </a:lvl1pPr>
          </a:lstStyle>
          <a:p>
            <a:pPr lvl="0"/>
            <a:r>
              <a:rPr lang="fr-FR" dirty="0"/>
              <a:t>Titre du chapitre</a:t>
            </a:r>
          </a:p>
        </p:txBody>
      </p:sp>
      <p:sp>
        <p:nvSpPr>
          <p:cNvPr id="18" name="Espace réservé du texte 21">
            <a:extLst>
              <a:ext uri="{FF2B5EF4-FFF2-40B4-BE49-F238E27FC236}">
                <a16:creationId xmlns:a16="http://schemas.microsoft.com/office/drawing/2014/main" id="{FC85F864-F8C9-4A5A-AA9B-F6596A0B7087}"/>
              </a:ext>
            </a:extLst>
          </p:cNvPr>
          <p:cNvSpPr>
            <a:spLocks noGrp="1"/>
          </p:cNvSpPr>
          <p:nvPr>
            <p:ph type="body" sz="quarter" idx="11" hasCustomPrompt="1"/>
          </p:nvPr>
        </p:nvSpPr>
        <p:spPr>
          <a:xfrm>
            <a:off x="10280650" y="8245475"/>
            <a:ext cx="8382000" cy="471936"/>
          </a:xfrm>
          <a:prstGeom prst="rect">
            <a:avLst/>
          </a:prstGeom>
        </p:spPr>
        <p:txBody>
          <a:bodyPr/>
          <a:lstStyle>
            <a:lvl1pPr>
              <a:defRPr sz="2600">
                <a:solidFill>
                  <a:schemeClr val="bg2"/>
                </a:solidFill>
                <a:latin typeface="+mj-lt"/>
              </a:defRPr>
            </a:lvl1pPr>
          </a:lstStyle>
          <a:p>
            <a:pPr lvl="0"/>
            <a:r>
              <a:rPr lang="fr-FR" dirty="0"/>
              <a:t>Sous titre du chapitre (détails)</a:t>
            </a:r>
          </a:p>
        </p:txBody>
      </p:sp>
      <p:pic>
        <p:nvPicPr>
          <p:cNvPr id="19" name="Image 18">
            <a:extLst>
              <a:ext uri="{FF2B5EF4-FFF2-40B4-BE49-F238E27FC236}">
                <a16:creationId xmlns:a16="http://schemas.microsoft.com/office/drawing/2014/main" id="{A33CF9A7-D73E-4AE0-B6ED-446BB699BB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41416" y="5654675"/>
            <a:ext cx="2943234" cy="118619"/>
          </a:xfrm>
          <a:prstGeom prst="rect">
            <a:avLst/>
          </a:prstGeom>
        </p:spPr>
      </p:pic>
      <p:sp>
        <p:nvSpPr>
          <p:cNvPr id="20" name="ZoneTexte 19">
            <a:extLst>
              <a:ext uri="{FF2B5EF4-FFF2-40B4-BE49-F238E27FC236}">
                <a16:creationId xmlns:a16="http://schemas.microsoft.com/office/drawing/2014/main" id="{9FBA6651-62DF-4853-AB06-C083145D13E8}"/>
              </a:ext>
            </a:extLst>
          </p:cNvPr>
          <p:cNvSpPr txBox="1"/>
          <p:nvPr userDrawn="1"/>
        </p:nvSpPr>
        <p:spPr>
          <a:xfrm>
            <a:off x="1828800" y="2103120"/>
            <a:ext cx="7315200" cy="6766560"/>
          </a:xfrm>
          <a:prstGeom prst="rect">
            <a:avLst/>
          </a:prstGeom>
          <a:noFill/>
        </p:spPr>
        <p:txBody>
          <a:bodyPr wrap="square" rtlCol="0">
            <a:spAutoFit/>
          </a:bodyPr>
          <a:lstStyle/>
          <a:p>
            <a:pPr algn="l"/>
            <a:r>
              <a:rPr lang="fr-FR" sz="36000" b="1" spc="0" baseline="0" dirty="0">
                <a:solidFill>
                  <a:srgbClr val="ED1548"/>
                </a:solidFill>
                <a:latin typeface="Arial"/>
              </a:rPr>
              <a:t> </a:t>
            </a:r>
            <a:r>
              <a:rPr lang="fr-FR" sz="36000" b="1" spc="0" baseline="0" dirty="0">
                <a:solidFill>
                  <a:srgbClr val="ED1548"/>
                </a:solidFill>
                <a:latin typeface="Arial"/>
              </a:rPr>
              <a:t>02</a:t>
            </a:r>
          </a:p>
        </p:txBody>
      </p:sp>
    </p:spTree>
    <p:extLst>
      <p:ext uri="{BB962C8B-B14F-4D97-AF65-F5344CB8AC3E}">
        <p14:creationId xmlns:p14="http://schemas.microsoft.com/office/powerpoint/2010/main" val="1216163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51C0434A-36C1-4E8E-B6B6-0DE86BCE07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98439" y="8278783"/>
            <a:ext cx="482423" cy="471935"/>
          </a:xfrm>
          <a:prstGeom prst="rect">
            <a:avLst/>
          </a:prstGeom>
        </p:spPr>
      </p:pic>
      <p:sp>
        <p:nvSpPr>
          <p:cNvPr id="17" name="Espace réservé du texte 12">
            <a:extLst>
              <a:ext uri="{FF2B5EF4-FFF2-40B4-BE49-F238E27FC236}">
                <a16:creationId xmlns:a16="http://schemas.microsoft.com/office/drawing/2014/main" id="{D9A42879-4001-4FD1-9124-24DA9AC15A06}"/>
              </a:ext>
            </a:extLst>
          </p:cNvPr>
          <p:cNvSpPr>
            <a:spLocks noGrp="1"/>
          </p:cNvSpPr>
          <p:nvPr>
            <p:ph type="body" sz="quarter" idx="10" hasCustomPrompt="1"/>
          </p:nvPr>
        </p:nvSpPr>
        <p:spPr>
          <a:xfrm>
            <a:off x="9594850" y="3216275"/>
            <a:ext cx="9067800" cy="4876800"/>
          </a:xfrm>
          <a:prstGeom prst="rect">
            <a:avLst/>
          </a:prstGeom>
        </p:spPr>
        <p:txBody>
          <a:bodyPr>
            <a:normAutofit/>
          </a:bodyPr>
          <a:lstStyle>
            <a:lvl1pPr>
              <a:defRPr sz="14000" b="1">
                <a:solidFill>
                  <a:schemeClr val="bg1"/>
                </a:solidFill>
                <a:latin typeface="+mj-lt"/>
              </a:defRPr>
            </a:lvl1pPr>
          </a:lstStyle>
          <a:p>
            <a:pPr lvl="0"/>
            <a:r>
              <a:rPr lang="fr-FR" dirty="0"/>
              <a:t>Titre du chapitre</a:t>
            </a:r>
          </a:p>
        </p:txBody>
      </p:sp>
      <p:sp>
        <p:nvSpPr>
          <p:cNvPr id="18" name="Espace réservé du texte 21">
            <a:extLst>
              <a:ext uri="{FF2B5EF4-FFF2-40B4-BE49-F238E27FC236}">
                <a16:creationId xmlns:a16="http://schemas.microsoft.com/office/drawing/2014/main" id="{FC85F864-F8C9-4A5A-AA9B-F6596A0B7087}"/>
              </a:ext>
            </a:extLst>
          </p:cNvPr>
          <p:cNvSpPr>
            <a:spLocks noGrp="1"/>
          </p:cNvSpPr>
          <p:nvPr>
            <p:ph type="body" sz="quarter" idx="11" hasCustomPrompt="1"/>
          </p:nvPr>
        </p:nvSpPr>
        <p:spPr>
          <a:xfrm>
            <a:off x="10280650" y="8245475"/>
            <a:ext cx="8382000" cy="471936"/>
          </a:xfrm>
          <a:prstGeom prst="rect">
            <a:avLst/>
          </a:prstGeom>
        </p:spPr>
        <p:txBody>
          <a:bodyPr/>
          <a:lstStyle>
            <a:lvl1pPr>
              <a:defRPr sz="2600">
                <a:solidFill>
                  <a:schemeClr val="bg2"/>
                </a:solidFill>
                <a:latin typeface="+mj-lt"/>
              </a:defRPr>
            </a:lvl1pPr>
          </a:lstStyle>
          <a:p>
            <a:pPr lvl="0"/>
            <a:r>
              <a:rPr lang="fr-FR" dirty="0"/>
              <a:t>Sous titre du chapitre (détails)</a:t>
            </a:r>
          </a:p>
        </p:txBody>
      </p:sp>
      <p:pic>
        <p:nvPicPr>
          <p:cNvPr id="19" name="Image 18">
            <a:extLst>
              <a:ext uri="{FF2B5EF4-FFF2-40B4-BE49-F238E27FC236}">
                <a16:creationId xmlns:a16="http://schemas.microsoft.com/office/drawing/2014/main" id="{A33CF9A7-D73E-4AE0-B6ED-446BB699BB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41416" y="5654675"/>
            <a:ext cx="2943234" cy="118619"/>
          </a:xfrm>
          <a:prstGeom prst="rect">
            <a:avLst/>
          </a:prstGeom>
        </p:spPr>
      </p:pic>
      <p:sp>
        <p:nvSpPr>
          <p:cNvPr id="20" name="ZoneTexte 19">
            <a:extLst>
              <a:ext uri="{FF2B5EF4-FFF2-40B4-BE49-F238E27FC236}">
                <a16:creationId xmlns:a16="http://schemas.microsoft.com/office/drawing/2014/main" id="{9FBA6651-62DF-4853-AB06-C083145D13E8}"/>
              </a:ext>
            </a:extLst>
          </p:cNvPr>
          <p:cNvSpPr txBox="1"/>
          <p:nvPr userDrawn="1"/>
        </p:nvSpPr>
        <p:spPr>
          <a:xfrm>
            <a:off x="1828800" y="2103120"/>
            <a:ext cx="7315200" cy="6766560"/>
          </a:xfrm>
          <a:prstGeom prst="rect">
            <a:avLst/>
          </a:prstGeom>
          <a:noFill/>
        </p:spPr>
        <p:txBody>
          <a:bodyPr wrap="square" rtlCol="0">
            <a:spAutoFit/>
          </a:bodyPr>
          <a:lstStyle/>
          <a:p>
            <a:pPr algn="l"/>
            <a:r>
              <a:rPr lang="fr-FR" sz="36000" b="1" spc="0" baseline="0" dirty="0">
                <a:solidFill>
                  <a:srgbClr val="ED1548"/>
                </a:solidFill>
                <a:latin typeface="Arial"/>
              </a:rPr>
              <a:t> </a:t>
            </a:r>
            <a:r>
              <a:rPr lang="fr-FR" sz="36000" b="1" spc="0" baseline="0" dirty="0">
                <a:solidFill>
                  <a:srgbClr val="ED1548"/>
                </a:solidFill>
                <a:latin typeface="Arial"/>
              </a:rPr>
              <a:t>03</a:t>
            </a:r>
          </a:p>
        </p:txBody>
      </p:sp>
    </p:spTree>
    <p:extLst>
      <p:ext uri="{BB962C8B-B14F-4D97-AF65-F5344CB8AC3E}">
        <p14:creationId xmlns:p14="http://schemas.microsoft.com/office/powerpoint/2010/main" val="2005183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51C0434A-36C1-4E8E-B6B6-0DE86BCE07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98439" y="8278783"/>
            <a:ext cx="482423" cy="471935"/>
          </a:xfrm>
          <a:prstGeom prst="rect">
            <a:avLst/>
          </a:prstGeom>
        </p:spPr>
      </p:pic>
      <p:sp>
        <p:nvSpPr>
          <p:cNvPr id="17" name="Espace réservé du texte 12">
            <a:extLst>
              <a:ext uri="{FF2B5EF4-FFF2-40B4-BE49-F238E27FC236}">
                <a16:creationId xmlns:a16="http://schemas.microsoft.com/office/drawing/2014/main" id="{D9A42879-4001-4FD1-9124-24DA9AC15A06}"/>
              </a:ext>
            </a:extLst>
          </p:cNvPr>
          <p:cNvSpPr>
            <a:spLocks noGrp="1"/>
          </p:cNvSpPr>
          <p:nvPr>
            <p:ph type="body" sz="quarter" idx="10" hasCustomPrompt="1"/>
          </p:nvPr>
        </p:nvSpPr>
        <p:spPr>
          <a:xfrm>
            <a:off x="9594850" y="3216275"/>
            <a:ext cx="9067800" cy="4876800"/>
          </a:xfrm>
          <a:prstGeom prst="rect">
            <a:avLst/>
          </a:prstGeom>
        </p:spPr>
        <p:txBody>
          <a:bodyPr>
            <a:normAutofit/>
          </a:bodyPr>
          <a:lstStyle>
            <a:lvl1pPr>
              <a:defRPr sz="14000" b="1">
                <a:solidFill>
                  <a:schemeClr val="bg1"/>
                </a:solidFill>
                <a:latin typeface="+mj-lt"/>
              </a:defRPr>
            </a:lvl1pPr>
          </a:lstStyle>
          <a:p>
            <a:pPr lvl="0"/>
            <a:r>
              <a:rPr lang="fr-FR" dirty="0"/>
              <a:t>Titre du chapitre</a:t>
            </a:r>
          </a:p>
        </p:txBody>
      </p:sp>
      <p:sp>
        <p:nvSpPr>
          <p:cNvPr id="18" name="Espace réservé du texte 21">
            <a:extLst>
              <a:ext uri="{FF2B5EF4-FFF2-40B4-BE49-F238E27FC236}">
                <a16:creationId xmlns:a16="http://schemas.microsoft.com/office/drawing/2014/main" id="{FC85F864-F8C9-4A5A-AA9B-F6596A0B7087}"/>
              </a:ext>
            </a:extLst>
          </p:cNvPr>
          <p:cNvSpPr>
            <a:spLocks noGrp="1"/>
          </p:cNvSpPr>
          <p:nvPr>
            <p:ph type="body" sz="quarter" idx="11" hasCustomPrompt="1"/>
          </p:nvPr>
        </p:nvSpPr>
        <p:spPr>
          <a:xfrm>
            <a:off x="10280650" y="8245475"/>
            <a:ext cx="8382000" cy="471936"/>
          </a:xfrm>
          <a:prstGeom prst="rect">
            <a:avLst/>
          </a:prstGeom>
        </p:spPr>
        <p:txBody>
          <a:bodyPr/>
          <a:lstStyle>
            <a:lvl1pPr>
              <a:defRPr sz="2600">
                <a:solidFill>
                  <a:schemeClr val="bg2"/>
                </a:solidFill>
                <a:latin typeface="+mj-lt"/>
              </a:defRPr>
            </a:lvl1pPr>
          </a:lstStyle>
          <a:p>
            <a:pPr lvl="0"/>
            <a:r>
              <a:rPr lang="fr-FR" dirty="0"/>
              <a:t>Sous titre du chapitre (détails)</a:t>
            </a:r>
          </a:p>
        </p:txBody>
      </p:sp>
      <p:pic>
        <p:nvPicPr>
          <p:cNvPr id="19" name="Image 18">
            <a:extLst>
              <a:ext uri="{FF2B5EF4-FFF2-40B4-BE49-F238E27FC236}">
                <a16:creationId xmlns:a16="http://schemas.microsoft.com/office/drawing/2014/main" id="{A33CF9A7-D73E-4AE0-B6ED-446BB699BB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41416" y="5654675"/>
            <a:ext cx="2943234" cy="118619"/>
          </a:xfrm>
          <a:prstGeom prst="rect">
            <a:avLst/>
          </a:prstGeom>
        </p:spPr>
      </p:pic>
      <p:sp>
        <p:nvSpPr>
          <p:cNvPr id="20" name="ZoneTexte 19">
            <a:extLst>
              <a:ext uri="{FF2B5EF4-FFF2-40B4-BE49-F238E27FC236}">
                <a16:creationId xmlns:a16="http://schemas.microsoft.com/office/drawing/2014/main" id="{9FBA6651-62DF-4853-AB06-C083145D13E8}"/>
              </a:ext>
            </a:extLst>
          </p:cNvPr>
          <p:cNvSpPr txBox="1"/>
          <p:nvPr userDrawn="1"/>
        </p:nvSpPr>
        <p:spPr>
          <a:xfrm>
            <a:off x="908050" y="2174745"/>
            <a:ext cx="10972800" cy="7355860"/>
          </a:xfrm>
          <a:prstGeom prst="rect">
            <a:avLst/>
          </a:prstGeom>
          <a:noFill/>
        </p:spPr>
        <p:txBody>
          <a:bodyPr wrap="square" rtlCol="0">
            <a:spAutoFit/>
          </a:bodyPr>
          <a:lstStyle/>
          <a:p>
            <a:r>
              <a:rPr lang="fr-FR" sz="47000" b="1" spc="0" baseline="0" dirty="0">
                <a:solidFill>
                  <a:schemeClr val="accent2"/>
                </a:solidFill>
                <a:latin typeface="+mj-lt"/>
              </a:rPr>
              <a:t> </a:t>
            </a:r>
            <a:r>
              <a:rPr lang="fr-FR" sz="47200" b="1" spc="0" baseline="0" dirty="0">
                <a:solidFill>
                  <a:schemeClr val="accent2"/>
                </a:solidFill>
                <a:latin typeface="+mj-lt"/>
              </a:rPr>
              <a:t>04</a:t>
            </a:r>
          </a:p>
        </p:txBody>
      </p:sp>
    </p:spTree>
    <p:extLst>
      <p:ext uri="{BB962C8B-B14F-4D97-AF65-F5344CB8AC3E}">
        <p14:creationId xmlns:p14="http://schemas.microsoft.com/office/powerpoint/2010/main" val="1808896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and Content">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51C0434A-36C1-4E8E-B6B6-0DE86BCE07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98439" y="8278783"/>
            <a:ext cx="482423" cy="471935"/>
          </a:xfrm>
          <a:prstGeom prst="rect">
            <a:avLst/>
          </a:prstGeom>
        </p:spPr>
      </p:pic>
      <p:sp>
        <p:nvSpPr>
          <p:cNvPr id="17" name="Espace réservé du texte 12">
            <a:extLst>
              <a:ext uri="{FF2B5EF4-FFF2-40B4-BE49-F238E27FC236}">
                <a16:creationId xmlns:a16="http://schemas.microsoft.com/office/drawing/2014/main" id="{D9A42879-4001-4FD1-9124-24DA9AC15A06}"/>
              </a:ext>
            </a:extLst>
          </p:cNvPr>
          <p:cNvSpPr>
            <a:spLocks noGrp="1"/>
          </p:cNvSpPr>
          <p:nvPr>
            <p:ph type="body" sz="quarter" idx="10" hasCustomPrompt="1"/>
          </p:nvPr>
        </p:nvSpPr>
        <p:spPr>
          <a:xfrm>
            <a:off x="9594850" y="3216275"/>
            <a:ext cx="9067800" cy="4876800"/>
          </a:xfrm>
          <a:prstGeom prst="rect">
            <a:avLst/>
          </a:prstGeom>
        </p:spPr>
        <p:txBody>
          <a:bodyPr>
            <a:normAutofit/>
          </a:bodyPr>
          <a:lstStyle>
            <a:lvl1pPr>
              <a:defRPr sz="14000" b="1">
                <a:solidFill>
                  <a:schemeClr val="bg1"/>
                </a:solidFill>
                <a:latin typeface="+mj-lt"/>
              </a:defRPr>
            </a:lvl1pPr>
          </a:lstStyle>
          <a:p>
            <a:pPr lvl="0"/>
            <a:r>
              <a:rPr lang="fr-FR" dirty="0"/>
              <a:t>Titre du chapitre</a:t>
            </a:r>
          </a:p>
        </p:txBody>
      </p:sp>
      <p:sp>
        <p:nvSpPr>
          <p:cNvPr id="18" name="Espace réservé du texte 21">
            <a:extLst>
              <a:ext uri="{FF2B5EF4-FFF2-40B4-BE49-F238E27FC236}">
                <a16:creationId xmlns:a16="http://schemas.microsoft.com/office/drawing/2014/main" id="{FC85F864-F8C9-4A5A-AA9B-F6596A0B7087}"/>
              </a:ext>
            </a:extLst>
          </p:cNvPr>
          <p:cNvSpPr>
            <a:spLocks noGrp="1"/>
          </p:cNvSpPr>
          <p:nvPr>
            <p:ph type="body" sz="quarter" idx="11" hasCustomPrompt="1"/>
          </p:nvPr>
        </p:nvSpPr>
        <p:spPr>
          <a:xfrm>
            <a:off x="10280650" y="8245475"/>
            <a:ext cx="8382000" cy="471936"/>
          </a:xfrm>
          <a:prstGeom prst="rect">
            <a:avLst/>
          </a:prstGeom>
        </p:spPr>
        <p:txBody>
          <a:bodyPr/>
          <a:lstStyle>
            <a:lvl1pPr>
              <a:defRPr sz="2600">
                <a:solidFill>
                  <a:schemeClr val="bg2"/>
                </a:solidFill>
                <a:latin typeface="+mj-lt"/>
              </a:defRPr>
            </a:lvl1pPr>
          </a:lstStyle>
          <a:p>
            <a:pPr lvl="0"/>
            <a:r>
              <a:rPr lang="fr-FR" dirty="0"/>
              <a:t>Sous titre du chapitre (détails)</a:t>
            </a:r>
          </a:p>
        </p:txBody>
      </p:sp>
      <p:pic>
        <p:nvPicPr>
          <p:cNvPr id="19" name="Image 18">
            <a:extLst>
              <a:ext uri="{FF2B5EF4-FFF2-40B4-BE49-F238E27FC236}">
                <a16:creationId xmlns:a16="http://schemas.microsoft.com/office/drawing/2014/main" id="{A33CF9A7-D73E-4AE0-B6ED-446BB699BB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41416" y="5654675"/>
            <a:ext cx="2943234" cy="118619"/>
          </a:xfrm>
          <a:prstGeom prst="rect">
            <a:avLst/>
          </a:prstGeom>
        </p:spPr>
      </p:pic>
      <p:sp>
        <p:nvSpPr>
          <p:cNvPr id="20" name="ZoneTexte 19">
            <a:extLst>
              <a:ext uri="{FF2B5EF4-FFF2-40B4-BE49-F238E27FC236}">
                <a16:creationId xmlns:a16="http://schemas.microsoft.com/office/drawing/2014/main" id="{9FBA6651-62DF-4853-AB06-C083145D13E8}"/>
              </a:ext>
            </a:extLst>
          </p:cNvPr>
          <p:cNvSpPr txBox="1"/>
          <p:nvPr userDrawn="1"/>
        </p:nvSpPr>
        <p:spPr>
          <a:xfrm>
            <a:off x="908050" y="2174745"/>
            <a:ext cx="10972800" cy="7355860"/>
          </a:xfrm>
          <a:prstGeom prst="rect">
            <a:avLst/>
          </a:prstGeom>
          <a:noFill/>
        </p:spPr>
        <p:txBody>
          <a:bodyPr wrap="square" rtlCol="0">
            <a:spAutoFit/>
          </a:bodyPr>
          <a:lstStyle/>
          <a:p>
            <a:r>
              <a:rPr lang="fr-FR" sz="47000" b="1" spc="0" baseline="0" dirty="0">
                <a:solidFill>
                  <a:schemeClr val="accent2"/>
                </a:solidFill>
                <a:latin typeface="+mj-lt"/>
              </a:rPr>
              <a:t> </a:t>
            </a:r>
            <a:r>
              <a:rPr lang="fr-FR" sz="47200" b="1" spc="0" baseline="0" dirty="0">
                <a:solidFill>
                  <a:schemeClr val="accent2"/>
                </a:solidFill>
                <a:latin typeface="+mj-lt"/>
              </a:rPr>
              <a:t>05</a:t>
            </a:r>
          </a:p>
        </p:txBody>
      </p:sp>
    </p:spTree>
    <p:extLst>
      <p:ext uri="{BB962C8B-B14F-4D97-AF65-F5344CB8AC3E}">
        <p14:creationId xmlns:p14="http://schemas.microsoft.com/office/powerpoint/2010/main" val="126771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and Content">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51C0434A-36C1-4E8E-B6B6-0DE86BCE07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98439" y="8278783"/>
            <a:ext cx="482423" cy="471935"/>
          </a:xfrm>
          <a:prstGeom prst="rect">
            <a:avLst/>
          </a:prstGeom>
        </p:spPr>
      </p:pic>
      <p:sp>
        <p:nvSpPr>
          <p:cNvPr id="17" name="Espace réservé du texte 12">
            <a:extLst>
              <a:ext uri="{FF2B5EF4-FFF2-40B4-BE49-F238E27FC236}">
                <a16:creationId xmlns:a16="http://schemas.microsoft.com/office/drawing/2014/main" id="{D9A42879-4001-4FD1-9124-24DA9AC15A06}"/>
              </a:ext>
            </a:extLst>
          </p:cNvPr>
          <p:cNvSpPr>
            <a:spLocks noGrp="1"/>
          </p:cNvSpPr>
          <p:nvPr>
            <p:ph type="body" sz="quarter" idx="10" hasCustomPrompt="1"/>
          </p:nvPr>
        </p:nvSpPr>
        <p:spPr>
          <a:xfrm>
            <a:off x="9594850" y="3216275"/>
            <a:ext cx="9067800" cy="4876800"/>
          </a:xfrm>
          <a:prstGeom prst="rect">
            <a:avLst/>
          </a:prstGeom>
        </p:spPr>
        <p:txBody>
          <a:bodyPr>
            <a:normAutofit/>
          </a:bodyPr>
          <a:lstStyle>
            <a:lvl1pPr>
              <a:defRPr sz="14000" b="1">
                <a:solidFill>
                  <a:schemeClr val="bg1"/>
                </a:solidFill>
                <a:latin typeface="+mj-lt"/>
              </a:defRPr>
            </a:lvl1pPr>
          </a:lstStyle>
          <a:p>
            <a:pPr lvl="0"/>
            <a:r>
              <a:rPr lang="fr-FR" dirty="0"/>
              <a:t>Titre du chapitre</a:t>
            </a:r>
          </a:p>
        </p:txBody>
      </p:sp>
      <p:sp>
        <p:nvSpPr>
          <p:cNvPr id="18" name="Espace réservé du texte 21">
            <a:extLst>
              <a:ext uri="{FF2B5EF4-FFF2-40B4-BE49-F238E27FC236}">
                <a16:creationId xmlns:a16="http://schemas.microsoft.com/office/drawing/2014/main" id="{FC85F864-F8C9-4A5A-AA9B-F6596A0B7087}"/>
              </a:ext>
            </a:extLst>
          </p:cNvPr>
          <p:cNvSpPr>
            <a:spLocks noGrp="1"/>
          </p:cNvSpPr>
          <p:nvPr>
            <p:ph type="body" sz="quarter" idx="11" hasCustomPrompt="1"/>
          </p:nvPr>
        </p:nvSpPr>
        <p:spPr>
          <a:xfrm>
            <a:off x="10280650" y="8245475"/>
            <a:ext cx="8382000" cy="471936"/>
          </a:xfrm>
          <a:prstGeom prst="rect">
            <a:avLst/>
          </a:prstGeom>
        </p:spPr>
        <p:txBody>
          <a:bodyPr/>
          <a:lstStyle>
            <a:lvl1pPr>
              <a:defRPr sz="2600">
                <a:solidFill>
                  <a:schemeClr val="bg2"/>
                </a:solidFill>
                <a:latin typeface="+mj-lt"/>
              </a:defRPr>
            </a:lvl1pPr>
          </a:lstStyle>
          <a:p>
            <a:pPr lvl="0"/>
            <a:r>
              <a:rPr lang="fr-FR" dirty="0"/>
              <a:t>Sous titre du chapitre (détails)</a:t>
            </a:r>
          </a:p>
        </p:txBody>
      </p:sp>
      <p:pic>
        <p:nvPicPr>
          <p:cNvPr id="19" name="Image 18">
            <a:extLst>
              <a:ext uri="{FF2B5EF4-FFF2-40B4-BE49-F238E27FC236}">
                <a16:creationId xmlns:a16="http://schemas.microsoft.com/office/drawing/2014/main" id="{A33CF9A7-D73E-4AE0-B6ED-446BB699BB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41416" y="5654675"/>
            <a:ext cx="2943234" cy="118619"/>
          </a:xfrm>
          <a:prstGeom prst="rect">
            <a:avLst/>
          </a:prstGeom>
        </p:spPr>
      </p:pic>
      <p:sp>
        <p:nvSpPr>
          <p:cNvPr id="20" name="ZoneTexte 19">
            <a:extLst>
              <a:ext uri="{FF2B5EF4-FFF2-40B4-BE49-F238E27FC236}">
                <a16:creationId xmlns:a16="http://schemas.microsoft.com/office/drawing/2014/main" id="{9FBA6651-62DF-4853-AB06-C083145D13E8}"/>
              </a:ext>
            </a:extLst>
          </p:cNvPr>
          <p:cNvSpPr txBox="1"/>
          <p:nvPr userDrawn="1"/>
        </p:nvSpPr>
        <p:spPr>
          <a:xfrm>
            <a:off x="908050" y="2174745"/>
            <a:ext cx="10972800" cy="7355860"/>
          </a:xfrm>
          <a:prstGeom prst="rect">
            <a:avLst/>
          </a:prstGeom>
          <a:noFill/>
        </p:spPr>
        <p:txBody>
          <a:bodyPr wrap="square" rtlCol="0">
            <a:spAutoFit/>
          </a:bodyPr>
          <a:lstStyle/>
          <a:p>
            <a:r>
              <a:rPr lang="fr-FR" sz="47000" b="1" spc="0" baseline="0" dirty="0">
                <a:solidFill>
                  <a:schemeClr val="accent2"/>
                </a:solidFill>
                <a:latin typeface="+mj-lt"/>
              </a:rPr>
              <a:t> </a:t>
            </a:r>
            <a:r>
              <a:rPr lang="fr-FR" sz="47200" b="1" spc="0" baseline="0" dirty="0">
                <a:solidFill>
                  <a:schemeClr val="accent2"/>
                </a:solidFill>
                <a:latin typeface="+mj-lt"/>
              </a:rPr>
              <a:t>06</a:t>
            </a:r>
          </a:p>
        </p:txBody>
      </p:sp>
    </p:spTree>
    <p:extLst>
      <p:ext uri="{BB962C8B-B14F-4D97-AF65-F5344CB8AC3E}">
        <p14:creationId xmlns:p14="http://schemas.microsoft.com/office/powerpoint/2010/main" val="1291468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6806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5495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07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2030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62947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52903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8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2210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0_Disposition personnalisée">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4184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Image 3" descr="Une image contenant personne, habits, Visage humain, femme&#10;&#10;Le contenu généré par l’IA peut être incorrect.">
            <a:extLst>
              <a:ext uri="{FF2B5EF4-FFF2-40B4-BE49-F238E27FC236}">
                <a16:creationId xmlns:a16="http://schemas.microsoft.com/office/drawing/2014/main" id="{42238B86-202F-0F41-9138-1A76EC6C22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19002" y="542107"/>
            <a:ext cx="18902097" cy="5040560"/>
          </a:xfrm>
          <a:prstGeom prst="roundRect">
            <a:avLst>
              <a:gd name="adj" fmla="val 9607"/>
            </a:avLst>
          </a:prstGeom>
        </p:spPr>
      </p:pic>
      <p:sp>
        <p:nvSpPr>
          <p:cNvPr id="6" name="Espace réservé du texte 12">
            <a:extLst>
              <a:ext uri="{FF2B5EF4-FFF2-40B4-BE49-F238E27FC236}">
                <a16:creationId xmlns:a16="http://schemas.microsoft.com/office/drawing/2014/main" id="{86C7ADBF-7FE4-9BE8-94E3-4FAC04EE5D96}"/>
              </a:ext>
            </a:extLst>
          </p:cNvPr>
          <p:cNvSpPr>
            <a:spLocks noGrp="1"/>
          </p:cNvSpPr>
          <p:nvPr>
            <p:ph type="body" sz="quarter" idx="10" hasCustomPrompt="1"/>
          </p:nvPr>
        </p:nvSpPr>
        <p:spPr>
          <a:xfrm>
            <a:off x="835025" y="6230739"/>
            <a:ext cx="14587149" cy="1080120"/>
          </a:xfrm>
          <a:prstGeom prst="rect">
            <a:avLst/>
          </a:prstGeom>
        </p:spPr>
        <p:txBody>
          <a:bodyPr>
            <a:normAutofit/>
          </a:bodyPr>
          <a:lstStyle>
            <a:lvl1pPr>
              <a:defRPr sz="6000" b="1">
                <a:solidFill>
                  <a:schemeClr val="bg2"/>
                </a:solidFill>
                <a:latin typeface="+mj-lt"/>
              </a:defRPr>
            </a:lvl1pPr>
          </a:lstStyle>
          <a:p>
            <a:pPr lvl="0"/>
            <a:r>
              <a:rPr lang="fr-FR" dirty="0"/>
              <a:t>Merci de votre attention !</a:t>
            </a:r>
          </a:p>
        </p:txBody>
      </p:sp>
    </p:spTree>
    <p:extLst>
      <p:ext uri="{BB962C8B-B14F-4D97-AF65-F5344CB8AC3E}">
        <p14:creationId xmlns:p14="http://schemas.microsoft.com/office/powerpoint/2010/main" val="33971848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1" r:id="rId1"/>
    <p:sldLayoutId id="2147483696" r:id="rId2"/>
    <p:sldLayoutId id="2147483662" r:id="rId3"/>
    <p:sldLayoutId id="2147483667" r:id="rId4"/>
    <p:sldLayoutId id="2147483668" r:id="rId5"/>
    <p:sldLayoutId id="2147483669" r:id="rId6"/>
    <p:sldLayoutId id="2147483670" r:id="rId7"/>
    <p:sldLayoutId id="2147483671" r:id="rId8"/>
    <p:sldLayoutId id="2147483666" r:id="rId9"/>
    <p:sldLayoutId id="2147483675" r:id="rId10"/>
    <p:sldLayoutId id="2147483676" r:id="rId11"/>
    <p:sldLayoutId id="2147483679" r:id="rId12"/>
    <p:sldLayoutId id="2147483684" r:id="rId13"/>
    <p:sldLayoutId id="2147483674" r:id="rId14"/>
    <p:sldLayoutId id="2147483692" r:id="rId15"/>
    <p:sldLayoutId id="2147483697" r:id="rId16"/>
    <p:sldLayoutId id="2147483672" r:id="rId17"/>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slide" Target="slide9.xml"/><Relationship Id="rId4" Type="http://schemas.openxmlformats.org/officeDocument/2006/relationships/slide" Target="slide23.xml"/><Relationship Id="rId5" Type="http://schemas.openxmlformats.org/officeDocument/2006/relationships/slide" Target="slide39.xml"/><Relationship Id="rId6" Type="http://schemas.openxmlformats.org/officeDocument/2006/relationships/slide" Target="slide57.xml"/><Relationship Id="rId7" Type="http://schemas.openxmlformats.org/officeDocument/2006/relationships/slide" Target="slide60.xml"/><Relationship Id="rId8" Type="http://schemas.openxmlformats.org/officeDocument/2006/relationships/slide" Target="slide6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45920" y="4069080"/>
            <a:ext cx="8229600" cy="292608"/>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FFE3EA"/>
                </a:solidFill>
                <a:latin typeface="Arial"/>
              </a:rPr>
              <a:t>SUPPORT APPRENANT  ·  3 JOURS  ·  21 HEURES</a:t>
            </a:r>
          </a:p>
        </p:txBody>
      </p:sp>
      <p:sp>
        <p:nvSpPr>
          <p:cNvPr id="3" name="TextBox 2"/>
          <p:cNvSpPr txBox="1"/>
          <p:nvPr/>
        </p:nvSpPr>
        <p:spPr>
          <a:xfrm>
            <a:off x="1600200" y="4462272"/>
            <a:ext cx="8869680" cy="1554480"/>
          </a:xfrm>
          <a:prstGeom prst="rect">
            <a:avLst/>
          </a:prstGeom>
          <a:noFill/>
        </p:spPr>
        <p:txBody>
          <a:bodyPr wrap="square" lIns="0" rIns="0" tIns="0" bIns="0" anchor="t">
            <a:noAutofit/>
          </a:bodyPr>
          <a:lstStyle/>
          <a:p>
            <a:pPr algn="l">
              <a:lnSpc>
                <a:spcPct val="90000"/>
              </a:lnSpc>
              <a:spcBef>
                <a:spcPts val="0"/>
              </a:spcBef>
              <a:spcAft>
                <a:spcPts val="0"/>
              </a:spcAft>
            </a:pPr>
            <a:r>
              <a:rPr b="1" sz="10400" i="0">
                <a:solidFill>
                  <a:srgbClr val="FFFFFF"/>
                </a:solidFill>
                <a:latin typeface="Arial"/>
              </a:rPr>
              <a:t>Angular 22</a:t>
            </a:r>
          </a:p>
        </p:txBody>
      </p:sp>
      <p:sp>
        <p:nvSpPr>
          <p:cNvPr id="4" name="TextBox 3"/>
          <p:cNvSpPr txBox="1"/>
          <p:nvPr/>
        </p:nvSpPr>
        <p:spPr>
          <a:xfrm>
            <a:off x="1645920" y="6016752"/>
            <a:ext cx="8595360" cy="1417320"/>
          </a:xfrm>
          <a:prstGeom prst="rect">
            <a:avLst/>
          </a:prstGeom>
          <a:noFill/>
        </p:spPr>
        <p:txBody>
          <a:bodyPr wrap="square" lIns="0" rIns="0" tIns="0" bIns="0" anchor="t">
            <a:noAutofit/>
          </a:bodyPr>
          <a:lstStyle/>
          <a:p>
            <a:pPr algn="l">
              <a:lnSpc>
                <a:spcPct val="106000"/>
              </a:lnSpc>
              <a:spcBef>
                <a:spcPts val="0"/>
              </a:spcBef>
              <a:spcAft>
                <a:spcPts val="0"/>
              </a:spcAft>
            </a:pPr>
            <a:r>
              <a:rPr b="0" sz="3500" i="0">
                <a:solidFill>
                  <a:srgbClr val="FFFFFF"/>
                </a:solidFill>
                <a:latin typeface="Arial"/>
              </a:rPr>
              <a:t>Du premier écran au rapprochement</a:t>
            </a:r>
          </a:p>
          <a:p>
            <a:pPr algn="l">
              <a:lnSpc>
                <a:spcPct val="106000"/>
              </a:lnSpc>
              <a:spcBef>
                <a:spcPts val="0"/>
              </a:spcBef>
              <a:spcAft>
                <a:spcPts val="0"/>
              </a:spcAft>
            </a:pPr>
            <a:r>
              <a:rPr b="0" sz="3500" i="0">
                <a:solidFill>
                  <a:srgbClr val="FFFFFF"/>
                </a:solidFill>
                <a:latin typeface="Arial"/>
              </a:rPr>
              <a:t>de factures</a:t>
            </a:r>
          </a:p>
        </p:txBody>
      </p:sp>
      <p:sp>
        <p:nvSpPr>
          <p:cNvPr id="5" name="Rectangle 4"/>
          <p:cNvSpPr/>
          <p:nvPr/>
        </p:nvSpPr>
        <p:spPr>
          <a:xfrm>
            <a:off x="1645920" y="7818120"/>
            <a:ext cx="2011680" cy="45720"/>
          </a:xfrm>
          <a:prstGeom prst="rect">
            <a:avLst/>
          </a:prstGeom>
          <a:solidFill>
            <a:srgbClr val="FFFFFF"/>
          </a:solidFill>
          <a:ln>
            <a:noFill/>
          </a:ln>
          <a:effectLst/>
        </p:spPr>
        <p:txBody>
          <a:bodyPr rtlCol="0" anchor="ctr"/>
          <a:lstStyle/>
          <a:p>
            <a:pPr algn="ctr"/>
          </a:p>
        </p:txBody>
      </p:sp>
      <p:sp>
        <p:nvSpPr>
          <p:cNvPr id="6" name="TextBox 5"/>
          <p:cNvSpPr txBox="1"/>
          <p:nvPr/>
        </p:nvSpPr>
        <p:spPr>
          <a:xfrm>
            <a:off x="1645920" y="8028431"/>
            <a:ext cx="8412480" cy="347472"/>
          </a:xfrm>
          <a:prstGeom prst="rect">
            <a:avLst/>
          </a:prstGeom>
          <a:noFill/>
        </p:spPr>
        <p:txBody>
          <a:bodyPr wrap="square" lIns="0" rIns="0" tIns="0" bIns="0" anchor="t">
            <a:noAutofit/>
          </a:bodyPr>
          <a:lstStyle/>
          <a:p>
            <a:pPr algn="l">
              <a:lnSpc>
                <a:spcPct val="102000"/>
              </a:lnSpc>
              <a:spcBef>
                <a:spcPts val="0"/>
              </a:spcBef>
              <a:spcAft>
                <a:spcPts val="0"/>
              </a:spcAft>
            </a:pPr>
            <a:r>
              <a:rPr b="0" sz="1900" i="0">
                <a:solidFill>
                  <a:srgbClr val="FFE3EA"/>
                </a:solidFill>
                <a:latin typeface="Arial"/>
              </a:rPr>
              <a:t>Projet fil rouge  ·  CLI 22.2.5  ·  signals  ·  Vitest</a:t>
            </a:r>
          </a:p>
        </p:txBody>
      </p:sp>
      <p:sp>
        <p:nvSpPr>
          <p:cNvPr id="7" name="TextBox 6"/>
          <p:cNvSpPr txBox="1"/>
          <p:nvPr/>
        </p:nvSpPr>
        <p:spPr>
          <a:xfrm>
            <a:off x="1645920" y="9829800"/>
            <a:ext cx="8229600" cy="292608"/>
          </a:xfrm>
          <a:prstGeom prst="rect">
            <a:avLst/>
          </a:prstGeom>
          <a:noFill/>
        </p:spPr>
        <p:txBody>
          <a:bodyPr wrap="square" lIns="0" rIns="0" tIns="0" bIns="0" anchor="t">
            <a:noAutofit/>
          </a:bodyPr>
          <a:lstStyle/>
          <a:p>
            <a:pPr algn="l">
              <a:lnSpc>
                <a:spcPct val="102000"/>
              </a:lnSpc>
              <a:spcBef>
                <a:spcPts val="0"/>
              </a:spcBef>
              <a:spcAft>
                <a:spcPts val="0"/>
              </a:spcAft>
            </a:pPr>
            <a:r>
              <a:rPr b="0" sz="1300" i="0">
                <a:solidFill>
                  <a:srgbClr val="FFE3EA"/>
                </a:solidFill>
                <a:latin typeface="Arial"/>
              </a:rPr>
              <a:t>AELION  ·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MODE D'EMPLOI</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Trois façons d'utiliser ce support</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Chaque slide tient une idée ; les annexes servent de fiche de révision.</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02 / 62</a:t>
            </a:r>
          </a:p>
        </p:txBody>
      </p:sp>
      <p:sp>
        <p:nvSpPr>
          <p:cNvPr id="9" name="Rounded Rectangle 8"/>
          <p:cNvSpPr/>
          <p:nvPr/>
        </p:nvSpPr>
        <p:spPr>
          <a:xfrm>
            <a:off x="2606040" y="3063240"/>
            <a:ext cx="4572000" cy="251460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0" name="Rectangle 9"/>
          <p:cNvSpPr/>
          <p:nvPr/>
        </p:nvSpPr>
        <p:spPr>
          <a:xfrm>
            <a:off x="2606040" y="3063240"/>
            <a:ext cx="4572000" cy="50292"/>
          </a:xfrm>
          <a:prstGeom prst="rect">
            <a:avLst/>
          </a:prstGeom>
          <a:solidFill>
            <a:srgbClr val="ED1548"/>
          </a:solidFill>
          <a:ln>
            <a:noFill/>
          </a:ln>
          <a:effectLst/>
        </p:spPr>
        <p:txBody>
          <a:bodyPr rtlCol="0" anchor="ctr"/>
          <a:lstStyle/>
          <a:p>
            <a:pPr algn="ctr"/>
          </a:p>
        </p:txBody>
      </p:sp>
      <p:sp>
        <p:nvSpPr>
          <p:cNvPr id="11" name="TextBox 10"/>
          <p:cNvSpPr txBox="1"/>
          <p:nvPr/>
        </p:nvSpPr>
        <p:spPr>
          <a:xfrm>
            <a:off x="2880360" y="3319272"/>
            <a:ext cx="4023360" cy="411480"/>
          </a:xfrm>
          <a:prstGeom prst="rect">
            <a:avLst/>
          </a:prstGeom>
          <a:noFill/>
        </p:spPr>
        <p:txBody>
          <a:bodyPr wrap="square" lIns="0" rIns="0" tIns="0" bIns="0" anchor="t">
            <a:noAutofit/>
          </a:bodyPr>
          <a:lstStyle/>
          <a:p>
            <a:pPr algn="l">
              <a:lnSpc>
                <a:spcPct val="102000"/>
              </a:lnSpc>
              <a:spcBef>
                <a:spcPts val="0"/>
              </a:spcBef>
              <a:spcAft>
                <a:spcPts val="0"/>
              </a:spcAft>
            </a:pPr>
            <a:r>
              <a:rPr b="1" sz="1900" i="0">
                <a:solidFill>
                  <a:srgbClr val="ED1548"/>
                </a:solidFill>
                <a:latin typeface="Arial"/>
              </a:rPr>
              <a:t>01  ·  Avant</a:t>
            </a:r>
          </a:p>
        </p:txBody>
      </p:sp>
      <p:sp>
        <p:nvSpPr>
          <p:cNvPr id="12" name="TextBox 11"/>
          <p:cNvSpPr txBox="1"/>
          <p:nvPr/>
        </p:nvSpPr>
        <p:spPr>
          <a:xfrm>
            <a:off x="2880360" y="3758183"/>
            <a:ext cx="4023360" cy="1645920"/>
          </a:xfrm>
          <a:prstGeom prst="rect">
            <a:avLst/>
          </a:prstGeom>
          <a:noFill/>
        </p:spPr>
        <p:txBody>
          <a:bodyPr wrap="square" lIns="0" rIns="0" tIns="0" bIns="0" anchor="t">
            <a:noAutofit/>
          </a:bodyPr>
          <a:lstStyle/>
          <a:p>
            <a:pPr algn="l">
              <a:lnSpc>
                <a:spcPct val="108000"/>
              </a:lnSpc>
              <a:spcBef>
                <a:spcPts val="0"/>
              </a:spcBef>
              <a:spcAft>
                <a:spcPts val="0"/>
              </a:spcAft>
            </a:pPr>
            <a:r>
              <a:rPr b="0" sz="1600" i="0">
                <a:solidFill>
                  <a:srgbClr val="1B3B47"/>
                </a:solidFill>
                <a:latin typeface="Arial"/>
              </a:rPr>
              <a:t>Survolez les objectifs et le parcours. Repérez les prérequis et les versions.</a:t>
            </a:r>
          </a:p>
        </p:txBody>
      </p:sp>
      <p:sp>
        <p:nvSpPr>
          <p:cNvPr id="13" name="Rounded Rectangle 12"/>
          <p:cNvSpPr/>
          <p:nvPr/>
        </p:nvSpPr>
        <p:spPr>
          <a:xfrm>
            <a:off x="7680960" y="3063240"/>
            <a:ext cx="4572000" cy="251460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4" name="Rectangle 13"/>
          <p:cNvSpPr/>
          <p:nvPr/>
        </p:nvSpPr>
        <p:spPr>
          <a:xfrm>
            <a:off x="7680960" y="3063240"/>
            <a:ext cx="4572000" cy="50292"/>
          </a:xfrm>
          <a:prstGeom prst="rect">
            <a:avLst/>
          </a:prstGeom>
          <a:solidFill>
            <a:srgbClr val="ED1548"/>
          </a:solidFill>
          <a:ln>
            <a:noFill/>
          </a:ln>
          <a:effectLst/>
        </p:spPr>
        <p:txBody>
          <a:bodyPr rtlCol="0" anchor="ctr"/>
          <a:lstStyle/>
          <a:p>
            <a:pPr algn="ctr"/>
          </a:p>
        </p:txBody>
      </p:sp>
      <p:sp>
        <p:nvSpPr>
          <p:cNvPr id="15" name="TextBox 14"/>
          <p:cNvSpPr txBox="1"/>
          <p:nvPr/>
        </p:nvSpPr>
        <p:spPr>
          <a:xfrm>
            <a:off x="7955280" y="3319272"/>
            <a:ext cx="4023360" cy="411480"/>
          </a:xfrm>
          <a:prstGeom prst="rect">
            <a:avLst/>
          </a:prstGeom>
          <a:noFill/>
        </p:spPr>
        <p:txBody>
          <a:bodyPr wrap="square" lIns="0" rIns="0" tIns="0" bIns="0" anchor="t">
            <a:noAutofit/>
          </a:bodyPr>
          <a:lstStyle/>
          <a:p>
            <a:pPr algn="l">
              <a:lnSpc>
                <a:spcPct val="102000"/>
              </a:lnSpc>
              <a:spcBef>
                <a:spcPts val="0"/>
              </a:spcBef>
              <a:spcAft>
                <a:spcPts val="0"/>
              </a:spcAft>
            </a:pPr>
            <a:r>
              <a:rPr b="1" sz="1900" i="0">
                <a:solidFill>
                  <a:srgbClr val="ED1548"/>
                </a:solidFill>
                <a:latin typeface="Arial"/>
              </a:rPr>
              <a:t>02  ·  Pendant</a:t>
            </a:r>
          </a:p>
        </p:txBody>
      </p:sp>
      <p:sp>
        <p:nvSpPr>
          <p:cNvPr id="16" name="TextBox 15"/>
          <p:cNvSpPr txBox="1"/>
          <p:nvPr/>
        </p:nvSpPr>
        <p:spPr>
          <a:xfrm>
            <a:off x="7955280" y="3758183"/>
            <a:ext cx="4023360" cy="1645920"/>
          </a:xfrm>
          <a:prstGeom prst="rect">
            <a:avLst/>
          </a:prstGeom>
          <a:noFill/>
        </p:spPr>
        <p:txBody>
          <a:bodyPr wrap="square" lIns="0" rIns="0" tIns="0" bIns="0" anchor="t">
            <a:noAutofit/>
          </a:bodyPr>
          <a:lstStyle/>
          <a:p>
            <a:pPr algn="l">
              <a:lnSpc>
                <a:spcPct val="108000"/>
              </a:lnSpc>
              <a:spcBef>
                <a:spcPts val="0"/>
              </a:spcBef>
              <a:spcAft>
                <a:spcPts val="0"/>
              </a:spcAft>
            </a:pPr>
            <a:r>
              <a:rPr b="0" sz="1600" i="0">
                <a:solidFill>
                  <a:srgbClr val="1B3B47"/>
                </a:solidFill>
                <a:latin typeface="Arial"/>
              </a:rPr>
              <a:t>Suivez les slides de TP : une étape = une action vérifiable. Le code est à recopier, pas à photographier.</a:t>
            </a:r>
          </a:p>
        </p:txBody>
      </p:sp>
      <p:sp>
        <p:nvSpPr>
          <p:cNvPr id="17" name="Rounded Rectangle 16"/>
          <p:cNvSpPr/>
          <p:nvPr/>
        </p:nvSpPr>
        <p:spPr>
          <a:xfrm>
            <a:off x="12755880" y="3063240"/>
            <a:ext cx="4434840" cy="251460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8" name="Rectangle 17"/>
          <p:cNvSpPr/>
          <p:nvPr/>
        </p:nvSpPr>
        <p:spPr>
          <a:xfrm>
            <a:off x="12755880" y="3063240"/>
            <a:ext cx="4434840" cy="50292"/>
          </a:xfrm>
          <a:prstGeom prst="rect">
            <a:avLst/>
          </a:prstGeom>
          <a:solidFill>
            <a:srgbClr val="ED1548"/>
          </a:solidFill>
          <a:ln>
            <a:noFill/>
          </a:ln>
          <a:effectLst/>
        </p:spPr>
        <p:txBody>
          <a:bodyPr rtlCol="0" anchor="ctr"/>
          <a:lstStyle/>
          <a:p>
            <a:pPr algn="ctr"/>
          </a:p>
        </p:txBody>
      </p:sp>
      <p:sp>
        <p:nvSpPr>
          <p:cNvPr id="19" name="TextBox 18"/>
          <p:cNvSpPr txBox="1"/>
          <p:nvPr/>
        </p:nvSpPr>
        <p:spPr>
          <a:xfrm>
            <a:off x="13030200" y="3319272"/>
            <a:ext cx="4023360" cy="411480"/>
          </a:xfrm>
          <a:prstGeom prst="rect">
            <a:avLst/>
          </a:prstGeom>
          <a:noFill/>
        </p:spPr>
        <p:txBody>
          <a:bodyPr wrap="square" lIns="0" rIns="0" tIns="0" bIns="0" anchor="t">
            <a:noAutofit/>
          </a:bodyPr>
          <a:lstStyle/>
          <a:p>
            <a:pPr algn="l">
              <a:lnSpc>
                <a:spcPct val="102000"/>
              </a:lnSpc>
              <a:spcBef>
                <a:spcPts val="0"/>
              </a:spcBef>
              <a:spcAft>
                <a:spcPts val="0"/>
              </a:spcAft>
            </a:pPr>
            <a:r>
              <a:rPr b="1" sz="1900" i="0">
                <a:solidFill>
                  <a:srgbClr val="ED1548"/>
                </a:solidFill>
                <a:latin typeface="Arial"/>
              </a:rPr>
              <a:t>03  ·  Après</a:t>
            </a:r>
          </a:p>
        </p:txBody>
      </p:sp>
      <p:sp>
        <p:nvSpPr>
          <p:cNvPr id="20" name="TextBox 19"/>
          <p:cNvSpPr txBox="1"/>
          <p:nvPr/>
        </p:nvSpPr>
        <p:spPr>
          <a:xfrm>
            <a:off x="13030200" y="3758183"/>
            <a:ext cx="4023360" cy="1645920"/>
          </a:xfrm>
          <a:prstGeom prst="rect">
            <a:avLst/>
          </a:prstGeom>
          <a:noFill/>
        </p:spPr>
        <p:txBody>
          <a:bodyPr wrap="square" lIns="0" rIns="0" tIns="0" bIns="0" anchor="t">
            <a:noAutofit/>
          </a:bodyPr>
          <a:lstStyle/>
          <a:p>
            <a:pPr algn="l">
              <a:lnSpc>
                <a:spcPct val="108000"/>
              </a:lnSpc>
              <a:spcBef>
                <a:spcPts val="0"/>
              </a:spcBef>
              <a:spcAft>
                <a:spcPts val="0"/>
              </a:spcAft>
            </a:pPr>
            <a:r>
              <a:rPr b="0" sz="1600" i="0">
                <a:solidFill>
                  <a:srgbClr val="1B3B47"/>
                </a:solidFill>
                <a:latin typeface="Arial"/>
              </a:rPr>
              <a:t>Révisez avec les cartes « À retenir », le mémo, les quiz et leurs corrigés.</a:t>
            </a:r>
          </a:p>
        </p:txBody>
      </p:sp>
      <p:sp>
        <p:nvSpPr>
          <p:cNvPr id="21" name="TextBox 20"/>
          <p:cNvSpPr txBox="1"/>
          <p:nvPr/>
        </p:nvSpPr>
        <p:spPr>
          <a:xfrm>
            <a:off x="2606040" y="5925312"/>
            <a:ext cx="73152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ED1548"/>
                </a:solidFill>
                <a:latin typeface="Arial"/>
              </a:rPr>
              <a:t>REPÈRES VISUELS</a:t>
            </a:r>
          </a:p>
        </p:txBody>
      </p:sp>
      <p:sp>
        <p:nvSpPr>
          <p:cNvPr id="22" name="Rounded Rectangle 21"/>
          <p:cNvSpPr/>
          <p:nvPr/>
        </p:nvSpPr>
        <p:spPr>
          <a:xfrm>
            <a:off x="2606040" y="6263640"/>
            <a:ext cx="3520440" cy="141732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3" name="TextBox 22"/>
          <p:cNvSpPr txBox="1"/>
          <p:nvPr/>
        </p:nvSpPr>
        <p:spPr>
          <a:xfrm>
            <a:off x="2862072" y="6437376"/>
            <a:ext cx="3017520" cy="274320"/>
          </a:xfrm>
          <a:prstGeom prst="rect">
            <a:avLst/>
          </a:prstGeom>
          <a:noFill/>
        </p:spPr>
        <p:txBody>
          <a:bodyPr wrap="square" lIns="0" rIns="0" tIns="0" bIns="0" anchor="t">
            <a:noAutofit/>
          </a:bodyPr>
          <a:lstStyle/>
          <a:p>
            <a:pPr algn="l">
              <a:lnSpc>
                <a:spcPct val="102000"/>
              </a:lnSpc>
              <a:spcBef>
                <a:spcPts val="0"/>
              </a:spcBef>
              <a:spcAft>
                <a:spcPts val="0"/>
              </a:spcAft>
            </a:pPr>
            <a:r>
              <a:rPr b="1" sz="1500" i="0">
                <a:solidFill>
                  <a:srgbClr val="ED1548"/>
                </a:solidFill>
                <a:latin typeface="Arial"/>
              </a:rPr>
              <a:t>Concept</a:t>
            </a:r>
          </a:p>
        </p:txBody>
      </p:sp>
      <p:sp>
        <p:nvSpPr>
          <p:cNvPr id="24" name="TextBox 23"/>
          <p:cNvSpPr txBox="1"/>
          <p:nvPr/>
        </p:nvSpPr>
        <p:spPr>
          <a:xfrm>
            <a:off x="2862072" y="6748272"/>
            <a:ext cx="3017520" cy="640080"/>
          </a:xfrm>
          <a:prstGeom prst="rect">
            <a:avLst/>
          </a:prstGeom>
          <a:noFill/>
        </p:spPr>
        <p:txBody>
          <a:bodyPr wrap="square" lIns="0" rIns="0" tIns="0" bIns="0" anchor="t">
            <a:noAutofit/>
          </a:bodyPr>
          <a:lstStyle/>
          <a:p>
            <a:pPr algn="l">
              <a:lnSpc>
                <a:spcPct val="102000"/>
              </a:lnSpc>
              <a:spcBef>
                <a:spcPts val="0"/>
              </a:spcBef>
              <a:spcAft>
                <a:spcPts val="0"/>
              </a:spcAft>
            </a:pPr>
            <a:r>
              <a:rPr b="0" sz="1400" i="0">
                <a:solidFill>
                  <a:srgbClr val="1B3B47"/>
                </a:solidFill>
                <a:latin typeface="Arial"/>
              </a:rPr>
              <a:t>Fond clair, texte structuré</a:t>
            </a:r>
          </a:p>
        </p:txBody>
      </p:sp>
      <p:sp>
        <p:nvSpPr>
          <p:cNvPr id="25" name="Rounded Rectangle 24"/>
          <p:cNvSpPr/>
          <p:nvPr/>
        </p:nvSpPr>
        <p:spPr>
          <a:xfrm>
            <a:off x="6309360" y="6263640"/>
            <a:ext cx="3520440" cy="1417320"/>
          </a:xfrm>
          <a:prstGeom prst="roundRect">
            <a:avLst>
              <a:gd name="adj" fmla="val 8000"/>
            </a:avLst>
          </a:prstGeom>
          <a:solidFill>
            <a:srgbClr val="093544"/>
          </a:solidFill>
          <a:ln>
            <a:noFill/>
          </a:ln>
          <a:effectLst/>
        </p:spPr>
        <p:txBody>
          <a:bodyPr rtlCol="0" anchor="ctr"/>
          <a:lstStyle/>
          <a:p>
            <a:pPr algn="ctr"/>
          </a:p>
        </p:txBody>
      </p:sp>
      <p:sp>
        <p:nvSpPr>
          <p:cNvPr id="26" name="TextBox 25"/>
          <p:cNvSpPr txBox="1"/>
          <p:nvPr/>
        </p:nvSpPr>
        <p:spPr>
          <a:xfrm>
            <a:off x="6565392" y="6437376"/>
            <a:ext cx="3017520" cy="274320"/>
          </a:xfrm>
          <a:prstGeom prst="rect">
            <a:avLst/>
          </a:prstGeom>
          <a:noFill/>
        </p:spPr>
        <p:txBody>
          <a:bodyPr wrap="square" lIns="0" rIns="0" tIns="0" bIns="0" anchor="t">
            <a:noAutofit/>
          </a:bodyPr>
          <a:lstStyle/>
          <a:p>
            <a:pPr algn="l">
              <a:lnSpc>
                <a:spcPct val="102000"/>
              </a:lnSpc>
              <a:spcBef>
                <a:spcPts val="0"/>
              </a:spcBef>
              <a:spcAft>
                <a:spcPts val="0"/>
              </a:spcAft>
            </a:pPr>
            <a:r>
              <a:rPr b="1" sz="1500" i="0">
                <a:solidFill>
                  <a:srgbClr val="FFFFFF"/>
                </a:solidFill>
                <a:latin typeface="Arial"/>
              </a:rPr>
              <a:t>Code</a:t>
            </a:r>
          </a:p>
        </p:txBody>
      </p:sp>
      <p:sp>
        <p:nvSpPr>
          <p:cNvPr id="27" name="TextBox 26"/>
          <p:cNvSpPr txBox="1"/>
          <p:nvPr/>
        </p:nvSpPr>
        <p:spPr>
          <a:xfrm>
            <a:off x="6565392" y="6748272"/>
            <a:ext cx="3017520" cy="640080"/>
          </a:xfrm>
          <a:prstGeom prst="rect">
            <a:avLst/>
          </a:prstGeom>
          <a:noFill/>
        </p:spPr>
        <p:txBody>
          <a:bodyPr wrap="square" lIns="0" rIns="0" tIns="0" bIns="0" anchor="t">
            <a:noAutofit/>
          </a:bodyPr>
          <a:lstStyle/>
          <a:p>
            <a:pPr algn="l">
              <a:lnSpc>
                <a:spcPct val="102000"/>
              </a:lnSpc>
              <a:spcBef>
                <a:spcPts val="0"/>
              </a:spcBef>
              <a:spcAft>
                <a:spcPts val="0"/>
              </a:spcAft>
            </a:pPr>
            <a:r>
              <a:rPr b="0" sz="1400" i="0">
                <a:solidFill>
                  <a:srgbClr val="FFFFFF"/>
                </a:solidFill>
                <a:latin typeface="Arial"/>
              </a:rPr>
              <a:t>Fond sombre, fichier en légende</a:t>
            </a:r>
          </a:p>
        </p:txBody>
      </p:sp>
      <p:sp>
        <p:nvSpPr>
          <p:cNvPr id="28" name="Rounded Rectangle 27"/>
          <p:cNvSpPr/>
          <p:nvPr/>
        </p:nvSpPr>
        <p:spPr>
          <a:xfrm>
            <a:off x="10012680" y="6263640"/>
            <a:ext cx="3520440" cy="1417320"/>
          </a:xfrm>
          <a:prstGeom prst="roundRect">
            <a:avLst>
              <a:gd name="adj" fmla="val 8000"/>
            </a:avLst>
          </a:prstGeom>
          <a:solidFill>
            <a:srgbClr val="ED1548"/>
          </a:solidFill>
          <a:ln>
            <a:noFill/>
          </a:ln>
          <a:effectLst/>
        </p:spPr>
        <p:txBody>
          <a:bodyPr rtlCol="0" anchor="ctr"/>
          <a:lstStyle/>
          <a:p>
            <a:pPr algn="ctr"/>
          </a:p>
        </p:txBody>
      </p:sp>
      <p:sp>
        <p:nvSpPr>
          <p:cNvPr id="29" name="TextBox 28"/>
          <p:cNvSpPr txBox="1"/>
          <p:nvPr/>
        </p:nvSpPr>
        <p:spPr>
          <a:xfrm>
            <a:off x="10268711" y="6437376"/>
            <a:ext cx="3017520" cy="274320"/>
          </a:xfrm>
          <a:prstGeom prst="rect">
            <a:avLst/>
          </a:prstGeom>
          <a:noFill/>
        </p:spPr>
        <p:txBody>
          <a:bodyPr wrap="square" lIns="0" rIns="0" tIns="0" bIns="0" anchor="t">
            <a:noAutofit/>
          </a:bodyPr>
          <a:lstStyle/>
          <a:p>
            <a:pPr algn="l">
              <a:lnSpc>
                <a:spcPct val="102000"/>
              </a:lnSpc>
              <a:spcBef>
                <a:spcPts val="0"/>
              </a:spcBef>
              <a:spcAft>
                <a:spcPts val="0"/>
              </a:spcAft>
            </a:pPr>
            <a:r>
              <a:rPr b="1" sz="1500" i="0">
                <a:solidFill>
                  <a:srgbClr val="FFFFFF"/>
                </a:solidFill>
                <a:latin typeface="Arial"/>
              </a:rPr>
              <a:t>TP</a:t>
            </a:r>
          </a:p>
        </p:txBody>
      </p:sp>
      <p:sp>
        <p:nvSpPr>
          <p:cNvPr id="30" name="TextBox 29"/>
          <p:cNvSpPr txBox="1"/>
          <p:nvPr/>
        </p:nvSpPr>
        <p:spPr>
          <a:xfrm>
            <a:off x="10268711" y="6748272"/>
            <a:ext cx="3017520" cy="640080"/>
          </a:xfrm>
          <a:prstGeom prst="rect">
            <a:avLst/>
          </a:prstGeom>
          <a:noFill/>
        </p:spPr>
        <p:txBody>
          <a:bodyPr wrap="square" lIns="0" rIns="0" tIns="0" bIns="0" anchor="t">
            <a:noAutofit/>
          </a:bodyPr>
          <a:lstStyle/>
          <a:p>
            <a:pPr algn="l">
              <a:lnSpc>
                <a:spcPct val="102000"/>
              </a:lnSpc>
              <a:spcBef>
                <a:spcPts val="0"/>
              </a:spcBef>
              <a:spcAft>
                <a:spcPts val="0"/>
              </a:spcAft>
            </a:pPr>
            <a:r>
              <a:rPr b="0" sz="1400" i="0">
                <a:solidFill>
                  <a:srgbClr val="FFFFFF"/>
                </a:solidFill>
                <a:latin typeface="Arial"/>
              </a:rPr>
              <a:t>Rose : action à faire</a:t>
            </a:r>
          </a:p>
        </p:txBody>
      </p:sp>
      <p:sp>
        <p:nvSpPr>
          <p:cNvPr id="31" name="Rounded Rectangle 30"/>
          <p:cNvSpPr/>
          <p:nvPr/>
        </p:nvSpPr>
        <p:spPr>
          <a:xfrm>
            <a:off x="13715999" y="6263640"/>
            <a:ext cx="3474721" cy="1417320"/>
          </a:xfrm>
          <a:prstGeom prst="roundRect">
            <a:avLst>
              <a:gd name="adj" fmla="val 8000"/>
            </a:avLst>
          </a:prstGeom>
          <a:solidFill>
            <a:srgbClr val="B26A00"/>
          </a:solidFill>
          <a:ln>
            <a:noFill/>
          </a:ln>
          <a:effectLst/>
        </p:spPr>
        <p:txBody>
          <a:bodyPr rtlCol="0" anchor="ctr"/>
          <a:lstStyle/>
          <a:p>
            <a:pPr algn="ctr"/>
          </a:p>
        </p:txBody>
      </p:sp>
      <p:sp>
        <p:nvSpPr>
          <p:cNvPr id="32" name="TextBox 31"/>
          <p:cNvSpPr txBox="1"/>
          <p:nvPr/>
        </p:nvSpPr>
        <p:spPr>
          <a:xfrm>
            <a:off x="13972031" y="6437376"/>
            <a:ext cx="3017520" cy="274320"/>
          </a:xfrm>
          <a:prstGeom prst="rect">
            <a:avLst/>
          </a:prstGeom>
          <a:noFill/>
        </p:spPr>
        <p:txBody>
          <a:bodyPr wrap="square" lIns="0" rIns="0" tIns="0" bIns="0" anchor="t">
            <a:noAutofit/>
          </a:bodyPr>
          <a:lstStyle/>
          <a:p>
            <a:pPr algn="l">
              <a:lnSpc>
                <a:spcPct val="102000"/>
              </a:lnSpc>
              <a:spcBef>
                <a:spcPts val="0"/>
              </a:spcBef>
              <a:spcAft>
                <a:spcPts val="0"/>
              </a:spcAft>
            </a:pPr>
            <a:r>
              <a:rPr b="1" sz="1500" i="0">
                <a:solidFill>
                  <a:srgbClr val="FFFFFF"/>
                </a:solidFill>
                <a:latin typeface="Arial"/>
              </a:rPr>
              <a:t>Piège</a:t>
            </a:r>
          </a:p>
        </p:txBody>
      </p:sp>
      <p:sp>
        <p:nvSpPr>
          <p:cNvPr id="33" name="TextBox 32"/>
          <p:cNvSpPr txBox="1"/>
          <p:nvPr/>
        </p:nvSpPr>
        <p:spPr>
          <a:xfrm>
            <a:off x="13972031" y="6748272"/>
            <a:ext cx="3017520" cy="640080"/>
          </a:xfrm>
          <a:prstGeom prst="rect">
            <a:avLst/>
          </a:prstGeom>
          <a:noFill/>
        </p:spPr>
        <p:txBody>
          <a:bodyPr wrap="square" lIns="0" rIns="0" tIns="0" bIns="0" anchor="t">
            <a:noAutofit/>
          </a:bodyPr>
          <a:lstStyle/>
          <a:p>
            <a:pPr algn="l">
              <a:lnSpc>
                <a:spcPct val="102000"/>
              </a:lnSpc>
              <a:spcBef>
                <a:spcPts val="0"/>
              </a:spcBef>
              <a:spcAft>
                <a:spcPts val="0"/>
              </a:spcAft>
            </a:pPr>
            <a:r>
              <a:rPr b="0" sz="1400" i="0">
                <a:solidFill>
                  <a:srgbClr val="FFFFFF"/>
                </a:solidFill>
                <a:latin typeface="Arial"/>
              </a:rPr>
              <a:t>Ambre : erreur fréquente</a:t>
            </a:r>
          </a:p>
        </p:txBody>
      </p:sp>
      <p:sp>
        <p:nvSpPr>
          <p:cNvPr id="34" name="TextBox 33"/>
          <p:cNvSpPr txBox="1"/>
          <p:nvPr/>
        </p:nvSpPr>
        <p:spPr>
          <a:xfrm>
            <a:off x="2606040" y="8183879"/>
            <a:ext cx="14584680" cy="457200"/>
          </a:xfrm>
          <a:prstGeom prst="rect">
            <a:avLst/>
          </a:prstGeom>
          <a:noFill/>
        </p:spPr>
        <p:txBody>
          <a:bodyPr wrap="square" lIns="0" rIns="0" tIns="0" bIns="0" anchor="t">
            <a:noAutofit/>
          </a:bodyPr>
          <a:lstStyle/>
          <a:p>
            <a:pPr algn="l">
              <a:lnSpc>
                <a:spcPct val="102000"/>
              </a:lnSpc>
              <a:spcBef>
                <a:spcPts val="0"/>
              </a:spcBef>
              <a:spcAft>
                <a:spcPts val="0"/>
              </a:spcAft>
            </a:pPr>
            <a:r>
              <a:rPr b="0" sz="1500" i="0">
                <a:solidFill>
                  <a:srgbClr val="5C6E76"/>
                </a:solidFill>
                <a:latin typeface="Arial"/>
              </a:rPr>
              <a:t>Les slides de TP sont numérotées ; le sommaire renvoie directement aux chapitres.</a:t>
            </a:r>
          </a:p>
        </p:txBody>
      </p:sp>
      <p:sp>
        <p:nvSpPr>
          <p:cNvPr id="35" name="Rounded Rectangle 34"/>
          <p:cNvSpPr/>
          <p:nvPr/>
        </p:nvSpPr>
        <p:spPr>
          <a:xfrm>
            <a:off x="2606040" y="8732520"/>
            <a:ext cx="14584680" cy="822960"/>
          </a:xfrm>
          <a:prstGeom prst="roundRect">
            <a:avLst>
              <a:gd name="adj" fmla="val 8000"/>
            </a:avLst>
          </a:prstGeom>
          <a:solidFill>
            <a:srgbClr val="EBF6F8"/>
          </a:solidFill>
          <a:ln>
            <a:noFill/>
          </a:ln>
          <a:effectLst/>
        </p:spPr>
        <p:txBody>
          <a:bodyPr rtlCol="0" anchor="ctr"/>
          <a:lstStyle/>
          <a:p>
            <a:pPr algn="ctr"/>
          </a:p>
        </p:txBody>
      </p:sp>
      <p:sp>
        <p:nvSpPr>
          <p:cNvPr id="36" name="Rectangle 35"/>
          <p:cNvSpPr/>
          <p:nvPr/>
        </p:nvSpPr>
        <p:spPr>
          <a:xfrm>
            <a:off x="2606040" y="8732520"/>
            <a:ext cx="64008" cy="822960"/>
          </a:xfrm>
          <a:prstGeom prst="rect">
            <a:avLst/>
          </a:prstGeom>
          <a:solidFill>
            <a:srgbClr val="0B4F6C"/>
          </a:solidFill>
          <a:ln>
            <a:noFill/>
          </a:ln>
          <a:effectLst/>
        </p:spPr>
        <p:txBody>
          <a:bodyPr rtlCol="0" anchor="ctr"/>
          <a:lstStyle/>
          <a:p>
            <a:pPr algn="ctr"/>
          </a:p>
        </p:txBody>
      </p:sp>
      <p:sp>
        <p:nvSpPr>
          <p:cNvPr id="37" name="TextBox 36"/>
          <p:cNvSpPr txBox="1"/>
          <p:nvPr/>
        </p:nvSpPr>
        <p:spPr>
          <a:xfrm>
            <a:off x="2898648" y="8897112"/>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À GARDER SOUS LA MAIN</a:t>
            </a:r>
          </a:p>
        </p:txBody>
      </p:sp>
      <p:sp>
        <p:nvSpPr>
          <p:cNvPr id="38" name="TextBox 37"/>
          <p:cNvSpPr txBox="1"/>
          <p:nvPr/>
        </p:nvSpPr>
        <p:spPr>
          <a:xfrm>
            <a:off x="2898648" y="9189720"/>
            <a:ext cx="14173200" cy="256032"/>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Le mémo CLI et le mémo syntaxe (p. 57-58) sont faits pour être imprimés ou gardés ouverts à côté de l'éditeur.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83879" y="1298448"/>
            <a:ext cx="9144000" cy="1417320"/>
          </a:xfrm>
          <a:prstGeom prst="rect">
            <a:avLst/>
          </a:prstGeom>
          <a:noFill/>
        </p:spPr>
        <p:txBody>
          <a:bodyPr wrap="square" lIns="0" rIns="0" tIns="0" bIns="0" anchor="t">
            <a:noAutofit/>
          </a:bodyPr>
          <a:lstStyle/>
          <a:p>
            <a:pPr algn="l">
              <a:lnSpc>
                <a:spcPct val="90000"/>
              </a:lnSpc>
              <a:spcBef>
                <a:spcPts val="0"/>
              </a:spcBef>
              <a:spcAft>
                <a:spcPts val="0"/>
              </a:spcAft>
            </a:pPr>
            <a:r>
              <a:rPr b="1" sz="9200" i="0">
                <a:solidFill>
                  <a:srgbClr val="FFFFFF"/>
                </a:solidFill>
                <a:latin typeface="Arial"/>
              </a:rPr>
              <a:t>Sommaire</a:t>
            </a:r>
          </a:p>
        </p:txBody>
      </p:sp>
      <p:sp>
        <p:nvSpPr>
          <p:cNvPr id="3" name="TextBox 2"/>
          <p:cNvSpPr txBox="1"/>
          <p:nvPr/>
        </p:nvSpPr>
        <p:spPr>
          <a:xfrm>
            <a:off x="8229600" y="2651760"/>
            <a:ext cx="8229600" cy="347472"/>
          </a:xfrm>
          <a:prstGeom prst="rect">
            <a:avLst/>
          </a:prstGeom>
          <a:noFill/>
        </p:spPr>
        <p:txBody>
          <a:bodyPr wrap="square" lIns="0" rIns="0" tIns="0" bIns="0" anchor="t">
            <a:noAutofit/>
          </a:bodyPr>
          <a:lstStyle/>
          <a:p>
            <a:pPr algn="l">
              <a:lnSpc>
                <a:spcPct val="102000"/>
              </a:lnSpc>
              <a:spcBef>
                <a:spcPts val="0"/>
              </a:spcBef>
              <a:spcAft>
                <a:spcPts val="0"/>
              </a:spcAft>
            </a:pPr>
            <a:r>
              <a:rPr b="0" sz="2000" i="0">
                <a:solidFill>
                  <a:srgbClr val="FFE3EA"/>
                </a:solidFill>
                <a:latin typeface="Arial"/>
              </a:rPr>
              <a:t>3 jours  ·  21 heures  ·  1 projet fil rouge</a:t>
            </a:r>
          </a:p>
        </p:txBody>
      </p:sp>
      <p:sp>
        <p:nvSpPr>
          <p:cNvPr id="4" name="Rectangle 3"/>
          <p:cNvSpPr/>
          <p:nvPr/>
        </p:nvSpPr>
        <p:spPr>
          <a:xfrm>
            <a:off x="8229600" y="3200400"/>
            <a:ext cx="1828800" cy="41148"/>
          </a:xfrm>
          <a:prstGeom prst="rect">
            <a:avLst/>
          </a:prstGeom>
          <a:solidFill>
            <a:srgbClr val="FFFFFF"/>
          </a:solidFill>
          <a:ln>
            <a:noFill/>
          </a:ln>
          <a:effectLst/>
        </p:spPr>
        <p:txBody>
          <a:bodyPr rtlCol="0" anchor="ctr"/>
          <a:lstStyle/>
          <a:p>
            <a:pPr algn="ctr"/>
          </a:p>
        </p:txBody>
      </p:sp>
      <p:sp>
        <p:nvSpPr>
          <p:cNvPr id="5" name="Oval 4">
            <a:hlinkClick action="ppaction://hlinksldjump" r:id="rId3"/>
          </p:cNvPr>
          <p:cNvSpPr/>
          <p:nvPr/>
        </p:nvSpPr>
        <p:spPr>
          <a:xfrm>
            <a:off x="8275320" y="3849624"/>
            <a:ext cx="603504" cy="603504"/>
          </a:xfrm>
          <a:prstGeom prst="ellipse">
            <a:avLst/>
          </a:prstGeom>
          <a:solidFill>
            <a:srgbClr val="FFFFFF"/>
          </a:solidFill>
          <a:ln>
            <a:noFill/>
          </a:ln>
          <a:effectLst/>
        </p:spPr>
        <p:txBody>
          <a:bodyPr rtlCol="0" anchor="ctr" lIns="0" rIns="0" tIns="0" bIns="0"/>
          <a:lstStyle/>
          <a:p>
            <a:pPr algn="ctr"/>
            <a:r>
              <a:rPr sz="1700" b="1">
                <a:solidFill>
                  <a:srgbClr val="ED1548"/>
                </a:solidFill>
                <a:latin typeface="Arial"/>
              </a:rPr>
              <a:t>1</a:t>
            </a:r>
          </a:p>
        </p:txBody>
      </p:sp>
      <p:sp>
        <p:nvSpPr>
          <p:cNvPr id="6" name="TextBox 5">
            <a:hlinkClick action="ppaction://hlinksldjump" r:id="rId3"/>
          </p:cNvPr>
          <p:cNvSpPr txBox="1"/>
          <p:nvPr/>
        </p:nvSpPr>
        <p:spPr>
          <a:xfrm>
            <a:off x="9144000" y="3822191"/>
            <a:ext cx="6400800" cy="457200"/>
          </a:xfrm>
          <a:prstGeom prst="rect">
            <a:avLst/>
          </a:prstGeom>
          <a:noFill/>
        </p:spPr>
        <p:txBody>
          <a:bodyPr wrap="square" lIns="0" rIns="0" tIns="0" bIns="0" anchor="t">
            <a:noAutofit/>
          </a:bodyPr>
          <a:lstStyle/>
          <a:p>
            <a:pPr algn="l">
              <a:lnSpc>
                <a:spcPct val="102000"/>
              </a:lnSpc>
              <a:spcBef>
                <a:spcPts val="0"/>
              </a:spcBef>
              <a:spcAft>
                <a:spcPts val="0"/>
              </a:spcAft>
            </a:pPr>
            <a:r>
              <a:rPr b="1" sz="2800" i="0">
                <a:solidFill>
                  <a:srgbClr val="FFFFFF"/>
                </a:solidFill>
                <a:latin typeface="Arial"/>
              </a:rPr>
              <a:t>Jour 1 — Fondations</a:t>
            </a:r>
          </a:p>
        </p:txBody>
      </p:sp>
      <p:sp>
        <p:nvSpPr>
          <p:cNvPr id="7" name="TextBox 6">
            <a:hlinkClick action="ppaction://hlinksldjump" r:id="rId3"/>
          </p:cNvPr>
          <p:cNvSpPr txBox="1"/>
          <p:nvPr/>
        </p:nvSpPr>
        <p:spPr>
          <a:xfrm>
            <a:off x="16230600" y="3913631"/>
            <a:ext cx="1554480" cy="320040"/>
          </a:xfrm>
          <a:prstGeom prst="rect">
            <a:avLst/>
          </a:prstGeom>
          <a:noFill/>
        </p:spPr>
        <p:txBody>
          <a:bodyPr wrap="square" lIns="0" rIns="0" tIns="0" bIns="0" anchor="t">
            <a:noAutofit/>
          </a:bodyPr>
          <a:lstStyle/>
          <a:p>
            <a:pPr algn="r">
              <a:lnSpc>
                <a:spcPct val="102000"/>
              </a:lnSpc>
              <a:spcBef>
                <a:spcPts val="0"/>
              </a:spcBef>
              <a:spcAft>
                <a:spcPts val="0"/>
              </a:spcAft>
            </a:pPr>
            <a:r>
              <a:rPr b="0" sz="1500" i="0">
                <a:solidFill>
                  <a:srgbClr val="FFE3EA"/>
                </a:solidFill>
                <a:latin typeface="Arial"/>
              </a:rPr>
              <a:t>p. 09</a:t>
            </a:r>
          </a:p>
        </p:txBody>
      </p:sp>
      <p:sp>
        <p:nvSpPr>
          <p:cNvPr id="8" name="Oval 7">
            <a:hlinkClick action="ppaction://hlinksldjump" r:id="rId4"/>
          </p:cNvPr>
          <p:cNvSpPr/>
          <p:nvPr/>
        </p:nvSpPr>
        <p:spPr>
          <a:xfrm>
            <a:off x="8275320" y="4800600"/>
            <a:ext cx="603504" cy="603504"/>
          </a:xfrm>
          <a:prstGeom prst="ellipse">
            <a:avLst/>
          </a:prstGeom>
          <a:solidFill>
            <a:srgbClr val="FFFFFF"/>
          </a:solidFill>
          <a:ln>
            <a:noFill/>
          </a:ln>
          <a:effectLst/>
        </p:spPr>
        <p:txBody>
          <a:bodyPr rtlCol="0" anchor="ctr" lIns="0" rIns="0" tIns="0" bIns="0"/>
          <a:lstStyle/>
          <a:p>
            <a:pPr algn="ctr"/>
            <a:r>
              <a:rPr sz="1700" b="1">
                <a:solidFill>
                  <a:srgbClr val="ED1548"/>
                </a:solidFill>
                <a:latin typeface="Arial"/>
              </a:rPr>
              <a:t>2</a:t>
            </a:r>
          </a:p>
        </p:txBody>
      </p:sp>
      <p:sp>
        <p:nvSpPr>
          <p:cNvPr id="9" name="TextBox 8">
            <a:hlinkClick action="ppaction://hlinksldjump" r:id="rId4"/>
          </p:cNvPr>
          <p:cNvSpPr txBox="1"/>
          <p:nvPr/>
        </p:nvSpPr>
        <p:spPr>
          <a:xfrm>
            <a:off x="9144000" y="4773168"/>
            <a:ext cx="6400800" cy="457200"/>
          </a:xfrm>
          <a:prstGeom prst="rect">
            <a:avLst/>
          </a:prstGeom>
          <a:noFill/>
        </p:spPr>
        <p:txBody>
          <a:bodyPr wrap="square" lIns="0" rIns="0" tIns="0" bIns="0" anchor="t">
            <a:noAutofit/>
          </a:bodyPr>
          <a:lstStyle/>
          <a:p>
            <a:pPr algn="l">
              <a:lnSpc>
                <a:spcPct val="102000"/>
              </a:lnSpc>
              <a:spcBef>
                <a:spcPts val="0"/>
              </a:spcBef>
              <a:spcAft>
                <a:spcPts val="0"/>
              </a:spcAft>
            </a:pPr>
            <a:r>
              <a:rPr b="1" sz="2800" i="0">
                <a:solidFill>
                  <a:srgbClr val="FFFFFF"/>
                </a:solidFill>
                <a:latin typeface="Arial"/>
              </a:rPr>
              <a:t>Jour 2 — Architecture &amp; HTTP</a:t>
            </a:r>
          </a:p>
        </p:txBody>
      </p:sp>
      <p:sp>
        <p:nvSpPr>
          <p:cNvPr id="10" name="TextBox 9">
            <a:hlinkClick action="ppaction://hlinksldjump" r:id="rId4"/>
          </p:cNvPr>
          <p:cNvSpPr txBox="1"/>
          <p:nvPr/>
        </p:nvSpPr>
        <p:spPr>
          <a:xfrm>
            <a:off x="16230600" y="4864607"/>
            <a:ext cx="1554480" cy="320040"/>
          </a:xfrm>
          <a:prstGeom prst="rect">
            <a:avLst/>
          </a:prstGeom>
          <a:noFill/>
        </p:spPr>
        <p:txBody>
          <a:bodyPr wrap="square" lIns="0" rIns="0" tIns="0" bIns="0" anchor="t">
            <a:noAutofit/>
          </a:bodyPr>
          <a:lstStyle/>
          <a:p>
            <a:pPr algn="r">
              <a:lnSpc>
                <a:spcPct val="102000"/>
              </a:lnSpc>
              <a:spcBef>
                <a:spcPts val="0"/>
              </a:spcBef>
              <a:spcAft>
                <a:spcPts val="0"/>
              </a:spcAft>
            </a:pPr>
            <a:r>
              <a:rPr b="0" sz="1500" i="0">
                <a:solidFill>
                  <a:srgbClr val="FFE3EA"/>
                </a:solidFill>
                <a:latin typeface="Arial"/>
              </a:rPr>
              <a:t>p. 23</a:t>
            </a:r>
          </a:p>
        </p:txBody>
      </p:sp>
      <p:sp>
        <p:nvSpPr>
          <p:cNvPr id="11" name="Oval 10">
            <a:hlinkClick action="ppaction://hlinksldjump" r:id="rId5"/>
          </p:cNvPr>
          <p:cNvSpPr/>
          <p:nvPr/>
        </p:nvSpPr>
        <p:spPr>
          <a:xfrm>
            <a:off x="8275320" y="5751576"/>
            <a:ext cx="603504" cy="603504"/>
          </a:xfrm>
          <a:prstGeom prst="ellipse">
            <a:avLst/>
          </a:prstGeom>
          <a:solidFill>
            <a:srgbClr val="FFFFFF"/>
          </a:solidFill>
          <a:ln>
            <a:noFill/>
          </a:ln>
          <a:effectLst/>
        </p:spPr>
        <p:txBody>
          <a:bodyPr rtlCol="0" anchor="ctr" lIns="0" rIns="0" tIns="0" bIns="0"/>
          <a:lstStyle/>
          <a:p>
            <a:pPr algn="ctr"/>
            <a:r>
              <a:rPr sz="1700" b="1">
                <a:solidFill>
                  <a:srgbClr val="ED1548"/>
                </a:solidFill>
                <a:latin typeface="Arial"/>
              </a:rPr>
              <a:t>3</a:t>
            </a:r>
          </a:p>
        </p:txBody>
      </p:sp>
      <p:sp>
        <p:nvSpPr>
          <p:cNvPr id="12" name="TextBox 11">
            <a:hlinkClick action="ppaction://hlinksldjump" r:id="rId5"/>
          </p:cNvPr>
          <p:cNvSpPr txBox="1"/>
          <p:nvPr/>
        </p:nvSpPr>
        <p:spPr>
          <a:xfrm>
            <a:off x="9144000" y="5724144"/>
            <a:ext cx="6400800" cy="457200"/>
          </a:xfrm>
          <a:prstGeom prst="rect">
            <a:avLst/>
          </a:prstGeom>
          <a:noFill/>
        </p:spPr>
        <p:txBody>
          <a:bodyPr wrap="square" lIns="0" rIns="0" tIns="0" bIns="0" anchor="t">
            <a:noAutofit/>
          </a:bodyPr>
          <a:lstStyle/>
          <a:p>
            <a:pPr algn="l">
              <a:lnSpc>
                <a:spcPct val="102000"/>
              </a:lnSpc>
              <a:spcBef>
                <a:spcPts val="0"/>
              </a:spcBef>
              <a:spcAft>
                <a:spcPts val="0"/>
              </a:spcAft>
            </a:pPr>
            <a:r>
              <a:rPr b="1" sz="2800" i="0">
                <a:solidFill>
                  <a:srgbClr val="FFFFFF"/>
                </a:solidFill>
                <a:latin typeface="Arial"/>
              </a:rPr>
              <a:t>Jour 3 — Métier &amp; qualité</a:t>
            </a:r>
          </a:p>
        </p:txBody>
      </p:sp>
      <p:sp>
        <p:nvSpPr>
          <p:cNvPr id="13" name="TextBox 12">
            <a:hlinkClick action="ppaction://hlinksldjump" r:id="rId5"/>
          </p:cNvPr>
          <p:cNvSpPr txBox="1"/>
          <p:nvPr/>
        </p:nvSpPr>
        <p:spPr>
          <a:xfrm>
            <a:off x="16230600" y="5815583"/>
            <a:ext cx="1554480" cy="320040"/>
          </a:xfrm>
          <a:prstGeom prst="rect">
            <a:avLst/>
          </a:prstGeom>
          <a:noFill/>
        </p:spPr>
        <p:txBody>
          <a:bodyPr wrap="square" lIns="0" rIns="0" tIns="0" bIns="0" anchor="t">
            <a:noAutofit/>
          </a:bodyPr>
          <a:lstStyle/>
          <a:p>
            <a:pPr algn="r">
              <a:lnSpc>
                <a:spcPct val="102000"/>
              </a:lnSpc>
              <a:spcBef>
                <a:spcPts val="0"/>
              </a:spcBef>
              <a:spcAft>
                <a:spcPts val="0"/>
              </a:spcAft>
            </a:pPr>
            <a:r>
              <a:rPr b="0" sz="1500" i="0">
                <a:solidFill>
                  <a:srgbClr val="FFE3EA"/>
                </a:solidFill>
                <a:latin typeface="Arial"/>
              </a:rPr>
              <a:t>p. 39</a:t>
            </a:r>
          </a:p>
        </p:txBody>
      </p:sp>
      <p:sp>
        <p:nvSpPr>
          <p:cNvPr id="14" name="Oval 13">
            <a:hlinkClick action="ppaction://hlinksldjump" r:id="rId6"/>
          </p:cNvPr>
          <p:cNvSpPr/>
          <p:nvPr/>
        </p:nvSpPr>
        <p:spPr>
          <a:xfrm>
            <a:off x="8275320" y="6702552"/>
            <a:ext cx="603504" cy="603504"/>
          </a:xfrm>
          <a:prstGeom prst="ellipse">
            <a:avLst/>
          </a:prstGeom>
          <a:solidFill>
            <a:srgbClr val="FFFFFF"/>
          </a:solidFill>
          <a:ln>
            <a:noFill/>
          </a:ln>
          <a:effectLst/>
        </p:spPr>
        <p:txBody>
          <a:bodyPr rtlCol="0" anchor="ctr" lIns="0" rIns="0" tIns="0" bIns="0"/>
          <a:lstStyle/>
          <a:p>
            <a:pPr algn="ctr"/>
            <a:r>
              <a:rPr sz="1700" b="1">
                <a:solidFill>
                  <a:srgbClr val="ED1548"/>
                </a:solidFill>
                <a:latin typeface="Arial"/>
              </a:rPr>
              <a:t>4</a:t>
            </a:r>
          </a:p>
        </p:txBody>
      </p:sp>
      <p:sp>
        <p:nvSpPr>
          <p:cNvPr id="15" name="TextBox 14">
            <a:hlinkClick action="ppaction://hlinksldjump" r:id="rId6"/>
          </p:cNvPr>
          <p:cNvSpPr txBox="1"/>
          <p:nvPr/>
        </p:nvSpPr>
        <p:spPr>
          <a:xfrm>
            <a:off x="9144000" y="6675120"/>
            <a:ext cx="6400800" cy="457200"/>
          </a:xfrm>
          <a:prstGeom prst="rect">
            <a:avLst/>
          </a:prstGeom>
          <a:noFill/>
        </p:spPr>
        <p:txBody>
          <a:bodyPr wrap="square" lIns="0" rIns="0" tIns="0" bIns="0" anchor="t">
            <a:noAutofit/>
          </a:bodyPr>
          <a:lstStyle/>
          <a:p>
            <a:pPr algn="l">
              <a:lnSpc>
                <a:spcPct val="102000"/>
              </a:lnSpc>
              <a:spcBef>
                <a:spcPts val="0"/>
              </a:spcBef>
              <a:spcAft>
                <a:spcPts val="0"/>
              </a:spcAft>
            </a:pPr>
            <a:r>
              <a:rPr b="1" sz="2800" i="0">
                <a:solidFill>
                  <a:srgbClr val="FFFFFF"/>
                </a:solidFill>
                <a:latin typeface="Arial"/>
              </a:rPr>
              <a:t>Mémo express</a:t>
            </a:r>
          </a:p>
        </p:txBody>
      </p:sp>
      <p:sp>
        <p:nvSpPr>
          <p:cNvPr id="16" name="TextBox 15">
            <a:hlinkClick action="ppaction://hlinksldjump" r:id="rId6"/>
          </p:cNvPr>
          <p:cNvSpPr txBox="1"/>
          <p:nvPr/>
        </p:nvSpPr>
        <p:spPr>
          <a:xfrm>
            <a:off x="16230600" y="6766559"/>
            <a:ext cx="1554480" cy="320040"/>
          </a:xfrm>
          <a:prstGeom prst="rect">
            <a:avLst/>
          </a:prstGeom>
          <a:noFill/>
        </p:spPr>
        <p:txBody>
          <a:bodyPr wrap="square" lIns="0" rIns="0" tIns="0" bIns="0" anchor="t">
            <a:noAutofit/>
          </a:bodyPr>
          <a:lstStyle/>
          <a:p>
            <a:pPr algn="r">
              <a:lnSpc>
                <a:spcPct val="102000"/>
              </a:lnSpc>
              <a:spcBef>
                <a:spcPts val="0"/>
              </a:spcBef>
              <a:spcAft>
                <a:spcPts val="0"/>
              </a:spcAft>
            </a:pPr>
            <a:r>
              <a:rPr b="0" sz="1500" i="0">
                <a:solidFill>
                  <a:srgbClr val="FFE3EA"/>
                </a:solidFill>
                <a:latin typeface="Arial"/>
              </a:rPr>
              <a:t>p. 57</a:t>
            </a:r>
          </a:p>
        </p:txBody>
      </p:sp>
      <p:sp>
        <p:nvSpPr>
          <p:cNvPr id="17" name="Oval 16">
            <a:hlinkClick action="ppaction://hlinksldjump" r:id="rId7"/>
          </p:cNvPr>
          <p:cNvSpPr/>
          <p:nvPr/>
        </p:nvSpPr>
        <p:spPr>
          <a:xfrm>
            <a:off x="8275320" y="7653527"/>
            <a:ext cx="603504" cy="603504"/>
          </a:xfrm>
          <a:prstGeom prst="ellipse">
            <a:avLst/>
          </a:prstGeom>
          <a:solidFill>
            <a:srgbClr val="FFFFFF"/>
          </a:solidFill>
          <a:ln>
            <a:noFill/>
          </a:ln>
          <a:effectLst/>
        </p:spPr>
        <p:txBody>
          <a:bodyPr rtlCol="0" anchor="ctr" lIns="0" rIns="0" tIns="0" bIns="0"/>
          <a:lstStyle/>
          <a:p>
            <a:pPr algn="ctr"/>
            <a:r>
              <a:rPr sz="1700" b="1">
                <a:solidFill>
                  <a:srgbClr val="ED1548"/>
                </a:solidFill>
                <a:latin typeface="Arial"/>
              </a:rPr>
              <a:t>5</a:t>
            </a:r>
          </a:p>
        </p:txBody>
      </p:sp>
      <p:sp>
        <p:nvSpPr>
          <p:cNvPr id="18" name="TextBox 17">
            <a:hlinkClick action="ppaction://hlinksldjump" r:id="rId7"/>
          </p:cNvPr>
          <p:cNvSpPr txBox="1"/>
          <p:nvPr/>
        </p:nvSpPr>
        <p:spPr>
          <a:xfrm>
            <a:off x="9144000" y="7626096"/>
            <a:ext cx="6400800" cy="457200"/>
          </a:xfrm>
          <a:prstGeom prst="rect">
            <a:avLst/>
          </a:prstGeom>
          <a:noFill/>
        </p:spPr>
        <p:txBody>
          <a:bodyPr wrap="square" lIns="0" rIns="0" tIns="0" bIns="0" anchor="t">
            <a:noAutofit/>
          </a:bodyPr>
          <a:lstStyle/>
          <a:p>
            <a:pPr algn="l">
              <a:lnSpc>
                <a:spcPct val="102000"/>
              </a:lnSpc>
              <a:spcBef>
                <a:spcPts val="0"/>
              </a:spcBef>
              <a:spcAft>
                <a:spcPts val="0"/>
              </a:spcAft>
            </a:pPr>
            <a:r>
              <a:rPr b="1" sz="2800" i="0">
                <a:solidFill>
                  <a:srgbClr val="FFFFFF"/>
                </a:solidFill>
                <a:latin typeface="Arial"/>
              </a:rPr>
              <a:t>Corrigés des quiz</a:t>
            </a:r>
          </a:p>
        </p:txBody>
      </p:sp>
      <p:sp>
        <p:nvSpPr>
          <p:cNvPr id="19" name="TextBox 18">
            <a:hlinkClick action="ppaction://hlinksldjump" r:id="rId7"/>
          </p:cNvPr>
          <p:cNvSpPr txBox="1"/>
          <p:nvPr/>
        </p:nvSpPr>
        <p:spPr>
          <a:xfrm>
            <a:off x="16230600" y="7717536"/>
            <a:ext cx="1554480" cy="320040"/>
          </a:xfrm>
          <a:prstGeom prst="rect">
            <a:avLst/>
          </a:prstGeom>
          <a:noFill/>
        </p:spPr>
        <p:txBody>
          <a:bodyPr wrap="square" lIns="0" rIns="0" tIns="0" bIns="0" anchor="t">
            <a:noAutofit/>
          </a:bodyPr>
          <a:lstStyle/>
          <a:p>
            <a:pPr algn="r">
              <a:lnSpc>
                <a:spcPct val="102000"/>
              </a:lnSpc>
              <a:spcBef>
                <a:spcPts val="0"/>
              </a:spcBef>
              <a:spcAft>
                <a:spcPts val="0"/>
              </a:spcAft>
            </a:pPr>
            <a:r>
              <a:rPr b="0" sz="1500" i="0">
                <a:solidFill>
                  <a:srgbClr val="FFE3EA"/>
                </a:solidFill>
                <a:latin typeface="Arial"/>
              </a:rPr>
              <a:t>p. 60</a:t>
            </a:r>
          </a:p>
        </p:txBody>
      </p:sp>
      <p:sp>
        <p:nvSpPr>
          <p:cNvPr id="20" name="Oval 19">
            <a:hlinkClick action="ppaction://hlinksldjump" r:id="rId8"/>
          </p:cNvPr>
          <p:cNvSpPr/>
          <p:nvPr/>
        </p:nvSpPr>
        <p:spPr>
          <a:xfrm>
            <a:off x="8275320" y="8604503"/>
            <a:ext cx="603504" cy="603504"/>
          </a:xfrm>
          <a:prstGeom prst="ellipse">
            <a:avLst/>
          </a:prstGeom>
          <a:solidFill>
            <a:srgbClr val="FFFFFF"/>
          </a:solidFill>
          <a:ln>
            <a:noFill/>
          </a:ln>
          <a:effectLst/>
        </p:spPr>
        <p:txBody>
          <a:bodyPr rtlCol="0" anchor="ctr" lIns="0" rIns="0" tIns="0" bIns="0"/>
          <a:lstStyle/>
          <a:p>
            <a:pPr algn="ctr"/>
            <a:r>
              <a:rPr sz="1700" b="1">
                <a:solidFill>
                  <a:srgbClr val="ED1548"/>
                </a:solidFill>
                <a:latin typeface="Arial"/>
              </a:rPr>
              <a:t>6</a:t>
            </a:r>
          </a:p>
        </p:txBody>
      </p:sp>
      <p:sp>
        <p:nvSpPr>
          <p:cNvPr id="21" name="TextBox 20">
            <a:hlinkClick action="ppaction://hlinksldjump" r:id="rId8"/>
          </p:cNvPr>
          <p:cNvSpPr txBox="1"/>
          <p:nvPr/>
        </p:nvSpPr>
        <p:spPr>
          <a:xfrm>
            <a:off x="9144000" y="8577072"/>
            <a:ext cx="6400800" cy="457200"/>
          </a:xfrm>
          <a:prstGeom prst="rect">
            <a:avLst/>
          </a:prstGeom>
          <a:noFill/>
        </p:spPr>
        <p:txBody>
          <a:bodyPr wrap="square" lIns="0" rIns="0" tIns="0" bIns="0" anchor="t">
            <a:noAutofit/>
          </a:bodyPr>
          <a:lstStyle/>
          <a:p>
            <a:pPr algn="l">
              <a:lnSpc>
                <a:spcPct val="102000"/>
              </a:lnSpc>
              <a:spcBef>
                <a:spcPts val="0"/>
              </a:spcBef>
              <a:spcAft>
                <a:spcPts val="0"/>
              </a:spcAft>
            </a:pPr>
            <a:r>
              <a:rPr b="1" sz="2800" i="0">
                <a:solidFill>
                  <a:srgbClr val="FFFFFF"/>
                </a:solidFill>
                <a:latin typeface="Arial"/>
              </a:rPr>
              <a:t>Ressources &amp; closing</a:t>
            </a:r>
          </a:p>
        </p:txBody>
      </p:sp>
      <p:sp>
        <p:nvSpPr>
          <p:cNvPr id="22" name="TextBox 21">
            <a:hlinkClick action="ppaction://hlinksldjump" r:id="rId8"/>
          </p:cNvPr>
          <p:cNvSpPr txBox="1"/>
          <p:nvPr/>
        </p:nvSpPr>
        <p:spPr>
          <a:xfrm>
            <a:off x="16230600" y="8668511"/>
            <a:ext cx="1554480" cy="320040"/>
          </a:xfrm>
          <a:prstGeom prst="rect">
            <a:avLst/>
          </a:prstGeom>
          <a:noFill/>
        </p:spPr>
        <p:txBody>
          <a:bodyPr wrap="square" lIns="0" rIns="0" tIns="0" bIns="0" anchor="t">
            <a:noAutofit/>
          </a:bodyPr>
          <a:lstStyle/>
          <a:p>
            <a:pPr algn="r">
              <a:lnSpc>
                <a:spcPct val="102000"/>
              </a:lnSpc>
              <a:spcBef>
                <a:spcPts val="0"/>
              </a:spcBef>
              <a:spcAft>
                <a:spcPts val="0"/>
              </a:spcAft>
            </a:pPr>
            <a:r>
              <a:rPr b="0" sz="1500" i="0">
                <a:solidFill>
                  <a:srgbClr val="FFE3EA"/>
                </a:solidFill>
                <a:latin typeface="Arial"/>
              </a:rPr>
              <a:t>p. 61</a:t>
            </a:r>
          </a:p>
        </p:txBody>
      </p:sp>
      <p:sp>
        <p:nvSpPr>
          <p:cNvPr id="23" name="TextBox 22"/>
          <p:cNvSpPr txBox="1"/>
          <p:nvPr/>
        </p:nvSpPr>
        <p:spPr>
          <a:xfrm>
            <a:off x="8229600" y="9857232"/>
            <a:ext cx="8686800" cy="274320"/>
          </a:xfrm>
          <a:prstGeom prst="rect">
            <a:avLst/>
          </a:prstGeom>
          <a:noFill/>
        </p:spPr>
        <p:txBody>
          <a:bodyPr wrap="square" lIns="0" rIns="0" tIns="0" bIns="0" anchor="t">
            <a:noAutofit/>
          </a:bodyPr>
          <a:lstStyle/>
          <a:p>
            <a:pPr algn="l">
              <a:lnSpc>
                <a:spcPct val="102000"/>
              </a:lnSpc>
              <a:spcBef>
                <a:spcPts val="0"/>
              </a:spcBef>
              <a:spcAft>
                <a:spcPts val="0"/>
              </a:spcAft>
            </a:pPr>
            <a:r>
              <a:rPr b="0" sz="1200" i="0">
                <a:solidFill>
                  <a:srgbClr val="FFE3EA"/>
                </a:solidFill>
                <a:latin typeface="Arial"/>
              </a:rPr>
              <a:t>Cliquez sur un chapitre pour y accéder directement.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LE PROJET</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Rapprocher des factures, pas des lignes de code</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Un comptable confronte les factures fournisseurs aux paiements du relevé bancaire.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04 / 62</a:t>
            </a:r>
          </a:p>
        </p:txBody>
      </p:sp>
      <p:sp>
        <p:nvSpPr>
          <p:cNvPr id="9" name="TextBox 8"/>
          <p:cNvSpPr txBox="1"/>
          <p:nvPr/>
        </p:nvSpPr>
        <p:spPr>
          <a:xfrm>
            <a:off x="2606040" y="3108960"/>
            <a:ext cx="6675120" cy="3931920"/>
          </a:xfrm>
          <a:prstGeom prst="rect">
            <a:avLst/>
          </a:prstGeom>
          <a:noFill/>
        </p:spPr>
        <p:txBody>
          <a:bodyPr wrap="square" lIns="0" rIns="0" tIns="0" bIns="0">
            <a:noAutofit/>
          </a:bodyPr>
          <a:lstStyle/>
          <a:p>
            <a:pPr marL="274320" indent="-274320">
              <a:lnSpc>
                <a:spcPct val="102000"/>
              </a:lnSpc>
              <a:spcBef>
                <a:spcPts val="0"/>
              </a:spcBef>
              <a:spcAft>
                <a:spcPts val="936"/>
              </a:spcAft>
              <a:buClr>
                <a:srgbClr val="ED1548"/>
              </a:buClr>
              <a:buFont typeface="Arial"/>
              <a:buChar char="•"/>
            </a:pPr>
            <a:r>
              <a:rPr b="1" sz="1900" i="0">
                <a:solidFill>
                  <a:srgbClr val="093544"/>
                </a:solidFill>
                <a:latin typeface="Arial"/>
              </a:rPr>
              <a:t>Lister, filtrer, trier</a:t>
            </a:r>
            <a:r>
              <a:rPr b="0" sz="1900" i="0">
                <a:solidFill>
                  <a:srgbClr val="093544"/>
                </a:solidFill>
                <a:latin typeface="Arial"/>
              </a:rPr>
              <a:t> 200 factures par statut, fournisseur et période.</a:t>
            </a:r>
          </a:p>
          <a:p>
            <a:pPr marL="274320" indent="-274320">
              <a:lnSpc>
                <a:spcPct val="102000"/>
              </a:lnSpc>
              <a:spcBef>
                <a:spcPts val="0"/>
              </a:spcBef>
              <a:spcAft>
                <a:spcPts val="936"/>
              </a:spcAft>
              <a:buClr>
                <a:srgbClr val="ED1548"/>
              </a:buClr>
              <a:buFont typeface="Arial"/>
              <a:buChar char="•"/>
            </a:pPr>
            <a:r>
              <a:rPr b="1" sz="1900" i="0">
                <a:solidFill>
                  <a:srgbClr val="093544"/>
                </a:solidFill>
                <a:latin typeface="Arial"/>
              </a:rPr>
              <a:t>Créer et modifier</a:t>
            </a:r>
            <a:r>
              <a:rPr b="0" sz="1900" i="0">
                <a:solidFill>
                  <a:srgbClr val="093544"/>
                </a:solidFill>
                <a:latin typeface="Arial"/>
              </a:rPr>
              <a:t> une facture avec des Reactive Forms.</a:t>
            </a:r>
          </a:p>
          <a:p>
            <a:pPr marL="274320" indent="-274320">
              <a:lnSpc>
                <a:spcPct val="102000"/>
              </a:lnSpc>
              <a:spcBef>
                <a:spcPts val="0"/>
              </a:spcBef>
              <a:spcAft>
                <a:spcPts val="936"/>
              </a:spcAft>
              <a:buClr>
                <a:srgbClr val="ED1548"/>
              </a:buClr>
              <a:buFont typeface="Arial"/>
              <a:buChar char="•"/>
            </a:pPr>
            <a:r>
              <a:rPr b="1" sz="1900" i="0">
                <a:solidFill>
                  <a:srgbClr val="093544"/>
                </a:solidFill>
                <a:latin typeface="Arial"/>
              </a:rPr>
              <a:t>Proposer des paiements candidats</a:t>
            </a:r>
            <a:r>
              <a:rPr b="0" sz="1900" i="0">
                <a:solidFill>
                  <a:srgbClr val="093544"/>
                </a:solidFill>
                <a:latin typeface="Arial"/>
              </a:rPr>
              <a:t> : montant TTC ± tolérance, date proche.</a:t>
            </a:r>
          </a:p>
          <a:p>
            <a:pPr marL="274320" indent="-274320">
              <a:lnSpc>
                <a:spcPct val="102000"/>
              </a:lnSpc>
              <a:spcBef>
                <a:spcPts val="0"/>
              </a:spcBef>
              <a:spcAft>
                <a:spcPts val="936"/>
              </a:spcAft>
              <a:buClr>
                <a:srgbClr val="ED1548"/>
              </a:buClr>
              <a:buFont typeface="Arial"/>
              <a:buChar char="•"/>
            </a:pPr>
            <a:r>
              <a:rPr b="1" sz="1900" i="0">
                <a:solidFill>
                  <a:srgbClr val="093544"/>
                </a:solidFill>
                <a:latin typeface="Arial"/>
              </a:rPr>
              <a:t>Valider</a:t>
            </a:r>
            <a:r>
              <a:rPr b="0" sz="1900" i="0">
                <a:solidFill>
                  <a:srgbClr val="093544"/>
                </a:solidFill>
                <a:latin typeface="Arial"/>
              </a:rPr>
              <a:t> un rapprochement ou ouvrir un litige.</a:t>
            </a:r>
          </a:p>
          <a:p>
            <a:pPr marL="274320" indent="-274320">
              <a:lnSpc>
                <a:spcPct val="102000"/>
              </a:lnSpc>
              <a:spcBef>
                <a:spcPts val="0"/>
              </a:spcBef>
              <a:spcAft>
                <a:spcPts val="936"/>
              </a:spcAft>
              <a:buClr>
                <a:srgbClr val="ED1548"/>
              </a:buClr>
              <a:buFont typeface="Arial"/>
              <a:buChar char="•"/>
            </a:pPr>
            <a:r>
              <a:rPr b="1" sz="1900" i="0">
                <a:solidFill>
                  <a:srgbClr val="093544"/>
                </a:solidFill>
                <a:latin typeface="Arial"/>
              </a:rPr>
              <a:t>Mesurer</a:t>
            </a:r>
            <a:r>
              <a:rPr b="0" sz="1900" i="0">
                <a:solidFill>
                  <a:srgbClr val="093544"/>
                </a:solidFill>
                <a:latin typeface="Arial"/>
              </a:rPr>
              <a:t> : totaux, taux de rapprochement, litiges.</a:t>
            </a:r>
          </a:p>
        </p:txBody>
      </p:sp>
      <p:sp>
        <p:nvSpPr>
          <p:cNvPr id="10" name="Rounded Rectangle 9"/>
          <p:cNvSpPr/>
          <p:nvPr/>
        </p:nvSpPr>
        <p:spPr>
          <a:xfrm>
            <a:off x="2606040" y="7360920"/>
            <a:ext cx="6675120" cy="2011680"/>
          </a:xfrm>
          <a:prstGeom prst="roundRect">
            <a:avLst>
              <a:gd name="adj" fmla="val 8000"/>
            </a:avLst>
          </a:prstGeom>
          <a:solidFill>
            <a:srgbClr val="FFF0F4"/>
          </a:solidFill>
          <a:ln>
            <a:noFill/>
          </a:ln>
          <a:effectLst/>
        </p:spPr>
        <p:txBody>
          <a:bodyPr rtlCol="0" anchor="ctr"/>
          <a:lstStyle/>
          <a:p>
            <a:pPr algn="ctr"/>
          </a:p>
        </p:txBody>
      </p:sp>
      <p:sp>
        <p:nvSpPr>
          <p:cNvPr id="11" name="Rectangle 10"/>
          <p:cNvSpPr/>
          <p:nvPr/>
        </p:nvSpPr>
        <p:spPr>
          <a:xfrm>
            <a:off x="2606040" y="7360920"/>
            <a:ext cx="64008" cy="2011680"/>
          </a:xfrm>
          <a:prstGeom prst="rect">
            <a:avLst/>
          </a:prstGeom>
          <a:solidFill>
            <a:srgbClr val="ED1548"/>
          </a:solidFill>
          <a:ln>
            <a:noFill/>
          </a:ln>
          <a:effectLst/>
        </p:spPr>
        <p:txBody>
          <a:bodyPr rtlCol="0" anchor="ctr"/>
          <a:lstStyle/>
          <a:p>
            <a:pPr algn="ctr"/>
          </a:p>
        </p:txBody>
      </p:sp>
      <p:sp>
        <p:nvSpPr>
          <p:cNvPr id="12" name="TextBox 11"/>
          <p:cNvSpPr txBox="1"/>
          <p:nvPr/>
        </p:nvSpPr>
        <p:spPr>
          <a:xfrm>
            <a:off x="2898648" y="7525512"/>
            <a:ext cx="61722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LA RÈGLE MÉTIER</a:t>
            </a:r>
          </a:p>
        </p:txBody>
      </p:sp>
      <p:sp>
        <p:nvSpPr>
          <p:cNvPr id="13" name="TextBox 12"/>
          <p:cNvSpPr txBox="1"/>
          <p:nvPr/>
        </p:nvSpPr>
        <p:spPr>
          <a:xfrm>
            <a:off x="2898648" y="7818120"/>
            <a:ext cx="6126480" cy="1444752"/>
          </a:xfrm>
          <a:prstGeom prst="rect">
            <a:avLst/>
          </a:prstGeom>
          <a:noFill/>
        </p:spPr>
        <p:txBody>
          <a:bodyPr wrap="square" lIns="0" rIns="0" tIns="0" bIns="0" anchor="t">
            <a:noAutofit/>
          </a:bodyPr>
          <a:lstStyle/>
          <a:p>
            <a:pPr algn="l">
              <a:lnSpc>
                <a:spcPct val="106000"/>
              </a:lnSpc>
              <a:spcBef>
                <a:spcPts val="0"/>
              </a:spcBef>
              <a:spcAft>
                <a:spcPts val="0"/>
              </a:spcAft>
            </a:pPr>
            <a:r>
              <a:rPr b="0" sz="1500" i="0">
                <a:solidFill>
                  <a:srgbClr val="1B3B47"/>
                </a:solidFill>
                <a:latin typeface="Arial"/>
              </a:rPr>
              <a:t>Un paiement ne rapproche qu'une seule facture. Un écart de montant doit être justifié par un commentaire. Le statut </a:t>
            </a:r>
            <a:r>
              <a:rPr sz="1350" b="0" i="0">
                <a:solidFill>
                  <a:srgbClr val="ED1548"/>
                </a:solidFill>
                <a:latin typeface="Consolas"/>
              </a:rPr>
              <a:t>litige</a:t>
            </a:r>
            <a:r>
              <a:rPr b="0" sz="1500" i="0">
                <a:solidFill>
                  <a:srgbClr val="1B3B47"/>
                </a:solidFill>
                <a:latin typeface="Arial"/>
              </a:rPr>
              <a:t> est un état métier, pas une erreur technique.</a:t>
            </a:r>
          </a:p>
        </p:txBody>
      </p:sp>
      <p:sp>
        <p:nvSpPr>
          <p:cNvPr id="14" name="Rounded Rectangle 13"/>
          <p:cNvSpPr/>
          <p:nvPr/>
        </p:nvSpPr>
        <p:spPr>
          <a:xfrm>
            <a:off x="9646920" y="3108960"/>
            <a:ext cx="7543800" cy="5029200"/>
          </a:xfrm>
          <a:prstGeom prst="roundRect">
            <a:avLst>
              <a:gd name="adj" fmla="val 8000"/>
            </a:avLst>
          </a:prstGeom>
          <a:solidFill>
            <a:srgbClr val="F7F9FA"/>
          </a:solidFill>
          <a:ln w="9525">
            <a:solidFill>
              <a:srgbClr val="E0E6E8"/>
            </a:solidFill>
          </a:ln>
          <a:effectLst/>
        </p:spPr>
        <p:txBody>
          <a:bodyPr rtlCol="0" anchor="ctr"/>
          <a:lstStyle/>
          <a:p>
            <a:pPr algn="ctr"/>
          </a:p>
        </p:txBody>
      </p:sp>
      <p:sp>
        <p:nvSpPr>
          <p:cNvPr id="15" name="TextBox 14"/>
          <p:cNvSpPr txBox="1"/>
          <p:nvPr/>
        </p:nvSpPr>
        <p:spPr>
          <a:xfrm>
            <a:off x="9921240" y="3273552"/>
            <a:ext cx="3657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ED1548"/>
                </a:solidFill>
                <a:latin typeface="Arial"/>
              </a:rPr>
              <a:t>MODÈLE DE DONNÉES</a:t>
            </a:r>
          </a:p>
        </p:txBody>
      </p:sp>
      <p:sp>
        <p:nvSpPr>
          <p:cNvPr id="16" name="Rounded Rectangle 15"/>
          <p:cNvSpPr/>
          <p:nvPr/>
        </p:nvSpPr>
        <p:spPr>
          <a:xfrm>
            <a:off x="9921240" y="3611880"/>
            <a:ext cx="6309360" cy="1051560"/>
          </a:xfrm>
          <a:prstGeom prst="roundRect">
            <a:avLst>
              <a:gd name="adj" fmla="val 8000"/>
            </a:avLst>
          </a:prstGeom>
          <a:solidFill>
            <a:srgbClr val="FFFFFF"/>
          </a:solidFill>
          <a:ln w="9525">
            <a:solidFill>
              <a:srgbClr val="E0E6E8"/>
            </a:solidFill>
          </a:ln>
          <a:effectLst/>
        </p:spPr>
        <p:txBody>
          <a:bodyPr rtlCol="0" anchor="ctr"/>
          <a:lstStyle/>
          <a:p>
            <a:pPr algn="ctr"/>
          </a:p>
        </p:txBody>
      </p:sp>
      <p:sp>
        <p:nvSpPr>
          <p:cNvPr id="17" name="Rectangle 16"/>
          <p:cNvSpPr/>
          <p:nvPr/>
        </p:nvSpPr>
        <p:spPr>
          <a:xfrm>
            <a:off x="9921240" y="3611880"/>
            <a:ext cx="54864" cy="1051560"/>
          </a:xfrm>
          <a:prstGeom prst="rect">
            <a:avLst/>
          </a:prstGeom>
          <a:solidFill>
            <a:srgbClr val="0B4F6C"/>
          </a:solidFill>
          <a:ln>
            <a:noFill/>
          </a:ln>
          <a:effectLst/>
        </p:spPr>
        <p:txBody>
          <a:bodyPr rtlCol="0" anchor="ctr"/>
          <a:lstStyle/>
          <a:p>
            <a:pPr algn="ctr"/>
          </a:p>
        </p:txBody>
      </p:sp>
      <p:sp>
        <p:nvSpPr>
          <p:cNvPr id="18" name="TextBox 17"/>
          <p:cNvSpPr txBox="1"/>
          <p:nvPr/>
        </p:nvSpPr>
        <p:spPr>
          <a:xfrm>
            <a:off x="10149840" y="3730752"/>
            <a:ext cx="5943600" cy="292608"/>
          </a:xfrm>
          <a:prstGeom prst="rect">
            <a:avLst/>
          </a:prstGeom>
          <a:noFill/>
        </p:spPr>
        <p:txBody>
          <a:bodyPr wrap="square" lIns="0" rIns="0" tIns="0" bIns="0" anchor="t">
            <a:noAutofit/>
          </a:bodyPr>
          <a:lstStyle/>
          <a:p>
            <a:pPr algn="l">
              <a:lnSpc>
                <a:spcPct val="102000"/>
              </a:lnSpc>
              <a:spcBef>
                <a:spcPts val="0"/>
              </a:spcBef>
              <a:spcAft>
                <a:spcPts val="0"/>
              </a:spcAft>
            </a:pPr>
            <a:r>
              <a:rPr b="1" sz="1700" i="0">
                <a:solidFill>
                  <a:srgbClr val="0B4F6C"/>
                </a:solidFill>
                <a:latin typeface="Arial"/>
              </a:rPr>
              <a:t>SUPPLIER</a:t>
            </a:r>
          </a:p>
        </p:txBody>
      </p:sp>
      <p:sp>
        <p:nvSpPr>
          <p:cNvPr id="19" name="TextBox 18"/>
          <p:cNvSpPr txBox="1"/>
          <p:nvPr/>
        </p:nvSpPr>
        <p:spPr>
          <a:xfrm>
            <a:off x="10149840" y="4050791"/>
            <a:ext cx="5943600" cy="576071"/>
          </a:xfrm>
          <a:prstGeom prst="rect">
            <a:avLst/>
          </a:prstGeom>
          <a:noFill/>
        </p:spPr>
        <p:txBody>
          <a:bodyPr wrap="square" lIns="0" rIns="0" tIns="0" bIns="0" anchor="t">
            <a:noAutofit/>
          </a:bodyPr>
          <a:lstStyle/>
          <a:p>
            <a:pPr algn="l">
              <a:lnSpc>
                <a:spcPct val="110000"/>
              </a:lnSpc>
              <a:spcBef>
                <a:spcPts val="0"/>
              </a:spcBef>
              <a:spcAft>
                <a:spcPts val="0"/>
              </a:spcAft>
            </a:pPr>
            <a:r>
              <a:rPr b="0" sz="1150" i="0">
                <a:solidFill>
                  <a:srgbClr val="5C6E76"/>
                </a:solidFill>
                <a:latin typeface="Consolas"/>
              </a:rPr>
              <a:t>id  ·  name  ·  iban</a:t>
            </a:r>
          </a:p>
        </p:txBody>
      </p:sp>
      <p:sp>
        <p:nvSpPr>
          <p:cNvPr id="20" name="Rounded Rectangle 19"/>
          <p:cNvSpPr/>
          <p:nvPr/>
        </p:nvSpPr>
        <p:spPr>
          <a:xfrm>
            <a:off x="9921240" y="5074920"/>
            <a:ext cx="6309360" cy="1234440"/>
          </a:xfrm>
          <a:prstGeom prst="roundRect">
            <a:avLst>
              <a:gd name="adj" fmla="val 8000"/>
            </a:avLst>
          </a:prstGeom>
          <a:solidFill>
            <a:srgbClr val="FFFFFF"/>
          </a:solidFill>
          <a:ln w="9525">
            <a:solidFill>
              <a:srgbClr val="E0E6E8"/>
            </a:solidFill>
          </a:ln>
          <a:effectLst/>
        </p:spPr>
        <p:txBody>
          <a:bodyPr rtlCol="0" anchor="ctr"/>
          <a:lstStyle/>
          <a:p>
            <a:pPr algn="ctr"/>
          </a:p>
        </p:txBody>
      </p:sp>
      <p:sp>
        <p:nvSpPr>
          <p:cNvPr id="21" name="Rectangle 20"/>
          <p:cNvSpPr/>
          <p:nvPr/>
        </p:nvSpPr>
        <p:spPr>
          <a:xfrm>
            <a:off x="9921240" y="5074920"/>
            <a:ext cx="54864" cy="1234440"/>
          </a:xfrm>
          <a:prstGeom prst="rect">
            <a:avLst/>
          </a:prstGeom>
          <a:solidFill>
            <a:srgbClr val="ED1548"/>
          </a:solidFill>
          <a:ln>
            <a:noFill/>
          </a:ln>
          <a:effectLst/>
        </p:spPr>
        <p:txBody>
          <a:bodyPr rtlCol="0" anchor="ctr"/>
          <a:lstStyle/>
          <a:p>
            <a:pPr algn="ctr"/>
          </a:p>
        </p:txBody>
      </p:sp>
      <p:sp>
        <p:nvSpPr>
          <p:cNvPr id="22" name="TextBox 21"/>
          <p:cNvSpPr txBox="1"/>
          <p:nvPr/>
        </p:nvSpPr>
        <p:spPr>
          <a:xfrm>
            <a:off x="10149840" y="5193792"/>
            <a:ext cx="5943600" cy="292608"/>
          </a:xfrm>
          <a:prstGeom prst="rect">
            <a:avLst/>
          </a:prstGeom>
          <a:noFill/>
        </p:spPr>
        <p:txBody>
          <a:bodyPr wrap="square" lIns="0" rIns="0" tIns="0" bIns="0" anchor="t">
            <a:noAutofit/>
          </a:bodyPr>
          <a:lstStyle/>
          <a:p>
            <a:pPr algn="l">
              <a:lnSpc>
                <a:spcPct val="102000"/>
              </a:lnSpc>
              <a:spcBef>
                <a:spcPts val="0"/>
              </a:spcBef>
              <a:spcAft>
                <a:spcPts val="0"/>
              </a:spcAft>
            </a:pPr>
            <a:r>
              <a:rPr b="1" sz="1700" i="0">
                <a:solidFill>
                  <a:srgbClr val="ED1548"/>
                </a:solidFill>
                <a:latin typeface="Arial"/>
              </a:rPr>
              <a:t>INVOICE</a:t>
            </a:r>
          </a:p>
        </p:txBody>
      </p:sp>
      <p:sp>
        <p:nvSpPr>
          <p:cNvPr id="23" name="TextBox 22"/>
          <p:cNvSpPr txBox="1"/>
          <p:nvPr/>
        </p:nvSpPr>
        <p:spPr>
          <a:xfrm>
            <a:off x="10149840" y="5513831"/>
            <a:ext cx="5943600" cy="758952"/>
          </a:xfrm>
          <a:prstGeom prst="rect">
            <a:avLst/>
          </a:prstGeom>
          <a:noFill/>
        </p:spPr>
        <p:txBody>
          <a:bodyPr wrap="square" lIns="0" rIns="0" tIns="0" bIns="0" anchor="t">
            <a:noAutofit/>
          </a:bodyPr>
          <a:lstStyle/>
          <a:p>
            <a:pPr algn="l">
              <a:lnSpc>
                <a:spcPct val="110000"/>
              </a:lnSpc>
              <a:spcBef>
                <a:spcPts val="0"/>
              </a:spcBef>
              <a:spcAft>
                <a:spcPts val="0"/>
              </a:spcAft>
            </a:pPr>
            <a:r>
              <a:rPr b="0" sz="1150" i="0">
                <a:solidFill>
                  <a:srgbClr val="5C6E76"/>
                </a:solidFill>
                <a:latin typeface="Consolas"/>
              </a:rPr>
              <a:t>id  ·  number  ·  supplierId  ·  emissionDate</a:t>
            </a:r>
          </a:p>
          <a:p>
            <a:pPr algn="l">
              <a:lnSpc>
                <a:spcPct val="110000"/>
              </a:lnSpc>
              <a:spcBef>
                <a:spcPts val="0"/>
              </a:spcBef>
              <a:spcAft>
                <a:spcPts val="0"/>
              </a:spcAft>
            </a:pPr>
            <a:r>
              <a:rPr b="0" sz="1150" i="0">
                <a:solidFill>
                  <a:srgbClr val="5C6E76"/>
                </a:solidFill>
                <a:latin typeface="Consolas"/>
              </a:rPr>
              <a:t>dueDate  ·  taxFreeAmount  ·  vat  ·  fullAmount  ·  status  ·  paymentId</a:t>
            </a:r>
          </a:p>
        </p:txBody>
      </p:sp>
      <p:sp>
        <p:nvSpPr>
          <p:cNvPr id="24" name="Rounded Rectangle 23"/>
          <p:cNvSpPr/>
          <p:nvPr/>
        </p:nvSpPr>
        <p:spPr>
          <a:xfrm>
            <a:off x="9921240" y="6720840"/>
            <a:ext cx="6309360" cy="1051560"/>
          </a:xfrm>
          <a:prstGeom prst="roundRect">
            <a:avLst>
              <a:gd name="adj" fmla="val 8000"/>
            </a:avLst>
          </a:prstGeom>
          <a:solidFill>
            <a:srgbClr val="FFFFFF"/>
          </a:solidFill>
          <a:ln w="9525">
            <a:solidFill>
              <a:srgbClr val="E0E6E8"/>
            </a:solidFill>
          </a:ln>
          <a:effectLst/>
        </p:spPr>
        <p:txBody>
          <a:bodyPr rtlCol="0" anchor="ctr"/>
          <a:lstStyle/>
          <a:p>
            <a:pPr algn="ctr"/>
          </a:p>
        </p:txBody>
      </p:sp>
      <p:sp>
        <p:nvSpPr>
          <p:cNvPr id="25" name="Rectangle 24"/>
          <p:cNvSpPr/>
          <p:nvPr/>
        </p:nvSpPr>
        <p:spPr>
          <a:xfrm>
            <a:off x="9921240" y="6720840"/>
            <a:ext cx="54864" cy="1051560"/>
          </a:xfrm>
          <a:prstGeom prst="rect">
            <a:avLst/>
          </a:prstGeom>
          <a:solidFill>
            <a:srgbClr val="0B4F6C"/>
          </a:solidFill>
          <a:ln>
            <a:noFill/>
          </a:ln>
          <a:effectLst/>
        </p:spPr>
        <p:txBody>
          <a:bodyPr rtlCol="0" anchor="ctr"/>
          <a:lstStyle/>
          <a:p>
            <a:pPr algn="ctr"/>
          </a:p>
        </p:txBody>
      </p:sp>
      <p:sp>
        <p:nvSpPr>
          <p:cNvPr id="26" name="TextBox 25"/>
          <p:cNvSpPr txBox="1"/>
          <p:nvPr/>
        </p:nvSpPr>
        <p:spPr>
          <a:xfrm>
            <a:off x="10149840" y="6839712"/>
            <a:ext cx="5943600" cy="292608"/>
          </a:xfrm>
          <a:prstGeom prst="rect">
            <a:avLst/>
          </a:prstGeom>
          <a:noFill/>
        </p:spPr>
        <p:txBody>
          <a:bodyPr wrap="square" lIns="0" rIns="0" tIns="0" bIns="0" anchor="t">
            <a:noAutofit/>
          </a:bodyPr>
          <a:lstStyle/>
          <a:p>
            <a:pPr algn="l">
              <a:lnSpc>
                <a:spcPct val="102000"/>
              </a:lnSpc>
              <a:spcBef>
                <a:spcPts val="0"/>
              </a:spcBef>
              <a:spcAft>
                <a:spcPts val="0"/>
              </a:spcAft>
            </a:pPr>
            <a:r>
              <a:rPr b="1" sz="1700" i="0">
                <a:solidFill>
                  <a:srgbClr val="0B4F6C"/>
                </a:solidFill>
                <a:latin typeface="Arial"/>
              </a:rPr>
              <a:t>PAYMENT</a:t>
            </a:r>
          </a:p>
        </p:txBody>
      </p:sp>
      <p:sp>
        <p:nvSpPr>
          <p:cNvPr id="27" name="TextBox 26"/>
          <p:cNvSpPr txBox="1"/>
          <p:nvPr/>
        </p:nvSpPr>
        <p:spPr>
          <a:xfrm>
            <a:off x="10149840" y="7159752"/>
            <a:ext cx="5943600" cy="576071"/>
          </a:xfrm>
          <a:prstGeom prst="rect">
            <a:avLst/>
          </a:prstGeom>
          <a:noFill/>
        </p:spPr>
        <p:txBody>
          <a:bodyPr wrap="square" lIns="0" rIns="0" tIns="0" bIns="0" anchor="t">
            <a:noAutofit/>
          </a:bodyPr>
          <a:lstStyle/>
          <a:p>
            <a:pPr algn="l">
              <a:lnSpc>
                <a:spcPct val="110000"/>
              </a:lnSpc>
              <a:spcBef>
                <a:spcPts val="0"/>
              </a:spcBef>
              <a:spcAft>
                <a:spcPts val="0"/>
              </a:spcAft>
            </a:pPr>
            <a:r>
              <a:rPr b="0" sz="1150" i="0">
                <a:solidFill>
                  <a:srgbClr val="5C6E76"/>
                </a:solidFill>
                <a:latin typeface="Consolas"/>
              </a:rPr>
              <a:t>id  ·  date  ·  amount  ·  label  ·  iban  ·  invoiceId</a:t>
            </a:r>
          </a:p>
        </p:txBody>
      </p:sp>
      <p:cxnSp>
        <p:nvCxnSpPr>
          <p:cNvPr id="28" name="Connector 27"/>
          <p:cNvCxnSpPr/>
          <p:nvPr/>
        </p:nvCxnSpPr>
        <p:spPr>
          <a:xfrm>
            <a:off x="13075920" y="4663440"/>
            <a:ext cx="0" cy="365760"/>
          </a:xfrm>
          <a:prstGeom prst="line">
            <a:avLst/>
          </a:prstGeom>
          <a:ln w="20320">
            <a:solidFill>
              <a:srgbClr val="ED1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075920" y="6309360"/>
            <a:ext cx="0" cy="411480"/>
          </a:xfrm>
          <a:prstGeom prst="line">
            <a:avLst/>
          </a:prstGeom>
          <a:ln w="20320">
            <a:solidFill>
              <a:srgbClr val="ED1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3258800" y="4736592"/>
            <a:ext cx="2377440" cy="228600"/>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ED1548"/>
                </a:solidFill>
                <a:latin typeface="Consolas"/>
              </a:rPr>
              <a:t>1 — N</a:t>
            </a:r>
          </a:p>
        </p:txBody>
      </p:sp>
      <p:sp>
        <p:nvSpPr>
          <p:cNvPr id="31" name="TextBox 30"/>
          <p:cNvSpPr txBox="1"/>
          <p:nvPr/>
        </p:nvSpPr>
        <p:spPr>
          <a:xfrm>
            <a:off x="13258800" y="6382512"/>
            <a:ext cx="2377440" cy="228600"/>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ED1548"/>
                </a:solidFill>
                <a:latin typeface="Consolas"/>
              </a:rPr>
              <a:t>0..1 — 1</a:t>
            </a:r>
          </a:p>
        </p:txBody>
      </p:sp>
      <p:sp>
        <p:nvSpPr>
          <p:cNvPr id="32" name="TextBox 31"/>
          <p:cNvSpPr txBox="1"/>
          <p:nvPr/>
        </p:nvSpPr>
        <p:spPr>
          <a:xfrm>
            <a:off x="9921240" y="7882127"/>
            <a:ext cx="6949440" cy="228600"/>
          </a:xfrm>
          <a:prstGeom prst="rect">
            <a:avLst/>
          </a:prstGeom>
          <a:noFill/>
        </p:spPr>
        <p:txBody>
          <a:bodyPr wrap="square" lIns="0" rIns="0" tIns="0" bIns="0" anchor="t">
            <a:noAutofit/>
          </a:bodyPr>
          <a:lstStyle/>
          <a:p>
            <a:pPr algn="l">
              <a:lnSpc>
                <a:spcPct val="102000"/>
              </a:lnSpc>
              <a:spcBef>
                <a:spcPts val="0"/>
              </a:spcBef>
              <a:spcAft>
                <a:spcPts val="0"/>
              </a:spcAft>
            </a:pPr>
            <a:r>
              <a:rPr b="0" sz="1050" i="0">
                <a:solidFill>
                  <a:srgbClr val="5C6E76"/>
                </a:solidFill>
                <a:latin typeface="Arial"/>
              </a:rPr>
              <a:t>Le nom du fournisseur s'obtient avec </a:t>
            </a:r>
            <a:r>
              <a:rPr sz="1000" b="0" i="0">
                <a:solidFill>
                  <a:srgbClr val="ED1548"/>
                </a:solidFill>
                <a:latin typeface="Consolas"/>
              </a:rPr>
              <a:t>_expand=fournisseur</a:t>
            </a:r>
            <a:r>
              <a:rPr b="0" sz="1050" i="0">
                <a:solidFill>
                  <a:srgbClr val="5C6E76"/>
                </a:solidFill>
                <a:latin typeface="Arial"/>
              </a:rPr>
              <a:t> ou un forkJoin.</a:t>
            </a:r>
          </a:p>
        </p:txBody>
      </p:sp>
      <p:sp>
        <p:nvSpPr>
          <p:cNvPr id="33" name="TextBox 32"/>
          <p:cNvSpPr txBox="1"/>
          <p:nvPr/>
        </p:nvSpPr>
        <p:spPr>
          <a:xfrm>
            <a:off x="9829800" y="8366760"/>
            <a:ext cx="2286000" cy="548640"/>
          </a:xfrm>
          <a:prstGeom prst="rect">
            <a:avLst/>
          </a:prstGeom>
          <a:noFill/>
        </p:spPr>
        <p:txBody>
          <a:bodyPr wrap="square" lIns="0" rIns="0" tIns="0" bIns="0" anchor="t">
            <a:noAutofit/>
          </a:bodyPr>
          <a:lstStyle/>
          <a:p>
            <a:pPr algn="l">
              <a:lnSpc>
                <a:spcPct val="95000"/>
              </a:lnSpc>
              <a:spcBef>
                <a:spcPts val="0"/>
              </a:spcBef>
              <a:spcAft>
                <a:spcPts val="0"/>
              </a:spcAft>
            </a:pPr>
            <a:r>
              <a:rPr b="1" sz="3400" i="0">
                <a:solidFill>
                  <a:srgbClr val="ED1548"/>
                </a:solidFill>
                <a:latin typeface="Arial"/>
              </a:rPr>
              <a:t>200</a:t>
            </a:r>
          </a:p>
        </p:txBody>
      </p:sp>
      <p:sp>
        <p:nvSpPr>
          <p:cNvPr id="34" name="TextBox 33"/>
          <p:cNvSpPr txBox="1"/>
          <p:nvPr/>
        </p:nvSpPr>
        <p:spPr>
          <a:xfrm>
            <a:off x="9829800" y="8933688"/>
            <a:ext cx="2286000" cy="457200"/>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5C6E76"/>
                </a:solidFill>
                <a:latin typeface="Arial"/>
              </a:rPr>
              <a:t>factures</a:t>
            </a:r>
          </a:p>
        </p:txBody>
      </p:sp>
      <p:sp>
        <p:nvSpPr>
          <p:cNvPr id="35" name="TextBox 34"/>
          <p:cNvSpPr txBox="1"/>
          <p:nvPr/>
        </p:nvSpPr>
        <p:spPr>
          <a:xfrm>
            <a:off x="12252960" y="8366760"/>
            <a:ext cx="2286000" cy="548640"/>
          </a:xfrm>
          <a:prstGeom prst="rect">
            <a:avLst/>
          </a:prstGeom>
          <a:noFill/>
        </p:spPr>
        <p:txBody>
          <a:bodyPr wrap="square" lIns="0" rIns="0" tIns="0" bIns="0" anchor="t">
            <a:noAutofit/>
          </a:bodyPr>
          <a:lstStyle/>
          <a:p>
            <a:pPr algn="l">
              <a:lnSpc>
                <a:spcPct val="95000"/>
              </a:lnSpc>
              <a:spcBef>
                <a:spcPts val="0"/>
              </a:spcBef>
              <a:spcAft>
                <a:spcPts val="0"/>
              </a:spcAft>
            </a:pPr>
            <a:r>
              <a:rPr b="1" sz="3400" i="0">
                <a:solidFill>
                  <a:srgbClr val="0B4F6C"/>
                </a:solidFill>
                <a:latin typeface="Arial"/>
              </a:rPr>
              <a:t>40</a:t>
            </a:r>
          </a:p>
        </p:txBody>
      </p:sp>
      <p:sp>
        <p:nvSpPr>
          <p:cNvPr id="36" name="TextBox 35"/>
          <p:cNvSpPr txBox="1"/>
          <p:nvPr/>
        </p:nvSpPr>
        <p:spPr>
          <a:xfrm>
            <a:off x="12252960" y="8933688"/>
            <a:ext cx="2286000" cy="457200"/>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5C6E76"/>
                </a:solidFill>
                <a:latin typeface="Arial"/>
              </a:rPr>
              <a:t>paiements candidats</a:t>
            </a:r>
          </a:p>
        </p:txBody>
      </p:sp>
      <p:sp>
        <p:nvSpPr>
          <p:cNvPr id="37" name="TextBox 36"/>
          <p:cNvSpPr txBox="1"/>
          <p:nvPr/>
        </p:nvSpPr>
        <p:spPr>
          <a:xfrm>
            <a:off x="14676120" y="8366760"/>
            <a:ext cx="2286000" cy="548640"/>
          </a:xfrm>
          <a:prstGeom prst="rect">
            <a:avLst/>
          </a:prstGeom>
          <a:noFill/>
        </p:spPr>
        <p:txBody>
          <a:bodyPr wrap="square" lIns="0" rIns="0" tIns="0" bIns="0" anchor="t">
            <a:noAutofit/>
          </a:bodyPr>
          <a:lstStyle/>
          <a:p>
            <a:pPr algn="l">
              <a:lnSpc>
                <a:spcPct val="95000"/>
              </a:lnSpc>
              <a:spcBef>
                <a:spcPts val="0"/>
              </a:spcBef>
              <a:spcAft>
                <a:spcPts val="0"/>
              </a:spcAft>
            </a:pPr>
            <a:r>
              <a:rPr b="1" sz="3400" i="0">
                <a:solidFill>
                  <a:srgbClr val="0B4F6C"/>
                </a:solidFill>
                <a:latin typeface="Arial"/>
              </a:rPr>
              <a:t>3</a:t>
            </a:r>
          </a:p>
        </p:txBody>
      </p:sp>
      <p:sp>
        <p:nvSpPr>
          <p:cNvPr id="38" name="TextBox 37"/>
          <p:cNvSpPr txBox="1"/>
          <p:nvPr/>
        </p:nvSpPr>
        <p:spPr>
          <a:xfrm>
            <a:off x="14676120" y="8933688"/>
            <a:ext cx="2286000" cy="457200"/>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5C6E76"/>
                </a:solidFill>
                <a:latin typeface="Arial"/>
              </a:rPr>
              <a:t>statuts métier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LE PARCOURS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Trois jours, une application qui grandit</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Chaque journée ajoute une couche : afficher, naviguer, décider.</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05 / 62</a:t>
            </a:r>
          </a:p>
        </p:txBody>
      </p:sp>
      <p:sp>
        <p:nvSpPr>
          <p:cNvPr id="9" name="Rounded Rectangle 8"/>
          <p:cNvSpPr/>
          <p:nvPr/>
        </p:nvSpPr>
        <p:spPr>
          <a:xfrm>
            <a:off x="2606040" y="3108960"/>
            <a:ext cx="4572000" cy="580644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0" name="Rectangle 9"/>
          <p:cNvSpPr/>
          <p:nvPr/>
        </p:nvSpPr>
        <p:spPr>
          <a:xfrm>
            <a:off x="2606040" y="3108960"/>
            <a:ext cx="4572000" cy="54864"/>
          </a:xfrm>
          <a:prstGeom prst="rect">
            <a:avLst/>
          </a:prstGeom>
          <a:solidFill>
            <a:srgbClr val="ED1548"/>
          </a:solidFill>
          <a:ln>
            <a:noFill/>
          </a:ln>
          <a:effectLst/>
        </p:spPr>
        <p:txBody>
          <a:bodyPr rtlCol="0" anchor="ctr"/>
          <a:lstStyle/>
          <a:p>
            <a:pPr algn="ctr"/>
          </a:p>
        </p:txBody>
      </p:sp>
      <p:sp>
        <p:nvSpPr>
          <p:cNvPr id="11" name="TextBox 10"/>
          <p:cNvSpPr txBox="1"/>
          <p:nvPr/>
        </p:nvSpPr>
        <p:spPr>
          <a:xfrm>
            <a:off x="2880360" y="3310128"/>
            <a:ext cx="4023360" cy="32004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ED1548"/>
                </a:solidFill>
                <a:latin typeface="Arial"/>
              </a:rPr>
              <a:t>JOUR 1</a:t>
            </a:r>
          </a:p>
        </p:txBody>
      </p:sp>
      <p:sp>
        <p:nvSpPr>
          <p:cNvPr id="12" name="TextBox 11"/>
          <p:cNvSpPr txBox="1"/>
          <p:nvPr/>
        </p:nvSpPr>
        <p:spPr>
          <a:xfrm>
            <a:off x="2880360" y="3639312"/>
            <a:ext cx="4023360" cy="457200"/>
          </a:xfrm>
          <a:prstGeom prst="rect">
            <a:avLst/>
          </a:prstGeom>
          <a:noFill/>
        </p:spPr>
        <p:txBody>
          <a:bodyPr wrap="square" lIns="0" rIns="0" tIns="0" bIns="0" anchor="t">
            <a:noAutofit/>
          </a:bodyPr>
          <a:lstStyle/>
          <a:p>
            <a:pPr algn="l">
              <a:lnSpc>
                <a:spcPct val="102000"/>
              </a:lnSpc>
              <a:spcBef>
                <a:spcPts val="0"/>
              </a:spcBef>
              <a:spcAft>
                <a:spcPts val="0"/>
              </a:spcAft>
            </a:pPr>
            <a:r>
              <a:rPr b="1" sz="2400" i="0">
                <a:solidFill>
                  <a:srgbClr val="093544"/>
                </a:solidFill>
                <a:latin typeface="Arial"/>
              </a:rPr>
              <a:t>Afficher</a:t>
            </a:r>
          </a:p>
        </p:txBody>
      </p:sp>
      <p:sp>
        <p:nvSpPr>
          <p:cNvPr id="13" name="TextBox 12"/>
          <p:cNvSpPr txBox="1"/>
          <p:nvPr/>
        </p:nvSpPr>
        <p:spPr>
          <a:xfrm>
            <a:off x="2880360" y="4297680"/>
            <a:ext cx="4023360" cy="2286000"/>
          </a:xfrm>
          <a:prstGeom prst="rect">
            <a:avLst/>
          </a:prstGeom>
          <a:noFill/>
        </p:spPr>
        <p:txBody>
          <a:bodyPr wrap="square" lIns="0" rIns="0" tIns="0" bIns="0">
            <a:noAutofit/>
          </a:bodyPr>
          <a:lstStyle/>
          <a:p>
            <a:pPr marL="274320" indent="-274320">
              <a:lnSpc>
                <a:spcPct val="102000"/>
              </a:lnSpc>
              <a:spcBef>
                <a:spcPts val="0"/>
              </a:spcBef>
              <a:spcAft>
                <a:spcPts val="720"/>
              </a:spcAft>
              <a:buClr>
                <a:srgbClr val="ED1548"/>
              </a:buClr>
              <a:buFont typeface="Arial"/>
              <a:buChar char="•"/>
            </a:pPr>
            <a:r>
              <a:rPr b="0" sz="1600" i="0">
                <a:solidFill>
                  <a:srgbClr val="093544"/>
                </a:solidFill>
                <a:latin typeface="Arial"/>
              </a:rPr>
              <a:t>CLI, workspace, composants</a:t>
            </a:r>
          </a:p>
          <a:p>
            <a:pPr marL="274320" indent="-274320">
              <a:lnSpc>
                <a:spcPct val="102000"/>
              </a:lnSpc>
              <a:spcBef>
                <a:spcPts val="0"/>
              </a:spcBef>
              <a:spcAft>
                <a:spcPts val="720"/>
              </a:spcAft>
              <a:buClr>
                <a:srgbClr val="ED1548"/>
              </a:buClr>
              <a:buFont typeface="Arial"/>
              <a:buChar char="•"/>
            </a:pPr>
            <a:r>
              <a:rPr b="0" sz="1600" i="0">
                <a:solidFill>
                  <a:srgbClr val="093544"/>
                </a:solidFill>
                <a:latin typeface="Arial"/>
              </a:rPr>
              <a:t>Control-flow et signals</a:t>
            </a:r>
          </a:p>
          <a:p>
            <a:pPr marL="274320" indent="-274320">
              <a:lnSpc>
                <a:spcPct val="102000"/>
              </a:lnSpc>
              <a:spcBef>
                <a:spcPts val="0"/>
              </a:spcBef>
              <a:spcAft>
                <a:spcPts val="720"/>
              </a:spcAft>
              <a:buClr>
                <a:srgbClr val="ED1548"/>
              </a:buClr>
              <a:buFont typeface="Arial"/>
              <a:buChar char="•"/>
            </a:pPr>
            <a:r>
              <a:rPr b="0" sz="1600" i="0">
                <a:solidFill>
                  <a:srgbClr val="093544"/>
                </a:solidFill>
                <a:latin typeface="Arial"/>
              </a:rPr>
              <a:t>Pipes, directives, service</a:t>
            </a:r>
          </a:p>
        </p:txBody>
      </p:sp>
      <p:sp>
        <p:nvSpPr>
          <p:cNvPr id="14" name="Rectangle 13"/>
          <p:cNvSpPr/>
          <p:nvPr/>
        </p:nvSpPr>
        <p:spPr>
          <a:xfrm>
            <a:off x="2880360" y="6629400"/>
            <a:ext cx="4023360" cy="10972"/>
          </a:xfrm>
          <a:prstGeom prst="rect">
            <a:avLst/>
          </a:prstGeom>
          <a:solidFill>
            <a:srgbClr val="E0E6E8"/>
          </a:solidFill>
          <a:ln>
            <a:noFill/>
          </a:ln>
          <a:effectLst/>
        </p:spPr>
        <p:txBody>
          <a:bodyPr rtlCol="0" anchor="ctr"/>
          <a:lstStyle/>
          <a:p>
            <a:pPr algn="ctr"/>
          </a:p>
        </p:txBody>
      </p:sp>
      <p:sp>
        <p:nvSpPr>
          <p:cNvPr id="15" name="TextBox 14"/>
          <p:cNvSpPr txBox="1"/>
          <p:nvPr/>
        </p:nvSpPr>
        <p:spPr>
          <a:xfrm>
            <a:off x="2880360" y="6784848"/>
            <a:ext cx="4023360" cy="228600"/>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8A9AA1"/>
                </a:solidFill>
                <a:latin typeface="Arial"/>
              </a:rPr>
              <a:t>LIVRABLE</a:t>
            </a:r>
          </a:p>
        </p:txBody>
      </p:sp>
      <p:sp>
        <p:nvSpPr>
          <p:cNvPr id="16" name="TextBox 15"/>
          <p:cNvSpPr txBox="1"/>
          <p:nvPr/>
        </p:nvSpPr>
        <p:spPr>
          <a:xfrm>
            <a:off x="2880360" y="7040880"/>
            <a:ext cx="4023360" cy="1188720"/>
          </a:xfrm>
          <a:prstGeom prst="rect">
            <a:avLst/>
          </a:prstGeom>
          <a:noFill/>
        </p:spPr>
        <p:txBody>
          <a:bodyPr wrap="square" lIns="0" rIns="0" tIns="0" bIns="0" anchor="t">
            <a:noAutofit/>
          </a:bodyPr>
          <a:lstStyle/>
          <a:p>
            <a:pPr algn="l">
              <a:lnSpc>
                <a:spcPct val="108000"/>
              </a:lnSpc>
              <a:spcBef>
                <a:spcPts val="0"/>
              </a:spcBef>
              <a:spcAft>
                <a:spcPts val="0"/>
              </a:spcAft>
            </a:pPr>
            <a:r>
              <a:rPr b="1" sz="1600" i="0">
                <a:solidFill>
                  <a:srgbClr val="093544"/>
                </a:solidFill>
                <a:latin typeface="Arial"/>
              </a:rPr>
              <a:t>Une liste filtrée branchée sur json-server</a:t>
            </a:r>
          </a:p>
        </p:txBody>
      </p:sp>
      <p:sp>
        <p:nvSpPr>
          <p:cNvPr id="17" name="Rounded Rectangle 16"/>
          <p:cNvSpPr/>
          <p:nvPr/>
        </p:nvSpPr>
        <p:spPr>
          <a:xfrm>
            <a:off x="7680960" y="3108960"/>
            <a:ext cx="4572000" cy="580644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8" name="Rectangle 17"/>
          <p:cNvSpPr/>
          <p:nvPr/>
        </p:nvSpPr>
        <p:spPr>
          <a:xfrm>
            <a:off x="7680960" y="3108960"/>
            <a:ext cx="4572000" cy="54864"/>
          </a:xfrm>
          <a:prstGeom prst="rect">
            <a:avLst/>
          </a:prstGeom>
          <a:solidFill>
            <a:srgbClr val="0B4F6C"/>
          </a:solidFill>
          <a:ln>
            <a:noFill/>
          </a:ln>
          <a:effectLst/>
        </p:spPr>
        <p:txBody>
          <a:bodyPr rtlCol="0" anchor="ctr"/>
          <a:lstStyle/>
          <a:p>
            <a:pPr algn="ctr"/>
          </a:p>
        </p:txBody>
      </p:sp>
      <p:sp>
        <p:nvSpPr>
          <p:cNvPr id="19" name="TextBox 18"/>
          <p:cNvSpPr txBox="1"/>
          <p:nvPr/>
        </p:nvSpPr>
        <p:spPr>
          <a:xfrm>
            <a:off x="7955280" y="3310128"/>
            <a:ext cx="4023360" cy="32004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JOUR 2</a:t>
            </a:r>
          </a:p>
        </p:txBody>
      </p:sp>
      <p:sp>
        <p:nvSpPr>
          <p:cNvPr id="20" name="TextBox 19"/>
          <p:cNvSpPr txBox="1"/>
          <p:nvPr/>
        </p:nvSpPr>
        <p:spPr>
          <a:xfrm>
            <a:off x="7955280" y="3639312"/>
            <a:ext cx="4023360" cy="457200"/>
          </a:xfrm>
          <a:prstGeom prst="rect">
            <a:avLst/>
          </a:prstGeom>
          <a:noFill/>
        </p:spPr>
        <p:txBody>
          <a:bodyPr wrap="square" lIns="0" rIns="0" tIns="0" bIns="0" anchor="t">
            <a:noAutofit/>
          </a:bodyPr>
          <a:lstStyle/>
          <a:p>
            <a:pPr algn="l">
              <a:lnSpc>
                <a:spcPct val="102000"/>
              </a:lnSpc>
              <a:spcBef>
                <a:spcPts val="0"/>
              </a:spcBef>
              <a:spcAft>
                <a:spcPts val="0"/>
              </a:spcAft>
            </a:pPr>
            <a:r>
              <a:rPr b="1" sz="2400" i="0">
                <a:solidFill>
                  <a:srgbClr val="093544"/>
                </a:solidFill>
                <a:latin typeface="Arial"/>
              </a:rPr>
              <a:t>Naviguer &amp; CRUD</a:t>
            </a:r>
          </a:p>
        </p:txBody>
      </p:sp>
      <p:sp>
        <p:nvSpPr>
          <p:cNvPr id="21" name="TextBox 20"/>
          <p:cNvSpPr txBox="1"/>
          <p:nvPr/>
        </p:nvSpPr>
        <p:spPr>
          <a:xfrm>
            <a:off x="7955280" y="4297680"/>
            <a:ext cx="4023360" cy="2286000"/>
          </a:xfrm>
          <a:prstGeom prst="rect">
            <a:avLst/>
          </a:prstGeom>
          <a:noFill/>
        </p:spPr>
        <p:txBody>
          <a:bodyPr wrap="square" lIns="0" rIns="0" tIns="0" bIns="0">
            <a:noAutofit/>
          </a:bodyPr>
          <a:lstStyle/>
          <a:p>
            <a:pPr marL="274320" indent="-274320">
              <a:lnSpc>
                <a:spcPct val="102000"/>
              </a:lnSpc>
              <a:spcBef>
                <a:spcPts val="0"/>
              </a:spcBef>
              <a:spcAft>
                <a:spcPts val="720"/>
              </a:spcAft>
              <a:buClr>
                <a:srgbClr val="ED1548"/>
              </a:buClr>
              <a:buFont typeface="Arial"/>
              <a:buChar char="•"/>
            </a:pPr>
            <a:r>
              <a:rPr b="0" sz="1600" i="0">
                <a:solidFill>
                  <a:srgbClr val="093544"/>
                </a:solidFill>
                <a:latin typeface="Arial"/>
              </a:rPr>
              <a:t>Routeur et lazy loading</a:t>
            </a:r>
          </a:p>
          <a:p>
            <a:pPr marL="274320" indent="-274320">
              <a:lnSpc>
                <a:spcPct val="102000"/>
              </a:lnSpc>
              <a:spcBef>
                <a:spcPts val="0"/>
              </a:spcBef>
              <a:spcAft>
                <a:spcPts val="720"/>
              </a:spcAft>
              <a:buClr>
                <a:srgbClr val="ED1548"/>
              </a:buClr>
              <a:buFont typeface="Arial"/>
              <a:buChar char="•"/>
            </a:pPr>
            <a:r>
              <a:rPr b="0" sz="1600" i="0">
                <a:solidFill>
                  <a:srgbClr val="093544"/>
                </a:solidFill>
                <a:latin typeface="Arial"/>
              </a:rPr>
              <a:t>DI, HttpClient, RxJS</a:t>
            </a:r>
          </a:p>
          <a:p>
            <a:pPr marL="274320" indent="-274320">
              <a:lnSpc>
                <a:spcPct val="102000"/>
              </a:lnSpc>
              <a:spcBef>
                <a:spcPts val="0"/>
              </a:spcBef>
              <a:spcAft>
                <a:spcPts val="720"/>
              </a:spcAft>
              <a:buClr>
                <a:srgbClr val="ED1548"/>
              </a:buClr>
              <a:buFont typeface="Arial"/>
              <a:buChar char="•"/>
            </a:pPr>
            <a:r>
              <a:rPr b="0" sz="1600" i="0">
                <a:solidFill>
                  <a:srgbClr val="093544"/>
                </a:solidFill>
                <a:latin typeface="Arial"/>
              </a:rPr>
              <a:t>Reactive Forms et Material</a:t>
            </a:r>
          </a:p>
        </p:txBody>
      </p:sp>
      <p:sp>
        <p:nvSpPr>
          <p:cNvPr id="22" name="Rectangle 21"/>
          <p:cNvSpPr/>
          <p:nvPr/>
        </p:nvSpPr>
        <p:spPr>
          <a:xfrm>
            <a:off x="7955280" y="6629400"/>
            <a:ext cx="4023360" cy="10972"/>
          </a:xfrm>
          <a:prstGeom prst="rect">
            <a:avLst/>
          </a:prstGeom>
          <a:solidFill>
            <a:srgbClr val="E0E6E8"/>
          </a:solidFill>
          <a:ln>
            <a:noFill/>
          </a:ln>
          <a:effectLst/>
        </p:spPr>
        <p:txBody>
          <a:bodyPr rtlCol="0" anchor="ctr"/>
          <a:lstStyle/>
          <a:p>
            <a:pPr algn="ctr"/>
          </a:p>
        </p:txBody>
      </p:sp>
      <p:sp>
        <p:nvSpPr>
          <p:cNvPr id="23" name="TextBox 22"/>
          <p:cNvSpPr txBox="1"/>
          <p:nvPr/>
        </p:nvSpPr>
        <p:spPr>
          <a:xfrm>
            <a:off x="7955280" y="6784848"/>
            <a:ext cx="4023360" cy="228600"/>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8A9AA1"/>
                </a:solidFill>
                <a:latin typeface="Arial"/>
              </a:rPr>
              <a:t>LIVRABLE</a:t>
            </a:r>
          </a:p>
        </p:txBody>
      </p:sp>
      <p:sp>
        <p:nvSpPr>
          <p:cNvPr id="24" name="TextBox 23"/>
          <p:cNvSpPr txBox="1"/>
          <p:nvPr/>
        </p:nvSpPr>
        <p:spPr>
          <a:xfrm>
            <a:off x="7955280" y="7040880"/>
            <a:ext cx="4023360" cy="1188720"/>
          </a:xfrm>
          <a:prstGeom prst="rect">
            <a:avLst/>
          </a:prstGeom>
          <a:noFill/>
        </p:spPr>
        <p:txBody>
          <a:bodyPr wrap="square" lIns="0" rIns="0" tIns="0" bIns="0" anchor="t">
            <a:noAutofit/>
          </a:bodyPr>
          <a:lstStyle/>
          <a:p>
            <a:pPr algn="l">
              <a:lnSpc>
                <a:spcPct val="108000"/>
              </a:lnSpc>
              <a:spcBef>
                <a:spcPts val="0"/>
              </a:spcBef>
              <a:spcAft>
                <a:spcPts val="0"/>
              </a:spcAft>
            </a:pPr>
            <a:r>
              <a:rPr b="1" sz="1600" i="0">
                <a:solidFill>
                  <a:srgbClr val="093544"/>
                </a:solidFill>
                <a:latin typeface="Arial"/>
              </a:rPr>
              <a:t>Un parcours liste → détail → édition</a:t>
            </a:r>
          </a:p>
        </p:txBody>
      </p:sp>
      <p:sp>
        <p:nvSpPr>
          <p:cNvPr id="25" name="Rounded Rectangle 24"/>
          <p:cNvSpPr/>
          <p:nvPr/>
        </p:nvSpPr>
        <p:spPr>
          <a:xfrm>
            <a:off x="12755880" y="3108960"/>
            <a:ext cx="4434840" cy="580644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6" name="Rectangle 25"/>
          <p:cNvSpPr/>
          <p:nvPr/>
        </p:nvSpPr>
        <p:spPr>
          <a:xfrm>
            <a:off x="12755880" y="3108960"/>
            <a:ext cx="4434840" cy="54864"/>
          </a:xfrm>
          <a:prstGeom prst="rect">
            <a:avLst/>
          </a:prstGeom>
          <a:solidFill>
            <a:srgbClr val="B26A00"/>
          </a:solidFill>
          <a:ln>
            <a:noFill/>
          </a:ln>
          <a:effectLst/>
        </p:spPr>
        <p:txBody>
          <a:bodyPr rtlCol="0" anchor="ctr"/>
          <a:lstStyle/>
          <a:p>
            <a:pPr algn="ctr"/>
          </a:p>
        </p:txBody>
      </p:sp>
      <p:sp>
        <p:nvSpPr>
          <p:cNvPr id="27" name="TextBox 26"/>
          <p:cNvSpPr txBox="1"/>
          <p:nvPr/>
        </p:nvSpPr>
        <p:spPr>
          <a:xfrm>
            <a:off x="13030200" y="3310128"/>
            <a:ext cx="4023360" cy="32004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B26A00"/>
                </a:solidFill>
                <a:latin typeface="Arial"/>
              </a:rPr>
              <a:t>JOUR 3</a:t>
            </a:r>
          </a:p>
        </p:txBody>
      </p:sp>
      <p:sp>
        <p:nvSpPr>
          <p:cNvPr id="28" name="TextBox 27"/>
          <p:cNvSpPr txBox="1"/>
          <p:nvPr/>
        </p:nvSpPr>
        <p:spPr>
          <a:xfrm>
            <a:off x="13030200" y="3639312"/>
            <a:ext cx="4023360" cy="457200"/>
          </a:xfrm>
          <a:prstGeom prst="rect">
            <a:avLst/>
          </a:prstGeom>
          <a:noFill/>
        </p:spPr>
        <p:txBody>
          <a:bodyPr wrap="square" lIns="0" rIns="0" tIns="0" bIns="0" anchor="t">
            <a:noAutofit/>
          </a:bodyPr>
          <a:lstStyle/>
          <a:p>
            <a:pPr algn="l">
              <a:lnSpc>
                <a:spcPct val="102000"/>
              </a:lnSpc>
              <a:spcBef>
                <a:spcPts val="0"/>
              </a:spcBef>
              <a:spcAft>
                <a:spcPts val="0"/>
              </a:spcAft>
            </a:pPr>
            <a:r>
              <a:rPr b="1" sz="2400" i="0">
                <a:solidFill>
                  <a:srgbClr val="093544"/>
                </a:solidFill>
                <a:latin typeface="Arial"/>
              </a:rPr>
              <a:t>Décider &amp; fiabiliser</a:t>
            </a:r>
          </a:p>
        </p:txBody>
      </p:sp>
      <p:sp>
        <p:nvSpPr>
          <p:cNvPr id="29" name="TextBox 28"/>
          <p:cNvSpPr txBox="1"/>
          <p:nvPr/>
        </p:nvSpPr>
        <p:spPr>
          <a:xfrm>
            <a:off x="13030200" y="4297680"/>
            <a:ext cx="4023360" cy="2286000"/>
          </a:xfrm>
          <a:prstGeom prst="rect">
            <a:avLst/>
          </a:prstGeom>
          <a:noFill/>
        </p:spPr>
        <p:txBody>
          <a:bodyPr wrap="square" lIns="0" rIns="0" tIns="0" bIns="0">
            <a:noAutofit/>
          </a:bodyPr>
          <a:lstStyle/>
          <a:p>
            <a:pPr marL="274320" indent="-274320">
              <a:lnSpc>
                <a:spcPct val="102000"/>
              </a:lnSpc>
              <a:spcBef>
                <a:spcPts val="0"/>
              </a:spcBef>
              <a:spcAft>
                <a:spcPts val="720"/>
              </a:spcAft>
              <a:buClr>
                <a:srgbClr val="ED1548"/>
              </a:buClr>
              <a:buFont typeface="Arial"/>
              <a:buChar char="•"/>
            </a:pPr>
            <a:r>
              <a:rPr b="0" sz="1600" i="0">
                <a:solidFill>
                  <a:srgbClr val="093544"/>
                </a:solidFill>
                <a:latin typeface="Arial"/>
              </a:rPr>
              <a:t>Store de rapprochement et scoring</a:t>
            </a:r>
          </a:p>
          <a:p>
            <a:pPr marL="274320" indent="-274320">
              <a:lnSpc>
                <a:spcPct val="102000"/>
              </a:lnSpc>
              <a:spcBef>
                <a:spcPts val="0"/>
              </a:spcBef>
              <a:spcAft>
                <a:spcPts val="720"/>
              </a:spcAft>
              <a:buClr>
                <a:srgbClr val="ED1548"/>
              </a:buClr>
              <a:buFont typeface="Arial"/>
              <a:buChar char="•"/>
            </a:pPr>
            <a:r>
              <a:rPr b="0" sz="1600" i="0">
                <a:solidFill>
                  <a:srgbClr val="093544"/>
                </a:solidFill>
                <a:latin typeface="Arial"/>
              </a:rPr>
              <a:t>Guards, interceptors, Vitest</a:t>
            </a:r>
          </a:p>
          <a:p>
            <a:pPr marL="274320" indent="-274320">
              <a:lnSpc>
                <a:spcPct val="102000"/>
              </a:lnSpc>
              <a:spcBef>
                <a:spcPts val="0"/>
              </a:spcBef>
              <a:spcAft>
                <a:spcPts val="720"/>
              </a:spcAft>
              <a:buClr>
                <a:srgbClr val="ED1548"/>
              </a:buClr>
              <a:buFont typeface="Arial"/>
              <a:buChar char="•"/>
            </a:pPr>
            <a:r>
              <a:rPr b="0" sz="1600" i="0">
                <a:solidFill>
                  <a:srgbClr val="093544"/>
                </a:solidFill>
                <a:latin typeface="Arial"/>
              </a:rPr>
              <a:t>E2E, sécurité, build</a:t>
            </a:r>
          </a:p>
        </p:txBody>
      </p:sp>
      <p:sp>
        <p:nvSpPr>
          <p:cNvPr id="30" name="Rectangle 29"/>
          <p:cNvSpPr/>
          <p:nvPr/>
        </p:nvSpPr>
        <p:spPr>
          <a:xfrm>
            <a:off x="13030200" y="6629400"/>
            <a:ext cx="4023360" cy="10972"/>
          </a:xfrm>
          <a:prstGeom prst="rect">
            <a:avLst/>
          </a:prstGeom>
          <a:solidFill>
            <a:srgbClr val="E0E6E8"/>
          </a:solidFill>
          <a:ln>
            <a:noFill/>
          </a:ln>
          <a:effectLst/>
        </p:spPr>
        <p:txBody>
          <a:bodyPr rtlCol="0" anchor="ctr"/>
          <a:lstStyle/>
          <a:p>
            <a:pPr algn="ctr"/>
          </a:p>
        </p:txBody>
      </p:sp>
      <p:sp>
        <p:nvSpPr>
          <p:cNvPr id="31" name="TextBox 30"/>
          <p:cNvSpPr txBox="1"/>
          <p:nvPr/>
        </p:nvSpPr>
        <p:spPr>
          <a:xfrm>
            <a:off x="13030200" y="6784848"/>
            <a:ext cx="4023360" cy="228600"/>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8A9AA1"/>
                </a:solidFill>
                <a:latin typeface="Arial"/>
              </a:rPr>
              <a:t>LIVRABLE</a:t>
            </a:r>
          </a:p>
        </p:txBody>
      </p:sp>
      <p:sp>
        <p:nvSpPr>
          <p:cNvPr id="32" name="TextBox 31"/>
          <p:cNvSpPr txBox="1"/>
          <p:nvPr/>
        </p:nvSpPr>
        <p:spPr>
          <a:xfrm>
            <a:off x="13030200" y="7040880"/>
            <a:ext cx="4023360" cy="1188720"/>
          </a:xfrm>
          <a:prstGeom prst="rect">
            <a:avLst/>
          </a:prstGeom>
          <a:noFill/>
        </p:spPr>
        <p:txBody>
          <a:bodyPr wrap="square" lIns="0" rIns="0" tIns="0" bIns="0" anchor="t">
            <a:noAutofit/>
          </a:bodyPr>
          <a:lstStyle/>
          <a:p>
            <a:pPr algn="l">
              <a:lnSpc>
                <a:spcPct val="108000"/>
              </a:lnSpc>
              <a:spcBef>
                <a:spcPts val="0"/>
              </a:spcBef>
              <a:spcAft>
                <a:spcPts val="0"/>
              </a:spcAft>
            </a:pPr>
            <a:r>
              <a:rPr b="1" sz="1600" i="0">
                <a:solidFill>
                  <a:srgbClr val="093544"/>
                </a:solidFill>
                <a:latin typeface="Arial"/>
              </a:rPr>
              <a:t>Un rapprochement validé et testé</a:t>
            </a:r>
          </a:p>
        </p:txBody>
      </p:sp>
      <p:sp>
        <p:nvSpPr>
          <p:cNvPr id="33" name="TextBox 32"/>
          <p:cNvSpPr txBox="1"/>
          <p:nvPr/>
        </p:nvSpPr>
        <p:spPr>
          <a:xfrm>
            <a:off x="2606040" y="9189720"/>
            <a:ext cx="14584680" cy="320040"/>
          </a:xfrm>
          <a:prstGeom prst="rect">
            <a:avLst/>
          </a:prstGeom>
          <a:noFill/>
        </p:spPr>
        <p:txBody>
          <a:bodyPr wrap="square" lIns="0" rIns="0" tIns="0" bIns="0" anchor="t">
            <a:noAutofit/>
          </a:bodyPr>
          <a:lstStyle/>
          <a:p>
            <a:pPr algn="l">
              <a:lnSpc>
                <a:spcPct val="102000"/>
              </a:lnSpc>
              <a:spcBef>
                <a:spcPts val="0"/>
              </a:spcBef>
              <a:spcAft>
                <a:spcPts val="0"/>
              </a:spcAft>
            </a:pPr>
            <a:r>
              <a:rPr b="0" sz="1500" i="0">
                <a:solidFill>
                  <a:srgbClr val="5C6E76"/>
                </a:solidFill>
                <a:latin typeface="Arial"/>
              </a:rPr>
              <a:t>Chaque jour ajoute une couche, sans repartir de zéro.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PRÉPARER SON POSTE</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Tout ce qu'il faut avant de coder</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Node 22+, la CLI 22, un éditeur et le backend fourni.</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06 / 62</a:t>
            </a:r>
          </a:p>
        </p:txBody>
      </p:sp>
      <p:sp>
        <p:nvSpPr>
          <p:cNvPr id="9" name="TextBox 8"/>
          <p:cNvSpPr txBox="1"/>
          <p:nvPr/>
        </p:nvSpPr>
        <p:spPr>
          <a:xfrm>
            <a:off x="2606040" y="3108960"/>
            <a:ext cx="6675120" cy="32004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ED1548"/>
                </a:solidFill>
                <a:latin typeface="Arial"/>
              </a:rPr>
              <a:t>À INSTALLER</a:t>
            </a:r>
          </a:p>
        </p:txBody>
      </p:sp>
      <p:sp>
        <p:nvSpPr>
          <p:cNvPr id="10" name="Rounded Rectangle 9"/>
          <p:cNvSpPr/>
          <p:nvPr/>
        </p:nvSpPr>
        <p:spPr>
          <a:xfrm>
            <a:off x="2606040" y="3502151"/>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11" name="TextBox 10"/>
          <p:cNvSpPr txBox="1"/>
          <p:nvPr/>
        </p:nvSpPr>
        <p:spPr>
          <a:xfrm>
            <a:off x="2971800" y="3474720"/>
            <a:ext cx="6309359" cy="266573"/>
          </a:xfrm>
          <a:prstGeom prst="rect">
            <a:avLst/>
          </a:prstGeom>
          <a:noFill/>
        </p:spPr>
        <p:txBody>
          <a:bodyPr wrap="square" lIns="0" rIns="0" tIns="0" bIns="0" anchor="t">
            <a:noAutofit/>
          </a:bodyPr>
          <a:lstStyle/>
          <a:p>
            <a:pPr algn="l">
              <a:lnSpc>
                <a:spcPct val="105000"/>
              </a:lnSpc>
              <a:spcBef>
                <a:spcPts val="0"/>
              </a:spcBef>
              <a:spcAft>
                <a:spcPts val="0"/>
              </a:spcAft>
            </a:pPr>
            <a:r>
              <a:rPr b="1" sz="1700" i="0">
                <a:solidFill>
                  <a:srgbClr val="1B3B47"/>
                </a:solidFill>
                <a:latin typeface="Arial"/>
              </a:rPr>
              <a:t>Node 22 LTS+</a:t>
            </a:r>
            <a:r>
              <a:rPr b="0" sz="1700" i="0">
                <a:solidFill>
                  <a:srgbClr val="1B3B47"/>
                </a:solidFill>
                <a:latin typeface="Arial"/>
              </a:rPr>
              <a:t> et npm (Node 20 n'est plus supporté).</a:t>
            </a:r>
          </a:p>
        </p:txBody>
      </p:sp>
      <p:sp>
        <p:nvSpPr>
          <p:cNvPr id="12" name="Rounded Rectangle 11"/>
          <p:cNvSpPr/>
          <p:nvPr/>
        </p:nvSpPr>
        <p:spPr>
          <a:xfrm>
            <a:off x="2606040" y="3841877"/>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13" name="TextBox 12"/>
          <p:cNvSpPr txBox="1"/>
          <p:nvPr/>
        </p:nvSpPr>
        <p:spPr>
          <a:xfrm>
            <a:off x="2971800" y="3814444"/>
            <a:ext cx="6309359" cy="266573"/>
          </a:xfrm>
          <a:prstGeom prst="rect">
            <a:avLst/>
          </a:prstGeom>
          <a:noFill/>
        </p:spPr>
        <p:txBody>
          <a:bodyPr wrap="square" lIns="0" rIns="0" tIns="0" bIns="0" anchor="t">
            <a:noAutofit/>
          </a:bodyPr>
          <a:lstStyle/>
          <a:p>
            <a:pPr algn="l">
              <a:lnSpc>
                <a:spcPct val="105000"/>
              </a:lnSpc>
              <a:spcBef>
                <a:spcPts val="0"/>
              </a:spcBef>
              <a:spcAft>
                <a:spcPts val="0"/>
              </a:spcAft>
            </a:pPr>
            <a:r>
              <a:rPr b="1" sz="1700" i="0">
                <a:solidFill>
                  <a:srgbClr val="1B3B47"/>
                </a:solidFill>
                <a:latin typeface="Arial"/>
              </a:rPr>
              <a:t>Angular CLI 22</a:t>
            </a:r>
            <a:r>
              <a:rPr b="0" sz="1700" i="0">
                <a:solidFill>
                  <a:srgbClr val="1B3B47"/>
                </a:solidFill>
                <a:latin typeface="Arial"/>
              </a:rPr>
              <a:t> : </a:t>
            </a:r>
            <a:r>
              <a:rPr sz="1530" b="0" i="0">
                <a:solidFill>
                  <a:srgbClr val="ED1548"/>
                </a:solidFill>
                <a:latin typeface="Consolas"/>
              </a:rPr>
              <a:t>npm i -g @angular/cli</a:t>
            </a:r>
          </a:p>
        </p:txBody>
      </p:sp>
      <p:sp>
        <p:nvSpPr>
          <p:cNvPr id="14" name="Rounded Rectangle 13"/>
          <p:cNvSpPr/>
          <p:nvPr/>
        </p:nvSpPr>
        <p:spPr>
          <a:xfrm>
            <a:off x="2606040" y="418160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15" name="TextBox 14"/>
          <p:cNvSpPr txBox="1"/>
          <p:nvPr/>
        </p:nvSpPr>
        <p:spPr>
          <a:xfrm>
            <a:off x="2971800" y="4154169"/>
            <a:ext cx="6309359" cy="266573"/>
          </a:xfrm>
          <a:prstGeom prst="rect">
            <a:avLst/>
          </a:prstGeom>
          <a:noFill/>
        </p:spPr>
        <p:txBody>
          <a:bodyPr wrap="square" lIns="0" rIns="0" tIns="0" bIns="0" anchor="t">
            <a:noAutofit/>
          </a:bodyPr>
          <a:lstStyle/>
          <a:p>
            <a:pPr algn="l">
              <a:lnSpc>
                <a:spcPct val="105000"/>
              </a:lnSpc>
              <a:spcBef>
                <a:spcPts val="0"/>
              </a:spcBef>
              <a:spcAft>
                <a:spcPts val="0"/>
              </a:spcAft>
            </a:pPr>
            <a:r>
              <a:rPr b="1" sz="1700" i="0">
                <a:solidFill>
                  <a:srgbClr val="1B3B47"/>
                </a:solidFill>
                <a:latin typeface="Arial"/>
              </a:rPr>
              <a:t>VS Code</a:t>
            </a:r>
            <a:r>
              <a:rPr b="0" sz="1700" i="0">
                <a:solidFill>
                  <a:srgbClr val="1B3B47"/>
                </a:solidFill>
                <a:latin typeface="Arial"/>
              </a:rPr>
              <a:t> + Angular Language Service.</a:t>
            </a:r>
          </a:p>
        </p:txBody>
      </p:sp>
      <p:sp>
        <p:nvSpPr>
          <p:cNvPr id="16" name="Rounded Rectangle 15"/>
          <p:cNvSpPr/>
          <p:nvPr/>
        </p:nvSpPr>
        <p:spPr>
          <a:xfrm>
            <a:off x="2606040" y="4521327"/>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17" name="TextBox 16"/>
          <p:cNvSpPr txBox="1"/>
          <p:nvPr/>
        </p:nvSpPr>
        <p:spPr>
          <a:xfrm>
            <a:off x="2971800" y="4493895"/>
            <a:ext cx="6309359" cy="266573"/>
          </a:xfrm>
          <a:prstGeom prst="rect">
            <a:avLst/>
          </a:prstGeom>
          <a:noFill/>
        </p:spPr>
        <p:txBody>
          <a:bodyPr wrap="square" lIns="0" rIns="0" tIns="0" bIns="0" anchor="t">
            <a:noAutofit/>
          </a:bodyPr>
          <a:lstStyle/>
          <a:p>
            <a:pPr algn="l">
              <a:lnSpc>
                <a:spcPct val="105000"/>
              </a:lnSpc>
              <a:spcBef>
                <a:spcPts val="0"/>
              </a:spcBef>
              <a:spcAft>
                <a:spcPts val="0"/>
              </a:spcAft>
            </a:pPr>
            <a:r>
              <a:rPr b="1" sz="1700" i="0">
                <a:solidFill>
                  <a:srgbClr val="1B3B47"/>
                </a:solidFill>
                <a:latin typeface="Arial"/>
              </a:rPr>
              <a:t>Git</a:t>
            </a:r>
            <a:r>
              <a:rPr b="0" sz="1700" i="0">
                <a:solidFill>
                  <a:srgbClr val="1B3B47"/>
                </a:solidFill>
                <a:latin typeface="Arial"/>
              </a:rPr>
              <a:t> et un navigateur avec DevTools.</a:t>
            </a:r>
          </a:p>
        </p:txBody>
      </p:sp>
      <p:sp>
        <p:nvSpPr>
          <p:cNvPr id="18" name="Rounded Rectangle 17"/>
          <p:cNvSpPr/>
          <p:nvPr/>
        </p:nvSpPr>
        <p:spPr>
          <a:xfrm>
            <a:off x="2606040" y="486105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19" name="TextBox 18"/>
          <p:cNvSpPr txBox="1"/>
          <p:nvPr/>
        </p:nvSpPr>
        <p:spPr>
          <a:xfrm>
            <a:off x="2971800" y="4833619"/>
            <a:ext cx="6309359" cy="266573"/>
          </a:xfrm>
          <a:prstGeom prst="rect">
            <a:avLst/>
          </a:prstGeom>
          <a:noFill/>
        </p:spPr>
        <p:txBody>
          <a:bodyPr wrap="square" lIns="0" rIns="0" tIns="0" bIns="0" anchor="t">
            <a:noAutofit/>
          </a:bodyPr>
          <a:lstStyle/>
          <a:p>
            <a:pPr algn="l">
              <a:lnSpc>
                <a:spcPct val="105000"/>
              </a:lnSpc>
              <a:spcBef>
                <a:spcPts val="0"/>
              </a:spcBef>
              <a:spcAft>
                <a:spcPts val="0"/>
              </a:spcAft>
            </a:pPr>
            <a:r>
              <a:rPr b="0" sz="1700" i="0">
                <a:solidFill>
                  <a:srgbClr val="1B3B47"/>
                </a:solidFill>
                <a:latin typeface="Arial"/>
              </a:rPr>
              <a:t>Le dossier </a:t>
            </a:r>
            <a:r>
              <a:rPr b="1" sz="1700" i="0">
                <a:solidFill>
                  <a:srgbClr val="1B3B47"/>
                </a:solidFill>
                <a:latin typeface="Arial"/>
              </a:rPr>
              <a:t>backend/</a:t>
            </a:r>
            <a:r>
              <a:rPr b="0" sz="1700" i="0">
                <a:solidFill>
                  <a:srgbClr val="1B3B47"/>
                </a:solidFill>
                <a:latin typeface="Arial"/>
              </a:rPr>
              <a:t> fourni (db.json, package.json).</a:t>
            </a:r>
          </a:p>
        </p:txBody>
      </p:sp>
      <p:sp>
        <p:nvSpPr>
          <p:cNvPr id="20" name="Rounded Rectangle 19"/>
          <p:cNvSpPr/>
          <p:nvPr/>
        </p:nvSpPr>
        <p:spPr>
          <a:xfrm>
            <a:off x="2606040" y="5200777"/>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1" name="TextBox 20"/>
          <p:cNvSpPr txBox="1"/>
          <p:nvPr/>
        </p:nvSpPr>
        <p:spPr>
          <a:xfrm>
            <a:off x="2971800" y="5173344"/>
            <a:ext cx="6309359" cy="266573"/>
          </a:xfrm>
          <a:prstGeom prst="rect">
            <a:avLst/>
          </a:prstGeom>
          <a:noFill/>
        </p:spPr>
        <p:txBody>
          <a:bodyPr wrap="square" lIns="0" rIns="0" tIns="0" bIns="0" anchor="t">
            <a:noAutofit/>
          </a:bodyPr>
          <a:lstStyle/>
          <a:p>
            <a:pPr algn="l">
              <a:lnSpc>
                <a:spcPct val="105000"/>
              </a:lnSpc>
              <a:spcBef>
                <a:spcPts val="0"/>
              </a:spcBef>
              <a:spcAft>
                <a:spcPts val="0"/>
              </a:spcAft>
            </a:pPr>
            <a:r>
              <a:rPr b="0" sz="1700" i="0">
                <a:solidFill>
                  <a:srgbClr val="1B3B47"/>
                </a:solidFill>
                <a:latin typeface="Arial"/>
              </a:rPr>
              <a:t>Un terminal à portée de main.</a:t>
            </a:r>
          </a:p>
        </p:txBody>
      </p:sp>
      <p:sp>
        <p:nvSpPr>
          <p:cNvPr id="22" name="Rounded Rectangle 21"/>
          <p:cNvSpPr/>
          <p:nvPr/>
        </p:nvSpPr>
        <p:spPr>
          <a:xfrm>
            <a:off x="2606040" y="7635240"/>
            <a:ext cx="6675120" cy="1737360"/>
          </a:xfrm>
          <a:prstGeom prst="roundRect">
            <a:avLst>
              <a:gd name="adj" fmla="val 8000"/>
            </a:avLst>
          </a:prstGeom>
          <a:solidFill>
            <a:srgbClr val="EBF6F8"/>
          </a:solidFill>
          <a:ln>
            <a:noFill/>
          </a:ln>
          <a:effectLst/>
        </p:spPr>
        <p:txBody>
          <a:bodyPr rtlCol="0" anchor="ctr"/>
          <a:lstStyle/>
          <a:p>
            <a:pPr algn="ctr"/>
          </a:p>
        </p:txBody>
      </p:sp>
      <p:sp>
        <p:nvSpPr>
          <p:cNvPr id="23" name="Rectangle 22"/>
          <p:cNvSpPr/>
          <p:nvPr/>
        </p:nvSpPr>
        <p:spPr>
          <a:xfrm>
            <a:off x="2606040" y="7635240"/>
            <a:ext cx="64008" cy="1737360"/>
          </a:xfrm>
          <a:prstGeom prst="rect">
            <a:avLst/>
          </a:prstGeom>
          <a:solidFill>
            <a:srgbClr val="0B4F6C"/>
          </a:solidFill>
          <a:ln>
            <a:noFill/>
          </a:ln>
          <a:effectLst/>
        </p:spPr>
        <p:txBody>
          <a:bodyPr rtlCol="0" anchor="ctr"/>
          <a:lstStyle/>
          <a:p>
            <a:pPr algn="ctr"/>
          </a:p>
        </p:txBody>
      </p:sp>
      <p:sp>
        <p:nvSpPr>
          <p:cNvPr id="24" name="TextBox 23"/>
          <p:cNvSpPr txBox="1"/>
          <p:nvPr/>
        </p:nvSpPr>
        <p:spPr>
          <a:xfrm>
            <a:off x="2898648" y="7799831"/>
            <a:ext cx="61722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PAS DE SSR POUR CE PROJET</a:t>
            </a:r>
          </a:p>
        </p:txBody>
      </p:sp>
      <p:sp>
        <p:nvSpPr>
          <p:cNvPr id="25" name="TextBox 24"/>
          <p:cNvSpPr txBox="1"/>
          <p:nvPr/>
        </p:nvSpPr>
        <p:spPr>
          <a:xfrm>
            <a:off x="2898648" y="8092440"/>
            <a:ext cx="6126480" cy="1170431"/>
          </a:xfrm>
          <a:prstGeom prst="rect">
            <a:avLst/>
          </a:prstGeom>
          <a:noFill/>
        </p:spPr>
        <p:txBody>
          <a:bodyPr wrap="square" lIns="0" rIns="0" tIns="0" bIns="0" anchor="t">
            <a:noAutofit/>
          </a:bodyPr>
          <a:lstStyle/>
          <a:p>
            <a:pPr algn="l">
              <a:lnSpc>
                <a:spcPct val="106000"/>
              </a:lnSpc>
              <a:spcBef>
                <a:spcPts val="0"/>
              </a:spcBef>
              <a:spcAft>
                <a:spcPts val="0"/>
              </a:spcAft>
            </a:pPr>
            <a:r>
              <a:rPr b="0" sz="1500" i="0">
                <a:solidFill>
                  <a:srgbClr val="1B3B47"/>
                </a:solidFill>
                <a:latin typeface="Arial"/>
              </a:rPr>
              <a:t>Répondre « non » à la question SSR/SSG de </a:t>
            </a:r>
            <a:r>
              <a:rPr sz="1350" b="0" i="0">
                <a:solidFill>
                  <a:srgbClr val="0B4F6C"/>
                </a:solidFill>
                <a:latin typeface="Consolas"/>
              </a:rPr>
              <a:t>ng new</a:t>
            </a:r>
            <a:r>
              <a:rPr b="0" sz="1500" i="0">
                <a:solidFill>
                  <a:srgbClr val="1B3B47"/>
                </a:solidFill>
                <a:latin typeface="Arial"/>
              </a:rPr>
              <a:t>. Le projet reste une SPA, servie par </a:t>
            </a:r>
            <a:r>
              <a:rPr sz="1350" b="0" i="0">
                <a:solidFill>
                  <a:srgbClr val="0B4F6C"/>
                </a:solidFill>
                <a:latin typeface="Consolas"/>
              </a:rPr>
              <a:t>ng serve</a:t>
            </a:r>
            <a:r>
              <a:rPr b="0" sz="1500" i="0">
                <a:solidFill>
                  <a:srgbClr val="1B3B47"/>
                </a:solidFill>
                <a:latin typeface="Arial"/>
              </a:rPr>
              <a:t> ; le backend json-server tourne à côté.</a:t>
            </a:r>
          </a:p>
        </p:txBody>
      </p:sp>
      <p:sp>
        <p:nvSpPr>
          <p:cNvPr id="26" name="Rounded Rectangle 25"/>
          <p:cNvSpPr/>
          <p:nvPr/>
        </p:nvSpPr>
        <p:spPr>
          <a:xfrm>
            <a:off x="9601200" y="3108960"/>
            <a:ext cx="7589520" cy="475488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27" name="Oval 26"/>
          <p:cNvSpPr/>
          <p:nvPr/>
        </p:nvSpPr>
        <p:spPr>
          <a:xfrm>
            <a:off x="9820656" y="3282696"/>
            <a:ext cx="82296" cy="82296"/>
          </a:xfrm>
          <a:prstGeom prst="ellipse">
            <a:avLst/>
          </a:prstGeom>
          <a:solidFill>
            <a:srgbClr val="ED1548"/>
          </a:solidFill>
          <a:ln>
            <a:noFill/>
          </a:ln>
          <a:effectLst/>
        </p:spPr>
        <p:txBody>
          <a:bodyPr rtlCol="0" anchor="ctr"/>
          <a:lstStyle/>
          <a:p>
            <a:pPr algn="ctr"/>
          </a:p>
        </p:txBody>
      </p:sp>
      <p:sp>
        <p:nvSpPr>
          <p:cNvPr id="28" name="TextBox 27"/>
          <p:cNvSpPr txBox="1"/>
          <p:nvPr/>
        </p:nvSpPr>
        <p:spPr>
          <a:xfrm>
            <a:off x="9985248" y="3218688"/>
            <a:ext cx="7086599"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terminal</a:t>
            </a:r>
          </a:p>
        </p:txBody>
      </p:sp>
      <p:sp>
        <p:nvSpPr>
          <p:cNvPr id="29" name="TextBox 28"/>
          <p:cNvSpPr txBox="1"/>
          <p:nvPr/>
        </p:nvSpPr>
        <p:spPr>
          <a:xfrm>
            <a:off x="9848088" y="3584448"/>
            <a:ext cx="7269479" cy="4114800"/>
          </a:xfrm>
          <a:prstGeom prst="rect">
            <a:avLst/>
          </a:prstGeom>
          <a:noFill/>
        </p:spPr>
        <p:txBody>
          <a:bodyPr wrap="none" lIns="0" rIns="0" tIns="0" bIns="0">
            <a:noAutofit/>
          </a:bodyPr>
          <a:lstStyle/>
          <a:p>
            <a:pPr>
              <a:lnSpc>
                <a:spcPct val="100000"/>
              </a:lnSpc>
              <a:spcBef>
                <a:spcPts val="0"/>
              </a:spcBef>
              <a:spcAft>
                <a:spcPts val="0"/>
              </a:spcAft>
            </a:pPr>
            <a:r>
              <a:rPr sz="1600">
                <a:solidFill>
                  <a:srgbClr val="EAF2F4"/>
                </a:solidFill>
                <a:latin typeface="Consolas"/>
              </a:rPr>
              <a:t>node -v                  </a:t>
            </a:r>
            <a:r>
              <a:rPr sz="1600" i="1">
                <a:solidFill>
                  <a:srgbClr val="7FA6B2"/>
                </a:solidFill>
                <a:latin typeface="Consolas"/>
              </a:rPr>
              <a:t># &gt;= 22</a:t>
            </a:r>
          </a:p>
          <a:p>
            <a:pPr>
              <a:lnSpc>
                <a:spcPct val="100000"/>
              </a:lnSpc>
              <a:spcBef>
                <a:spcPts val="0"/>
              </a:spcBef>
              <a:spcAft>
                <a:spcPts val="0"/>
              </a:spcAft>
            </a:pPr>
            <a:r>
              <a:rPr sz="1600">
                <a:solidFill>
                  <a:srgbClr val="EAF2F4"/>
                </a:solidFill>
                <a:latin typeface="Consolas"/>
              </a:rPr>
              <a:t>npm i -g </a:t>
            </a:r>
            <a:r>
              <a:rPr sz="1600">
                <a:solidFill>
                  <a:srgbClr val="FFD166"/>
                </a:solidFill>
                <a:latin typeface="Consolas"/>
              </a:rPr>
              <a:t>@angular</a:t>
            </a:r>
            <a:r>
              <a:rPr sz="1600">
                <a:solidFill>
                  <a:srgbClr val="EAF2F4"/>
                </a:solidFill>
                <a:latin typeface="Consolas"/>
              </a:rPr>
              <a:t>/cli@</a:t>
            </a:r>
            <a:r>
              <a:rPr sz="1600">
                <a:solidFill>
                  <a:srgbClr val="FFD166"/>
                </a:solidFill>
                <a:latin typeface="Consolas"/>
              </a:rPr>
              <a:t>22</a:t>
            </a:r>
          </a:p>
          <a:p>
            <a:pPr>
              <a:lnSpc>
                <a:spcPct val="100000"/>
              </a:lnSpc>
              <a:spcBef>
                <a:spcPts val="0"/>
              </a:spcBef>
              <a:spcAft>
                <a:spcPts val="0"/>
              </a:spcAft>
            </a:pPr>
            <a:r>
              <a:rPr sz="1600">
                <a:solidFill>
                  <a:srgbClr val="EAF2F4"/>
                </a:solidFill>
                <a:latin typeface="Consolas"/>
              </a:rPr>
              <a:t>ng version</a:t>
            </a:r>
          </a:p>
          <a:p>
            <a:pPr>
              <a:lnSpc>
                <a:spcPct val="100000"/>
              </a:lnSpc>
              <a:spcBef>
                <a:spcPts val="0"/>
              </a:spcBef>
              <a:spcAft>
                <a:spcPts val="0"/>
              </a:spcAft>
            </a:pPr>
          </a:p>
          <a:p>
            <a:pPr>
              <a:lnSpc>
                <a:spcPct val="100000"/>
              </a:lnSpc>
              <a:spcBef>
                <a:spcPts val="0"/>
              </a:spcBef>
              <a:spcAft>
                <a:spcPts val="0"/>
              </a:spcAft>
            </a:pPr>
            <a:r>
              <a:rPr sz="1600">
                <a:solidFill>
                  <a:srgbClr val="EAF2F4"/>
                </a:solidFill>
                <a:latin typeface="Consolas"/>
              </a:rPr>
              <a:t>cd backend</a:t>
            </a:r>
          </a:p>
          <a:p>
            <a:pPr>
              <a:lnSpc>
                <a:spcPct val="100000"/>
              </a:lnSpc>
              <a:spcBef>
                <a:spcPts val="0"/>
              </a:spcBef>
              <a:spcAft>
                <a:spcPts val="0"/>
              </a:spcAft>
            </a:pPr>
            <a:r>
              <a:rPr sz="1600">
                <a:solidFill>
                  <a:srgbClr val="EAF2F4"/>
                </a:solidFill>
                <a:latin typeface="Consolas"/>
              </a:rPr>
              <a:t>npm install</a:t>
            </a:r>
          </a:p>
          <a:p>
            <a:pPr>
              <a:lnSpc>
                <a:spcPct val="100000"/>
              </a:lnSpc>
              <a:spcBef>
                <a:spcPts val="0"/>
              </a:spcBef>
              <a:spcAft>
                <a:spcPts val="0"/>
              </a:spcAft>
            </a:pPr>
            <a:r>
              <a:rPr sz="1600">
                <a:solidFill>
                  <a:srgbClr val="EAF2F4"/>
                </a:solidFill>
                <a:latin typeface="Consolas"/>
              </a:rPr>
              <a:t>npm run api             </a:t>
            </a:r>
            <a:r>
              <a:rPr sz="1600" i="1">
                <a:solidFill>
                  <a:srgbClr val="7FA6B2"/>
                </a:solidFill>
                <a:latin typeface="Consolas"/>
              </a:rPr>
              <a:t># http://localhost:3000</a:t>
            </a:r>
          </a:p>
          <a:p>
            <a:pPr>
              <a:lnSpc>
                <a:spcPct val="100000"/>
              </a:lnSpc>
              <a:spcBef>
                <a:spcPts val="0"/>
              </a:spcBef>
              <a:spcAft>
                <a:spcPts val="0"/>
              </a:spcAft>
            </a:pPr>
            <a:r>
              <a:rPr sz="1600">
                <a:solidFill>
                  <a:srgbClr val="EAF2F4"/>
                </a:solidFill>
                <a:latin typeface="Consolas"/>
              </a:rPr>
              <a:t>curl http:</a:t>
            </a:r>
            <a:r>
              <a:rPr sz="1600" i="1">
                <a:solidFill>
                  <a:srgbClr val="7FA6B2"/>
                </a:solidFill>
                <a:latin typeface="Consolas"/>
              </a:rPr>
              <a:t>//localhost:3000/factures | head</a:t>
            </a:r>
          </a:p>
        </p:txBody>
      </p:sp>
      <p:sp>
        <p:nvSpPr>
          <p:cNvPr id="30" name="Rounded Rectangle 29"/>
          <p:cNvSpPr/>
          <p:nvPr/>
        </p:nvSpPr>
        <p:spPr>
          <a:xfrm>
            <a:off x="9601200" y="8092440"/>
            <a:ext cx="7589520" cy="1280160"/>
          </a:xfrm>
          <a:prstGeom prst="roundRect">
            <a:avLst>
              <a:gd name="adj" fmla="val 8000"/>
            </a:avLst>
          </a:prstGeom>
          <a:solidFill>
            <a:srgbClr val="FFF6E5"/>
          </a:solidFill>
          <a:ln>
            <a:noFill/>
          </a:ln>
          <a:effectLst/>
        </p:spPr>
        <p:txBody>
          <a:bodyPr rtlCol="0" anchor="ctr"/>
          <a:lstStyle/>
          <a:p>
            <a:pPr algn="ctr"/>
          </a:p>
        </p:txBody>
      </p:sp>
      <p:sp>
        <p:nvSpPr>
          <p:cNvPr id="31" name="Rectangle 30"/>
          <p:cNvSpPr/>
          <p:nvPr/>
        </p:nvSpPr>
        <p:spPr>
          <a:xfrm>
            <a:off x="9601200" y="8092440"/>
            <a:ext cx="64008" cy="1280160"/>
          </a:xfrm>
          <a:prstGeom prst="rect">
            <a:avLst/>
          </a:prstGeom>
          <a:solidFill>
            <a:srgbClr val="B26A00"/>
          </a:solidFill>
          <a:ln>
            <a:noFill/>
          </a:ln>
          <a:effectLst/>
        </p:spPr>
        <p:txBody>
          <a:bodyPr rtlCol="0" anchor="ctr"/>
          <a:lstStyle/>
          <a:p>
            <a:pPr algn="ctr"/>
          </a:p>
        </p:txBody>
      </p:sp>
      <p:sp>
        <p:nvSpPr>
          <p:cNvPr id="32" name="TextBox 31"/>
          <p:cNvSpPr txBox="1"/>
          <p:nvPr/>
        </p:nvSpPr>
        <p:spPr>
          <a:xfrm>
            <a:off x="9893808" y="8257031"/>
            <a:ext cx="7223759"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B26A00"/>
                </a:solidFill>
                <a:latin typeface="Arial"/>
              </a:rPr>
              <a:t>VERSION ÉPINGLÉE</a:t>
            </a:r>
          </a:p>
        </p:txBody>
      </p:sp>
      <p:sp>
        <p:nvSpPr>
          <p:cNvPr id="33" name="TextBox 32"/>
          <p:cNvSpPr txBox="1"/>
          <p:nvPr/>
        </p:nvSpPr>
        <p:spPr>
          <a:xfrm>
            <a:off x="9893808" y="8549640"/>
            <a:ext cx="7178040" cy="713231"/>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json-server 0.17.4 est conservé : la v1 change la syntaxe </a:t>
            </a:r>
            <a:r>
              <a:rPr sz="1260" b="0" i="0">
                <a:solidFill>
                  <a:srgbClr val="B26A00"/>
                </a:solidFill>
                <a:latin typeface="Consolas"/>
              </a:rPr>
              <a:t>_sort</a:t>
            </a:r>
            <a:r>
              <a:rPr b="0" sz="1400" i="0">
                <a:solidFill>
                  <a:srgbClr val="1B3B47"/>
                </a:solidFill>
                <a:latin typeface="Arial"/>
              </a:rPr>
              <a:t>, </a:t>
            </a:r>
            <a:r>
              <a:rPr sz="1260" b="0" i="0">
                <a:solidFill>
                  <a:srgbClr val="B26A00"/>
                </a:solidFill>
                <a:latin typeface="Consolas"/>
              </a:rPr>
              <a:t>_page</a:t>
            </a:r>
            <a:r>
              <a:rPr b="0" sz="1400" i="0">
                <a:solidFill>
                  <a:srgbClr val="1B3B47"/>
                </a:solidFill>
                <a:latin typeface="Arial"/>
              </a:rPr>
              <a:t>, </a:t>
            </a:r>
            <a:r>
              <a:rPr sz="1260" b="0" i="0">
                <a:solidFill>
                  <a:srgbClr val="B26A00"/>
                </a:solidFill>
                <a:latin typeface="Consolas"/>
              </a:rPr>
              <a:t>_expand</a:t>
            </a:r>
            <a:r>
              <a:rPr b="0" sz="1400" i="0">
                <a:solidFill>
                  <a:srgbClr val="1B3B47"/>
                </a:solidFill>
                <a:latin typeface="Arial"/>
              </a:rPr>
              <a:t>. Le script </a:t>
            </a:r>
            <a:r>
              <a:rPr sz="1260" b="0" i="0">
                <a:solidFill>
                  <a:srgbClr val="B26A00"/>
                </a:solidFill>
                <a:latin typeface="Consolas"/>
              </a:rPr>
              <a:t>npm run db:gen</a:t>
            </a:r>
            <a:r>
              <a:rPr b="0" sz="1400" i="0">
                <a:solidFill>
                  <a:srgbClr val="1B3B47"/>
                </a:solidFill>
                <a:latin typeface="Arial"/>
              </a:rPr>
              <a:t> régénère le jeu de données.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REPÈRES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Angular 22 : ce qui change vraiment</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Six repères à garder en tête ; le reste s'apprend en pratiquant.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07 / 62</a:t>
            </a:r>
          </a:p>
        </p:txBody>
      </p:sp>
      <p:sp>
        <p:nvSpPr>
          <p:cNvPr id="9" name="Rounded Rectangle 8"/>
          <p:cNvSpPr/>
          <p:nvPr/>
        </p:nvSpPr>
        <p:spPr>
          <a:xfrm>
            <a:off x="2606040" y="3063240"/>
            <a:ext cx="4572000" cy="233172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0" name="Rectangle 9"/>
          <p:cNvSpPr/>
          <p:nvPr/>
        </p:nvSpPr>
        <p:spPr>
          <a:xfrm>
            <a:off x="2606040" y="3063240"/>
            <a:ext cx="4572000" cy="50292"/>
          </a:xfrm>
          <a:prstGeom prst="rect">
            <a:avLst/>
          </a:prstGeom>
          <a:solidFill>
            <a:srgbClr val="ED1548"/>
          </a:solidFill>
          <a:ln>
            <a:noFill/>
          </a:ln>
          <a:effectLst/>
        </p:spPr>
        <p:txBody>
          <a:bodyPr rtlCol="0" anchor="ctr"/>
          <a:lstStyle/>
          <a:p>
            <a:pPr algn="ctr"/>
          </a:p>
        </p:txBody>
      </p:sp>
      <p:sp>
        <p:nvSpPr>
          <p:cNvPr id="11" name="TextBox 10"/>
          <p:cNvSpPr txBox="1"/>
          <p:nvPr/>
        </p:nvSpPr>
        <p:spPr>
          <a:xfrm>
            <a:off x="2880360" y="3319272"/>
            <a:ext cx="4023360" cy="411480"/>
          </a:xfrm>
          <a:prstGeom prst="rect">
            <a:avLst/>
          </a:prstGeom>
          <a:noFill/>
        </p:spPr>
        <p:txBody>
          <a:bodyPr wrap="square" lIns="0" rIns="0" tIns="0" bIns="0" anchor="t">
            <a:noAutofit/>
          </a:bodyPr>
          <a:lstStyle/>
          <a:p>
            <a:pPr algn="l">
              <a:lnSpc>
                <a:spcPct val="102000"/>
              </a:lnSpc>
              <a:spcBef>
                <a:spcPts val="0"/>
              </a:spcBef>
              <a:spcAft>
                <a:spcPts val="0"/>
              </a:spcAft>
            </a:pPr>
            <a:r>
              <a:rPr b="1" sz="1700" i="0">
                <a:solidFill>
                  <a:srgbClr val="ED1548"/>
                </a:solidFill>
                <a:latin typeface="Arial"/>
              </a:rPr>
              <a:t>Standalone par défaut</a:t>
            </a:r>
          </a:p>
        </p:txBody>
      </p:sp>
      <p:sp>
        <p:nvSpPr>
          <p:cNvPr id="12" name="TextBox 11"/>
          <p:cNvSpPr txBox="1"/>
          <p:nvPr/>
        </p:nvSpPr>
        <p:spPr>
          <a:xfrm>
            <a:off x="2880360" y="3758183"/>
            <a:ext cx="4023360" cy="1463039"/>
          </a:xfrm>
          <a:prstGeom prst="rect">
            <a:avLst/>
          </a:prstGeom>
          <a:noFill/>
        </p:spPr>
        <p:txBody>
          <a:bodyPr wrap="square" lIns="0" rIns="0" tIns="0" bIns="0" anchor="t">
            <a:noAutofit/>
          </a:bodyPr>
          <a:lstStyle/>
          <a:p>
            <a:pPr algn="l">
              <a:lnSpc>
                <a:spcPct val="108000"/>
              </a:lnSpc>
              <a:spcBef>
                <a:spcPts val="0"/>
              </a:spcBef>
              <a:spcAft>
                <a:spcPts val="0"/>
              </a:spcAft>
            </a:pPr>
            <a:r>
              <a:rPr b="0" sz="1450" i="0">
                <a:solidFill>
                  <a:srgbClr val="1B3B47"/>
                </a:solidFill>
                <a:latin typeface="Arial"/>
              </a:rPr>
              <a:t>Pas de NgModule : chaque composant déclare ses dépendances dans </a:t>
            </a:r>
            <a:r>
              <a:rPr sz="1305" b="0" i="0">
                <a:solidFill>
                  <a:srgbClr val="ED1548"/>
                </a:solidFill>
                <a:latin typeface="Consolas"/>
              </a:rPr>
              <a:t>imports</a:t>
            </a:r>
            <a:r>
              <a:rPr b="0" sz="1450" i="0">
                <a:solidFill>
                  <a:srgbClr val="1B3B47"/>
                </a:solidFill>
                <a:latin typeface="Arial"/>
              </a:rPr>
              <a:t>.</a:t>
            </a:r>
          </a:p>
        </p:txBody>
      </p:sp>
      <p:sp>
        <p:nvSpPr>
          <p:cNvPr id="13" name="Rounded Rectangle 12"/>
          <p:cNvSpPr/>
          <p:nvPr/>
        </p:nvSpPr>
        <p:spPr>
          <a:xfrm>
            <a:off x="7680960" y="3063240"/>
            <a:ext cx="4572000" cy="233172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4" name="Rectangle 13"/>
          <p:cNvSpPr/>
          <p:nvPr/>
        </p:nvSpPr>
        <p:spPr>
          <a:xfrm>
            <a:off x="7680960" y="3063240"/>
            <a:ext cx="4572000" cy="50292"/>
          </a:xfrm>
          <a:prstGeom prst="rect">
            <a:avLst/>
          </a:prstGeom>
          <a:solidFill>
            <a:srgbClr val="0B4F6C"/>
          </a:solidFill>
          <a:ln>
            <a:noFill/>
          </a:ln>
          <a:effectLst/>
        </p:spPr>
        <p:txBody>
          <a:bodyPr rtlCol="0" anchor="ctr"/>
          <a:lstStyle/>
          <a:p>
            <a:pPr algn="ctr"/>
          </a:p>
        </p:txBody>
      </p:sp>
      <p:sp>
        <p:nvSpPr>
          <p:cNvPr id="15" name="TextBox 14"/>
          <p:cNvSpPr txBox="1"/>
          <p:nvPr/>
        </p:nvSpPr>
        <p:spPr>
          <a:xfrm>
            <a:off x="7955280" y="3319272"/>
            <a:ext cx="4023360" cy="411480"/>
          </a:xfrm>
          <a:prstGeom prst="rect">
            <a:avLst/>
          </a:prstGeom>
          <a:noFill/>
        </p:spPr>
        <p:txBody>
          <a:bodyPr wrap="square" lIns="0" rIns="0" tIns="0" bIns="0" anchor="t">
            <a:noAutofit/>
          </a:bodyPr>
          <a:lstStyle/>
          <a:p>
            <a:pPr algn="l">
              <a:lnSpc>
                <a:spcPct val="102000"/>
              </a:lnSpc>
              <a:spcBef>
                <a:spcPts val="0"/>
              </a:spcBef>
              <a:spcAft>
                <a:spcPts val="0"/>
              </a:spcAft>
            </a:pPr>
            <a:r>
              <a:rPr b="1" sz="1700" i="0">
                <a:solidFill>
                  <a:srgbClr val="0B4F6C"/>
                </a:solidFill>
                <a:latin typeface="Arial"/>
              </a:rPr>
              <a:t>Signals</a:t>
            </a:r>
          </a:p>
        </p:txBody>
      </p:sp>
      <p:sp>
        <p:nvSpPr>
          <p:cNvPr id="16" name="TextBox 15"/>
          <p:cNvSpPr txBox="1"/>
          <p:nvPr/>
        </p:nvSpPr>
        <p:spPr>
          <a:xfrm>
            <a:off x="7955280" y="3758183"/>
            <a:ext cx="4023360" cy="1463039"/>
          </a:xfrm>
          <a:prstGeom prst="rect">
            <a:avLst/>
          </a:prstGeom>
          <a:noFill/>
        </p:spPr>
        <p:txBody>
          <a:bodyPr wrap="square" lIns="0" rIns="0" tIns="0" bIns="0" anchor="t">
            <a:noAutofit/>
          </a:bodyPr>
          <a:lstStyle/>
          <a:p>
            <a:pPr algn="l">
              <a:lnSpc>
                <a:spcPct val="108000"/>
              </a:lnSpc>
              <a:spcBef>
                <a:spcPts val="0"/>
              </a:spcBef>
              <a:spcAft>
                <a:spcPts val="0"/>
              </a:spcAft>
            </a:pPr>
            <a:r>
              <a:rPr sz="1305" b="0" i="0">
                <a:solidFill>
                  <a:srgbClr val="0B4F6C"/>
                </a:solidFill>
                <a:latin typeface="Consolas"/>
              </a:rPr>
              <a:t>signal()</a:t>
            </a:r>
            <a:r>
              <a:rPr b="0" sz="1450" i="0">
                <a:solidFill>
                  <a:srgbClr val="1B3B47"/>
                </a:solidFill>
                <a:latin typeface="Arial"/>
              </a:rPr>
              <a:t> pour l'état, </a:t>
            </a:r>
            <a:r>
              <a:rPr sz="1305" b="0" i="0">
                <a:solidFill>
                  <a:srgbClr val="0B4F6C"/>
                </a:solidFill>
                <a:latin typeface="Consolas"/>
              </a:rPr>
              <a:t>computed()</a:t>
            </a:r>
            <a:r>
              <a:rPr b="0" sz="1450" i="0">
                <a:solidFill>
                  <a:srgbClr val="1B3B47"/>
                </a:solidFill>
                <a:latin typeface="Arial"/>
              </a:rPr>
              <a:t> pour les dérivés, </a:t>
            </a:r>
            <a:r>
              <a:rPr sz="1305" b="0" i="0">
                <a:solidFill>
                  <a:srgbClr val="0B4F6C"/>
                </a:solidFill>
                <a:latin typeface="Consolas"/>
              </a:rPr>
              <a:t>effect()</a:t>
            </a:r>
            <a:r>
              <a:rPr b="0" sz="1450" i="0">
                <a:solidFill>
                  <a:srgbClr val="1B3B47"/>
                </a:solidFill>
                <a:latin typeface="Arial"/>
              </a:rPr>
              <a:t> pour les effets de bord.</a:t>
            </a:r>
          </a:p>
        </p:txBody>
      </p:sp>
      <p:sp>
        <p:nvSpPr>
          <p:cNvPr id="17" name="Rounded Rectangle 16"/>
          <p:cNvSpPr/>
          <p:nvPr/>
        </p:nvSpPr>
        <p:spPr>
          <a:xfrm>
            <a:off x="12755880" y="3063240"/>
            <a:ext cx="4434840" cy="233172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8" name="Rectangle 17"/>
          <p:cNvSpPr/>
          <p:nvPr/>
        </p:nvSpPr>
        <p:spPr>
          <a:xfrm>
            <a:off x="12755880" y="3063240"/>
            <a:ext cx="4434840" cy="50292"/>
          </a:xfrm>
          <a:prstGeom prst="rect">
            <a:avLst/>
          </a:prstGeom>
          <a:solidFill>
            <a:srgbClr val="0B4F6C"/>
          </a:solidFill>
          <a:ln>
            <a:noFill/>
          </a:ln>
          <a:effectLst/>
        </p:spPr>
        <p:txBody>
          <a:bodyPr rtlCol="0" anchor="ctr"/>
          <a:lstStyle/>
          <a:p>
            <a:pPr algn="ctr"/>
          </a:p>
        </p:txBody>
      </p:sp>
      <p:sp>
        <p:nvSpPr>
          <p:cNvPr id="19" name="TextBox 18"/>
          <p:cNvSpPr txBox="1"/>
          <p:nvPr/>
        </p:nvSpPr>
        <p:spPr>
          <a:xfrm>
            <a:off x="13030200" y="3319272"/>
            <a:ext cx="4023360" cy="411480"/>
          </a:xfrm>
          <a:prstGeom prst="rect">
            <a:avLst/>
          </a:prstGeom>
          <a:noFill/>
        </p:spPr>
        <p:txBody>
          <a:bodyPr wrap="square" lIns="0" rIns="0" tIns="0" bIns="0" anchor="t">
            <a:noAutofit/>
          </a:bodyPr>
          <a:lstStyle/>
          <a:p>
            <a:pPr algn="l">
              <a:lnSpc>
                <a:spcPct val="102000"/>
              </a:lnSpc>
              <a:spcBef>
                <a:spcPts val="0"/>
              </a:spcBef>
              <a:spcAft>
                <a:spcPts val="0"/>
              </a:spcAft>
            </a:pPr>
            <a:r>
              <a:rPr b="1" sz="1700" i="0">
                <a:solidFill>
                  <a:srgbClr val="0B4F6C"/>
                </a:solidFill>
                <a:latin typeface="Arial"/>
              </a:rPr>
              <a:t>Control-flow</a:t>
            </a:r>
          </a:p>
        </p:txBody>
      </p:sp>
      <p:sp>
        <p:nvSpPr>
          <p:cNvPr id="20" name="TextBox 19"/>
          <p:cNvSpPr txBox="1"/>
          <p:nvPr/>
        </p:nvSpPr>
        <p:spPr>
          <a:xfrm>
            <a:off x="13030200" y="3758183"/>
            <a:ext cx="4023360" cy="1463039"/>
          </a:xfrm>
          <a:prstGeom prst="rect">
            <a:avLst/>
          </a:prstGeom>
          <a:noFill/>
        </p:spPr>
        <p:txBody>
          <a:bodyPr wrap="square" lIns="0" rIns="0" tIns="0" bIns="0" anchor="t">
            <a:noAutofit/>
          </a:bodyPr>
          <a:lstStyle/>
          <a:p>
            <a:pPr algn="l">
              <a:lnSpc>
                <a:spcPct val="108000"/>
              </a:lnSpc>
              <a:spcBef>
                <a:spcPts val="0"/>
              </a:spcBef>
              <a:spcAft>
                <a:spcPts val="0"/>
              </a:spcAft>
            </a:pPr>
            <a:r>
              <a:rPr sz="1305" b="0" i="0">
                <a:solidFill>
                  <a:srgbClr val="0B4F6C"/>
                </a:solidFill>
                <a:latin typeface="Consolas"/>
              </a:rPr>
              <a:t>@if</a:t>
            </a:r>
            <a:r>
              <a:rPr b="0" sz="1450" i="0">
                <a:solidFill>
                  <a:srgbClr val="1B3B47"/>
                </a:solidFill>
                <a:latin typeface="Arial"/>
              </a:rPr>
              <a:t>, </a:t>
            </a:r>
            <a:r>
              <a:rPr sz="1305" b="0" i="0">
                <a:solidFill>
                  <a:srgbClr val="0B4F6C"/>
                </a:solidFill>
                <a:latin typeface="Consolas"/>
              </a:rPr>
              <a:t>@for</a:t>
            </a:r>
            <a:r>
              <a:rPr b="0" sz="1450" i="0">
                <a:solidFill>
                  <a:srgbClr val="1B3B47"/>
                </a:solidFill>
                <a:latin typeface="Arial"/>
              </a:rPr>
              <a:t>, </a:t>
            </a:r>
            <a:r>
              <a:rPr sz="1305" b="0" i="0">
                <a:solidFill>
                  <a:srgbClr val="0B4F6C"/>
                </a:solidFill>
                <a:latin typeface="Consolas"/>
              </a:rPr>
              <a:t>@switch</a:t>
            </a:r>
            <a:r>
              <a:rPr b="0" sz="1450" i="0">
                <a:solidFill>
                  <a:srgbClr val="1B3B47"/>
                </a:solidFill>
                <a:latin typeface="Arial"/>
              </a:rPr>
              <a:t>, </a:t>
            </a:r>
            <a:r>
              <a:rPr sz="1305" b="0" i="0">
                <a:solidFill>
                  <a:srgbClr val="0B4F6C"/>
                </a:solidFill>
                <a:latin typeface="Consolas"/>
              </a:rPr>
              <a:t>@defer</a:t>
            </a:r>
            <a:r>
              <a:rPr b="0" sz="1450" i="0">
                <a:solidFill>
                  <a:srgbClr val="1B3B47"/>
                </a:solidFill>
                <a:latin typeface="Arial"/>
              </a:rPr>
              <a:t> : intégrés au compilateur, </a:t>
            </a:r>
            <a:r>
              <a:rPr sz="1305" b="0" i="0">
                <a:solidFill>
                  <a:srgbClr val="0B4F6C"/>
                </a:solidFill>
                <a:latin typeface="Consolas"/>
              </a:rPr>
              <a:t>track</a:t>
            </a:r>
            <a:r>
              <a:rPr b="0" sz="1450" i="0">
                <a:solidFill>
                  <a:srgbClr val="1B3B47"/>
                </a:solidFill>
                <a:latin typeface="Arial"/>
              </a:rPr>
              <a:t> obligatoire.</a:t>
            </a:r>
          </a:p>
        </p:txBody>
      </p:sp>
      <p:sp>
        <p:nvSpPr>
          <p:cNvPr id="21" name="Rounded Rectangle 20"/>
          <p:cNvSpPr/>
          <p:nvPr/>
        </p:nvSpPr>
        <p:spPr>
          <a:xfrm>
            <a:off x="2606040" y="5669280"/>
            <a:ext cx="4572000" cy="233172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2" name="Rectangle 21"/>
          <p:cNvSpPr/>
          <p:nvPr/>
        </p:nvSpPr>
        <p:spPr>
          <a:xfrm>
            <a:off x="2606040" y="5669280"/>
            <a:ext cx="4572000" cy="50292"/>
          </a:xfrm>
          <a:prstGeom prst="rect">
            <a:avLst/>
          </a:prstGeom>
          <a:solidFill>
            <a:srgbClr val="ED1548"/>
          </a:solidFill>
          <a:ln>
            <a:noFill/>
          </a:ln>
          <a:effectLst/>
        </p:spPr>
        <p:txBody>
          <a:bodyPr rtlCol="0" anchor="ctr"/>
          <a:lstStyle/>
          <a:p>
            <a:pPr algn="ctr"/>
          </a:p>
        </p:txBody>
      </p:sp>
      <p:sp>
        <p:nvSpPr>
          <p:cNvPr id="23" name="TextBox 22"/>
          <p:cNvSpPr txBox="1"/>
          <p:nvPr/>
        </p:nvSpPr>
        <p:spPr>
          <a:xfrm>
            <a:off x="2880360" y="5925312"/>
            <a:ext cx="4023360" cy="411480"/>
          </a:xfrm>
          <a:prstGeom prst="rect">
            <a:avLst/>
          </a:prstGeom>
          <a:noFill/>
        </p:spPr>
        <p:txBody>
          <a:bodyPr wrap="square" lIns="0" rIns="0" tIns="0" bIns="0" anchor="t">
            <a:noAutofit/>
          </a:bodyPr>
          <a:lstStyle/>
          <a:p>
            <a:pPr algn="l">
              <a:lnSpc>
                <a:spcPct val="102000"/>
              </a:lnSpc>
              <a:spcBef>
                <a:spcPts val="0"/>
              </a:spcBef>
              <a:spcAft>
                <a:spcPts val="0"/>
              </a:spcAft>
            </a:pPr>
            <a:r>
              <a:rPr b="1" sz="1700" i="0">
                <a:solidFill>
                  <a:srgbClr val="ED1548"/>
                </a:solidFill>
                <a:latin typeface="Arial"/>
              </a:rPr>
              <a:t>OnPush + zoneless</a:t>
            </a:r>
          </a:p>
        </p:txBody>
      </p:sp>
      <p:sp>
        <p:nvSpPr>
          <p:cNvPr id="24" name="TextBox 23"/>
          <p:cNvSpPr txBox="1"/>
          <p:nvPr/>
        </p:nvSpPr>
        <p:spPr>
          <a:xfrm>
            <a:off x="2880360" y="6364224"/>
            <a:ext cx="4023360" cy="1463039"/>
          </a:xfrm>
          <a:prstGeom prst="rect">
            <a:avLst/>
          </a:prstGeom>
          <a:noFill/>
        </p:spPr>
        <p:txBody>
          <a:bodyPr wrap="square" lIns="0" rIns="0" tIns="0" bIns="0" anchor="t">
            <a:noAutofit/>
          </a:bodyPr>
          <a:lstStyle/>
          <a:p>
            <a:pPr algn="l">
              <a:lnSpc>
                <a:spcPct val="108000"/>
              </a:lnSpc>
              <a:spcBef>
                <a:spcPts val="0"/>
              </a:spcBef>
              <a:spcAft>
                <a:spcPts val="0"/>
              </a:spcAft>
            </a:pPr>
            <a:r>
              <a:rPr b="0" sz="1450" i="0">
                <a:solidFill>
                  <a:srgbClr val="1B3B47"/>
                </a:solidFill>
                <a:latin typeface="Arial"/>
              </a:rPr>
              <a:t>Les nouveaux projets sont plus rapides par défaut ; moins de code à ajouter.</a:t>
            </a:r>
          </a:p>
        </p:txBody>
      </p:sp>
      <p:sp>
        <p:nvSpPr>
          <p:cNvPr id="25" name="Rounded Rectangle 24"/>
          <p:cNvSpPr/>
          <p:nvPr/>
        </p:nvSpPr>
        <p:spPr>
          <a:xfrm>
            <a:off x="7680960" y="5669280"/>
            <a:ext cx="4572000" cy="233172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6" name="Rectangle 25"/>
          <p:cNvSpPr/>
          <p:nvPr/>
        </p:nvSpPr>
        <p:spPr>
          <a:xfrm>
            <a:off x="7680960" y="5669280"/>
            <a:ext cx="4572000" cy="50292"/>
          </a:xfrm>
          <a:prstGeom prst="rect">
            <a:avLst/>
          </a:prstGeom>
          <a:solidFill>
            <a:srgbClr val="0B4F6C"/>
          </a:solidFill>
          <a:ln>
            <a:noFill/>
          </a:ln>
          <a:effectLst/>
        </p:spPr>
        <p:txBody>
          <a:bodyPr rtlCol="0" anchor="ctr"/>
          <a:lstStyle/>
          <a:p>
            <a:pPr algn="ctr"/>
          </a:p>
        </p:txBody>
      </p:sp>
      <p:sp>
        <p:nvSpPr>
          <p:cNvPr id="27" name="TextBox 26"/>
          <p:cNvSpPr txBox="1"/>
          <p:nvPr/>
        </p:nvSpPr>
        <p:spPr>
          <a:xfrm>
            <a:off x="7955280" y="5925312"/>
            <a:ext cx="4023360" cy="411480"/>
          </a:xfrm>
          <a:prstGeom prst="rect">
            <a:avLst/>
          </a:prstGeom>
          <a:noFill/>
        </p:spPr>
        <p:txBody>
          <a:bodyPr wrap="square" lIns="0" rIns="0" tIns="0" bIns="0" anchor="t">
            <a:noAutofit/>
          </a:bodyPr>
          <a:lstStyle/>
          <a:p>
            <a:pPr algn="l">
              <a:lnSpc>
                <a:spcPct val="102000"/>
              </a:lnSpc>
              <a:spcBef>
                <a:spcPts val="0"/>
              </a:spcBef>
              <a:spcAft>
                <a:spcPts val="0"/>
              </a:spcAft>
            </a:pPr>
            <a:r>
              <a:rPr b="1" sz="1700" i="0">
                <a:solidFill>
                  <a:srgbClr val="0B4F6C"/>
                </a:solidFill>
                <a:latin typeface="Arial"/>
              </a:rPr>
              <a:t>Vitest</a:t>
            </a:r>
          </a:p>
        </p:txBody>
      </p:sp>
      <p:sp>
        <p:nvSpPr>
          <p:cNvPr id="28" name="TextBox 27"/>
          <p:cNvSpPr txBox="1"/>
          <p:nvPr/>
        </p:nvSpPr>
        <p:spPr>
          <a:xfrm>
            <a:off x="7955280" y="6364224"/>
            <a:ext cx="4023360" cy="1463039"/>
          </a:xfrm>
          <a:prstGeom prst="rect">
            <a:avLst/>
          </a:prstGeom>
          <a:noFill/>
        </p:spPr>
        <p:txBody>
          <a:bodyPr wrap="square" lIns="0" rIns="0" tIns="0" bIns="0" anchor="t">
            <a:noAutofit/>
          </a:bodyPr>
          <a:lstStyle/>
          <a:p>
            <a:pPr algn="l">
              <a:lnSpc>
                <a:spcPct val="108000"/>
              </a:lnSpc>
              <a:spcBef>
                <a:spcPts val="0"/>
              </a:spcBef>
              <a:spcAft>
                <a:spcPts val="0"/>
              </a:spcAft>
            </a:pPr>
            <a:r>
              <a:rPr sz="1305" b="0" i="0">
                <a:solidFill>
                  <a:srgbClr val="0B4F6C"/>
                </a:solidFill>
                <a:latin typeface="Consolas"/>
              </a:rPr>
              <a:t>ng test</a:t>
            </a:r>
            <a:r>
              <a:rPr b="0" sz="1450" i="0">
                <a:solidFill>
                  <a:srgbClr val="1B3B47"/>
                </a:solidFill>
                <a:latin typeface="Arial"/>
              </a:rPr>
              <a:t> avec le builder </a:t>
            </a:r>
            <a:r>
              <a:rPr sz="1305" b="0" i="0">
                <a:solidFill>
                  <a:srgbClr val="0B4F6C"/>
                </a:solidFill>
                <a:latin typeface="Consolas"/>
              </a:rPr>
              <a:t>@angular/build:unit-test</a:t>
            </a:r>
            <a:r>
              <a:rPr b="0" sz="1450" i="0">
                <a:solidFill>
                  <a:srgbClr val="1B3B47"/>
                </a:solidFill>
                <a:latin typeface="Arial"/>
              </a:rPr>
              <a:t> ; Karma/Jasmine ne sont plus le point de départ.</a:t>
            </a:r>
          </a:p>
        </p:txBody>
      </p:sp>
      <p:sp>
        <p:nvSpPr>
          <p:cNvPr id="29" name="Rounded Rectangle 28"/>
          <p:cNvSpPr/>
          <p:nvPr/>
        </p:nvSpPr>
        <p:spPr>
          <a:xfrm>
            <a:off x="12755880" y="5669280"/>
            <a:ext cx="4434840" cy="233172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30" name="Rectangle 29"/>
          <p:cNvSpPr/>
          <p:nvPr/>
        </p:nvSpPr>
        <p:spPr>
          <a:xfrm>
            <a:off x="12755880" y="5669280"/>
            <a:ext cx="4434840" cy="50292"/>
          </a:xfrm>
          <a:prstGeom prst="rect">
            <a:avLst/>
          </a:prstGeom>
          <a:solidFill>
            <a:srgbClr val="0B4F6C"/>
          </a:solidFill>
          <a:ln>
            <a:noFill/>
          </a:ln>
          <a:effectLst/>
        </p:spPr>
        <p:txBody>
          <a:bodyPr rtlCol="0" anchor="ctr"/>
          <a:lstStyle/>
          <a:p>
            <a:pPr algn="ctr"/>
          </a:p>
        </p:txBody>
      </p:sp>
      <p:sp>
        <p:nvSpPr>
          <p:cNvPr id="31" name="TextBox 30"/>
          <p:cNvSpPr txBox="1"/>
          <p:nvPr/>
        </p:nvSpPr>
        <p:spPr>
          <a:xfrm>
            <a:off x="13030200" y="5925312"/>
            <a:ext cx="4023360" cy="411480"/>
          </a:xfrm>
          <a:prstGeom prst="rect">
            <a:avLst/>
          </a:prstGeom>
          <a:noFill/>
        </p:spPr>
        <p:txBody>
          <a:bodyPr wrap="square" lIns="0" rIns="0" tIns="0" bIns="0" anchor="t">
            <a:noAutofit/>
          </a:bodyPr>
          <a:lstStyle/>
          <a:p>
            <a:pPr algn="l">
              <a:lnSpc>
                <a:spcPct val="102000"/>
              </a:lnSpc>
              <a:spcBef>
                <a:spcPts val="0"/>
              </a:spcBef>
              <a:spcAft>
                <a:spcPts val="0"/>
              </a:spcAft>
            </a:pPr>
            <a:r>
              <a:rPr sz="1530" b="1" i="0">
                <a:solidFill>
                  <a:srgbClr val="0B4F6C"/>
                </a:solidFill>
                <a:latin typeface="Consolas"/>
              </a:rPr>
              <a:t>@Service()</a:t>
            </a:r>
            <a:r>
              <a:rPr b="1" sz="1700" i="0">
                <a:solidFill>
                  <a:srgbClr val="0B4F6C"/>
                </a:solidFill>
                <a:latin typeface="Arial"/>
              </a:rPr>
              <a:t> + Fetch</a:t>
            </a:r>
          </a:p>
        </p:txBody>
      </p:sp>
      <p:sp>
        <p:nvSpPr>
          <p:cNvPr id="32" name="TextBox 31"/>
          <p:cNvSpPr txBox="1"/>
          <p:nvPr/>
        </p:nvSpPr>
        <p:spPr>
          <a:xfrm>
            <a:off x="13030200" y="6364224"/>
            <a:ext cx="4023360" cy="1463039"/>
          </a:xfrm>
          <a:prstGeom prst="rect">
            <a:avLst/>
          </a:prstGeom>
          <a:noFill/>
        </p:spPr>
        <p:txBody>
          <a:bodyPr wrap="square" lIns="0" rIns="0" tIns="0" bIns="0" anchor="t">
            <a:noAutofit/>
          </a:bodyPr>
          <a:lstStyle/>
          <a:p>
            <a:pPr algn="l">
              <a:lnSpc>
                <a:spcPct val="108000"/>
              </a:lnSpc>
              <a:spcBef>
                <a:spcPts val="0"/>
              </a:spcBef>
              <a:spcAft>
                <a:spcPts val="0"/>
              </a:spcAft>
            </a:pPr>
            <a:r>
              <a:rPr b="0" sz="1450" i="0">
                <a:solidFill>
                  <a:srgbClr val="1B3B47"/>
                </a:solidFill>
                <a:latin typeface="Arial"/>
              </a:rPr>
              <a:t>La CLI génère </a:t>
            </a:r>
            <a:r>
              <a:rPr sz="1305" b="0" i="0">
                <a:solidFill>
                  <a:srgbClr val="0B4F6C"/>
                </a:solidFill>
                <a:latin typeface="Consolas"/>
              </a:rPr>
              <a:t>@Service()</a:t>
            </a:r>
            <a:r>
              <a:rPr b="0" sz="1450" i="0">
                <a:solidFill>
                  <a:srgbClr val="1B3B47"/>
                </a:solidFill>
                <a:latin typeface="Arial"/>
              </a:rPr>
              <a:t> ; </a:t>
            </a:r>
            <a:r>
              <a:rPr sz="1305" b="0" i="0">
                <a:solidFill>
                  <a:srgbClr val="0B4F6C"/>
                </a:solidFill>
                <a:latin typeface="Consolas"/>
              </a:rPr>
              <a:t>HttpClient</a:t>
            </a:r>
            <a:r>
              <a:rPr b="0" sz="1450" i="0">
                <a:solidFill>
                  <a:srgbClr val="1B3B47"/>
                </a:solidFill>
                <a:latin typeface="Arial"/>
              </a:rPr>
              <a:t> utilise Fetch par défaut.</a:t>
            </a:r>
          </a:p>
        </p:txBody>
      </p:sp>
      <p:sp>
        <p:nvSpPr>
          <p:cNvPr id="33" name="Rounded Rectangle 32"/>
          <p:cNvSpPr/>
          <p:nvPr/>
        </p:nvSpPr>
        <p:spPr>
          <a:xfrm>
            <a:off x="2606040" y="8366760"/>
            <a:ext cx="14584680" cy="1143000"/>
          </a:xfrm>
          <a:prstGeom prst="roundRect">
            <a:avLst>
              <a:gd name="adj" fmla="val 8000"/>
            </a:avLst>
          </a:prstGeom>
          <a:solidFill>
            <a:srgbClr val="FFF0F4"/>
          </a:solidFill>
          <a:ln>
            <a:noFill/>
          </a:ln>
          <a:effectLst/>
        </p:spPr>
        <p:txBody>
          <a:bodyPr rtlCol="0" anchor="ctr"/>
          <a:lstStyle/>
          <a:p>
            <a:pPr algn="ctr"/>
          </a:p>
        </p:txBody>
      </p:sp>
      <p:sp>
        <p:nvSpPr>
          <p:cNvPr id="34" name="Rectangle 33"/>
          <p:cNvSpPr/>
          <p:nvPr/>
        </p:nvSpPr>
        <p:spPr>
          <a:xfrm>
            <a:off x="2606040" y="8366760"/>
            <a:ext cx="64008" cy="1143000"/>
          </a:xfrm>
          <a:prstGeom prst="rect">
            <a:avLst/>
          </a:prstGeom>
          <a:solidFill>
            <a:srgbClr val="ED1548"/>
          </a:solidFill>
          <a:ln>
            <a:noFill/>
          </a:ln>
          <a:effectLst/>
        </p:spPr>
        <p:txBody>
          <a:bodyPr rtlCol="0" anchor="ctr"/>
          <a:lstStyle/>
          <a:p>
            <a:pPr algn="ctr"/>
          </a:p>
        </p:txBody>
      </p:sp>
      <p:sp>
        <p:nvSpPr>
          <p:cNvPr id="35" name="TextBox 34"/>
          <p:cNvSpPr txBox="1"/>
          <p:nvPr/>
        </p:nvSpPr>
        <p:spPr>
          <a:xfrm>
            <a:off x="2898648" y="8531352"/>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STABLE EN V22</a:t>
            </a:r>
          </a:p>
        </p:txBody>
      </p:sp>
      <p:sp>
        <p:nvSpPr>
          <p:cNvPr id="36" name="TextBox 35"/>
          <p:cNvSpPr txBox="1"/>
          <p:nvPr/>
        </p:nvSpPr>
        <p:spPr>
          <a:xfrm>
            <a:off x="2898648" y="8823960"/>
            <a:ext cx="14173200" cy="576072"/>
          </a:xfrm>
          <a:prstGeom prst="rect">
            <a:avLst/>
          </a:prstGeom>
          <a:noFill/>
        </p:spPr>
        <p:txBody>
          <a:bodyPr wrap="square" lIns="0" rIns="0" tIns="0" bIns="0" anchor="t">
            <a:noAutofit/>
          </a:bodyPr>
          <a:lstStyle/>
          <a:p>
            <a:pPr algn="l">
              <a:lnSpc>
                <a:spcPct val="106000"/>
              </a:lnSpc>
              <a:spcBef>
                <a:spcPts val="0"/>
              </a:spcBef>
              <a:spcAft>
                <a:spcPts val="0"/>
              </a:spcAft>
            </a:pPr>
            <a:r>
              <a:rPr b="0" sz="1500" i="0">
                <a:solidFill>
                  <a:srgbClr val="1B3B47"/>
                </a:solidFill>
                <a:latin typeface="Arial"/>
              </a:rPr>
              <a:t>Signal Forms, </a:t>
            </a:r>
            <a:r>
              <a:rPr sz="1350" b="0" i="0">
                <a:solidFill>
                  <a:srgbClr val="ED1548"/>
                </a:solidFill>
                <a:latin typeface="Consolas"/>
              </a:rPr>
              <a:t>resource()</a:t>
            </a:r>
            <a:r>
              <a:rPr b="0" sz="1500" i="0">
                <a:solidFill>
                  <a:srgbClr val="1B3B47"/>
                </a:solidFill>
                <a:latin typeface="Arial"/>
              </a:rPr>
              <a:t>, </a:t>
            </a:r>
            <a:r>
              <a:rPr sz="1350" b="0" i="0">
                <a:solidFill>
                  <a:srgbClr val="ED1548"/>
                </a:solidFill>
                <a:latin typeface="Consolas"/>
              </a:rPr>
              <a:t>rxResource()</a:t>
            </a:r>
            <a:r>
              <a:rPr b="0" sz="1500" i="0">
                <a:solidFill>
                  <a:srgbClr val="1B3B47"/>
                </a:solidFill>
                <a:latin typeface="Arial"/>
              </a:rPr>
              <a:t> et </a:t>
            </a:r>
            <a:r>
              <a:rPr sz="1350" b="0" i="0">
                <a:solidFill>
                  <a:srgbClr val="ED1548"/>
                </a:solidFill>
                <a:latin typeface="Consolas"/>
              </a:rPr>
              <a:t>httpResource()</a:t>
            </a:r>
            <a:r>
              <a:rPr b="0" sz="1500" i="0">
                <a:solidFill>
                  <a:srgbClr val="1B3B47"/>
                </a:solidFill>
                <a:latin typeface="Arial"/>
              </a:rPr>
              <a:t> sont stables. Les TPs utilisent Reactive Forms et HttpClient : les deux approches coexistent.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RÉFLEXES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Les anciens réflexes à désapprendre</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Le code legacy existe : sachez le lire, mais écrivez le Angular 22.</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08 / 62</a:t>
            </a:r>
          </a:p>
        </p:txBody>
      </p:sp>
      <p:graphicFrame>
        <p:nvGraphicFramePr>
          <p:cNvPr id="9" name="Table 8"/>
          <p:cNvGraphicFramePr>
            <a:graphicFrameLocks noGrp="1"/>
          </p:cNvGraphicFramePr>
          <p:nvPr/>
        </p:nvGraphicFramePr>
        <p:xfrm>
          <a:off x="2606040" y="3108960"/>
          <a:ext cx="14584679" cy="4782312"/>
        </p:xfrm>
        <a:graphic>
          <a:graphicData uri="http://schemas.openxmlformats.org/drawingml/2006/table">
            <a:tbl>
              <a:tblPr>
                <a:tableStyleId>{5C22544A-7EE6-4342-B048-85BDC9FD1C3A}</a:tableStyleId>
              </a:tblPr>
              <a:tblGrid>
                <a:gridCol w="4138895"/>
                <a:gridCol w="5124347"/>
                <a:gridCol w="5321437"/>
              </a:tblGrid>
              <a:tr h="502920">
                <a:tc>
                  <a:txBody>
                    <a:bodyPr wrap="square"/>
                    <a:lstStyle/>
                    <a:p>
                      <a:pPr algn="l">
                        <a:lnSpc>
                          <a:spcPct val="100000"/>
                        </a:lnSpc>
                      </a:pPr>
                      <a:r>
                        <a:rPr b="1" sz="1500" i="0">
                          <a:solidFill>
                            <a:srgbClr val="FFFFFF"/>
                          </a:solidFill>
                          <a:latin typeface="Arial"/>
                        </a:rPr>
                        <a:t>Ancien réflexe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500" i="0">
                          <a:solidFill>
                            <a:srgbClr val="FFFFFF"/>
                          </a:solidFill>
                          <a:latin typeface="Arial"/>
                        </a:rPr>
                        <a:t>Angular 22</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500" i="0">
                          <a:solidFill>
                            <a:srgbClr val="FFFFFF"/>
                          </a:solidFill>
                          <a:latin typeface="Arial"/>
                        </a:rPr>
                        <a:t>Pourquoi</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r>
              <a:tr h="713232">
                <a:tc>
                  <a:txBody>
                    <a:bodyPr wrap="square"/>
                    <a:lstStyle/>
                    <a:p>
                      <a:pPr algn="l">
                        <a:lnSpc>
                          <a:spcPct val="100000"/>
                        </a:lnSpc>
                      </a:pPr>
                      <a:r>
                        <a:rPr b="0" sz="1600" i="0">
                          <a:solidFill>
                            <a:srgbClr val="1B3B47"/>
                          </a:solidFill>
                          <a:latin typeface="Arial"/>
                        </a:rPr>
                        <a:t>NgModule + declarations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600" i="0">
                          <a:solidFill>
                            <a:srgbClr val="1B3B47"/>
                          </a:solidFill>
                          <a:latin typeface="Arial"/>
                        </a:rPr>
                        <a:t>Composants standalone + </a:t>
                      </a:r>
                      <a:r>
                        <a:rPr sz="1440" b="0" i="0">
                          <a:solidFill>
                            <a:srgbClr val="ED1548"/>
                          </a:solidFill>
                          <a:latin typeface="Consolas"/>
                        </a:rPr>
                        <a:t>imports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600" i="0">
                          <a:solidFill>
                            <a:srgbClr val="1B3B47"/>
                          </a:solidFill>
                          <a:latin typeface="Arial"/>
                        </a:rPr>
                        <a:t>Moins de cérémonie, dépendances explicites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713232">
                <a:tc>
                  <a:txBody>
                    <a:bodyPr wrap="square"/>
                    <a:lstStyle/>
                    <a:p>
                      <a:pPr algn="l">
                        <a:lnSpc>
                          <a:spcPct val="100000"/>
                        </a:lnSpc>
                      </a:pPr>
                      <a:r>
                        <a:rPr sz="1440" b="0" i="0">
                          <a:solidFill>
                            <a:srgbClr val="ED1548"/>
                          </a:solidFill>
                          <a:latin typeface="Consolas"/>
                        </a:rPr>
                        <a:t>*ngIf</a:t>
                      </a:r>
                      <a:r>
                        <a:rPr b="0" sz="1600" i="0">
                          <a:solidFill>
                            <a:srgbClr val="1B3B47"/>
                          </a:solidFill>
                          <a:latin typeface="Arial"/>
                        </a:rPr>
                        <a:t> / </a:t>
                      </a:r>
                      <a:r>
                        <a:rPr sz="1440" b="0" i="0">
                          <a:solidFill>
                            <a:srgbClr val="ED1548"/>
                          </a:solidFill>
                          <a:latin typeface="Consolas"/>
                        </a:rPr>
                        <a:t>*ngFor</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sz="1440" b="0" i="0">
                          <a:solidFill>
                            <a:srgbClr val="ED1548"/>
                          </a:solidFill>
                          <a:latin typeface="Consolas"/>
                        </a:rPr>
                        <a:t>@if</a:t>
                      </a:r>
                      <a:r>
                        <a:rPr b="0" sz="1600" i="0">
                          <a:solidFill>
                            <a:srgbClr val="1B3B47"/>
                          </a:solidFill>
                          <a:latin typeface="Arial"/>
                        </a:rPr>
                        <a:t> / </a:t>
                      </a:r>
                      <a:r>
                        <a:rPr sz="1440" b="0" i="0">
                          <a:solidFill>
                            <a:srgbClr val="ED1548"/>
                          </a:solidFill>
                          <a:latin typeface="Consolas"/>
                        </a:rPr>
                        <a:t>@for (…; track …)</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600" i="0">
                          <a:solidFill>
                            <a:srgbClr val="1B3B47"/>
                          </a:solidFill>
                          <a:latin typeface="Arial"/>
                        </a:rPr>
                        <a:t>Compilé, plus lisible, </a:t>
                      </a:r>
                      <a:r>
                        <a:rPr sz="1440" b="0" i="0">
                          <a:solidFill>
                            <a:srgbClr val="ED1548"/>
                          </a:solidFill>
                          <a:latin typeface="Consolas"/>
                        </a:rPr>
                        <a:t>track</a:t>
                      </a:r>
                      <a:r>
                        <a:rPr b="0" sz="1600" i="0">
                          <a:solidFill>
                            <a:srgbClr val="1B3B47"/>
                          </a:solidFill>
                          <a:latin typeface="Arial"/>
                        </a:rPr>
                        <a:t> obligatoire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713232">
                <a:tc>
                  <a:txBody>
                    <a:bodyPr wrap="square"/>
                    <a:lstStyle/>
                    <a:p>
                      <a:pPr algn="l">
                        <a:lnSpc>
                          <a:spcPct val="100000"/>
                        </a:lnSpc>
                      </a:pPr>
                      <a:r>
                        <a:rPr b="0" sz="1600" i="0">
                          <a:solidFill>
                            <a:srgbClr val="1B3B47"/>
                          </a:solidFill>
                          <a:latin typeface="Arial"/>
                        </a:rPr>
                        <a:t>Karma + Jasmine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600" i="0">
                          <a:solidFill>
                            <a:srgbClr val="1B3B47"/>
                          </a:solidFill>
                          <a:latin typeface="Arial"/>
                        </a:rPr>
                        <a:t>Vitest (</a:t>
                      </a:r>
                      <a:r>
                        <a:rPr sz="1440" b="0" i="0">
                          <a:solidFill>
                            <a:srgbClr val="ED1548"/>
                          </a:solidFill>
                          <a:latin typeface="Consolas"/>
                        </a:rPr>
                        <a:t>ng test</a:t>
                      </a:r>
                      <a:r>
                        <a:rPr b="0" sz="1600" i="0">
                          <a:solidFill>
                            <a:srgbClr val="1B3B47"/>
                          </a:solidFill>
                          <a:latin typeface="Arial"/>
                        </a:rPr>
                        <a: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600" i="0">
                          <a:solidFill>
                            <a:srgbClr val="1B3B47"/>
                          </a:solidFill>
                          <a:latin typeface="Arial"/>
                        </a:rPr>
                        <a:t>Plus rapide, API proche de Jest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713232">
                <a:tc>
                  <a:txBody>
                    <a:bodyPr wrap="square"/>
                    <a:lstStyle/>
                    <a:p>
                      <a:pPr algn="l">
                        <a:lnSpc>
                          <a:spcPct val="100000"/>
                        </a:lnSpc>
                      </a:pPr>
                      <a:r>
                        <a:rPr sz="1440" b="0" i="0">
                          <a:solidFill>
                            <a:srgbClr val="ED1548"/>
                          </a:solidFill>
                          <a:latin typeface="Consolas"/>
                        </a:rPr>
                        <a:t>withFetch()</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600" i="0">
                          <a:solidFill>
                            <a:srgbClr val="1B3B47"/>
                          </a:solidFill>
                          <a:latin typeface="Arial"/>
                        </a:rPr>
                        <a:t>Fetch par défaut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600" i="0">
                          <a:solidFill>
                            <a:srgbClr val="1B3B47"/>
                          </a:solidFill>
                          <a:latin typeface="Arial"/>
                        </a:rPr>
                        <a:t>Plus rien à configurer</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713232">
                <a:tc>
                  <a:txBody>
                    <a:bodyPr wrap="square"/>
                    <a:lstStyle/>
                    <a:p>
                      <a:pPr algn="l">
                        <a:lnSpc>
                          <a:spcPct val="100000"/>
                        </a:lnSpc>
                      </a:pPr>
                      <a:r>
                        <a:rPr b="0" sz="1600" i="0">
                          <a:solidFill>
                            <a:srgbClr val="1B3B47"/>
                          </a:solidFill>
                          <a:latin typeface="Arial"/>
                        </a:rPr>
                        <a:t>Ajouter </a:t>
                      </a:r>
                      <a:r>
                        <a:rPr sz="1440" b="0" i="0">
                          <a:solidFill>
                            <a:srgbClr val="ED1548"/>
                          </a:solidFill>
                          <a:latin typeface="Consolas"/>
                        </a:rPr>
                        <a:t>OnPush</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sz="1440" b="0" i="0">
                          <a:solidFill>
                            <a:srgbClr val="ED1548"/>
                          </a:solidFill>
                          <a:latin typeface="Consolas"/>
                        </a:rPr>
                        <a:t>OnPush</a:t>
                      </a:r>
                      <a:r>
                        <a:rPr b="0" sz="1600" i="0">
                          <a:solidFill>
                            <a:srgbClr val="1B3B47"/>
                          </a:solidFill>
                          <a:latin typeface="Arial"/>
                        </a:rPr>
                        <a:t> par défaut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600" i="0">
                          <a:solidFill>
                            <a:srgbClr val="1B3B47"/>
                          </a:solidFill>
                          <a:latin typeface="Arial"/>
                        </a:rPr>
                        <a:t>Moins de code, plus de performance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713232">
                <a:tc>
                  <a:txBody>
                    <a:bodyPr wrap="square"/>
                    <a:lstStyle/>
                    <a:p>
                      <a:pPr algn="l">
                        <a:lnSpc>
                          <a:spcPct val="100000"/>
                        </a:lnSpc>
                      </a:pPr>
                      <a:r>
                        <a:rPr sz="1440" b="0" i="0">
                          <a:solidFill>
                            <a:srgbClr val="ED1548"/>
                          </a:solidFill>
                          <a:latin typeface="Consolas"/>
                        </a:rPr>
                        <a:t>@Injectable({providedIn:'root'})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sz="1440" b="0" i="0">
                          <a:solidFill>
                            <a:srgbClr val="ED1548"/>
                          </a:solidFill>
                          <a:latin typeface="Consolas"/>
                        </a:rPr>
                        <a:t>@Service()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600" i="0">
                          <a:solidFill>
                            <a:srgbClr val="1B3B47"/>
                          </a:solidFill>
                          <a:latin typeface="Arial"/>
                        </a:rPr>
                        <a:t>Généré par la CLI, plus lisible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bl>
          </a:graphicData>
        </a:graphic>
      </p:graphicFrame>
      <p:sp>
        <p:nvSpPr>
          <p:cNvPr id="10" name="Rounded Rectangle 9"/>
          <p:cNvSpPr/>
          <p:nvPr/>
        </p:nvSpPr>
        <p:spPr>
          <a:xfrm>
            <a:off x="2606040" y="8549640"/>
            <a:ext cx="14584680" cy="1005840"/>
          </a:xfrm>
          <a:prstGeom prst="roundRect">
            <a:avLst>
              <a:gd name="adj" fmla="val 8000"/>
            </a:avLst>
          </a:prstGeom>
          <a:solidFill>
            <a:srgbClr val="EBF6F8"/>
          </a:solidFill>
          <a:ln>
            <a:noFill/>
          </a:ln>
          <a:effectLst/>
        </p:spPr>
        <p:txBody>
          <a:bodyPr rtlCol="0" anchor="ctr"/>
          <a:lstStyle/>
          <a:p>
            <a:pPr algn="ctr"/>
          </a:p>
        </p:txBody>
      </p:sp>
      <p:sp>
        <p:nvSpPr>
          <p:cNvPr id="11" name="Rectangle 10"/>
          <p:cNvSpPr/>
          <p:nvPr/>
        </p:nvSpPr>
        <p:spPr>
          <a:xfrm>
            <a:off x="2606040" y="8549640"/>
            <a:ext cx="64008" cy="1005840"/>
          </a:xfrm>
          <a:prstGeom prst="rect">
            <a:avLst/>
          </a:prstGeom>
          <a:solidFill>
            <a:srgbClr val="0B4F6C"/>
          </a:solidFill>
          <a:ln>
            <a:noFill/>
          </a:ln>
          <a:effectLst/>
        </p:spPr>
        <p:txBody>
          <a:bodyPr rtlCol="0" anchor="ctr"/>
          <a:lstStyle/>
          <a:p>
            <a:pPr algn="ctr"/>
          </a:p>
        </p:txBody>
      </p:sp>
      <p:sp>
        <p:nvSpPr>
          <p:cNvPr id="12" name="TextBox 11"/>
          <p:cNvSpPr txBox="1"/>
          <p:nvPr/>
        </p:nvSpPr>
        <p:spPr>
          <a:xfrm>
            <a:off x="2898648" y="8714232"/>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LA SOURCE DE VÉRITÉ</a:t>
            </a:r>
          </a:p>
        </p:txBody>
      </p:sp>
      <p:sp>
        <p:nvSpPr>
          <p:cNvPr id="13" name="TextBox 12"/>
          <p:cNvSpPr txBox="1"/>
          <p:nvPr/>
        </p:nvSpPr>
        <p:spPr>
          <a:xfrm>
            <a:off x="2898648" y="9006840"/>
            <a:ext cx="14173200" cy="438912"/>
          </a:xfrm>
          <a:prstGeom prst="rect">
            <a:avLst/>
          </a:prstGeom>
          <a:noFill/>
        </p:spPr>
        <p:txBody>
          <a:bodyPr wrap="square" lIns="0" rIns="0" tIns="0" bIns="0" anchor="t">
            <a:noAutofit/>
          </a:bodyPr>
          <a:lstStyle/>
          <a:p>
            <a:pPr algn="l">
              <a:lnSpc>
                <a:spcPct val="106000"/>
              </a:lnSpc>
              <a:spcBef>
                <a:spcPts val="0"/>
              </a:spcBef>
              <a:spcAft>
                <a:spcPts val="0"/>
              </a:spcAft>
            </a:pPr>
            <a:r>
              <a:rPr b="0" sz="1500" i="0">
                <a:solidFill>
                  <a:srgbClr val="1B3B47"/>
                </a:solidFill>
                <a:latin typeface="Arial"/>
              </a:rPr>
              <a:t>La documentation de votre version (angular.dev) prime sur les tutoriels anciens. </a:t>
            </a:r>
            <a:r>
              <a:rPr sz="1350" b="0" i="0">
                <a:solidFill>
                  <a:srgbClr val="0B4F6C"/>
                </a:solidFill>
                <a:latin typeface="Consolas"/>
              </a:rPr>
              <a:t>ng update</a:t>
            </a:r>
            <a:r>
              <a:rPr b="0" sz="1500" i="0">
                <a:solidFill>
                  <a:srgbClr val="1B3B47"/>
                </a:solidFill>
                <a:latin typeface="Arial"/>
              </a:rPr>
              <a:t> applique les migrations automatiques quand elles existent.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a:xfrm>
            <a:off x="9966960" y="3383280"/>
            <a:ext cx="8046720" cy="2651760"/>
          </a:xfrm>
        </p:spPr>
        <p:txBody>
          <a:bodyPr wrap="square" anchor="b"/>
          <a:lstStyle/>
          <a:p>
            <a:pPr algn="l"/>
            <a:r>
              <a:rPr sz="8400" b="1">
                <a:solidFill>
                  <a:srgbClr val="FFFFFF"/>
                </a:solidFill>
                <a:latin typeface="Arial"/>
              </a:rPr>
              <a:t>Fondations</a:t>
            </a:r>
          </a:p>
        </p:txBody>
      </p:sp>
      <p:sp>
        <p:nvSpPr>
          <p:cNvPr id="3" name="Text Placeholder 2"/>
          <p:cNvSpPr>
            <a:spLocks noGrp="1"/>
          </p:cNvSpPr>
          <p:nvPr>
            <p:ph type="body" idx="11" sz="quarter"/>
          </p:nvPr>
        </p:nvSpPr>
        <p:spPr>
          <a:xfrm>
            <a:off x="9966960" y="6903720"/>
            <a:ext cx="7635240" cy="914400"/>
          </a:xfrm>
        </p:spPr>
        <p:txBody>
          <a:bodyPr wrap="square"/>
          <a:lstStyle/>
          <a:p>
            <a:pPr algn="l"/>
            <a:r>
              <a:rPr sz="2400" b="0">
                <a:solidFill>
                  <a:srgbClr val="F6D7DE"/>
                </a:solidFill>
                <a:latin typeface="Arial"/>
              </a:rPr>
              <a:t>CLI · composants · signals · pipes · données</a:t>
            </a:r>
          </a:p>
        </p:txBody>
      </p:sp>
      <p:sp>
        <p:nvSpPr>
          <p:cNvPr id="4" name="TextBox 3"/>
          <p:cNvSpPr txBox="1"/>
          <p:nvPr/>
        </p:nvSpPr>
        <p:spPr>
          <a:xfrm>
            <a:off x="9966960" y="2788920"/>
            <a:ext cx="45720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1 / 3  ·  7 HEURES</a:t>
            </a:r>
          </a:p>
        </p:txBody>
      </p:sp>
      <p:sp>
        <p:nvSpPr>
          <p:cNvPr id="5" name="Rectangle 4"/>
          <p:cNvSpPr/>
          <p:nvPr/>
        </p:nvSpPr>
        <p:spPr>
          <a:xfrm>
            <a:off x="9966960" y="6601968"/>
            <a:ext cx="1828800" cy="41148"/>
          </a:xfrm>
          <a:prstGeom prst="rect">
            <a:avLst/>
          </a:prstGeom>
          <a:solidFill>
            <a:srgbClr val="ED1548"/>
          </a:solidFill>
          <a:ln>
            <a:noFill/>
          </a:ln>
          <a:effectLst/>
        </p:spPr>
        <p:txBody>
          <a:bodyPr rtlCol="0" anchor="ctr"/>
          <a:lstStyle/>
          <a:p>
            <a:pPr algn="ctr"/>
          </a:p>
        </p:txBody>
      </p:sp>
      <p:sp>
        <p:nvSpPr>
          <p:cNvPr id="6" name="Rounded Rectangle 5"/>
          <p:cNvSpPr/>
          <p:nvPr/>
        </p:nvSpPr>
        <p:spPr>
          <a:xfrm>
            <a:off x="9966960" y="8183879"/>
            <a:ext cx="2240280" cy="502920"/>
          </a:xfrm>
          <a:prstGeom prst="roundRect">
            <a:avLst>
              <a:gd name="adj" fmla="val 50000"/>
            </a:avLst>
          </a:prstGeom>
          <a:noFill/>
          <a:ln w="11430">
            <a:solidFill>
              <a:srgbClr val="FFFFFF"/>
            </a:solidFill>
          </a:ln>
          <a:effectLst/>
        </p:spPr>
        <p:txBody>
          <a:bodyPr rtlCol="0" anchor="ctr" lIns="0" rIns="0" tIns="0" bIns="0"/>
          <a:lstStyle/>
          <a:p>
            <a:pPr algn="ctr"/>
            <a:r>
              <a:rPr sz="1400" b="1">
                <a:solidFill>
                  <a:srgbClr val="FFFFFF"/>
                </a:solidFill>
                <a:latin typeface="Arial"/>
              </a:rPr>
              <a:t>CLI</a:t>
            </a:r>
          </a:p>
        </p:txBody>
      </p:sp>
      <p:sp>
        <p:nvSpPr>
          <p:cNvPr id="7" name="Rounded Rectangle 6"/>
          <p:cNvSpPr/>
          <p:nvPr/>
        </p:nvSpPr>
        <p:spPr>
          <a:xfrm>
            <a:off x="12371832" y="8183879"/>
            <a:ext cx="2240280" cy="502920"/>
          </a:xfrm>
          <a:prstGeom prst="roundRect">
            <a:avLst>
              <a:gd name="adj" fmla="val 50000"/>
            </a:avLst>
          </a:prstGeom>
          <a:noFill/>
          <a:ln w="11430">
            <a:solidFill>
              <a:srgbClr val="FFFFFF"/>
            </a:solidFill>
          </a:ln>
          <a:effectLst/>
        </p:spPr>
        <p:txBody>
          <a:bodyPr rtlCol="0" anchor="ctr" lIns="0" rIns="0" tIns="0" bIns="0"/>
          <a:lstStyle/>
          <a:p>
            <a:pPr algn="ctr"/>
            <a:r>
              <a:rPr sz="1400" b="1">
                <a:solidFill>
                  <a:srgbClr val="FFFFFF"/>
                </a:solidFill>
                <a:latin typeface="Arial"/>
              </a:rPr>
              <a:t>Signals</a:t>
            </a:r>
          </a:p>
        </p:txBody>
      </p:sp>
      <p:sp>
        <p:nvSpPr>
          <p:cNvPr id="8" name="Rounded Rectangle 7"/>
          <p:cNvSpPr/>
          <p:nvPr/>
        </p:nvSpPr>
        <p:spPr>
          <a:xfrm>
            <a:off x="14776704" y="8183879"/>
            <a:ext cx="2240280" cy="502920"/>
          </a:xfrm>
          <a:prstGeom prst="roundRect">
            <a:avLst>
              <a:gd name="adj" fmla="val 50000"/>
            </a:avLst>
          </a:prstGeom>
          <a:noFill/>
          <a:ln w="11430">
            <a:solidFill>
              <a:srgbClr val="FFFFFF"/>
            </a:solidFill>
          </a:ln>
          <a:effectLst/>
        </p:spPr>
        <p:txBody>
          <a:bodyPr rtlCol="0" anchor="ctr" lIns="0" rIns="0" tIns="0" bIns="0"/>
          <a:lstStyle/>
          <a:p>
            <a:pPr algn="ctr"/>
            <a:r>
              <a:rPr sz="1400" b="1">
                <a:solidFill>
                  <a:srgbClr val="FFFFFF"/>
                </a:solidFill>
                <a:latin typeface="Arial"/>
              </a:rPr>
              <a:t>json-server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1  ·  OBJECTIFS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Afficher les factures, proprement</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À la fin de la journée, la liste vient de json-server et se filtre sans rechargement.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10 / 62</a:t>
            </a:r>
          </a:p>
        </p:txBody>
      </p:sp>
      <p:sp>
        <p:nvSpPr>
          <p:cNvPr id="9" name="Rounded Rectangle 8"/>
          <p:cNvSpPr/>
          <p:nvPr/>
        </p:nvSpPr>
        <p:spPr>
          <a:xfrm>
            <a:off x="2606040" y="3108960"/>
            <a:ext cx="6720840" cy="1920240"/>
          </a:xfrm>
          <a:prstGeom prst="roundRect">
            <a:avLst>
              <a:gd name="adj" fmla="val 8000"/>
            </a:avLst>
          </a:prstGeom>
          <a:solidFill>
            <a:srgbClr val="FFF0F4"/>
          </a:solidFill>
          <a:ln>
            <a:noFill/>
          </a:ln>
          <a:effectLst/>
        </p:spPr>
        <p:txBody>
          <a:bodyPr rtlCol="0" anchor="ctr"/>
          <a:lstStyle/>
          <a:p>
            <a:pPr algn="ctr"/>
          </a:p>
        </p:txBody>
      </p:sp>
      <p:sp>
        <p:nvSpPr>
          <p:cNvPr id="10" name="Rectangle 9"/>
          <p:cNvSpPr/>
          <p:nvPr/>
        </p:nvSpPr>
        <p:spPr>
          <a:xfrm>
            <a:off x="2606040" y="3108960"/>
            <a:ext cx="64008" cy="1920240"/>
          </a:xfrm>
          <a:prstGeom prst="rect">
            <a:avLst/>
          </a:prstGeom>
          <a:solidFill>
            <a:srgbClr val="ED1548"/>
          </a:solidFill>
          <a:ln>
            <a:noFill/>
          </a:ln>
          <a:effectLst/>
        </p:spPr>
        <p:txBody>
          <a:bodyPr rtlCol="0" anchor="ctr"/>
          <a:lstStyle/>
          <a:p>
            <a:pPr algn="ctr"/>
          </a:p>
        </p:txBody>
      </p:sp>
      <p:sp>
        <p:nvSpPr>
          <p:cNvPr id="11" name="TextBox 10"/>
          <p:cNvSpPr txBox="1"/>
          <p:nvPr/>
        </p:nvSpPr>
        <p:spPr>
          <a:xfrm>
            <a:off x="2898648" y="3273552"/>
            <a:ext cx="6217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OBJECTIF DE FIN DE JOURNÉE</a:t>
            </a:r>
          </a:p>
        </p:txBody>
      </p:sp>
      <p:sp>
        <p:nvSpPr>
          <p:cNvPr id="12" name="TextBox 11"/>
          <p:cNvSpPr txBox="1"/>
          <p:nvPr/>
        </p:nvSpPr>
        <p:spPr>
          <a:xfrm>
            <a:off x="2898648" y="3566160"/>
            <a:ext cx="6172200" cy="1353312"/>
          </a:xfrm>
          <a:prstGeom prst="rect">
            <a:avLst/>
          </a:prstGeom>
          <a:noFill/>
        </p:spPr>
        <p:txBody>
          <a:bodyPr wrap="square" lIns="0" rIns="0" tIns="0" bIns="0" anchor="t">
            <a:noAutofit/>
          </a:bodyPr>
          <a:lstStyle/>
          <a:p>
            <a:pPr algn="l">
              <a:lnSpc>
                <a:spcPct val="106000"/>
              </a:lnSpc>
              <a:spcBef>
                <a:spcPts val="0"/>
              </a:spcBef>
              <a:spcAft>
                <a:spcPts val="0"/>
              </a:spcAft>
            </a:pPr>
            <a:r>
              <a:rPr b="0" sz="1600" i="0">
                <a:solidFill>
                  <a:srgbClr val="1B3B47"/>
                </a:solidFill>
                <a:latin typeface="Arial"/>
              </a:rPr>
              <a:t>Une liste de factures issue de l'API, avec statuts colorés, montants formatés en euros, dates françaises et filtre par statut.</a:t>
            </a:r>
          </a:p>
        </p:txBody>
      </p:sp>
      <p:sp>
        <p:nvSpPr>
          <p:cNvPr id="13" name="Rounded Rectangle 12"/>
          <p:cNvSpPr/>
          <p:nvPr/>
        </p:nvSpPr>
        <p:spPr>
          <a:xfrm>
            <a:off x="2606040" y="537667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14" name="TextBox 13"/>
          <p:cNvSpPr txBox="1"/>
          <p:nvPr/>
        </p:nvSpPr>
        <p:spPr>
          <a:xfrm>
            <a:off x="2971800" y="5349240"/>
            <a:ext cx="6355079" cy="251968"/>
          </a:xfrm>
          <a:prstGeom prst="rect">
            <a:avLst/>
          </a:prstGeom>
          <a:noFill/>
        </p:spPr>
        <p:txBody>
          <a:bodyPr wrap="square" lIns="0" rIns="0" tIns="0" bIns="0" anchor="t">
            <a:noAutofit/>
          </a:bodyPr>
          <a:lstStyle/>
          <a:p>
            <a:pPr algn="l">
              <a:lnSpc>
                <a:spcPct val="105000"/>
              </a:lnSpc>
              <a:spcBef>
                <a:spcPts val="0"/>
              </a:spcBef>
              <a:spcAft>
                <a:spcPts val="0"/>
              </a:spcAft>
            </a:pPr>
            <a:r>
              <a:rPr b="0" sz="1600" i="0">
                <a:solidFill>
                  <a:srgbClr val="1B3B47"/>
                </a:solidFill>
                <a:latin typeface="Arial"/>
              </a:rPr>
              <a:t>Le projet Angular 22 démarre avec </a:t>
            </a:r>
            <a:r>
              <a:rPr sz="1440" b="0" i="0">
                <a:solidFill>
                  <a:srgbClr val="ED1548"/>
                </a:solidFill>
                <a:latin typeface="Consolas"/>
              </a:rPr>
              <a:t>ng serve</a:t>
            </a:r>
            <a:r>
              <a:rPr b="0" sz="1600" i="0">
                <a:solidFill>
                  <a:srgbClr val="1B3B47"/>
                </a:solidFill>
                <a:latin typeface="Arial"/>
              </a:rPr>
              <a:t>.</a:t>
            </a:r>
          </a:p>
        </p:txBody>
      </p:sp>
      <p:sp>
        <p:nvSpPr>
          <p:cNvPr id="15" name="Rounded Rectangle 14"/>
          <p:cNvSpPr/>
          <p:nvPr/>
        </p:nvSpPr>
        <p:spPr>
          <a:xfrm>
            <a:off x="2606040" y="570179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16" name="TextBox 15"/>
          <p:cNvSpPr txBox="1"/>
          <p:nvPr/>
        </p:nvSpPr>
        <p:spPr>
          <a:xfrm>
            <a:off x="2971800" y="5674359"/>
            <a:ext cx="6355079" cy="251968"/>
          </a:xfrm>
          <a:prstGeom prst="rect">
            <a:avLst/>
          </a:prstGeom>
          <a:noFill/>
        </p:spPr>
        <p:txBody>
          <a:bodyPr wrap="square" lIns="0" rIns="0" tIns="0" bIns="0" anchor="t">
            <a:noAutofit/>
          </a:bodyPr>
          <a:lstStyle/>
          <a:p>
            <a:pPr algn="l">
              <a:lnSpc>
                <a:spcPct val="105000"/>
              </a:lnSpc>
              <a:spcBef>
                <a:spcPts val="0"/>
              </a:spcBef>
              <a:spcAft>
                <a:spcPts val="0"/>
              </a:spcAft>
            </a:pPr>
            <a:r>
              <a:rPr b="0" sz="1600" i="0">
                <a:solidFill>
                  <a:srgbClr val="1B3B47"/>
                </a:solidFill>
                <a:latin typeface="Arial"/>
              </a:rPr>
              <a:t>Les 200 factures viennent de json-server.</a:t>
            </a:r>
          </a:p>
        </p:txBody>
      </p:sp>
      <p:sp>
        <p:nvSpPr>
          <p:cNvPr id="17" name="Rounded Rectangle 16"/>
          <p:cNvSpPr/>
          <p:nvPr/>
        </p:nvSpPr>
        <p:spPr>
          <a:xfrm>
            <a:off x="2606040" y="6026911"/>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18" name="TextBox 17"/>
          <p:cNvSpPr txBox="1"/>
          <p:nvPr/>
        </p:nvSpPr>
        <p:spPr>
          <a:xfrm>
            <a:off x="2971800" y="5999479"/>
            <a:ext cx="6355079" cy="251968"/>
          </a:xfrm>
          <a:prstGeom prst="rect">
            <a:avLst/>
          </a:prstGeom>
          <a:noFill/>
        </p:spPr>
        <p:txBody>
          <a:bodyPr wrap="square" lIns="0" rIns="0" tIns="0" bIns="0" anchor="t">
            <a:noAutofit/>
          </a:bodyPr>
          <a:lstStyle/>
          <a:p>
            <a:pPr algn="l">
              <a:lnSpc>
                <a:spcPct val="105000"/>
              </a:lnSpc>
              <a:spcBef>
                <a:spcPts val="0"/>
              </a:spcBef>
              <a:spcAft>
                <a:spcPts val="0"/>
              </a:spcAft>
            </a:pPr>
            <a:r>
              <a:rPr b="0" sz="1600" i="0">
                <a:solidFill>
                  <a:srgbClr val="1B3B47"/>
                </a:solidFill>
                <a:latin typeface="Arial"/>
              </a:rPr>
              <a:t>Le filtre par statut et la recherche fonctionnent.</a:t>
            </a:r>
          </a:p>
        </p:txBody>
      </p:sp>
      <p:sp>
        <p:nvSpPr>
          <p:cNvPr id="19" name="Rounded Rectangle 18"/>
          <p:cNvSpPr/>
          <p:nvPr/>
        </p:nvSpPr>
        <p:spPr>
          <a:xfrm>
            <a:off x="2606040" y="6352031"/>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0" name="TextBox 19"/>
          <p:cNvSpPr txBox="1"/>
          <p:nvPr/>
        </p:nvSpPr>
        <p:spPr>
          <a:xfrm>
            <a:off x="2971800" y="6324599"/>
            <a:ext cx="6355079" cy="251968"/>
          </a:xfrm>
          <a:prstGeom prst="rect">
            <a:avLst/>
          </a:prstGeom>
          <a:noFill/>
        </p:spPr>
        <p:txBody>
          <a:bodyPr wrap="square" lIns="0" rIns="0" tIns="0" bIns="0" anchor="t">
            <a:noAutofit/>
          </a:bodyPr>
          <a:lstStyle/>
          <a:p>
            <a:pPr algn="l">
              <a:lnSpc>
                <a:spcPct val="105000"/>
              </a:lnSpc>
              <a:spcBef>
                <a:spcPts val="0"/>
              </a:spcBef>
              <a:spcAft>
                <a:spcPts val="0"/>
              </a:spcAft>
            </a:pPr>
            <a:r>
              <a:rPr b="0" sz="1600" i="0">
                <a:solidFill>
                  <a:srgbClr val="1B3B47"/>
                </a:solidFill>
                <a:latin typeface="Arial"/>
              </a:rPr>
              <a:t>Les montants et dates sont formatés en français.</a:t>
            </a:r>
          </a:p>
        </p:txBody>
      </p:sp>
      <p:sp>
        <p:nvSpPr>
          <p:cNvPr id="21" name="Rounded Rectangle 20"/>
          <p:cNvSpPr/>
          <p:nvPr/>
        </p:nvSpPr>
        <p:spPr>
          <a:xfrm>
            <a:off x="2606040" y="6677151"/>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2" name="TextBox 21"/>
          <p:cNvSpPr txBox="1"/>
          <p:nvPr/>
        </p:nvSpPr>
        <p:spPr>
          <a:xfrm>
            <a:off x="2971800" y="6649719"/>
            <a:ext cx="6355079" cy="251968"/>
          </a:xfrm>
          <a:prstGeom prst="rect">
            <a:avLst/>
          </a:prstGeom>
          <a:noFill/>
        </p:spPr>
        <p:txBody>
          <a:bodyPr wrap="square" lIns="0" rIns="0" tIns="0" bIns="0" anchor="t">
            <a:noAutofit/>
          </a:bodyPr>
          <a:lstStyle/>
          <a:p>
            <a:pPr algn="l">
              <a:lnSpc>
                <a:spcPct val="105000"/>
              </a:lnSpc>
              <a:spcBef>
                <a:spcPts val="0"/>
              </a:spcBef>
              <a:spcAft>
                <a:spcPts val="0"/>
              </a:spcAft>
            </a:pPr>
            <a:r>
              <a:rPr b="0" sz="1600" i="0">
                <a:solidFill>
                  <a:srgbClr val="1B3B47"/>
                </a:solidFill>
                <a:latin typeface="Arial"/>
              </a:rPr>
              <a:t>Le total TTC se met à jour automatiquement.</a:t>
            </a:r>
          </a:p>
        </p:txBody>
      </p:sp>
      <p:sp>
        <p:nvSpPr>
          <p:cNvPr id="23" name="TextBox 22"/>
          <p:cNvSpPr txBox="1"/>
          <p:nvPr/>
        </p:nvSpPr>
        <p:spPr>
          <a:xfrm>
            <a:off x="9829800" y="3108960"/>
            <a:ext cx="722376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ED1548"/>
                </a:solidFill>
                <a:latin typeface="Arial"/>
              </a:rPr>
              <a:t>PLANNING INDICATIF</a:t>
            </a:r>
          </a:p>
        </p:txBody>
      </p:sp>
      <p:graphicFrame>
        <p:nvGraphicFramePr>
          <p:cNvPr id="24" name="Table 23"/>
          <p:cNvGraphicFramePr>
            <a:graphicFrameLocks noGrp="1"/>
          </p:cNvGraphicFramePr>
          <p:nvPr/>
        </p:nvGraphicFramePr>
        <p:xfrm>
          <a:off x="9829800" y="3493008"/>
          <a:ext cx="7269479" cy="4023360"/>
        </p:xfrm>
        <a:graphic>
          <a:graphicData uri="http://schemas.openxmlformats.org/drawingml/2006/table">
            <a:tbl>
              <a:tblPr>
                <a:tableStyleId>{5C22544A-7EE6-4342-B048-85BDC9FD1C3A}</a:tableStyleId>
              </a:tblPr>
              <a:tblGrid>
                <a:gridCol w="2357669"/>
                <a:gridCol w="4911810"/>
              </a:tblGrid>
              <a:tr h="457200">
                <a:tc>
                  <a:txBody>
                    <a:bodyPr wrap="square"/>
                    <a:lstStyle/>
                    <a:p>
                      <a:pPr algn="l">
                        <a:lnSpc>
                          <a:spcPct val="100000"/>
                        </a:lnSpc>
                      </a:pPr>
                      <a:r>
                        <a:rPr b="1" sz="1400" i="0">
                          <a:solidFill>
                            <a:srgbClr val="FFFFFF"/>
                          </a:solidFill>
                          <a:latin typeface="Arial"/>
                        </a:rPr>
                        <a:t>Horaire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400" i="0">
                          <a:solidFill>
                            <a:srgbClr val="FFFFFF"/>
                          </a:solidFill>
                          <a:latin typeface="Arial"/>
                        </a:rPr>
                        <a:t>Contenu</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r>
              <a:tr h="713232">
                <a:tc>
                  <a:txBody>
                    <a:bodyPr wrap="square"/>
                    <a:lstStyle/>
                    <a:p>
                      <a:pPr algn="l">
                        <a:lnSpc>
                          <a:spcPct val="100000"/>
                        </a:lnSpc>
                      </a:pPr>
                      <a:r>
                        <a:rPr b="0" sz="1500" i="0">
                          <a:solidFill>
                            <a:srgbClr val="1B3B47"/>
                          </a:solidFill>
                          <a:latin typeface="Arial"/>
                        </a:rPr>
                        <a:t>09:00 – 10:30</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500" i="0">
                          <a:solidFill>
                            <a:srgbClr val="1B3B47"/>
                          </a:solidFill>
                          <a:latin typeface="Arial"/>
                        </a:rPr>
                        <a:t>Angular, SPA, CLI, workspace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713232">
                <a:tc>
                  <a:txBody>
                    <a:bodyPr wrap="square"/>
                    <a:lstStyle/>
                    <a:p>
                      <a:pPr algn="l">
                        <a:lnSpc>
                          <a:spcPct val="100000"/>
                        </a:lnSpc>
                      </a:pPr>
                      <a:r>
                        <a:rPr b="0" sz="1500" i="0">
                          <a:solidFill>
                            <a:srgbClr val="1B3B47"/>
                          </a:solidFill>
                          <a:latin typeface="Arial"/>
                        </a:rPr>
                        <a:t>10:45 – 12:30</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500" i="0">
                          <a:solidFill>
                            <a:srgbClr val="1B3B47"/>
                          </a:solidFill>
                          <a:latin typeface="Arial"/>
                        </a:rPr>
                        <a:t>Composants, binding, control-flow</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713232">
                <a:tc>
                  <a:txBody>
                    <a:bodyPr wrap="square"/>
                    <a:lstStyle/>
                    <a:p>
                      <a:pPr algn="l">
                        <a:lnSpc>
                          <a:spcPct val="100000"/>
                        </a:lnSpc>
                      </a:pPr>
                      <a:r>
                        <a:rPr b="0" sz="1500" i="0">
                          <a:solidFill>
                            <a:srgbClr val="1B3B47"/>
                          </a:solidFill>
                          <a:latin typeface="Arial"/>
                        </a:rPr>
                        <a:t>13:30 – 15:00</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500" i="0">
                          <a:solidFill>
                            <a:srgbClr val="1B3B47"/>
                          </a:solidFill>
                          <a:latin typeface="Arial"/>
                        </a:rPr>
                        <a:t>Signals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713232">
                <a:tc>
                  <a:txBody>
                    <a:bodyPr wrap="square"/>
                    <a:lstStyle/>
                    <a:p>
                      <a:pPr algn="l">
                        <a:lnSpc>
                          <a:spcPct val="100000"/>
                        </a:lnSpc>
                      </a:pPr>
                      <a:r>
                        <a:rPr b="0" sz="1500" i="0">
                          <a:solidFill>
                            <a:srgbClr val="1B3B47"/>
                          </a:solidFill>
                          <a:latin typeface="Arial"/>
                        </a:rPr>
                        <a:t>15:15 – 16:30</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500" i="0">
                          <a:solidFill>
                            <a:srgbClr val="1B3B47"/>
                          </a:solidFill>
                          <a:latin typeface="Arial"/>
                        </a:rPr>
                        <a:t>Pipes et directives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713232">
                <a:tc>
                  <a:txBody>
                    <a:bodyPr wrap="square"/>
                    <a:lstStyle/>
                    <a:p>
                      <a:pPr algn="l">
                        <a:lnSpc>
                          <a:spcPct val="100000"/>
                        </a:lnSpc>
                      </a:pPr>
                      <a:r>
                        <a:rPr b="0" sz="1500" i="0">
                          <a:solidFill>
                            <a:srgbClr val="1B3B47"/>
                          </a:solidFill>
                          <a:latin typeface="Arial"/>
                        </a:rPr>
                        <a:t>16:30 – 18:00</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500" i="0">
                          <a:solidFill>
                            <a:srgbClr val="1B3B47"/>
                          </a:solidFill>
                          <a:latin typeface="Arial"/>
                        </a:rPr>
                        <a:t>Données json-server + TP</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bl>
          </a:graphicData>
        </a:graphic>
      </p:graphicFrame>
      <p:sp>
        <p:nvSpPr>
          <p:cNvPr id="25" name="Rounded Rectangle 24"/>
          <p:cNvSpPr/>
          <p:nvPr/>
        </p:nvSpPr>
        <p:spPr>
          <a:xfrm>
            <a:off x="9829800" y="7818120"/>
            <a:ext cx="7269480" cy="1417320"/>
          </a:xfrm>
          <a:prstGeom prst="roundRect">
            <a:avLst>
              <a:gd name="adj" fmla="val 8000"/>
            </a:avLst>
          </a:prstGeom>
          <a:solidFill>
            <a:srgbClr val="EBF6F8"/>
          </a:solidFill>
          <a:ln>
            <a:noFill/>
          </a:ln>
          <a:effectLst/>
        </p:spPr>
        <p:txBody>
          <a:bodyPr rtlCol="0" anchor="ctr"/>
          <a:lstStyle/>
          <a:p>
            <a:pPr algn="ctr"/>
          </a:p>
        </p:txBody>
      </p:sp>
      <p:sp>
        <p:nvSpPr>
          <p:cNvPr id="26" name="Rectangle 25"/>
          <p:cNvSpPr/>
          <p:nvPr/>
        </p:nvSpPr>
        <p:spPr>
          <a:xfrm>
            <a:off x="9829800" y="7818120"/>
            <a:ext cx="64008" cy="1417320"/>
          </a:xfrm>
          <a:prstGeom prst="rect">
            <a:avLst/>
          </a:prstGeom>
          <a:solidFill>
            <a:srgbClr val="0B4F6C"/>
          </a:solidFill>
          <a:ln>
            <a:noFill/>
          </a:ln>
          <a:effectLst/>
        </p:spPr>
        <p:txBody>
          <a:bodyPr rtlCol="0" anchor="ctr"/>
          <a:lstStyle/>
          <a:p>
            <a:pPr algn="ctr"/>
          </a:p>
        </p:txBody>
      </p:sp>
      <p:sp>
        <p:nvSpPr>
          <p:cNvPr id="27" name="TextBox 26"/>
          <p:cNvSpPr txBox="1"/>
          <p:nvPr/>
        </p:nvSpPr>
        <p:spPr>
          <a:xfrm>
            <a:off x="10122408" y="7982712"/>
            <a:ext cx="676656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TP DE SYNTHÈSE</a:t>
            </a:r>
          </a:p>
        </p:txBody>
      </p:sp>
      <p:sp>
        <p:nvSpPr>
          <p:cNvPr id="28" name="TextBox 27"/>
          <p:cNvSpPr txBox="1"/>
          <p:nvPr/>
        </p:nvSpPr>
        <p:spPr>
          <a:xfrm>
            <a:off x="10122408" y="8275320"/>
            <a:ext cx="6720840" cy="850392"/>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Liste + filtre + total TTC. Si le total est faux, vérifier le type des montants et l'arrondi.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1  ·  CLI</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CLI &amp; workspace : les bons fichiers au bon endroit</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sz="1800" b="0" i="0">
                <a:solidFill>
                  <a:srgbClr val="ED1548"/>
                </a:solidFill>
                <a:latin typeface="Consolas"/>
              </a:rPr>
              <a:t>ng new</a:t>
            </a:r>
            <a:r>
              <a:rPr b="0" sz="2000" i="0">
                <a:solidFill>
                  <a:srgbClr val="5C6E76"/>
                </a:solidFill>
                <a:latin typeface="Arial"/>
              </a:rPr>
              <a:t> génère une structure prête à grandir ; la CLI uniformise les conventions.</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11 / 62</a:t>
            </a:r>
          </a:p>
        </p:txBody>
      </p:sp>
      <p:sp>
        <p:nvSpPr>
          <p:cNvPr id="9" name="Rounded Rectangle 8"/>
          <p:cNvSpPr/>
          <p:nvPr/>
        </p:nvSpPr>
        <p:spPr>
          <a:xfrm>
            <a:off x="2606040" y="3017520"/>
            <a:ext cx="4572000" cy="123444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0" name="Rectangle 9"/>
          <p:cNvSpPr/>
          <p:nvPr/>
        </p:nvSpPr>
        <p:spPr>
          <a:xfrm>
            <a:off x="2606040" y="3017520"/>
            <a:ext cx="4572000" cy="50292"/>
          </a:xfrm>
          <a:prstGeom prst="rect">
            <a:avLst/>
          </a:prstGeom>
          <a:solidFill>
            <a:srgbClr val="0B4F6C"/>
          </a:solidFill>
          <a:ln>
            <a:noFill/>
          </a:ln>
          <a:effectLst/>
        </p:spPr>
        <p:txBody>
          <a:bodyPr rtlCol="0" anchor="ctr"/>
          <a:lstStyle/>
          <a:p>
            <a:pPr algn="ctr"/>
          </a:p>
        </p:txBody>
      </p:sp>
      <p:sp>
        <p:nvSpPr>
          <p:cNvPr id="11" name="TextBox 10"/>
          <p:cNvSpPr txBox="1"/>
          <p:nvPr/>
        </p:nvSpPr>
        <p:spPr>
          <a:xfrm>
            <a:off x="2880360" y="3273552"/>
            <a:ext cx="4023360" cy="411480"/>
          </a:xfrm>
          <a:prstGeom prst="rect">
            <a:avLst/>
          </a:prstGeom>
          <a:noFill/>
        </p:spPr>
        <p:txBody>
          <a:bodyPr wrap="square" lIns="0" rIns="0" tIns="0" bIns="0" anchor="t">
            <a:noAutofit/>
          </a:bodyPr>
          <a:lstStyle/>
          <a:p>
            <a:pPr algn="l">
              <a:lnSpc>
                <a:spcPct val="102000"/>
              </a:lnSpc>
              <a:spcBef>
                <a:spcPts val="0"/>
              </a:spcBef>
              <a:spcAft>
                <a:spcPts val="0"/>
              </a:spcAft>
            </a:pPr>
            <a:r>
              <a:rPr b="1" sz="1600" i="0">
                <a:solidFill>
                  <a:srgbClr val="0B4F6C"/>
                </a:solidFill>
                <a:latin typeface="Arial"/>
              </a:rPr>
              <a:t>main.ts</a:t>
            </a:r>
          </a:p>
        </p:txBody>
      </p:sp>
      <p:sp>
        <p:nvSpPr>
          <p:cNvPr id="12" name="TextBox 11"/>
          <p:cNvSpPr txBox="1"/>
          <p:nvPr/>
        </p:nvSpPr>
        <p:spPr>
          <a:xfrm>
            <a:off x="2880360" y="3712464"/>
            <a:ext cx="4023360" cy="365760"/>
          </a:xfrm>
          <a:prstGeom prst="rect">
            <a:avLst/>
          </a:prstGeom>
          <a:noFill/>
        </p:spPr>
        <p:txBody>
          <a:bodyPr wrap="square" lIns="0" rIns="0" tIns="0" bIns="0" anchor="t">
            <a:noAutofit/>
          </a:bodyPr>
          <a:lstStyle/>
          <a:p>
            <a:pPr algn="l">
              <a:lnSpc>
                <a:spcPct val="108000"/>
              </a:lnSpc>
              <a:spcBef>
                <a:spcPts val="0"/>
              </a:spcBef>
              <a:spcAft>
                <a:spcPts val="0"/>
              </a:spcAft>
            </a:pPr>
            <a:r>
              <a:rPr b="0" sz="1250" i="0">
                <a:solidFill>
                  <a:srgbClr val="1B3B47"/>
                </a:solidFill>
                <a:latin typeface="Arial"/>
              </a:rPr>
              <a:t>Point d'entrée : </a:t>
            </a:r>
            <a:r>
              <a:rPr sz="1125" b="0" i="0">
                <a:solidFill>
                  <a:srgbClr val="0B4F6C"/>
                </a:solidFill>
                <a:latin typeface="Consolas"/>
              </a:rPr>
              <a:t>bootstrapApplication</a:t>
            </a:r>
          </a:p>
        </p:txBody>
      </p:sp>
      <p:sp>
        <p:nvSpPr>
          <p:cNvPr id="13" name="Rounded Rectangle 12"/>
          <p:cNvSpPr/>
          <p:nvPr/>
        </p:nvSpPr>
        <p:spPr>
          <a:xfrm>
            <a:off x="7680960" y="3017520"/>
            <a:ext cx="4572000" cy="123444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4" name="Rectangle 13"/>
          <p:cNvSpPr/>
          <p:nvPr/>
        </p:nvSpPr>
        <p:spPr>
          <a:xfrm>
            <a:off x="7680960" y="3017520"/>
            <a:ext cx="4572000" cy="50292"/>
          </a:xfrm>
          <a:prstGeom prst="rect">
            <a:avLst/>
          </a:prstGeom>
          <a:solidFill>
            <a:srgbClr val="0B4F6C"/>
          </a:solidFill>
          <a:ln>
            <a:noFill/>
          </a:ln>
          <a:effectLst/>
        </p:spPr>
        <p:txBody>
          <a:bodyPr rtlCol="0" anchor="ctr"/>
          <a:lstStyle/>
          <a:p>
            <a:pPr algn="ctr"/>
          </a:p>
        </p:txBody>
      </p:sp>
      <p:sp>
        <p:nvSpPr>
          <p:cNvPr id="15" name="TextBox 14"/>
          <p:cNvSpPr txBox="1"/>
          <p:nvPr/>
        </p:nvSpPr>
        <p:spPr>
          <a:xfrm>
            <a:off x="7955280" y="3273552"/>
            <a:ext cx="4023360" cy="411480"/>
          </a:xfrm>
          <a:prstGeom prst="rect">
            <a:avLst/>
          </a:prstGeom>
          <a:noFill/>
        </p:spPr>
        <p:txBody>
          <a:bodyPr wrap="square" lIns="0" rIns="0" tIns="0" bIns="0" anchor="t">
            <a:noAutofit/>
          </a:bodyPr>
          <a:lstStyle/>
          <a:p>
            <a:pPr algn="l">
              <a:lnSpc>
                <a:spcPct val="102000"/>
              </a:lnSpc>
              <a:spcBef>
                <a:spcPts val="0"/>
              </a:spcBef>
              <a:spcAft>
                <a:spcPts val="0"/>
              </a:spcAft>
            </a:pPr>
            <a:r>
              <a:rPr b="1" sz="1600" i="0">
                <a:solidFill>
                  <a:srgbClr val="0B4F6C"/>
                </a:solidFill>
                <a:latin typeface="Arial"/>
              </a:rPr>
              <a:t>app.config.ts</a:t>
            </a:r>
          </a:p>
        </p:txBody>
      </p:sp>
      <p:sp>
        <p:nvSpPr>
          <p:cNvPr id="16" name="TextBox 15"/>
          <p:cNvSpPr txBox="1"/>
          <p:nvPr/>
        </p:nvSpPr>
        <p:spPr>
          <a:xfrm>
            <a:off x="7955280" y="3712464"/>
            <a:ext cx="4023360" cy="365760"/>
          </a:xfrm>
          <a:prstGeom prst="rect">
            <a:avLst/>
          </a:prstGeom>
          <a:noFill/>
        </p:spPr>
        <p:txBody>
          <a:bodyPr wrap="square" lIns="0" rIns="0" tIns="0" bIns="0" anchor="t">
            <a:noAutofit/>
          </a:bodyPr>
          <a:lstStyle/>
          <a:p>
            <a:pPr algn="l">
              <a:lnSpc>
                <a:spcPct val="108000"/>
              </a:lnSpc>
              <a:spcBef>
                <a:spcPts val="0"/>
              </a:spcBef>
              <a:spcAft>
                <a:spcPts val="0"/>
              </a:spcAft>
            </a:pPr>
            <a:r>
              <a:rPr b="0" sz="1250" i="0">
                <a:solidFill>
                  <a:srgbClr val="1B3B47"/>
                </a:solidFill>
                <a:latin typeface="Arial"/>
              </a:rPr>
              <a:t>Providers globaux : router, HTTP, locale</a:t>
            </a:r>
          </a:p>
        </p:txBody>
      </p:sp>
      <p:sp>
        <p:nvSpPr>
          <p:cNvPr id="17" name="Rounded Rectangle 16"/>
          <p:cNvSpPr/>
          <p:nvPr/>
        </p:nvSpPr>
        <p:spPr>
          <a:xfrm>
            <a:off x="12755880" y="3017520"/>
            <a:ext cx="4434840" cy="123444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8" name="Rectangle 17"/>
          <p:cNvSpPr/>
          <p:nvPr/>
        </p:nvSpPr>
        <p:spPr>
          <a:xfrm>
            <a:off x="12755880" y="3017520"/>
            <a:ext cx="4434840" cy="50292"/>
          </a:xfrm>
          <a:prstGeom prst="rect">
            <a:avLst/>
          </a:prstGeom>
          <a:solidFill>
            <a:srgbClr val="0B4F6C"/>
          </a:solidFill>
          <a:ln>
            <a:noFill/>
          </a:ln>
          <a:effectLst/>
        </p:spPr>
        <p:txBody>
          <a:bodyPr rtlCol="0" anchor="ctr"/>
          <a:lstStyle/>
          <a:p>
            <a:pPr algn="ctr"/>
          </a:p>
        </p:txBody>
      </p:sp>
      <p:sp>
        <p:nvSpPr>
          <p:cNvPr id="19" name="TextBox 18"/>
          <p:cNvSpPr txBox="1"/>
          <p:nvPr/>
        </p:nvSpPr>
        <p:spPr>
          <a:xfrm>
            <a:off x="13030200" y="3273552"/>
            <a:ext cx="4023360" cy="411480"/>
          </a:xfrm>
          <a:prstGeom prst="rect">
            <a:avLst/>
          </a:prstGeom>
          <a:noFill/>
        </p:spPr>
        <p:txBody>
          <a:bodyPr wrap="square" lIns="0" rIns="0" tIns="0" bIns="0" anchor="t">
            <a:noAutofit/>
          </a:bodyPr>
          <a:lstStyle/>
          <a:p>
            <a:pPr algn="l">
              <a:lnSpc>
                <a:spcPct val="102000"/>
              </a:lnSpc>
              <a:spcBef>
                <a:spcPts val="0"/>
              </a:spcBef>
              <a:spcAft>
                <a:spcPts val="0"/>
              </a:spcAft>
            </a:pPr>
            <a:r>
              <a:rPr b="1" sz="1600" i="0">
                <a:solidFill>
                  <a:srgbClr val="0B4F6C"/>
                </a:solidFill>
                <a:latin typeface="Arial"/>
              </a:rPr>
              <a:t>app.routes.ts</a:t>
            </a:r>
          </a:p>
        </p:txBody>
      </p:sp>
      <p:sp>
        <p:nvSpPr>
          <p:cNvPr id="20" name="TextBox 19"/>
          <p:cNvSpPr txBox="1"/>
          <p:nvPr/>
        </p:nvSpPr>
        <p:spPr>
          <a:xfrm>
            <a:off x="13030200" y="3712464"/>
            <a:ext cx="4023360" cy="365760"/>
          </a:xfrm>
          <a:prstGeom prst="rect">
            <a:avLst/>
          </a:prstGeom>
          <a:noFill/>
        </p:spPr>
        <p:txBody>
          <a:bodyPr wrap="square" lIns="0" rIns="0" tIns="0" bIns="0" anchor="t">
            <a:noAutofit/>
          </a:bodyPr>
          <a:lstStyle/>
          <a:p>
            <a:pPr algn="l">
              <a:lnSpc>
                <a:spcPct val="108000"/>
              </a:lnSpc>
              <a:spcBef>
                <a:spcPts val="0"/>
              </a:spcBef>
              <a:spcAft>
                <a:spcPts val="0"/>
              </a:spcAft>
            </a:pPr>
            <a:r>
              <a:rPr b="0" sz="1250" i="0">
                <a:solidFill>
                  <a:srgbClr val="1B3B47"/>
                </a:solidFill>
                <a:latin typeface="Arial"/>
              </a:rPr>
              <a:t>Routes racine et lazy loading</a:t>
            </a:r>
          </a:p>
        </p:txBody>
      </p:sp>
      <p:sp>
        <p:nvSpPr>
          <p:cNvPr id="21" name="TextBox 20"/>
          <p:cNvSpPr txBox="1"/>
          <p:nvPr/>
        </p:nvSpPr>
        <p:spPr>
          <a:xfrm>
            <a:off x="2606040" y="4617720"/>
            <a:ext cx="6766560" cy="2468880"/>
          </a:xfrm>
          <a:prstGeom prst="rect">
            <a:avLst/>
          </a:prstGeom>
          <a:noFill/>
        </p:spPr>
        <p:txBody>
          <a:bodyPr wrap="square" lIns="0" rIns="0" tIns="0" bIns="0">
            <a:noAutofit/>
          </a:bodyPr>
          <a:lstStyle/>
          <a:p>
            <a:pPr marL="274320" indent="-274320">
              <a:lnSpc>
                <a:spcPct val="102000"/>
              </a:lnSpc>
              <a:spcBef>
                <a:spcPts val="0"/>
              </a:spcBef>
              <a:spcAft>
                <a:spcPts val="576"/>
              </a:spcAft>
              <a:buClr>
                <a:srgbClr val="ED1548"/>
              </a:buClr>
              <a:buFont typeface="Arial"/>
              <a:buChar char="•"/>
            </a:pPr>
            <a:r>
              <a:rPr b="1" sz="1600" i="0">
                <a:solidFill>
                  <a:srgbClr val="093544"/>
                </a:solidFill>
                <a:latin typeface="Arial"/>
              </a:rPr>
              <a:t>Une commande = plusieurs fichiers</a:t>
            </a:r>
            <a:r>
              <a:rPr b="0" sz="1600" i="0">
                <a:solidFill>
                  <a:srgbClr val="093544"/>
                </a:solidFill>
                <a:latin typeface="Arial"/>
              </a:rPr>
              <a:t> : classe, template, styles, spec.</a:t>
            </a:r>
          </a:p>
          <a:p>
            <a:pPr marL="274320" indent="-274320">
              <a:lnSpc>
                <a:spcPct val="102000"/>
              </a:lnSpc>
              <a:spcBef>
                <a:spcPts val="0"/>
              </a:spcBef>
              <a:spcAft>
                <a:spcPts val="576"/>
              </a:spcAft>
              <a:buClr>
                <a:srgbClr val="ED1548"/>
              </a:buClr>
              <a:buFont typeface="Arial"/>
              <a:buChar char="•"/>
            </a:pPr>
            <a:r>
              <a:rPr b="1" sz="1600" i="0">
                <a:solidFill>
                  <a:srgbClr val="093544"/>
                </a:solidFill>
                <a:latin typeface="Arial"/>
              </a:rPr>
              <a:t>Nommage uniforme</a:t>
            </a:r>
            <a:r>
              <a:rPr b="0" sz="1600" i="0">
                <a:solidFill>
                  <a:srgbClr val="093544"/>
                </a:solidFill>
                <a:latin typeface="Arial"/>
              </a:rPr>
              <a:t> : </a:t>
            </a:r>
            <a:r>
              <a:rPr sz="1440" b="0" i="0">
                <a:solidFill>
                  <a:srgbClr val="ED1548"/>
                </a:solidFill>
                <a:latin typeface="Consolas"/>
              </a:rPr>
              <a:t>ng g c features/factures/facture-list</a:t>
            </a:r>
            <a:r>
              <a:rPr b="0" sz="1600" i="0">
                <a:solidFill>
                  <a:srgbClr val="093544"/>
                </a:solidFill>
                <a:latin typeface="Arial"/>
              </a:rPr>
              <a:t>.</a:t>
            </a:r>
          </a:p>
          <a:p>
            <a:pPr marL="274320" indent="-274320">
              <a:lnSpc>
                <a:spcPct val="102000"/>
              </a:lnSpc>
              <a:spcBef>
                <a:spcPts val="0"/>
              </a:spcBef>
              <a:spcAft>
                <a:spcPts val="576"/>
              </a:spcAft>
              <a:buClr>
                <a:srgbClr val="ED1548"/>
              </a:buClr>
              <a:buFont typeface="Arial"/>
              <a:buChar char="•"/>
            </a:pPr>
            <a:r>
              <a:rPr b="1" sz="1600" i="0">
                <a:solidFill>
                  <a:srgbClr val="093544"/>
                </a:solidFill>
                <a:latin typeface="Arial"/>
              </a:rPr>
              <a:t>Pas de NgModule</a:t>
            </a:r>
            <a:r>
              <a:rPr b="0" sz="1600" i="0">
                <a:solidFill>
                  <a:srgbClr val="093544"/>
                </a:solidFill>
                <a:latin typeface="Arial"/>
              </a:rPr>
              <a:t> : les composants sont standalone.</a:t>
            </a:r>
          </a:p>
          <a:p>
            <a:pPr marL="274320" indent="-274320">
              <a:lnSpc>
                <a:spcPct val="102000"/>
              </a:lnSpc>
              <a:spcBef>
                <a:spcPts val="0"/>
              </a:spcBef>
              <a:spcAft>
                <a:spcPts val="576"/>
              </a:spcAft>
              <a:buClr>
                <a:srgbClr val="ED1548"/>
              </a:buClr>
              <a:buFont typeface="Arial"/>
              <a:buChar char="•"/>
            </a:pPr>
            <a:r>
              <a:rPr b="1" sz="1600" i="0">
                <a:solidFill>
                  <a:srgbClr val="093544"/>
                </a:solidFill>
                <a:latin typeface="Arial"/>
              </a:rPr>
              <a:t>Le workspace</a:t>
            </a:r>
            <a:r>
              <a:rPr b="0" sz="1600" i="0">
                <a:solidFill>
                  <a:srgbClr val="093544"/>
                </a:solidFill>
                <a:latin typeface="Arial"/>
              </a:rPr>
              <a:t> contient </a:t>
            </a:r>
            <a:r>
              <a:rPr sz="1440" b="0" i="0">
                <a:solidFill>
                  <a:srgbClr val="ED1548"/>
                </a:solidFill>
                <a:latin typeface="Consolas"/>
              </a:rPr>
              <a:t>angular.json</a:t>
            </a:r>
            <a:r>
              <a:rPr b="0" sz="1600" i="0">
                <a:solidFill>
                  <a:srgbClr val="093544"/>
                </a:solidFill>
                <a:latin typeface="Arial"/>
              </a:rPr>
              <a:t>, </a:t>
            </a:r>
            <a:r>
              <a:rPr sz="1440" b="0" i="0">
                <a:solidFill>
                  <a:srgbClr val="ED1548"/>
                </a:solidFill>
                <a:latin typeface="Consolas"/>
              </a:rPr>
              <a:t>tsconfig.json</a:t>
            </a:r>
            <a:r>
              <a:rPr b="0" sz="1600" i="0">
                <a:solidFill>
                  <a:srgbClr val="093544"/>
                </a:solidFill>
                <a:latin typeface="Arial"/>
              </a:rPr>
              <a:t>, </a:t>
            </a:r>
            <a:r>
              <a:rPr sz="1440" b="0" i="0">
                <a:solidFill>
                  <a:srgbClr val="ED1548"/>
                </a:solidFill>
                <a:latin typeface="Consolas"/>
              </a:rPr>
              <a:t>src/</a:t>
            </a:r>
            <a:r>
              <a:rPr b="0" sz="1600" i="0">
                <a:solidFill>
                  <a:srgbClr val="093544"/>
                </a:solidFill>
                <a:latin typeface="Arial"/>
              </a:rPr>
              <a:t>.</a:t>
            </a:r>
          </a:p>
        </p:txBody>
      </p:sp>
      <p:sp>
        <p:nvSpPr>
          <p:cNvPr id="22" name="TextBox 21"/>
          <p:cNvSpPr txBox="1"/>
          <p:nvPr/>
        </p:nvSpPr>
        <p:spPr>
          <a:xfrm>
            <a:off x="2606040" y="7360920"/>
            <a:ext cx="6766560" cy="502920"/>
          </a:xfrm>
          <a:prstGeom prst="rect">
            <a:avLst/>
          </a:prstGeom>
          <a:noFill/>
        </p:spPr>
        <p:txBody>
          <a:bodyPr wrap="square" lIns="0" rIns="0" tIns="0" bIns="0" anchor="t">
            <a:noAutofit/>
          </a:bodyPr>
          <a:lstStyle/>
          <a:p>
            <a:pPr algn="l">
              <a:lnSpc>
                <a:spcPct val="135000"/>
              </a:lnSpc>
              <a:spcBef>
                <a:spcPts val="0"/>
              </a:spcBef>
              <a:spcAft>
                <a:spcPts val="0"/>
              </a:spcAft>
            </a:pPr>
            <a:r>
              <a:rPr sz="1260" b="0" i="0">
                <a:solidFill>
                  <a:srgbClr val="ED1548"/>
                </a:solidFill>
                <a:latin typeface="Consolas"/>
              </a:rPr>
              <a:t>ng new rapprochement --style=scss</a:t>
            </a:r>
          </a:p>
          <a:p>
            <a:pPr algn="l">
              <a:lnSpc>
                <a:spcPct val="135000"/>
              </a:lnSpc>
              <a:spcBef>
                <a:spcPts val="0"/>
              </a:spcBef>
              <a:spcAft>
                <a:spcPts val="0"/>
              </a:spcAft>
            </a:pPr>
            <a:r>
              <a:rPr sz="1260" b="0" i="0">
                <a:solidFill>
                  <a:srgbClr val="ED1548"/>
                </a:solidFill>
                <a:latin typeface="Consolas"/>
              </a:rPr>
              <a:t>ng serve</a:t>
            </a:r>
            <a:r>
              <a:rPr b="0" sz="1400" i="0">
                <a:solidFill>
                  <a:srgbClr val="093544"/>
                </a:solidFill>
                <a:latin typeface="Consolas"/>
              </a:rPr>
              <a:t>  ·  </a:t>
            </a:r>
            <a:r>
              <a:rPr sz="1260" b="0" i="0">
                <a:solidFill>
                  <a:srgbClr val="ED1548"/>
                </a:solidFill>
                <a:latin typeface="Consolas"/>
              </a:rPr>
              <a:t>ng test</a:t>
            </a:r>
          </a:p>
        </p:txBody>
      </p:sp>
      <p:sp>
        <p:nvSpPr>
          <p:cNvPr id="23" name="Rounded Rectangle 22"/>
          <p:cNvSpPr/>
          <p:nvPr/>
        </p:nvSpPr>
        <p:spPr>
          <a:xfrm>
            <a:off x="9601200" y="4617720"/>
            <a:ext cx="7589520" cy="402336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24" name="Oval 23"/>
          <p:cNvSpPr/>
          <p:nvPr/>
        </p:nvSpPr>
        <p:spPr>
          <a:xfrm>
            <a:off x="9820656" y="4791456"/>
            <a:ext cx="82296" cy="82296"/>
          </a:xfrm>
          <a:prstGeom prst="ellipse">
            <a:avLst/>
          </a:prstGeom>
          <a:solidFill>
            <a:srgbClr val="ED1548"/>
          </a:solidFill>
          <a:ln>
            <a:noFill/>
          </a:ln>
          <a:effectLst/>
        </p:spPr>
        <p:txBody>
          <a:bodyPr rtlCol="0" anchor="ctr"/>
          <a:lstStyle/>
          <a:p>
            <a:pPr algn="ctr"/>
          </a:p>
        </p:txBody>
      </p:sp>
      <p:sp>
        <p:nvSpPr>
          <p:cNvPr id="25" name="TextBox 24"/>
          <p:cNvSpPr txBox="1"/>
          <p:nvPr/>
        </p:nvSpPr>
        <p:spPr>
          <a:xfrm>
            <a:off x="9985248" y="4727448"/>
            <a:ext cx="7086599"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arborescence cible</a:t>
            </a:r>
          </a:p>
        </p:txBody>
      </p:sp>
      <p:sp>
        <p:nvSpPr>
          <p:cNvPr id="26" name="TextBox 25"/>
          <p:cNvSpPr txBox="1"/>
          <p:nvPr/>
        </p:nvSpPr>
        <p:spPr>
          <a:xfrm>
            <a:off x="9848088" y="5093208"/>
            <a:ext cx="7269479" cy="3383279"/>
          </a:xfrm>
          <a:prstGeom prst="rect">
            <a:avLst/>
          </a:prstGeom>
          <a:noFill/>
        </p:spPr>
        <p:txBody>
          <a:bodyPr wrap="none" lIns="0" rIns="0" tIns="0" bIns="0">
            <a:noAutofit/>
          </a:bodyPr>
          <a:lstStyle/>
          <a:p>
            <a:pPr>
              <a:lnSpc>
                <a:spcPct val="100000"/>
              </a:lnSpc>
              <a:spcBef>
                <a:spcPts val="0"/>
              </a:spcBef>
              <a:spcAft>
                <a:spcPts val="0"/>
              </a:spcAft>
            </a:pPr>
            <a:r>
              <a:rPr sz="1400">
                <a:solidFill>
                  <a:srgbClr val="EAF2F4"/>
                </a:solidFill>
                <a:latin typeface="Consolas"/>
              </a:rPr>
              <a:t>src/</a:t>
            </a:r>
          </a:p>
          <a:p>
            <a:pPr>
              <a:lnSpc>
                <a:spcPct val="100000"/>
              </a:lnSpc>
              <a:spcBef>
                <a:spcPts val="0"/>
              </a:spcBef>
              <a:spcAft>
                <a:spcPts val="0"/>
              </a:spcAft>
            </a:pPr>
            <a:r>
              <a:rPr sz="1400">
                <a:solidFill>
                  <a:srgbClr val="EAF2F4"/>
                </a:solidFill>
                <a:latin typeface="Consolas"/>
              </a:rPr>
              <a:t>├─ main.ts</a:t>
            </a:r>
          </a:p>
          <a:p>
            <a:pPr>
              <a:lnSpc>
                <a:spcPct val="100000"/>
              </a:lnSpc>
              <a:spcBef>
                <a:spcPts val="0"/>
              </a:spcBef>
              <a:spcAft>
                <a:spcPts val="0"/>
              </a:spcAft>
            </a:pPr>
            <a:r>
              <a:rPr sz="1400">
                <a:solidFill>
                  <a:srgbClr val="EAF2F4"/>
                </a:solidFill>
                <a:latin typeface="Consolas"/>
              </a:rPr>
              <a:t>├─ app/</a:t>
            </a:r>
          </a:p>
          <a:p>
            <a:pPr>
              <a:lnSpc>
                <a:spcPct val="100000"/>
              </a:lnSpc>
              <a:spcBef>
                <a:spcPts val="0"/>
              </a:spcBef>
              <a:spcAft>
                <a:spcPts val="0"/>
              </a:spcAft>
            </a:pPr>
            <a:r>
              <a:rPr sz="1400">
                <a:solidFill>
                  <a:srgbClr val="EAF2F4"/>
                </a:solidFill>
                <a:latin typeface="Consolas"/>
              </a:rPr>
              <a:t>│  ├─ app.config.ts</a:t>
            </a:r>
          </a:p>
          <a:p>
            <a:pPr>
              <a:lnSpc>
                <a:spcPct val="100000"/>
              </a:lnSpc>
              <a:spcBef>
                <a:spcPts val="0"/>
              </a:spcBef>
              <a:spcAft>
                <a:spcPts val="0"/>
              </a:spcAft>
            </a:pPr>
            <a:r>
              <a:rPr sz="1400">
                <a:solidFill>
                  <a:srgbClr val="EAF2F4"/>
                </a:solidFill>
                <a:latin typeface="Consolas"/>
              </a:rPr>
              <a:t>│  ├─ app.routes.ts</a:t>
            </a:r>
          </a:p>
          <a:p>
            <a:pPr>
              <a:lnSpc>
                <a:spcPct val="100000"/>
              </a:lnSpc>
              <a:spcBef>
                <a:spcPts val="0"/>
              </a:spcBef>
              <a:spcAft>
                <a:spcPts val="0"/>
              </a:spcAft>
            </a:pPr>
            <a:r>
              <a:rPr sz="1400">
                <a:solidFill>
                  <a:srgbClr val="EAF2F4"/>
                </a:solidFill>
                <a:latin typeface="Consolas"/>
              </a:rPr>
              <a:t>│  ├─ core/          services, models, guards</a:t>
            </a:r>
          </a:p>
          <a:p>
            <a:pPr>
              <a:lnSpc>
                <a:spcPct val="100000"/>
              </a:lnSpc>
              <a:spcBef>
                <a:spcPts val="0"/>
              </a:spcBef>
              <a:spcAft>
                <a:spcPts val="0"/>
              </a:spcAft>
            </a:pPr>
            <a:r>
              <a:rPr sz="1400">
                <a:solidFill>
                  <a:srgbClr val="EAF2F4"/>
                </a:solidFill>
                <a:latin typeface="Consolas"/>
              </a:rPr>
              <a:t>│  ├─ shared/        composants, pipes, directives</a:t>
            </a:r>
          </a:p>
          <a:p>
            <a:pPr>
              <a:lnSpc>
                <a:spcPct val="100000"/>
              </a:lnSpc>
              <a:spcBef>
                <a:spcPts val="0"/>
              </a:spcBef>
              <a:spcAft>
                <a:spcPts val="0"/>
              </a:spcAft>
            </a:pPr>
            <a:r>
              <a:rPr sz="1400">
                <a:solidFill>
                  <a:srgbClr val="EAF2F4"/>
                </a:solidFill>
                <a:latin typeface="Consolas"/>
              </a:rPr>
              <a:t>│  └─ features/</a:t>
            </a:r>
          </a:p>
          <a:p>
            <a:pPr>
              <a:lnSpc>
                <a:spcPct val="100000"/>
              </a:lnSpc>
              <a:spcBef>
                <a:spcPts val="0"/>
              </a:spcBef>
              <a:spcAft>
                <a:spcPts val="0"/>
              </a:spcAft>
            </a:pPr>
            <a:r>
              <a:rPr sz="1400">
                <a:solidFill>
                  <a:srgbClr val="EAF2F4"/>
                </a:solidFill>
                <a:latin typeface="Consolas"/>
              </a:rPr>
              <a:t>│     ├─ factures/</a:t>
            </a:r>
          </a:p>
          <a:p>
            <a:pPr>
              <a:lnSpc>
                <a:spcPct val="100000"/>
              </a:lnSpc>
              <a:spcBef>
                <a:spcPts val="0"/>
              </a:spcBef>
              <a:spcAft>
                <a:spcPts val="0"/>
              </a:spcAft>
            </a:pPr>
            <a:r>
              <a:rPr sz="1400">
                <a:solidFill>
                  <a:srgbClr val="EAF2F4"/>
                </a:solidFill>
                <a:latin typeface="Consolas"/>
              </a:rPr>
              <a:t>│     ├─ rapprochement/</a:t>
            </a:r>
          </a:p>
          <a:p>
            <a:pPr>
              <a:lnSpc>
                <a:spcPct val="100000"/>
              </a:lnSpc>
              <a:spcBef>
                <a:spcPts val="0"/>
              </a:spcBef>
              <a:spcAft>
                <a:spcPts val="0"/>
              </a:spcAft>
            </a:pPr>
            <a:r>
              <a:rPr sz="1400">
                <a:solidFill>
                  <a:srgbClr val="EAF2F4"/>
                </a:solidFill>
                <a:latin typeface="Consolas"/>
              </a:rPr>
              <a:t>│     └─ dashboard/</a:t>
            </a:r>
          </a:p>
          <a:p>
            <a:pPr>
              <a:lnSpc>
                <a:spcPct val="100000"/>
              </a:lnSpc>
              <a:spcBef>
                <a:spcPts val="0"/>
              </a:spcBef>
              <a:spcAft>
                <a:spcPts val="0"/>
              </a:spcAft>
            </a:pPr>
            <a:r>
              <a:rPr sz="1400">
                <a:solidFill>
                  <a:srgbClr val="EAF2F4"/>
                </a:solidFill>
                <a:latin typeface="Consolas"/>
              </a:rPr>
              <a:t>└─ styles.scss</a:t>
            </a:r>
          </a:p>
        </p:txBody>
      </p:sp>
      <p:sp>
        <p:nvSpPr>
          <p:cNvPr id="27" name="Rounded Rectangle 26"/>
          <p:cNvSpPr/>
          <p:nvPr/>
        </p:nvSpPr>
        <p:spPr>
          <a:xfrm>
            <a:off x="2606040" y="8823960"/>
            <a:ext cx="14584680" cy="868680"/>
          </a:xfrm>
          <a:prstGeom prst="roundRect">
            <a:avLst>
              <a:gd name="adj" fmla="val 8000"/>
            </a:avLst>
          </a:prstGeom>
          <a:solidFill>
            <a:srgbClr val="FFF0F4"/>
          </a:solidFill>
          <a:ln>
            <a:noFill/>
          </a:ln>
          <a:effectLst/>
        </p:spPr>
        <p:txBody>
          <a:bodyPr rtlCol="0" anchor="ctr"/>
          <a:lstStyle/>
          <a:p>
            <a:pPr algn="ctr"/>
          </a:p>
        </p:txBody>
      </p:sp>
      <p:sp>
        <p:nvSpPr>
          <p:cNvPr id="28" name="Rectangle 27"/>
          <p:cNvSpPr/>
          <p:nvPr/>
        </p:nvSpPr>
        <p:spPr>
          <a:xfrm>
            <a:off x="2606040" y="8823960"/>
            <a:ext cx="64008" cy="868680"/>
          </a:xfrm>
          <a:prstGeom prst="rect">
            <a:avLst/>
          </a:prstGeom>
          <a:solidFill>
            <a:srgbClr val="ED1548"/>
          </a:solidFill>
          <a:ln>
            <a:noFill/>
          </a:ln>
          <a:effectLst/>
        </p:spPr>
        <p:txBody>
          <a:bodyPr rtlCol="0" anchor="ctr"/>
          <a:lstStyle/>
          <a:p>
            <a:pPr algn="ctr"/>
          </a:p>
        </p:txBody>
      </p:sp>
      <p:sp>
        <p:nvSpPr>
          <p:cNvPr id="29" name="TextBox 28"/>
          <p:cNvSpPr txBox="1"/>
          <p:nvPr/>
        </p:nvSpPr>
        <p:spPr>
          <a:xfrm>
            <a:off x="2898648" y="8988552"/>
            <a:ext cx="14081759"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RÈGLE D'OR</a:t>
            </a:r>
          </a:p>
        </p:txBody>
      </p:sp>
      <p:sp>
        <p:nvSpPr>
          <p:cNvPr id="30" name="TextBox 29"/>
          <p:cNvSpPr txBox="1"/>
          <p:nvPr/>
        </p:nvSpPr>
        <p:spPr>
          <a:xfrm>
            <a:off x="2898648" y="9281160"/>
            <a:ext cx="14036040" cy="301751"/>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Une feature ne dépend pas d'une autre feature : tout ce qui est partagé descend dans </a:t>
            </a:r>
            <a:r>
              <a:rPr sz="1260" b="0" i="0">
                <a:solidFill>
                  <a:srgbClr val="ED1548"/>
                </a:solidFill>
                <a:latin typeface="Consolas"/>
              </a:rPr>
              <a:t>shared/</a:t>
            </a:r>
            <a:r>
              <a:rPr b="0" sz="1400" i="0">
                <a:solidFill>
                  <a:srgbClr val="1B3B47"/>
                </a:solidFill>
                <a:latin typeface="Arial"/>
              </a:rPr>
              <a:t> ou </a:t>
            </a:r>
            <a:r>
              <a:rPr sz="1260" b="0" i="0">
                <a:solidFill>
                  <a:srgbClr val="ED1548"/>
                </a:solidFill>
                <a:latin typeface="Consolas"/>
              </a:rPr>
              <a:t>core/</a:t>
            </a:r>
            <a:r>
              <a:rPr b="0" sz="1400" i="0">
                <a:solidFill>
                  <a:srgbClr val="1B3B47"/>
                </a:solidFill>
                <a:latin typeface="Arial"/>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1  ·  TP 1</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Initialiser le projet</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Objectif : un écran qui affiche le nom du projet, un backend qui répond.</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12 / 62</a:t>
            </a:r>
          </a:p>
        </p:txBody>
      </p:sp>
      <p:sp>
        <p:nvSpPr>
          <p:cNvPr id="9" name="Oval 8"/>
          <p:cNvSpPr/>
          <p:nvPr/>
        </p:nvSpPr>
        <p:spPr>
          <a:xfrm>
            <a:off x="2606040" y="3081528"/>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1</a:t>
            </a:r>
          </a:p>
        </p:txBody>
      </p:sp>
      <p:sp>
        <p:nvSpPr>
          <p:cNvPr id="10" name="TextBox 9"/>
          <p:cNvSpPr txBox="1"/>
          <p:nvPr/>
        </p:nvSpPr>
        <p:spPr>
          <a:xfrm>
            <a:off x="3108960" y="3081528"/>
            <a:ext cx="8092440" cy="766789"/>
          </a:xfrm>
          <a:prstGeom prst="rect">
            <a:avLst/>
          </a:prstGeom>
          <a:noFill/>
        </p:spPr>
        <p:txBody>
          <a:bodyPr wrap="square" lIns="0" rIns="0" tIns="0" bIns="0" anchor="t">
            <a:noAutofit/>
          </a:bodyPr>
          <a:lstStyle/>
          <a:p>
            <a:pPr algn="l">
              <a:lnSpc>
                <a:spcPct val="106000"/>
              </a:lnSpc>
              <a:spcBef>
                <a:spcPts val="0"/>
              </a:spcBef>
              <a:spcAft>
                <a:spcPts val="0"/>
              </a:spcAft>
            </a:pPr>
            <a:r>
              <a:rPr sz="1530" b="0" i="0">
                <a:solidFill>
                  <a:srgbClr val="ED1548"/>
                </a:solidFill>
                <a:latin typeface="Consolas"/>
              </a:rPr>
              <a:t>ng new rapprochement --style=scss</a:t>
            </a:r>
            <a:r>
              <a:rPr b="0" sz="1700" i="0">
                <a:solidFill>
                  <a:srgbClr val="1B3B47"/>
                </a:solidFill>
                <a:latin typeface="Arial"/>
              </a:rPr>
              <a:t> (pas de SSR) puis ouvrir dans VS Code.</a:t>
            </a:r>
          </a:p>
        </p:txBody>
      </p:sp>
      <p:sp>
        <p:nvSpPr>
          <p:cNvPr id="11" name="Oval 10"/>
          <p:cNvSpPr/>
          <p:nvPr/>
        </p:nvSpPr>
        <p:spPr>
          <a:xfrm>
            <a:off x="2606040" y="3994621"/>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2</a:t>
            </a:r>
          </a:p>
        </p:txBody>
      </p:sp>
      <p:sp>
        <p:nvSpPr>
          <p:cNvPr id="12" name="TextBox 11"/>
          <p:cNvSpPr txBox="1"/>
          <p:nvPr/>
        </p:nvSpPr>
        <p:spPr>
          <a:xfrm>
            <a:off x="3108960" y="3994621"/>
            <a:ext cx="8092440" cy="766789"/>
          </a:xfrm>
          <a:prstGeom prst="rect">
            <a:avLst/>
          </a:prstGeom>
          <a:noFill/>
        </p:spPr>
        <p:txBody>
          <a:bodyPr wrap="square" lIns="0" rIns="0" tIns="0" bIns="0" anchor="t">
            <a:noAutofit/>
          </a:bodyPr>
          <a:lstStyle/>
          <a:p>
            <a:pPr algn="l">
              <a:lnSpc>
                <a:spcPct val="106000"/>
              </a:lnSpc>
              <a:spcBef>
                <a:spcPts val="0"/>
              </a:spcBef>
              <a:spcAft>
                <a:spcPts val="0"/>
              </a:spcAft>
            </a:pPr>
            <a:r>
              <a:rPr sz="1530" b="0" i="0">
                <a:solidFill>
                  <a:srgbClr val="ED1548"/>
                </a:solidFill>
                <a:latin typeface="Consolas"/>
              </a:rPr>
              <a:t>ng serve</a:t>
            </a:r>
            <a:r>
              <a:rPr b="0" sz="1700" i="0">
                <a:solidFill>
                  <a:srgbClr val="1B3B47"/>
                </a:solidFill>
                <a:latin typeface="Arial"/>
              </a:rPr>
              <a:t> : repérer </a:t>
            </a:r>
            <a:r>
              <a:rPr sz="1530" b="0" i="0">
                <a:solidFill>
                  <a:srgbClr val="ED1548"/>
                </a:solidFill>
                <a:latin typeface="Consolas"/>
              </a:rPr>
              <a:t>main.ts</a:t>
            </a:r>
            <a:r>
              <a:rPr b="0" sz="1700" i="0">
                <a:solidFill>
                  <a:srgbClr val="1B3B47"/>
                </a:solidFill>
                <a:latin typeface="Arial"/>
              </a:rPr>
              <a:t>, </a:t>
            </a:r>
            <a:r>
              <a:rPr sz="1530" b="0" i="0">
                <a:solidFill>
                  <a:srgbClr val="ED1548"/>
                </a:solidFill>
                <a:latin typeface="Consolas"/>
              </a:rPr>
              <a:t>app.config.ts</a:t>
            </a:r>
            <a:r>
              <a:rPr b="0" sz="1700" i="0">
                <a:solidFill>
                  <a:srgbClr val="1B3B47"/>
                </a:solidFill>
                <a:latin typeface="Arial"/>
              </a:rPr>
              <a:t>, </a:t>
            </a:r>
            <a:r>
              <a:rPr sz="1530" b="0" i="0">
                <a:solidFill>
                  <a:srgbClr val="ED1548"/>
                </a:solidFill>
                <a:latin typeface="Consolas"/>
              </a:rPr>
              <a:t>app.routes.ts</a:t>
            </a:r>
            <a:r>
              <a:rPr b="0" sz="1700" i="0">
                <a:solidFill>
                  <a:srgbClr val="1B3B47"/>
                </a:solidFill>
                <a:latin typeface="Arial"/>
              </a:rPr>
              <a:t>.</a:t>
            </a:r>
          </a:p>
        </p:txBody>
      </p:sp>
      <p:sp>
        <p:nvSpPr>
          <p:cNvPr id="13" name="Oval 12"/>
          <p:cNvSpPr/>
          <p:nvPr/>
        </p:nvSpPr>
        <p:spPr>
          <a:xfrm>
            <a:off x="2606040" y="4907715"/>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3</a:t>
            </a:r>
          </a:p>
        </p:txBody>
      </p:sp>
      <p:sp>
        <p:nvSpPr>
          <p:cNvPr id="14" name="TextBox 13"/>
          <p:cNvSpPr txBox="1"/>
          <p:nvPr/>
        </p:nvSpPr>
        <p:spPr>
          <a:xfrm>
            <a:off x="3108960" y="4907715"/>
            <a:ext cx="8092440" cy="766789"/>
          </a:xfrm>
          <a:prstGeom prst="rect">
            <a:avLst/>
          </a:prstGeom>
          <a:noFill/>
        </p:spPr>
        <p:txBody>
          <a:bodyPr wrap="square" lIns="0" rIns="0" tIns="0" bIns="0" anchor="t">
            <a:noAutofit/>
          </a:bodyPr>
          <a:lstStyle/>
          <a:p>
            <a:pPr algn="l">
              <a:lnSpc>
                <a:spcPct val="106000"/>
              </a:lnSpc>
              <a:spcBef>
                <a:spcPts val="0"/>
              </a:spcBef>
              <a:spcAft>
                <a:spcPts val="0"/>
              </a:spcAft>
            </a:pPr>
            <a:r>
              <a:rPr sz="1530" b="0" i="0">
                <a:solidFill>
                  <a:srgbClr val="ED1548"/>
                </a:solidFill>
                <a:latin typeface="Consolas"/>
              </a:rPr>
              <a:t>ng test</a:t>
            </a:r>
            <a:r>
              <a:rPr b="0" sz="1700" i="0">
                <a:solidFill>
                  <a:srgbClr val="1B3B47"/>
                </a:solidFill>
                <a:latin typeface="Arial"/>
              </a:rPr>
              <a:t> : constater la spec générée et le builder Vitest.</a:t>
            </a:r>
          </a:p>
        </p:txBody>
      </p:sp>
      <p:sp>
        <p:nvSpPr>
          <p:cNvPr id="15" name="Oval 14"/>
          <p:cNvSpPr/>
          <p:nvPr/>
        </p:nvSpPr>
        <p:spPr>
          <a:xfrm>
            <a:off x="2606040" y="5820809"/>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4</a:t>
            </a:r>
          </a:p>
        </p:txBody>
      </p:sp>
      <p:sp>
        <p:nvSpPr>
          <p:cNvPr id="16" name="TextBox 15"/>
          <p:cNvSpPr txBox="1"/>
          <p:nvPr/>
        </p:nvSpPr>
        <p:spPr>
          <a:xfrm>
            <a:off x="3108960" y="5820809"/>
            <a:ext cx="8092440" cy="766789"/>
          </a:xfrm>
          <a:prstGeom prst="rect">
            <a:avLst/>
          </a:prstGeom>
          <a:noFill/>
        </p:spPr>
        <p:txBody>
          <a:bodyPr wrap="square" lIns="0" rIns="0" tIns="0" bIns="0" anchor="t">
            <a:noAutofit/>
          </a:bodyPr>
          <a:lstStyle/>
          <a:p>
            <a:pPr algn="l">
              <a:lnSpc>
                <a:spcPct val="106000"/>
              </a:lnSpc>
              <a:spcBef>
                <a:spcPts val="0"/>
              </a:spcBef>
              <a:spcAft>
                <a:spcPts val="0"/>
              </a:spcAft>
            </a:pPr>
            <a:r>
              <a:rPr b="0" sz="1700" i="0">
                <a:solidFill>
                  <a:srgbClr val="1B3B47"/>
                </a:solidFill>
                <a:latin typeface="Arial"/>
              </a:rPr>
              <a:t>Nettoyer le template racine, garder </a:t>
            </a:r>
            <a:r>
              <a:rPr sz="1530" b="0" i="0">
                <a:solidFill>
                  <a:srgbClr val="ED1548"/>
                </a:solidFill>
                <a:latin typeface="Consolas"/>
              </a:rPr>
              <a:t>&lt;h1&gt;Rapprochement de factures&lt;/h1&gt;</a:t>
            </a:r>
            <a:r>
              <a:rPr b="0" sz="1700" i="0">
                <a:solidFill>
                  <a:srgbClr val="1B3B47"/>
                </a:solidFill>
                <a:latin typeface="Arial"/>
              </a:rPr>
              <a:t>.</a:t>
            </a:r>
          </a:p>
        </p:txBody>
      </p:sp>
      <p:sp>
        <p:nvSpPr>
          <p:cNvPr id="17" name="Oval 16"/>
          <p:cNvSpPr/>
          <p:nvPr/>
        </p:nvSpPr>
        <p:spPr>
          <a:xfrm>
            <a:off x="2606040" y="6733902"/>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5</a:t>
            </a:r>
          </a:p>
        </p:txBody>
      </p:sp>
      <p:sp>
        <p:nvSpPr>
          <p:cNvPr id="18" name="TextBox 17"/>
          <p:cNvSpPr txBox="1"/>
          <p:nvPr/>
        </p:nvSpPr>
        <p:spPr>
          <a:xfrm>
            <a:off x="3108960" y="6733902"/>
            <a:ext cx="8092440" cy="766789"/>
          </a:xfrm>
          <a:prstGeom prst="rect">
            <a:avLst/>
          </a:prstGeom>
          <a:noFill/>
        </p:spPr>
        <p:txBody>
          <a:bodyPr wrap="square" lIns="0" rIns="0" tIns="0" bIns="0" anchor="t">
            <a:noAutofit/>
          </a:bodyPr>
          <a:lstStyle/>
          <a:p>
            <a:pPr algn="l">
              <a:lnSpc>
                <a:spcPct val="106000"/>
              </a:lnSpc>
              <a:spcBef>
                <a:spcPts val="0"/>
              </a:spcBef>
              <a:spcAft>
                <a:spcPts val="0"/>
              </a:spcAft>
            </a:pPr>
            <a:r>
              <a:rPr b="0" sz="1700" i="0">
                <a:solidFill>
                  <a:srgbClr val="1B3B47"/>
                </a:solidFill>
                <a:latin typeface="Arial"/>
              </a:rPr>
              <a:t>Créer </a:t>
            </a:r>
            <a:r>
              <a:rPr sz="1530" b="0" i="0">
                <a:solidFill>
                  <a:srgbClr val="ED1548"/>
                </a:solidFill>
                <a:latin typeface="Consolas"/>
              </a:rPr>
              <a:t>core/</a:t>
            </a:r>
            <a:r>
              <a:rPr b="0" sz="1700" i="0">
                <a:solidFill>
                  <a:srgbClr val="1B3B47"/>
                </a:solidFill>
                <a:latin typeface="Arial"/>
              </a:rPr>
              <a:t>, </a:t>
            </a:r>
            <a:r>
              <a:rPr sz="1530" b="0" i="0">
                <a:solidFill>
                  <a:srgbClr val="ED1548"/>
                </a:solidFill>
                <a:latin typeface="Consolas"/>
              </a:rPr>
              <a:t>shared/</a:t>
            </a:r>
            <a:r>
              <a:rPr b="0" sz="1700" i="0">
                <a:solidFill>
                  <a:srgbClr val="1B3B47"/>
                </a:solidFill>
                <a:latin typeface="Arial"/>
              </a:rPr>
              <a:t>, </a:t>
            </a:r>
            <a:r>
              <a:rPr sz="1530" b="0" i="0">
                <a:solidFill>
                  <a:srgbClr val="ED1548"/>
                </a:solidFill>
                <a:latin typeface="Consolas"/>
              </a:rPr>
              <a:t>features/factures/</a:t>
            </a:r>
            <a:r>
              <a:rPr b="0" sz="1700" i="0">
                <a:solidFill>
                  <a:srgbClr val="1B3B47"/>
                </a:solidFill>
                <a:latin typeface="Arial"/>
              </a:rPr>
              <a:t>.</a:t>
            </a:r>
          </a:p>
        </p:txBody>
      </p:sp>
      <p:sp>
        <p:nvSpPr>
          <p:cNvPr id="19" name="Oval 18"/>
          <p:cNvSpPr/>
          <p:nvPr/>
        </p:nvSpPr>
        <p:spPr>
          <a:xfrm>
            <a:off x="2606040" y="7646996"/>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6</a:t>
            </a:r>
          </a:p>
        </p:txBody>
      </p:sp>
      <p:sp>
        <p:nvSpPr>
          <p:cNvPr id="20" name="TextBox 19"/>
          <p:cNvSpPr txBox="1"/>
          <p:nvPr/>
        </p:nvSpPr>
        <p:spPr>
          <a:xfrm>
            <a:off x="3108960" y="7646996"/>
            <a:ext cx="8092440" cy="766789"/>
          </a:xfrm>
          <a:prstGeom prst="rect">
            <a:avLst/>
          </a:prstGeom>
          <a:noFill/>
        </p:spPr>
        <p:txBody>
          <a:bodyPr wrap="square" lIns="0" rIns="0" tIns="0" bIns="0" anchor="t">
            <a:noAutofit/>
          </a:bodyPr>
          <a:lstStyle/>
          <a:p>
            <a:pPr algn="l">
              <a:lnSpc>
                <a:spcPct val="106000"/>
              </a:lnSpc>
              <a:spcBef>
                <a:spcPts val="0"/>
              </a:spcBef>
              <a:spcAft>
                <a:spcPts val="0"/>
              </a:spcAft>
            </a:pPr>
            <a:r>
              <a:rPr sz="1530" b="0" i="0">
                <a:solidFill>
                  <a:srgbClr val="ED1548"/>
                </a:solidFill>
                <a:latin typeface="Consolas"/>
              </a:rPr>
              <a:t>ng g c features/factures/facture-list</a:t>
            </a:r>
            <a:r>
              <a:rPr b="0" sz="1700" i="0">
                <a:solidFill>
                  <a:srgbClr val="1B3B47"/>
                </a:solidFill>
                <a:latin typeface="Arial"/>
              </a:rPr>
              <a:t> puis l'afficher.</a:t>
            </a:r>
          </a:p>
        </p:txBody>
      </p:sp>
      <p:sp>
        <p:nvSpPr>
          <p:cNvPr id="21" name="Oval 20"/>
          <p:cNvSpPr/>
          <p:nvPr/>
        </p:nvSpPr>
        <p:spPr>
          <a:xfrm>
            <a:off x="2606040" y="8560090"/>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7</a:t>
            </a:r>
          </a:p>
        </p:txBody>
      </p:sp>
      <p:sp>
        <p:nvSpPr>
          <p:cNvPr id="22" name="TextBox 21"/>
          <p:cNvSpPr txBox="1"/>
          <p:nvPr/>
        </p:nvSpPr>
        <p:spPr>
          <a:xfrm>
            <a:off x="3108960" y="8560090"/>
            <a:ext cx="8092440" cy="766789"/>
          </a:xfrm>
          <a:prstGeom prst="rect">
            <a:avLst/>
          </a:prstGeom>
          <a:noFill/>
        </p:spPr>
        <p:txBody>
          <a:bodyPr wrap="square" lIns="0" rIns="0" tIns="0" bIns="0" anchor="t">
            <a:noAutofit/>
          </a:bodyPr>
          <a:lstStyle/>
          <a:p>
            <a:pPr algn="l">
              <a:lnSpc>
                <a:spcPct val="106000"/>
              </a:lnSpc>
              <a:spcBef>
                <a:spcPts val="0"/>
              </a:spcBef>
              <a:spcAft>
                <a:spcPts val="0"/>
              </a:spcAft>
            </a:pPr>
            <a:r>
              <a:rPr b="0" sz="1700" i="0">
                <a:solidFill>
                  <a:srgbClr val="1B3B47"/>
                </a:solidFill>
                <a:latin typeface="Arial"/>
              </a:rPr>
              <a:t>Copier </a:t>
            </a:r>
            <a:r>
              <a:rPr sz="1530" b="0" i="0">
                <a:solidFill>
                  <a:srgbClr val="ED1548"/>
                </a:solidFill>
                <a:latin typeface="Consolas"/>
              </a:rPr>
              <a:t>backend/</a:t>
            </a:r>
            <a:r>
              <a:rPr b="0" sz="1700" i="0">
                <a:solidFill>
                  <a:srgbClr val="1B3B47"/>
                </a:solidFill>
                <a:latin typeface="Arial"/>
              </a:rPr>
              <a:t>, lancer </a:t>
            </a:r>
            <a:r>
              <a:rPr sz="1530" b="0" i="0">
                <a:solidFill>
                  <a:srgbClr val="ED1548"/>
                </a:solidFill>
                <a:latin typeface="Consolas"/>
              </a:rPr>
              <a:t>npm install &amp;&amp; npm run api</a:t>
            </a:r>
            <a:r>
              <a:rPr b="0" sz="1700" i="0">
                <a:solidFill>
                  <a:srgbClr val="1B3B47"/>
                </a:solidFill>
                <a:latin typeface="Arial"/>
              </a:rPr>
              <a:t>, commit « init ».</a:t>
            </a:r>
          </a:p>
        </p:txBody>
      </p:sp>
      <p:sp>
        <p:nvSpPr>
          <p:cNvPr id="23" name="Rounded Rectangle 22"/>
          <p:cNvSpPr/>
          <p:nvPr/>
        </p:nvSpPr>
        <p:spPr>
          <a:xfrm>
            <a:off x="11567160" y="3063240"/>
            <a:ext cx="5623560" cy="2194560"/>
          </a:xfrm>
          <a:prstGeom prst="roundRect">
            <a:avLst>
              <a:gd name="adj" fmla="val 8000"/>
            </a:avLst>
          </a:prstGeom>
          <a:solidFill>
            <a:srgbClr val="FFF0F4"/>
          </a:solidFill>
          <a:ln>
            <a:noFill/>
          </a:ln>
          <a:effectLst/>
        </p:spPr>
        <p:txBody>
          <a:bodyPr rtlCol="0" anchor="ctr"/>
          <a:lstStyle/>
          <a:p>
            <a:pPr algn="ctr"/>
          </a:p>
        </p:txBody>
      </p:sp>
      <p:sp>
        <p:nvSpPr>
          <p:cNvPr id="24" name="Rectangle 23"/>
          <p:cNvSpPr/>
          <p:nvPr/>
        </p:nvSpPr>
        <p:spPr>
          <a:xfrm>
            <a:off x="11567160" y="3063240"/>
            <a:ext cx="64008" cy="2194560"/>
          </a:xfrm>
          <a:prstGeom prst="rect">
            <a:avLst/>
          </a:prstGeom>
          <a:solidFill>
            <a:srgbClr val="ED1548"/>
          </a:solidFill>
          <a:ln>
            <a:noFill/>
          </a:ln>
          <a:effectLst/>
        </p:spPr>
        <p:txBody>
          <a:bodyPr rtlCol="0" anchor="ctr"/>
          <a:lstStyle/>
          <a:p>
            <a:pPr algn="ctr"/>
          </a:p>
        </p:txBody>
      </p:sp>
      <p:sp>
        <p:nvSpPr>
          <p:cNvPr id="25" name="TextBox 24"/>
          <p:cNvSpPr txBox="1"/>
          <p:nvPr/>
        </p:nvSpPr>
        <p:spPr>
          <a:xfrm>
            <a:off x="11859768" y="3227832"/>
            <a:ext cx="52578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CRITÈRE DE RÉUSSITE</a:t>
            </a:r>
          </a:p>
        </p:txBody>
      </p:sp>
      <p:sp>
        <p:nvSpPr>
          <p:cNvPr id="26" name="TextBox 25"/>
          <p:cNvSpPr txBox="1"/>
          <p:nvPr/>
        </p:nvSpPr>
        <p:spPr>
          <a:xfrm>
            <a:off x="11859768" y="3520440"/>
            <a:ext cx="5212080" cy="1627631"/>
          </a:xfrm>
          <a:prstGeom prst="rect">
            <a:avLst/>
          </a:prstGeom>
          <a:noFill/>
        </p:spPr>
        <p:txBody>
          <a:bodyPr wrap="square" lIns="0" rIns="0" tIns="0" bIns="0" anchor="t">
            <a:noAutofit/>
          </a:bodyPr>
          <a:lstStyle/>
          <a:p>
            <a:pPr algn="l">
              <a:lnSpc>
                <a:spcPct val="106000"/>
              </a:lnSpc>
              <a:spcBef>
                <a:spcPts val="0"/>
              </a:spcBef>
              <a:spcAft>
                <a:spcPts val="0"/>
              </a:spcAft>
            </a:pPr>
            <a:r>
              <a:rPr b="0" sz="1500" i="0">
                <a:solidFill>
                  <a:srgbClr val="1B3B47"/>
                </a:solidFill>
                <a:latin typeface="Arial"/>
              </a:rPr>
              <a:t>L'écran affiche le titre, </a:t>
            </a:r>
            <a:r>
              <a:rPr sz="1350" b="0" i="0">
                <a:solidFill>
                  <a:srgbClr val="ED1548"/>
                </a:solidFill>
                <a:latin typeface="Consolas"/>
              </a:rPr>
              <a:t>ng test</a:t>
            </a:r>
            <a:r>
              <a:rPr b="0" sz="1500" i="0">
                <a:solidFill>
                  <a:srgbClr val="1B3B47"/>
                </a:solidFill>
                <a:latin typeface="Arial"/>
              </a:rPr>
              <a:t> passe, et </a:t>
            </a:r>
            <a:r>
              <a:rPr sz="1350" b="0" i="0">
                <a:solidFill>
                  <a:srgbClr val="ED1548"/>
                </a:solidFill>
                <a:latin typeface="Consolas"/>
              </a:rPr>
              <a:t>http://localhost:3000/factures</a:t>
            </a:r>
            <a:r>
              <a:rPr b="0" sz="1500" i="0">
                <a:solidFill>
                  <a:srgbClr val="1B3B47"/>
                </a:solidFill>
                <a:latin typeface="Arial"/>
              </a:rPr>
              <a:t> renvoie du JSON.</a:t>
            </a:r>
          </a:p>
        </p:txBody>
      </p:sp>
      <p:sp>
        <p:nvSpPr>
          <p:cNvPr id="27" name="Rounded Rectangle 26"/>
          <p:cNvSpPr/>
          <p:nvPr/>
        </p:nvSpPr>
        <p:spPr>
          <a:xfrm>
            <a:off x="11567160" y="5486400"/>
            <a:ext cx="5623560" cy="196596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28" name="Oval 27"/>
          <p:cNvSpPr/>
          <p:nvPr/>
        </p:nvSpPr>
        <p:spPr>
          <a:xfrm>
            <a:off x="11786616" y="5660136"/>
            <a:ext cx="82296" cy="82296"/>
          </a:xfrm>
          <a:prstGeom prst="ellipse">
            <a:avLst/>
          </a:prstGeom>
          <a:solidFill>
            <a:srgbClr val="ED1548"/>
          </a:solidFill>
          <a:ln>
            <a:noFill/>
          </a:ln>
          <a:effectLst/>
        </p:spPr>
        <p:txBody>
          <a:bodyPr rtlCol="0" anchor="ctr"/>
          <a:lstStyle/>
          <a:p>
            <a:pPr algn="ctr"/>
          </a:p>
        </p:txBody>
      </p:sp>
      <p:sp>
        <p:nvSpPr>
          <p:cNvPr id="29" name="TextBox 28"/>
          <p:cNvSpPr txBox="1"/>
          <p:nvPr/>
        </p:nvSpPr>
        <p:spPr>
          <a:xfrm>
            <a:off x="11951208" y="5596128"/>
            <a:ext cx="512064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commandes</a:t>
            </a:r>
          </a:p>
        </p:txBody>
      </p:sp>
      <p:sp>
        <p:nvSpPr>
          <p:cNvPr id="30" name="TextBox 29"/>
          <p:cNvSpPr txBox="1"/>
          <p:nvPr/>
        </p:nvSpPr>
        <p:spPr>
          <a:xfrm>
            <a:off x="11814048" y="5961888"/>
            <a:ext cx="5303520" cy="1325880"/>
          </a:xfrm>
          <a:prstGeom prst="rect">
            <a:avLst/>
          </a:prstGeom>
          <a:noFill/>
        </p:spPr>
        <p:txBody>
          <a:bodyPr wrap="none" lIns="0" rIns="0" tIns="0" bIns="0">
            <a:noAutofit/>
          </a:bodyPr>
          <a:lstStyle/>
          <a:p>
            <a:pPr>
              <a:lnSpc>
                <a:spcPct val="100000"/>
              </a:lnSpc>
              <a:spcBef>
                <a:spcPts val="0"/>
              </a:spcBef>
              <a:spcAft>
                <a:spcPts val="0"/>
              </a:spcAft>
            </a:pPr>
            <a:r>
              <a:rPr sz="1250">
                <a:solidFill>
                  <a:srgbClr val="EAF2F4"/>
                </a:solidFill>
                <a:latin typeface="Consolas"/>
              </a:rPr>
              <a:t>ng </a:t>
            </a:r>
            <a:r>
              <a:rPr sz="1250">
                <a:solidFill>
                  <a:srgbClr val="7FD1E0"/>
                </a:solidFill>
                <a:latin typeface="Consolas"/>
              </a:rPr>
              <a:t>new</a:t>
            </a:r>
            <a:r>
              <a:rPr sz="1250">
                <a:solidFill>
                  <a:srgbClr val="EAF2F4"/>
                </a:solidFill>
                <a:latin typeface="Consolas"/>
              </a:rPr>
              <a:t> rapprochement --style=scss</a:t>
            </a:r>
          </a:p>
          <a:p>
            <a:pPr>
              <a:lnSpc>
                <a:spcPct val="100000"/>
              </a:lnSpc>
              <a:spcBef>
                <a:spcPts val="0"/>
              </a:spcBef>
              <a:spcAft>
                <a:spcPts val="0"/>
              </a:spcAft>
            </a:pPr>
            <a:r>
              <a:rPr sz="1250">
                <a:solidFill>
                  <a:srgbClr val="EAF2F4"/>
                </a:solidFill>
                <a:latin typeface="Consolas"/>
              </a:rPr>
              <a:t>cd rapprochement &amp;&amp; ng serve</a:t>
            </a:r>
          </a:p>
          <a:p>
            <a:pPr>
              <a:lnSpc>
                <a:spcPct val="100000"/>
              </a:lnSpc>
              <a:spcBef>
                <a:spcPts val="0"/>
              </a:spcBef>
              <a:spcAft>
                <a:spcPts val="0"/>
              </a:spcAft>
            </a:pPr>
            <a:r>
              <a:rPr sz="1250">
                <a:solidFill>
                  <a:srgbClr val="EAF2F4"/>
                </a:solidFill>
                <a:latin typeface="Consolas"/>
              </a:rPr>
              <a:t>cd backend &amp;&amp; npm install &amp;&amp; npm run api</a:t>
            </a:r>
          </a:p>
        </p:txBody>
      </p:sp>
      <p:sp>
        <p:nvSpPr>
          <p:cNvPr id="31" name="Rounded Rectangle 30"/>
          <p:cNvSpPr/>
          <p:nvPr/>
        </p:nvSpPr>
        <p:spPr>
          <a:xfrm>
            <a:off x="11567160" y="7680960"/>
            <a:ext cx="5623560" cy="1554480"/>
          </a:xfrm>
          <a:prstGeom prst="roundRect">
            <a:avLst>
              <a:gd name="adj" fmla="val 8000"/>
            </a:avLst>
          </a:prstGeom>
          <a:solidFill>
            <a:srgbClr val="EBF6F8"/>
          </a:solidFill>
          <a:ln>
            <a:noFill/>
          </a:ln>
          <a:effectLst/>
        </p:spPr>
        <p:txBody>
          <a:bodyPr rtlCol="0" anchor="ctr"/>
          <a:lstStyle/>
          <a:p>
            <a:pPr algn="ctr"/>
          </a:p>
        </p:txBody>
      </p:sp>
      <p:sp>
        <p:nvSpPr>
          <p:cNvPr id="32" name="Rectangle 31"/>
          <p:cNvSpPr/>
          <p:nvPr/>
        </p:nvSpPr>
        <p:spPr>
          <a:xfrm>
            <a:off x="11567160" y="7680960"/>
            <a:ext cx="64008" cy="1554480"/>
          </a:xfrm>
          <a:prstGeom prst="rect">
            <a:avLst/>
          </a:prstGeom>
          <a:solidFill>
            <a:srgbClr val="0B4F6C"/>
          </a:solidFill>
          <a:ln>
            <a:noFill/>
          </a:ln>
          <a:effectLst/>
        </p:spPr>
        <p:txBody>
          <a:bodyPr rtlCol="0" anchor="ctr"/>
          <a:lstStyle/>
          <a:p>
            <a:pPr algn="ctr"/>
          </a:p>
        </p:txBody>
      </p:sp>
      <p:sp>
        <p:nvSpPr>
          <p:cNvPr id="33" name="TextBox 32"/>
          <p:cNvSpPr txBox="1"/>
          <p:nvPr/>
        </p:nvSpPr>
        <p:spPr>
          <a:xfrm>
            <a:off x="11859768" y="7845552"/>
            <a:ext cx="52578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ASTUCE</a:t>
            </a:r>
          </a:p>
        </p:txBody>
      </p:sp>
      <p:sp>
        <p:nvSpPr>
          <p:cNvPr id="34" name="TextBox 33"/>
          <p:cNvSpPr txBox="1"/>
          <p:nvPr/>
        </p:nvSpPr>
        <p:spPr>
          <a:xfrm>
            <a:off x="11859768" y="8138160"/>
            <a:ext cx="5212080" cy="987552"/>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Zoneless et OnPush sont déjà actifs : ne les ajoutez pas à la main. Le projet doit rester léger.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1  ·  COMPOSANTS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Un composant standalone déclare ses dépendances</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Une classe, un template, des styles : le tout réuni par un décorateur.</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13 / 62</a:t>
            </a:r>
          </a:p>
        </p:txBody>
      </p:sp>
      <p:sp>
        <p:nvSpPr>
          <p:cNvPr id="9" name="TextBox 8"/>
          <p:cNvSpPr txBox="1"/>
          <p:nvPr/>
        </p:nvSpPr>
        <p:spPr>
          <a:xfrm>
            <a:off x="2606040" y="3063240"/>
            <a:ext cx="6629400" cy="2286000"/>
          </a:xfrm>
          <a:prstGeom prst="rect">
            <a:avLst/>
          </a:prstGeom>
          <a:noFill/>
        </p:spPr>
        <p:txBody>
          <a:bodyPr wrap="square" lIns="0" rIns="0" tIns="0" bIns="0">
            <a:noAutofit/>
          </a:bodyPr>
          <a:lstStyle/>
          <a:p>
            <a:pPr marL="274320" indent="-274320">
              <a:lnSpc>
                <a:spcPct val="102000"/>
              </a:lnSpc>
              <a:spcBef>
                <a:spcPts val="0"/>
              </a:spcBef>
              <a:spcAft>
                <a:spcPts val="576"/>
              </a:spcAft>
              <a:buClr>
                <a:srgbClr val="ED1548"/>
              </a:buClr>
              <a:buFont typeface="Arial"/>
              <a:buChar char="•"/>
            </a:pPr>
            <a:r>
              <a:rPr sz="1440" b="0" i="0">
                <a:solidFill>
                  <a:srgbClr val="ED1548"/>
                </a:solidFill>
                <a:latin typeface="Consolas"/>
              </a:rPr>
              <a:t>selector</a:t>
            </a:r>
            <a:r>
              <a:rPr b="0" sz="1600" i="0">
                <a:solidFill>
                  <a:srgbClr val="093544"/>
                </a:solidFill>
                <a:latin typeface="Arial"/>
              </a:rPr>
              <a:t> : le nom de la balise HTML.</a:t>
            </a:r>
          </a:p>
          <a:p>
            <a:pPr marL="274320" indent="-274320">
              <a:lnSpc>
                <a:spcPct val="102000"/>
              </a:lnSpc>
              <a:spcBef>
                <a:spcPts val="0"/>
              </a:spcBef>
              <a:spcAft>
                <a:spcPts val="576"/>
              </a:spcAft>
              <a:buClr>
                <a:srgbClr val="ED1548"/>
              </a:buClr>
              <a:buFont typeface="Arial"/>
              <a:buChar char="•"/>
            </a:pPr>
            <a:r>
              <a:rPr sz="1440" b="0" i="0">
                <a:solidFill>
                  <a:srgbClr val="ED1548"/>
                </a:solidFill>
                <a:latin typeface="Consolas"/>
              </a:rPr>
              <a:t>imports</a:t>
            </a:r>
            <a:r>
              <a:rPr b="0" sz="1600" i="0">
                <a:solidFill>
                  <a:srgbClr val="093544"/>
                </a:solidFill>
                <a:latin typeface="Arial"/>
              </a:rPr>
              <a:t> : pipes, directives et composants utilisés.</a:t>
            </a:r>
          </a:p>
          <a:p>
            <a:pPr marL="274320" indent="-274320">
              <a:lnSpc>
                <a:spcPct val="102000"/>
              </a:lnSpc>
              <a:spcBef>
                <a:spcPts val="0"/>
              </a:spcBef>
              <a:spcAft>
                <a:spcPts val="576"/>
              </a:spcAft>
              <a:buClr>
                <a:srgbClr val="ED1548"/>
              </a:buClr>
              <a:buFont typeface="Arial"/>
              <a:buChar char="•"/>
            </a:pPr>
            <a:r>
              <a:rPr sz="1440" b="0" i="0">
                <a:solidFill>
                  <a:srgbClr val="ED1548"/>
                </a:solidFill>
                <a:latin typeface="Consolas"/>
              </a:rPr>
              <a:t>templateUrl</a:t>
            </a:r>
            <a:r>
              <a:rPr b="0" sz="1600" i="0">
                <a:solidFill>
                  <a:srgbClr val="093544"/>
                </a:solidFill>
                <a:latin typeface="Arial"/>
              </a:rPr>
              <a:t> / </a:t>
            </a:r>
            <a:r>
              <a:rPr sz="1440" b="0" i="0">
                <a:solidFill>
                  <a:srgbClr val="ED1548"/>
                </a:solidFill>
                <a:latin typeface="Consolas"/>
              </a:rPr>
              <a:t>template</a:t>
            </a:r>
            <a:r>
              <a:rPr b="0" sz="1600" i="0">
                <a:solidFill>
                  <a:srgbClr val="093544"/>
                </a:solidFill>
                <a:latin typeface="Arial"/>
              </a:rPr>
              <a:t> : la vue.</a:t>
            </a:r>
          </a:p>
          <a:p>
            <a:pPr marL="274320" indent="-274320">
              <a:lnSpc>
                <a:spcPct val="102000"/>
              </a:lnSpc>
              <a:spcBef>
                <a:spcPts val="0"/>
              </a:spcBef>
              <a:spcAft>
                <a:spcPts val="576"/>
              </a:spcAft>
              <a:buClr>
                <a:srgbClr val="ED1548"/>
              </a:buClr>
              <a:buFont typeface="Arial"/>
              <a:buChar char="•"/>
            </a:pPr>
            <a:r>
              <a:rPr sz="1440" b="0" i="0">
                <a:solidFill>
                  <a:srgbClr val="ED1548"/>
                </a:solidFill>
                <a:latin typeface="Consolas"/>
              </a:rPr>
              <a:t>input()</a:t>
            </a:r>
            <a:r>
              <a:rPr b="0" sz="1600" i="0">
                <a:solidFill>
                  <a:srgbClr val="093544"/>
                </a:solidFill>
                <a:latin typeface="Arial"/>
              </a:rPr>
              <a:t> / </a:t>
            </a:r>
            <a:r>
              <a:rPr sz="1440" b="0" i="0">
                <a:solidFill>
                  <a:srgbClr val="ED1548"/>
                </a:solidFill>
                <a:latin typeface="Consolas"/>
              </a:rPr>
              <a:t>output()</a:t>
            </a:r>
            <a:r>
              <a:rPr b="0" sz="1600" i="0">
                <a:solidFill>
                  <a:srgbClr val="093544"/>
                </a:solidFill>
                <a:latin typeface="Arial"/>
              </a:rPr>
              <a:t> : l'interface du composant.</a:t>
            </a:r>
          </a:p>
        </p:txBody>
      </p:sp>
      <p:graphicFrame>
        <p:nvGraphicFramePr>
          <p:cNvPr id="10" name="Table 9"/>
          <p:cNvGraphicFramePr>
            <a:graphicFrameLocks noGrp="1"/>
          </p:cNvGraphicFramePr>
          <p:nvPr/>
        </p:nvGraphicFramePr>
        <p:xfrm>
          <a:off x="2606040" y="5669280"/>
          <a:ext cx="6629400" cy="3246120"/>
        </p:xfrm>
        <a:graphic>
          <a:graphicData uri="http://schemas.openxmlformats.org/drawingml/2006/table">
            <a:tbl>
              <a:tblPr>
                <a:tableStyleId>{5C22544A-7EE6-4342-B048-85BDC9FD1C3A}</a:tableStyleId>
              </a:tblPr>
              <a:tblGrid>
                <a:gridCol w="2834640"/>
                <a:gridCol w="3794760"/>
              </a:tblGrid>
              <a:tr h="411480">
                <a:tc>
                  <a:txBody>
                    <a:bodyPr wrap="square"/>
                    <a:lstStyle/>
                    <a:p>
                      <a:pPr algn="l">
                        <a:lnSpc>
                          <a:spcPct val="100000"/>
                        </a:lnSpc>
                      </a:pPr>
                      <a:r>
                        <a:rPr b="1" sz="1300" i="0">
                          <a:solidFill>
                            <a:srgbClr val="FFFFFF"/>
                          </a:solidFill>
                          <a:latin typeface="Arial"/>
                        </a:rPr>
                        <a:t>Syntaxe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300" i="0">
                          <a:solidFill>
                            <a:srgbClr val="FFFFFF"/>
                          </a:solidFill>
                          <a:latin typeface="Arial"/>
                        </a:rPr>
                        <a:t>Rôle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r>
              <a:tr h="566928">
                <a:tc>
                  <a:txBody>
                    <a:bodyPr wrap="square"/>
                    <a:lstStyle/>
                    <a:p>
                      <a:pPr algn="l">
                        <a:lnSpc>
                          <a:spcPct val="100000"/>
                        </a:lnSpc>
                      </a:pPr>
                      <a:r>
                        <a:rPr sz="1260" b="0" i="0">
                          <a:solidFill>
                            <a:srgbClr val="ED1548"/>
                          </a:solidFill>
                          <a:latin typeface="Consolas"/>
                        </a:rPr>
                        <a:t>{{ valeur }}</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400" i="0">
                          <a:solidFill>
                            <a:srgbClr val="1B3B47"/>
                          </a:solidFill>
                          <a:latin typeface="Arial"/>
                        </a:rPr>
                        <a:t>Interpolation (texte)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566928">
                <a:tc>
                  <a:txBody>
                    <a:bodyPr wrap="square"/>
                    <a:lstStyle/>
                    <a:p>
                      <a:pPr algn="l">
                        <a:lnSpc>
                          <a:spcPct val="100000"/>
                        </a:lnSpc>
                      </a:pPr>
                      <a:r>
                        <a:rPr sz="1260" b="0" i="0">
                          <a:solidFill>
                            <a:srgbClr val="ED1548"/>
                          </a:solidFill>
                          <a:latin typeface="Consolas"/>
                        </a:rPr>
                        <a:t>[prop]="valeur"</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400" i="0">
                          <a:solidFill>
                            <a:srgbClr val="1B3B47"/>
                          </a:solidFill>
                          <a:latin typeface="Arial"/>
                        </a:rPr>
                        <a:t>Property binding (sens unique)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566928">
                <a:tc>
                  <a:txBody>
                    <a:bodyPr wrap="square"/>
                    <a:lstStyle/>
                    <a:p>
                      <a:pPr algn="l">
                        <a:lnSpc>
                          <a:spcPct val="100000"/>
                        </a:lnSpc>
                      </a:pPr>
                      <a:r>
                        <a:rPr sz="1260" b="0" i="0">
                          <a:solidFill>
                            <a:srgbClr val="ED1548"/>
                          </a:solidFill>
                          <a:latin typeface="Consolas"/>
                        </a:rPr>
                        <a:t>(click)="action()"</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400" i="0">
                          <a:solidFill>
                            <a:srgbClr val="1B3B47"/>
                          </a:solidFill>
                          <a:latin typeface="Arial"/>
                        </a:rPr>
                        <a:t>Event binding</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566928">
                <a:tc>
                  <a:txBody>
                    <a:bodyPr wrap="square"/>
                    <a:lstStyle/>
                    <a:p>
                      <a:pPr algn="l">
                        <a:lnSpc>
                          <a:spcPct val="100000"/>
                        </a:lnSpc>
                      </a:pPr>
                      <a:r>
                        <a:rPr sz="1260" b="0" i="0">
                          <a:solidFill>
                            <a:srgbClr val="ED1548"/>
                          </a:solidFill>
                          <a:latin typeface="Consolas"/>
                        </a:rPr>
                        <a:t>[class.actif]="ok"</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400" i="0">
                          <a:solidFill>
                            <a:srgbClr val="1B3B47"/>
                          </a:solidFill>
                          <a:latin typeface="Arial"/>
                        </a:rPr>
                        <a:t>Classe conditionnelle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566928">
                <a:tc>
                  <a:txBody>
                    <a:bodyPr wrap="square"/>
                    <a:lstStyle/>
                    <a:p>
                      <a:pPr algn="l">
                        <a:lnSpc>
                          <a:spcPct val="100000"/>
                        </a:lnSpc>
                      </a:pPr>
                      <a:r>
                        <a:rPr sz="1260" b="0" i="0">
                          <a:solidFill>
                            <a:srgbClr val="ED1548"/>
                          </a:solidFill>
                          <a:latin typeface="Consolas"/>
                        </a:rPr>
                        <a:t>[(ngModel)]</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400" i="0">
                          <a:solidFill>
                            <a:srgbClr val="1B3B47"/>
                          </a:solidFill>
                          <a:latin typeface="Arial"/>
                        </a:rPr>
                        <a:t>Two-way (template-driven)</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bl>
          </a:graphicData>
        </a:graphic>
      </p:graphicFrame>
      <p:sp>
        <p:nvSpPr>
          <p:cNvPr id="11" name="Rounded Rectangle 10"/>
          <p:cNvSpPr/>
          <p:nvPr/>
        </p:nvSpPr>
        <p:spPr>
          <a:xfrm>
            <a:off x="9555480" y="3063240"/>
            <a:ext cx="7635240" cy="379476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2" name="Oval 11"/>
          <p:cNvSpPr/>
          <p:nvPr/>
        </p:nvSpPr>
        <p:spPr>
          <a:xfrm>
            <a:off x="9774936" y="3236976"/>
            <a:ext cx="82296" cy="82296"/>
          </a:xfrm>
          <a:prstGeom prst="ellipse">
            <a:avLst/>
          </a:prstGeom>
          <a:solidFill>
            <a:srgbClr val="ED1548"/>
          </a:solidFill>
          <a:ln>
            <a:noFill/>
          </a:ln>
          <a:effectLst/>
        </p:spPr>
        <p:txBody>
          <a:bodyPr rtlCol="0" anchor="ctr"/>
          <a:lstStyle/>
          <a:p>
            <a:pPr algn="ctr"/>
          </a:p>
        </p:txBody>
      </p:sp>
      <p:sp>
        <p:nvSpPr>
          <p:cNvPr id="13" name="TextBox 12"/>
          <p:cNvSpPr txBox="1"/>
          <p:nvPr/>
        </p:nvSpPr>
        <p:spPr>
          <a:xfrm>
            <a:off x="9939528" y="3172968"/>
            <a:ext cx="713232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facture-list.ts</a:t>
            </a:r>
          </a:p>
        </p:txBody>
      </p:sp>
      <p:sp>
        <p:nvSpPr>
          <p:cNvPr id="14" name="TextBox 13"/>
          <p:cNvSpPr txBox="1"/>
          <p:nvPr/>
        </p:nvSpPr>
        <p:spPr>
          <a:xfrm>
            <a:off x="9802367" y="3538728"/>
            <a:ext cx="7315200" cy="3154680"/>
          </a:xfrm>
          <a:prstGeom prst="rect">
            <a:avLst/>
          </a:prstGeom>
          <a:noFill/>
        </p:spPr>
        <p:txBody>
          <a:bodyPr wrap="none" lIns="0" rIns="0" tIns="0" bIns="0">
            <a:noAutofit/>
          </a:bodyPr>
          <a:lstStyle/>
          <a:p>
            <a:pPr>
              <a:lnSpc>
                <a:spcPct val="100000"/>
              </a:lnSpc>
              <a:spcBef>
                <a:spcPts val="0"/>
              </a:spcBef>
              <a:spcAft>
                <a:spcPts val="0"/>
              </a:spcAft>
            </a:pPr>
            <a:r>
              <a:rPr sz="1450">
                <a:solidFill>
                  <a:srgbClr val="FFD166"/>
                </a:solidFill>
                <a:latin typeface="Consolas"/>
              </a:rPr>
              <a:t>@Component</a:t>
            </a:r>
            <a:r>
              <a:rPr sz="1450">
                <a:solidFill>
                  <a:srgbClr val="EAF2F4"/>
                </a:solidFill>
                <a:latin typeface="Consolas"/>
              </a:rPr>
              <a:t>({</a:t>
            </a:r>
          </a:p>
          <a:p>
            <a:pPr>
              <a:lnSpc>
                <a:spcPct val="100000"/>
              </a:lnSpc>
              <a:spcBef>
                <a:spcPts val="0"/>
              </a:spcBef>
              <a:spcAft>
                <a:spcPts val="0"/>
              </a:spcAft>
            </a:pPr>
            <a:r>
              <a:rPr sz="1450">
                <a:solidFill>
                  <a:srgbClr val="EAF2F4"/>
                </a:solidFill>
                <a:latin typeface="Consolas"/>
              </a:rPr>
              <a:t>  selector: </a:t>
            </a:r>
            <a:r>
              <a:rPr sz="1450">
                <a:solidFill>
                  <a:srgbClr val="FFB3C1"/>
                </a:solidFill>
                <a:latin typeface="Consolas"/>
              </a:rPr>
              <a:t>'app-facture-list'</a:t>
            </a:r>
            <a:r>
              <a:rPr sz="1450">
                <a:solidFill>
                  <a:srgbClr val="EAF2F4"/>
                </a:solidFill>
                <a:latin typeface="Consolas"/>
              </a:rPr>
              <a:t>,</a:t>
            </a:r>
          </a:p>
          <a:p>
            <a:pPr>
              <a:lnSpc>
                <a:spcPct val="100000"/>
              </a:lnSpc>
              <a:spcBef>
                <a:spcPts val="0"/>
              </a:spcBef>
              <a:spcAft>
                <a:spcPts val="0"/>
              </a:spcAft>
            </a:pPr>
            <a:r>
              <a:rPr sz="1450">
                <a:solidFill>
                  <a:srgbClr val="EAF2F4"/>
                </a:solidFill>
                <a:latin typeface="Consolas"/>
              </a:rPr>
              <a:t>  imports: [CurrencyPipe, DatePipe, StatutBadgeDirective],</a:t>
            </a:r>
          </a:p>
          <a:p>
            <a:pPr>
              <a:lnSpc>
                <a:spcPct val="100000"/>
              </a:lnSpc>
              <a:spcBef>
                <a:spcPts val="0"/>
              </a:spcBef>
              <a:spcAft>
                <a:spcPts val="0"/>
              </a:spcAft>
            </a:pPr>
            <a:r>
              <a:rPr sz="1450">
                <a:solidFill>
                  <a:srgbClr val="EAF2F4"/>
                </a:solidFill>
                <a:latin typeface="Consolas"/>
              </a:rPr>
              <a:t>  templateUrl: </a:t>
            </a:r>
            <a:r>
              <a:rPr sz="1450">
                <a:solidFill>
                  <a:srgbClr val="FFB3C1"/>
                </a:solidFill>
                <a:latin typeface="Consolas"/>
              </a:rPr>
              <a:t>'./facture-list.html'</a:t>
            </a:r>
            <a:r>
              <a:rPr sz="1450">
                <a:solidFill>
                  <a:srgbClr val="EAF2F4"/>
                </a:solidFill>
                <a:latin typeface="Consolas"/>
              </a:rPr>
              <a:t>,</a:t>
            </a:r>
          </a:p>
          <a:p>
            <a:pPr>
              <a:lnSpc>
                <a:spcPct val="100000"/>
              </a:lnSpc>
              <a:spcBef>
                <a:spcPts val="0"/>
              </a:spcBef>
              <a:spcAft>
                <a:spcPts val="0"/>
              </a:spcAft>
            </a:pPr>
            <a:r>
              <a:rPr sz="1450">
                <a:solidFill>
                  <a:srgbClr val="EAF2F4"/>
                </a:solidFill>
                <a:latin typeface="Consolas"/>
              </a:rPr>
              <a:t>  styleUrl: </a:t>
            </a:r>
            <a:r>
              <a:rPr sz="1450">
                <a:solidFill>
                  <a:srgbClr val="FFB3C1"/>
                </a:solidFill>
                <a:latin typeface="Consolas"/>
              </a:rPr>
              <a:t>'./facture-list.scss'</a:t>
            </a:r>
            <a:r>
              <a:rPr sz="1450">
                <a:solidFill>
                  <a:srgbClr val="EAF2F4"/>
                </a:solidFill>
                <a:latin typeface="Consolas"/>
              </a:rPr>
              <a:t>,</a:t>
            </a:r>
          </a:p>
          <a:p>
            <a:pPr>
              <a:lnSpc>
                <a:spcPct val="100000"/>
              </a:lnSpc>
              <a:spcBef>
                <a:spcPts val="0"/>
              </a:spcBef>
              <a:spcAft>
                <a:spcPts val="0"/>
              </a:spcAft>
            </a:pPr>
            <a:r>
              <a:rPr sz="1450">
                <a:solidFill>
                  <a:srgbClr val="EAF2F4"/>
                </a:solidFill>
                <a:latin typeface="Consolas"/>
              </a:rPr>
              <a:t>})</a:t>
            </a:r>
          </a:p>
          <a:p>
            <a:pPr>
              <a:lnSpc>
                <a:spcPct val="100000"/>
              </a:lnSpc>
              <a:spcBef>
                <a:spcPts val="0"/>
              </a:spcBef>
              <a:spcAft>
                <a:spcPts val="0"/>
              </a:spcAft>
            </a:pPr>
            <a:r>
              <a:rPr sz="1450">
                <a:solidFill>
                  <a:srgbClr val="7FD1E0"/>
                </a:solidFill>
                <a:latin typeface="Consolas"/>
              </a:rPr>
              <a:t>export</a:t>
            </a:r>
            <a:r>
              <a:rPr sz="1450">
                <a:solidFill>
                  <a:srgbClr val="EAF2F4"/>
                </a:solidFill>
                <a:latin typeface="Consolas"/>
              </a:rPr>
              <a:t> </a:t>
            </a:r>
            <a:r>
              <a:rPr sz="1450">
                <a:solidFill>
                  <a:srgbClr val="7FD1E0"/>
                </a:solidFill>
                <a:latin typeface="Consolas"/>
              </a:rPr>
              <a:t>class</a:t>
            </a:r>
            <a:r>
              <a:rPr sz="1450">
                <a:solidFill>
                  <a:srgbClr val="EAF2F4"/>
                </a:solidFill>
                <a:latin typeface="Consolas"/>
              </a:rPr>
              <a:t> FactureListComponent {</a:t>
            </a:r>
          </a:p>
          <a:p>
            <a:pPr>
              <a:lnSpc>
                <a:spcPct val="100000"/>
              </a:lnSpc>
              <a:spcBef>
                <a:spcPts val="0"/>
              </a:spcBef>
              <a:spcAft>
                <a:spcPts val="0"/>
              </a:spcAft>
            </a:pPr>
            <a:r>
              <a:rPr sz="1450">
                <a:solidFill>
                  <a:srgbClr val="EAF2F4"/>
                </a:solidFill>
                <a:latin typeface="Consolas"/>
              </a:rPr>
              <a:t>  factures = input.required&lt;Facture[]&gt;();</a:t>
            </a:r>
          </a:p>
          <a:p>
            <a:pPr>
              <a:lnSpc>
                <a:spcPct val="100000"/>
              </a:lnSpc>
              <a:spcBef>
                <a:spcPts val="0"/>
              </a:spcBef>
              <a:spcAft>
                <a:spcPts val="0"/>
              </a:spcAft>
            </a:pPr>
            <a:r>
              <a:rPr sz="1450">
                <a:solidFill>
                  <a:srgbClr val="EAF2F4"/>
                </a:solidFill>
                <a:latin typeface="Consolas"/>
              </a:rPr>
              <a:t>  selected = output&lt;Facture&gt;();</a:t>
            </a:r>
          </a:p>
          <a:p>
            <a:pPr>
              <a:lnSpc>
                <a:spcPct val="100000"/>
              </a:lnSpc>
              <a:spcBef>
                <a:spcPts val="0"/>
              </a:spcBef>
              <a:spcAft>
                <a:spcPts val="0"/>
              </a:spcAft>
            </a:pPr>
            <a:r>
              <a:rPr sz="1450">
                <a:solidFill>
                  <a:srgbClr val="EAF2F4"/>
                </a:solidFill>
                <a:latin typeface="Consolas"/>
              </a:rPr>
              <a:t>}</a:t>
            </a:r>
          </a:p>
        </p:txBody>
      </p:sp>
      <p:sp>
        <p:nvSpPr>
          <p:cNvPr id="15" name="Rounded Rectangle 14"/>
          <p:cNvSpPr/>
          <p:nvPr/>
        </p:nvSpPr>
        <p:spPr>
          <a:xfrm>
            <a:off x="9555480" y="7132320"/>
            <a:ext cx="7635240" cy="2103120"/>
          </a:xfrm>
          <a:prstGeom prst="roundRect">
            <a:avLst>
              <a:gd name="adj" fmla="val 8000"/>
            </a:avLst>
          </a:prstGeom>
          <a:solidFill>
            <a:srgbClr val="FFF0F4"/>
          </a:solidFill>
          <a:ln>
            <a:noFill/>
          </a:ln>
          <a:effectLst/>
        </p:spPr>
        <p:txBody>
          <a:bodyPr rtlCol="0" anchor="ctr"/>
          <a:lstStyle/>
          <a:p>
            <a:pPr algn="ctr"/>
          </a:p>
        </p:txBody>
      </p:sp>
      <p:sp>
        <p:nvSpPr>
          <p:cNvPr id="16" name="Rectangle 15"/>
          <p:cNvSpPr/>
          <p:nvPr/>
        </p:nvSpPr>
        <p:spPr>
          <a:xfrm>
            <a:off x="9555480" y="7132320"/>
            <a:ext cx="64008" cy="2103120"/>
          </a:xfrm>
          <a:prstGeom prst="rect">
            <a:avLst/>
          </a:prstGeom>
          <a:solidFill>
            <a:srgbClr val="ED1548"/>
          </a:solidFill>
          <a:ln>
            <a:noFill/>
          </a:ln>
          <a:effectLst/>
        </p:spPr>
        <p:txBody>
          <a:bodyPr rtlCol="0" anchor="ctr"/>
          <a:lstStyle/>
          <a:p>
            <a:pPr algn="ctr"/>
          </a:p>
        </p:txBody>
      </p:sp>
      <p:sp>
        <p:nvSpPr>
          <p:cNvPr id="17" name="TextBox 16"/>
          <p:cNvSpPr txBox="1"/>
          <p:nvPr/>
        </p:nvSpPr>
        <p:spPr>
          <a:xfrm>
            <a:off x="9848088" y="7296912"/>
            <a:ext cx="726948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À RETENIR</a:t>
            </a:r>
          </a:p>
        </p:txBody>
      </p:sp>
      <p:sp>
        <p:nvSpPr>
          <p:cNvPr id="18" name="TextBox 17"/>
          <p:cNvSpPr txBox="1"/>
          <p:nvPr/>
        </p:nvSpPr>
        <p:spPr>
          <a:xfrm>
            <a:off x="9848088" y="7589520"/>
            <a:ext cx="7223760" cy="1536191"/>
          </a:xfrm>
          <a:prstGeom prst="rect">
            <a:avLst/>
          </a:prstGeom>
          <a:noFill/>
        </p:spPr>
        <p:txBody>
          <a:bodyPr wrap="square" lIns="0" rIns="0" tIns="0" bIns="0" anchor="t">
            <a:noAutofit/>
          </a:bodyPr>
          <a:lstStyle/>
          <a:p>
            <a:pPr algn="l">
              <a:lnSpc>
                <a:spcPct val="106000"/>
              </a:lnSpc>
              <a:spcBef>
                <a:spcPts val="0"/>
              </a:spcBef>
              <a:spcAft>
                <a:spcPts val="0"/>
              </a:spcAft>
            </a:pPr>
            <a:r>
              <a:rPr b="0" sz="1500" i="0">
                <a:solidFill>
                  <a:srgbClr val="1B3B47"/>
                </a:solidFill>
                <a:latin typeface="Arial"/>
              </a:rPr>
              <a:t>Un composant = une directive + un template. S'il utilise </a:t>
            </a:r>
            <a:r>
              <a:rPr sz="1350" b="0" i="0">
                <a:solidFill>
                  <a:srgbClr val="ED1548"/>
                </a:solidFill>
                <a:latin typeface="Consolas"/>
              </a:rPr>
              <a:t>CurrencyPipe</a:t>
            </a:r>
            <a:r>
              <a:rPr b="0" sz="1500" i="0">
                <a:solidFill>
                  <a:srgbClr val="1B3B47"/>
                </a:solidFill>
                <a:latin typeface="Arial"/>
              </a:rPr>
              <a:t>, il doit l'importer : Angular ne l'hérite pas du composant parent.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1  ·  TEMPLATE</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Le control-flow remplace *ngIf et *ngFor</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Intégré au compilateur : pas d'import, plus lisible, </a:t>
            </a:r>
            <a:r>
              <a:rPr sz="1800" b="0" i="0">
                <a:solidFill>
                  <a:srgbClr val="ED1548"/>
                </a:solidFill>
                <a:latin typeface="Consolas"/>
              </a:rPr>
              <a:t>track</a:t>
            </a:r>
            <a:r>
              <a:rPr b="0" sz="2000" i="0">
                <a:solidFill>
                  <a:srgbClr val="5C6E76"/>
                </a:solidFill>
                <a:latin typeface="Arial"/>
              </a:rPr>
              <a:t> obligatoire.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14 / 62</a:t>
            </a:r>
          </a:p>
        </p:txBody>
      </p:sp>
      <p:sp>
        <p:nvSpPr>
          <p:cNvPr id="9" name="Rounded Rectangle 8"/>
          <p:cNvSpPr/>
          <p:nvPr/>
        </p:nvSpPr>
        <p:spPr>
          <a:xfrm>
            <a:off x="2606040" y="3063240"/>
            <a:ext cx="7955279" cy="539496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p>
        </p:txBody>
      </p:sp>
      <p:sp>
        <p:nvSpPr>
          <p:cNvPr id="11" name="TextBox 10"/>
          <p:cNvSpPr txBox="1"/>
          <p:nvPr/>
        </p:nvSpPr>
        <p:spPr>
          <a:xfrm>
            <a:off x="2990088" y="3172968"/>
            <a:ext cx="7315199"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facture-list.html</a:t>
            </a:r>
          </a:p>
        </p:txBody>
      </p:sp>
      <p:sp>
        <p:nvSpPr>
          <p:cNvPr id="12" name="TextBox 11"/>
          <p:cNvSpPr txBox="1"/>
          <p:nvPr/>
        </p:nvSpPr>
        <p:spPr>
          <a:xfrm>
            <a:off x="2852928" y="3538728"/>
            <a:ext cx="7498079" cy="4754880"/>
          </a:xfrm>
          <a:prstGeom prst="rect">
            <a:avLst/>
          </a:prstGeom>
          <a:noFill/>
        </p:spPr>
        <p:txBody>
          <a:bodyPr wrap="none" lIns="0" rIns="0" tIns="0" bIns="0">
            <a:noAutofit/>
          </a:bodyPr>
          <a:lstStyle/>
          <a:p>
            <a:pPr>
              <a:lnSpc>
                <a:spcPct val="100000"/>
              </a:lnSpc>
              <a:spcBef>
                <a:spcPts val="0"/>
              </a:spcBef>
              <a:spcAft>
                <a:spcPts val="0"/>
              </a:spcAft>
            </a:pPr>
            <a:r>
              <a:rPr sz="1350">
                <a:solidFill>
                  <a:srgbClr val="FFD166"/>
                </a:solidFill>
                <a:latin typeface="Consolas"/>
              </a:rPr>
              <a:t>@if</a:t>
            </a:r>
            <a:r>
              <a:rPr sz="1350">
                <a:solidFill>
                  <a:srgbClr val="EAF2F4"/>
                </a:solidFill>
                <a:latin typeface="Consolas"/>
              </a:rPr>
              <a:t> (factures().length) {</a:t>
            </a:r>
          </a:p>
          <a:p>
            <a:pPr>
              <a:lnSpc>
                <a:spcPct val="100000"/>
              </a:lnSpc>
              <a:spcBef>
                <a:spcPts val="0"/>
              </a:spcBef>
              <a:spcAft>
                <a:spcPts val="0"/>
              </a:spcAft>
            </a:pPr>
            <a:r>
              <a:rPr sz="1350">
                <a:solidFill>
                  <a:srgbClr val="EAF2F4"/>
                </a:solidFill>
                <a:latin typeface="Consolas"/>
              </a:rPr>
              <a:t>  </a:t>
            </a:r>
            <a:r>
              <a:rPr sz="1350">
                <a:solidFill>
                  <a:srgbClr val="FFD166"/>
                </a:solidFill>
                <a:latin typeface="Consolas"/>
              </a:rPr>
              <a:t>@for</a:t>
            </a:r>
            <a:r>
              <a:rPr sz="1350">
                <a:solidFill>
                  <a:srgbClr val="EAF2F4"/>
                </a:solidFill>
                <a:latin typeface="Consolas"/>
              </a:rPr>
              <a:t> (f </a:t>
            </a:r>
            <a:r>
              <a:rPr sz="1350">
                <a:solidFill>
                  <a:srgbClr val="7FD1E0"/>
                </a:solidFill>
                <a:latin typeface="Consolas"/>
              </a:rPr>
              <a:t>of</a:t>
            </a:r>
            <a:r>
              <a:rPr sz="1350">
                <a:solidFill>
                  <a:srgbClr val="EAF2F4"/>
                </a:solidFill>
                <a:latin typeface="Consolas"/>
              </a:rPr>
              <a:t> factures(); track f.id) {</a:t>
            </a:r>
          </a:p>
          <a:p>
            <a:pPr>
              <a:lnSpc>
                <a:spcPct val="100000"/>
              </a:lnSpc>
              <a:spcBef>
                <a:spcPts val="0"/>
              </a:spcBef>
              <a:spcAft>
                <a:spcPts val="0"/>
              </a:spcAft>
            </a:pPr>
            <a:r>
              <a:rPr sz="1350">
                <a:solidFill>
                  <a:srgbClr val="EAF2F4"/>
                </a:solidFill>
                <a:latin typeface="Consolas"/>
              </a:rPr>
              <a:t>    &lt;tr [</a:t>
            </a:r>
            <a:r>
              <a:rPr sz="1350">
                <a:solidFill>
                  <a:srgbClr val="7FD1E0"/>
                </a:solidFill>
                <a:latin typeface="Consolas"/>
              </a:rPr>
              <a:t>class</a:t>
            </a:r>
            <a:r>
              <a:rPr sz="1350">
                <a:solidFill>
                  <a:srgbClr val="EAF2F4"/>
                </a:solidFill>
                <a:latin typeface="Consolas"/>
              </a:rPr>
              <a:t>.litige]=</a:t>
            </a:r>
            <a:r>
              <a:rPr sz="1350">
                <a:solidFill>
                  <a:srgbClr val="FFB3C1"/>
                </a:solidFill>
                <a:latin typeface="Consolas"/>
              </a:rPr>
              <a:t>"f.statut === 'litige'"</a:t>
            </a:r>
            <a:r>
              <a:rPr sz="1350">
                <a:solidFill>
                  <a:srgbClr val="EAF2F4"/>
                </a:solidFill>
                <a:latin typeface="Consolas"/>
              </a:rPr>
              <a:t>&gt;</a:t>
            </a:r>
          </a:p>
          <a:p>
            <a:pPr>
              <a:lnSpc>
                <a:spcPct val="100000"/>
              </a:lnSpc>
              <a:spcBef>
                <a:spcPts val="0"/>
              </a:spcBef>
              <a:spcAft>
                <a:spcPts val="0"/>
              </a:spcAft>
            </a:pPr>
            <a:r>
              <a:rPr sz="1350">
                <a:solidFill>
                  <a:srgbClr val="EAF2F4"/>
                </a:solidFill>
                <a:latin typeface="Consolas"/>
              </a:rPr>
              <a:t>      &lt;td&gt;{{ f.numero }}&lt;/td&gt;</a:t>
            </a:r>
          </a:p>
          <a:p>
            <a:pPr>
              <a:lnSpc>
                <a:spcPct val="100000"/>
              </a:lnSpc>
              <a:spcBef>
                <a:spcPts val="0"/>
              </a:spcBef>
              <a:spcAft>
                <a:spcPts val="0"/>
              </a:spcAft>
            </a:pPr>
            <a:r>
              <a:rPr sz="1350">
                <a:solidFill>
                  <a:srgbClr val="EAF2F4"/>
                </a:solidFill>
                <a:latin typeface="Consolas"/>
              </a:rPr>
              <a:t>      &lt;td&gt;{{ f.montantTTC | currency:</a:t>
            </a:r>
            <a:r>
              <a:rPr sz="1350">
                <a:solidFill>
                  <a:srgbClr val="FFB3C1"/>
                </a:solidFill>
                <a:latin typeface="Consolas"/>
              </a:rPr>
              <a:t>'EUR'</a:t>
            </a:r>
            <a:r>
              <a:rPr sz="1350">
                <a:solidFill>
                  <a:srgbClr val="EAF2F4"/>
                </a:solidFill>
                <a:latin typeface="Consolas"/>
              </a:rPr>
              <a:t>:</a:t>
            </a:r>
            <a:r>
              <a:rPr sz="1350">
                <a:solidFill>
                  <a:srgbClr val="FFB3C1"/>
                </a:solidFill>
                <a:latin typeface="Consolas"/>
              </a:rPr>
              <a:t>'symbol'</a:t>
            </a:r>
            <a:r>
              <a:rPr sz="1350">
                <a:solidFill>
                  <a:srgbClr val="EAF2F4"/>
                </a:solidFill>
                <a:latin typeface="Consolas"/>
              </a:rPr>
              <a:t>:</a:t>
            </a:r>
            <a:r>
              <a:rPr sz="1350">
                <a:solidFill>
                  <a:srgbClr val="FFB3C1"/>
                </a:solidFill>
                <a:latin typeface="Consolas"/>
              </a:rPr>
              <a:t>'1.2-2'</a:t>
            </a:r>
            <a:r>
              <a:rPr sz="1350">
                <a:solidFill>
                  <a:srgbClr val="EAF2F4"/>
                </a:solidFill>
                <a:latin typeface="Consolas"/>
              </a:rPr>
              <a:t>:</a:t>
            </a:r>
            <a:r>
              <a:rPr sz="1350">
                <a:solidFill>
                  <a:srgbClr val="FFB3C1"/>
                </a:solidFill>
                <a:latin typeface="Consolas"/>
              </a:rPr>
              <a:t>'fr'</a:t>
            </a:r>
            <a:r>
              <a:rPr sz="1350">
                <a:solidFill>
                  <a:srgbClr val="EAF2F4"/>
                </a:solidFill>
                <a:latin typeface="Consolas"/>
              </a:rPr>
              <a:t> }}&lt;/td&gt;</a:t>
            </a:r>
          </a:p>
          <a:p>
            <a:pPr>
              <a:lnSpc>
                <a:spcPct val="100000"/>
              </a:lnSpc>
              <a:spcBef>
                <a:spcPts val="0"/>
              </a:spcBef>
              <a:spcAft>
                <a:spcPts val="0"/>
              </a:spcAft>
            </a:pPr>
            <a:r>
              <a:rPr sz="1350">
                <a:solidFill>
                  <a:srgbClr val="EAF2F4"/>
                </a:solidFill>
                <a:latin typeface="Consolas"/>
              </a:rPr>
              <a:t>    &lt;/tr&gt;</a:t>
            </a:r>
          </a:p>
          <a:p>
            <a:pPr>
              <a:lnSpc>
                <a:spcPct val="100000"/>
              </a:lnSpc>
              <a:spcBef>
                <a:spcPts val="0"/>
              </a:spcBef>
              <a:spcAft>
                <a:spcPts val="0"/>
              </a:spcAft>
            </a:pPr>
            <a:r>
              <a:rPr sz="1350">
                <a:solidFill>
                  <a:srgbClr val="EAF2F4"/>
                </a:solidFill>
                <a:latin typeface="Consolas"/>
              </a:rPr>
              <a:t>  } </a:t>
            </a:r>
            <a:r>
              <a:rPr sz="1350">
                <a:solidFill>
                  <a:srgbClr val="FFD166"/>
                </a:solidFill>
                <a:latin typeface="Consolas"/>
              </a:rPr>
              <a:t>@empty</a:t>
            </a: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&lt;p&gt;Aucune facture trouvée.&lt;/p&gt;</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a:t>
            </a:r>
            <a:r>
              <a:rPr sz="1350">
                <a:solidFill>
                  <a:srgbClr val="FFD166"/>
                </a:solidFill>
                <a:latin typeface="Consolas"/>
              </a:rPr>
              <a:t>@else</a:t>
            </a: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&lt;p&gt;Chargement…&lt;/p&gt;</a:t>
            </a:r>
          </a:p>
          <a:p>
            <a:pPr>
              <a:lnSpc>
                <a:spcPct val="100000"/>
              </a:lnSpc>
              <a:spcBef>
                <a:spcPts val="0"/>
              </a:spcBef>
              <a:spcAft>
                <a:spcPts val="0"/>
              </a:spcAft>
            </a:pPr>
            <a:r>
              <a:rPr sz="1350">
                <a:solidFill>
                  <a:srgbClr val="EAF2F4"/>
                </a:solidFill>
                <a:latin typeface="Consolas"/>
              </a:rPr>
              <a:t>}</a:t>
            </a:r>
          </a:p>
          <a:p>
            <a:pPr>
              <a:lnSpc>
                <a:spcPct val="100000"/>
              </a:lnSpc>
              <a:spcBef>
                <a:spcPts val="0"/>
              </a:spcBef>
              <a:spcAft>
                <a:spcPts val="0"/>
              </a:spcAft>
            </a:pPr>
          </a:p>
          <a:p>
            <a:pPr>
              <a:lnSpc>
                <a:spcPct val="100000"/>
              </a:lnSpc>
              <a:spcBef>
                <a:spcPts val="0"/>
              </a:spcBef>
              <a:spcAft>
                <a:spcPts val="0"/>
              </a:spcAft>
            </a:pPr>
            <a:r>
              <a:rPr sz="1350">
                <a:solidFill>
                  <a:srgbClr val="FFD166"/>
                </a:solidFill>
                <a:latin typeface="Consolas"/>
              </a:rPr>
              <a:t>@switch</a:t>
            </a:r>
            <a:r>
              <a:rPr sz="1350">
                <a:solidFill>
                  <a:srgbClr val="EAF2F4"/>
                </a:solidFill>
                <a:latin typeface="Consolas"/>
              </a:rPr>
              <a:t> (f.statut) {</a:t>
            </a:r>
          </a:p>
          <a:p>
            <a:pPr>
              <a:lnSpc>
                <a:spcPct val="100000"/>
              </a:lnSpc>
              <a:spcBef>
                <a:spcPts val="0"/>
              </a:spcBef>
              <a:spcAft>
                <a:spcPts val="0"/>
              </a:spcAft>
            </a:pPr>
            <a:r>
              <a:rPr sz="1350">
                <a:solidFill>
                  <a:srgbClr val="EAF2F4"/>
                </a:solidFill>
                <a:latin typeface="Consolas"/>
              </a:rPr>
              <a:t>  </a:t>
            </a:r>
            <a:r>
              <a:rPr sz="1350">
                <a:solidFill>
                  <a:srgbClr val="FFD166"/>
                </a:solidFill>
                <a:latin typeface="Consolas"/>
              </a:rPr>
              <a:t>@case</a:t>
            </a:r>
            <a:r>
              <a:rPr sz="1350">
                <a:solidFill>
                  <a:srgbClr val="EAF2F4"/>
                </a:solidFill>
                <a:latin typeface="Consolas"/>
              </a:rPr>
              <a:t> (</a:t>
            </a:r>
            <a:r>
              <a:rPr sz="1350">
                <a:solidFill>
                  <a:srgbClr val="FFB3C1"/>
                </a:solidFill>
                <a:latin typeface="Consolas"/>
              </a:rPr>
              <a:t>'rapprochee'</a:t>
            </a:r>
            <a:r>
              <a:rPr sz="1350">
                <a:solidFill>
                  <a:srgbClr val="EAF2F4"/>
                </a:solidFill>
                <a:latin typeface="Consolas"/>
              </a:rPr>
              <a:t>) { &lt;span </a:t>
            </a:r>
            <a:r>
              <a:rPr sz="1350">
                <a:solidFill>
                  <a:srgbClr val="7FD1E0"/>
                </a:solidFill>
                <a:latin typeface="Consolas"/>
              </a:rPr>
              <a:t>class</a:t>
            </a:r>
            <a:r>
              <a:rPr sz="1350">
                <a:solidFill>
                  <a:srgbClr val="EAF2F4"/>
                </a:solidFill>
                <a:latin typeface="Consolas"/>
              </a:rPr>
              <a:t>=</a:t>
            </a:r>
            <a:r>
              <a:rPr sz="1350">
                <a:solidFill>
                  <a:srgbClr val="FFB3C1"/>
                </a:solidFill>
                <a:latin typeface="Consolas"/>
              </a:rPr>
              <a:t>"badge ok"</a:t>
            </a:r>
            <a:r>
              <a:rPr sz="1350">
                <a:solidFill>
                  <a:srgbClr val="EAF2F4"/>
                </a:solidFill>
                <a:latin typeface="Consolas"/>
              </a:rPr>
              <a:t>&gt;Rapprochée&lt;/span&gt; }</a:t>
            </a:r>
          </a:p>
          <a:p>
            <a:pPr>
              <a:lnSpc>
                <a:spcPct val="100000"/>
              </a:lnSpc>
              <a:spcBef>
                <a:spcPts val="0"/>
              </a:spcBef>
              <a:spcAft>
                <a:spcPts val="0"/>
              </a:spcAft>
            </a:pPr>
            <a:r>
              <a:rPr sz="1350">
                <a:solidFill>
                  <a:srgbClr val="EAF2F4"/>
                </a:solidFill>
                <a:latin typeface="Consolas"/>
              </a:rPr>
              <a:t>  </a:t>
            </a:r>
            <a:r>
              <a:rPr sz="1350">
                <a:solidFill>
                  <a:srgbClr val="FFD166"/>
                </a:solidFill>
                <a:latin typeface="Consolas"/>
              </a:rPr>
              <a:t>@case</a:t>
            </a:r>
            <a:r>
              <a:rPr sz="1350">
                <a:solidFill>
                  <a:srgbClr val="EAF2F4"/>
                </a:solidFill>
                <a:latin typeface="Consolas"/>
              </a:rPr>
              <a:t> (</a:t>
            </a:r>
            <a:r>
              <a:rPr sz="1350">
                <a:solidFill>
                  <a:srgbClr val="FFB3C1"/>
                </a:solidFill>
                <a:latin typeface="Consolas"/>
              </a:rPr>
              <a:t>'litige'</a:t>
            </a:r>
            <a:r>
              <a:rPr sz="1350">
                <a:solidFill>
                  <a:srgbClr val="EAF2F4"/>
                </a:solidFill>
                <a:latin typeface="Consolas"/>
              </a:rPr>
              <a:t>)      { &lt;span </a:t>
            </a:r>
            <a:r>
              <a:rPr sz="1350">
                <a:solidFill>
                  <a:srgbClr val="7FD1E0"/>
                </a:solidFill>
                <a:latin typeface="Consolas"/>
              </a:rPr>
              <a:t>class</a:t>
            </a:r>
            <a:r>
              <a:rPr sz="1350">
                <a:solidFill>
                  <a:srgbClr val="EAF2F4"/>
                </a:solidFill>
                <a:latin typeface="Consolas"/>
              </a:rPr>
              <a:t>=</a:t>
            </a:r>
            <a:r>
              <a:rPr sz="1350">
                <a:solidFill>
                  <a:srgbClr val="FFB3C1"/>
                </a:solidFill>
                <a:latin typeface="Consolas"/>
              </a:rPr>
              <a:t>"badge ko"</a:t>
            </a:r>
            <a:r>
              <a:rPr sz="1350">
                <a:solidFill>
                  <a:srgbClr val="EAF2F4"/>
                </a:solidFill>
                <a:latin typeface="Consolas"/>
              </a:rPr>
              <a:t>&gt;Litige&lt;/span&gt; }</a:t>
            </a:r>
          </a:p>
          <a:p>
            <a:pPr>
              <a:lnSpc>
                <a:spcPct val="100000"/>
              </a:lnSpc>
              <a:spcBef>
                <a:spcPts val="0"/>
              </a:spcBef>
              <a:spcAft>
                <a:spcPts val="0"/>
              </a:spcAft>
            </a:pPr>
            <a:r>
              <a:rPr sz="1350">
                <a:solidFill>
                  <a:srgbClr val="EAF2F4"/>
                </a:solidFill>
                <a:latin typeface="Consolas"/>
              </a:rPr>
              <a:t>  </a:t>
            </a:r>
            <a:r>
              <a:rPr sz="1350">
                <a:solidFill>
                  <a:srgbClr val="FFD166"/>
                </a:solidFill>
                <a:latin typeface="Consolas"/>
              </a:rPr>
              <a:t>@default</a:t>
            </a:r>
            <a:r>
              <a:rPr sz="1350">
                <a:solidFill>
                  <a:srgbClr val="EAF2F4"/>
                </a:solidFill>
                <a:latin typeface="Consolas"/>
              </a:rPr>
              <a:t>              { &lt;span </a:t>
            </a:r>
            <a:r>
              <a:rPr sz="1350">
                <a:solidFill>
                  <a:srgbClr val="7FD1E0"/>
                </a:solidFill>
                <a:latin typeface="Consolas"/>
              </a:rPr>
              <a:t>class</a:t>
            </a:r>
            <a:r>
              <a:rPr sz="1350">
                <a:solidFill>
                  <a:srgbClr val="EAF2F4"/>
                </a:solidFill>
                <a:latin typeface="Consolas"/>
              </a:rPr>
              <a:t>=</a:t>
            </a:r>
            <a:r>
              <a:rPr sz="1350">
                <a:solidFill>
                  <a:srgbClr val="FFB3C1"/>
                </a:solidFill>
                <a:latin typeface="Consolas"/>
              </a:rPr>
              <a:t>"badge wait"</a:t>
            </a:r>
            <a:r>
              <a:rPr sz="1350">
                <a:solidFill>
                  <a:srgbClr val="EAF2F4"/>
                </a:solidFill>
                <a:latin typeface="Consolas"/>
              </a:rPr>
              <a:t>&gt;À rapprocher&lt;/span&gt; }</a:t>
            </a:r>
          </a:p>
          <a:p>
            <a:pPr>
              <a:lnSpc>
                <a:spcPct val="100000"/>
              </a:lnSpc>
              <a:spcBef>
                <a:spcPts val="0"/>
              </a:spcBef>
              <a:spcAft>
                <a:spcPts val="0"/>
              </a:spcAft>
            </a:pPr>
            <a:r>
              <a:rPr sz="1350">
                <a:solidFill>
                  <a:srgbClr val="EAF2F4"/>
                </a:solidFill>
                <a:latin typeface="Consolas"/>
              </a:rPr>
              <a:t>}</a:t>
            </a:r>
          </a:p>
          <a:p>
            <a:pPr>
              <a:lnSpc>
                <a:spcPct val="100000"/>
              </a:lnSpc>
              <a:spcBef>
                <a:spcPts val="0"/>
              </a:spcBef>
              <a:spcAft>
                <a:spcPts val="0"/>
              </a:spcAft>
            </a:pPr>
          </a:p>
          <a:p>
            <a:pPr>
              <a:lnSpc>
                <a:spcPct val="100000"/>
              </a:lnSpc>
              <a:spcBef>
                <a:spcPts val="0"/>
              </a:spcBef>
              <a:spcAft>
                <a:spcPts val="0"/>
              </a:spcAft>
            </a:pPr>
            <a:r>
              <a:rPr sz="1350">
                <a:solidFill>
                  <a:srgbClr val="FFD166"/>
                </a:solidFill>
                <a:latin typeface="Consolas"/>
              </a:rPr>
              <a:t>@defer</a:t>
            </a:r>
            <a:r>
              <a:rPr sz="1350">
                <a:solidFill>
                  <a:srgbClr val="EAF2F4"/>
                </a:solidFill>
                <a:latin typeface="Consolas"/>
              </a:rPr>
              <a:t> (on viewport) { &lt;app-dashboard /&gt; }</a:t>
            </a:r>
          </a:p>
        </p:txBody>
      </p:sp>
      <p:sp>
        <p:nvSpPr>
          <p:cNvPr id="13" name="Rounded Rectangle 12"/>
          <p:cNvSpPr/>
          <p:nvPr/>
        </p:nvSpPr>
        <p:spPr>
          <a:xfrm>
            <a:off x="10835640" y="3063240"/>
            <a:ext cx="6355080" cy="160020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4" name="Rectangle 13"/>
          <p:cNvSpPr/>
          <p:nvPr/>
        </p:nvSpPr>
        <p:spPr>
          <a:xfrm>
            <a:off x="10835640" y="3063240"/>
            <a:ext cx="6355080" cy="50292"/>
          </a:xfrm>
          <a:prstGeom prst="rect">
            <a:avLst/>
          </a:prstGeom>
          <a:solidFill>
            <a:srgbClr val="0B4F6C"/>
          </a:solidFill>
          <a:ln>
            <a:noFill/>
          </a:ln>
          <a:effectLst/>
        </p:spPr>
        <p:txBody>
          <a:bodyPr rtlCol="0" anchor="ctr"/>
          <a:lstStyle/>
          <a:p>
            <a:pPr algn="ctr"/>
          </a:p>
        </p:txBody>
      </p:sp>
      <p:sp>
        <p:nvSpPr>
          <p:cNvPr id="15" name="TextBox 14"/>
          <p:cNvSpPr txBox="1"/>
          <p:nvPr/>
        </p:nvSpPr>
        <p:spPr>
          <a:xfrm>
            <a:off x="11109960" y="3319272"/>
            <a:ext cx="5943600" cy="411480"/>
          </a:xfrm>
          <a:prstGeom prst="rect">
            <a:avLst/>
          </a:prstGeom>
          <a:noFill/>
        </p:spPr>
        <p:txBody>
          <a:bodyPr wrap="square" lIns="0" rIns="0" tIns="0" bIns="0" anchor="t">
            <a:noAutofit/>
          </a:bodyPr>
          <a:lstStyle/>
          <a:p>
            <a:pPr algn="l">
              <a:lnSpc>
                <a:spcPct val="102000"/>
              </a:lnSpc>
              <a:spcBef>
                <a:spcPts val="0"/>
              </a:spcBef>
              <a:spcAft>
                <a:spcPts val="0"/>
              </a:spcAft>
            </a:pPr>
            <a:r>
              <a:rPr sz="1485" b="1" i="0">
                <a:solidFill>
                  <a:srgbClr val="0B4F6C"/>
                </a:solidFill>
                <a:latin typeface="Consolas"/>
              </a:rPr>
              <a:t>track</a:t>
            </a:r>
            <a:r>
              <a:rPr b="1" sz="1650" i="0">
                <a:solidFill>
                  <a:srgbClr val="0B4F6C"/>
                </a:solidFill>
                <a:latin typeface="Arial"/>
              </a:rPr>
              <a:t> obligatoire</a:t>
            </a:r>
          </a:p>
        </p:txBody>
      </p:sp>
      <p:sp>
        <p:nvSpPr>
          <p:cNvPr id="16" name="TextBox 15"/>
          <p:cNvSpPr txBox="1"/>
          <p:nvPr/>
        </p:nvSpPr>
        <p:spPr>
          <a:xfrm>
            <a:off x="11109960" y="3758183"/>
            <a:ext cx="5943600" cy="731520"/>
          </a:xfrm>
          <a:prstGeom prst="rect">
            <a:avLst/>
          </a:prstGeom>
          <a:noFill/>
        </p:spPr>
        <p:txBody>
          <a:bodyPr wrap="square" lIns="0" rIns="0" tIns="0" bIns="0" anchor="t">
            <a:noAutofit/>
          </a:bodyPr>
          <a:lstStyle/>
          <a:p>
            <a:pPr algn="l">
              <a:lnSpc>
                <a:spcPct val="108000"/>
              </a:lnSpc>
              <a:spcBef>
                <a:spcPts val="0"/>
              </a:spcBef>
              <a:spcAft>
                <a:spcPts val="0"/>
              </a:spcAft>
            </a:pPr>
            <a:r>
              <a:rPr b="0" sz="1450" i="0">
                <a:solidFill>
                  <a:srgbClr val="1B3B47"/>
                </a:solidFill>
                <a:latin typeface="Arial"/>
              </a:rPr>
              <a:t>Il identifie chaque élément. Sans lui, le DOM est recréé et l'état local est perdu.</a:t>
            </a:r>
          </a:p>
        </p:txBody>
      </p:sp>
      <p:sp>
        <p:nvSpPr>
          <p:cNvPr id="17" name="Rounded Rectangle 16"/>
          <p:cNvSpPr/>
          <p:nvPr/>
        </p:nvSpPr>
        <p:spPr>
          <a:xfrm>
            <a:off x="10835640" y="4846320"/>
            <a:ext cx="6355080" cy="160020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8" name="Rectangle 17"/>
          <p:cNvSpPr/>
          <p:nvPr/>
        </p:nvSpPr>
        <p:spPr>
          <a:xfrm>
            <a:off x="10835640" y="4846320"/>
            <a:ext cx="6355080" cy="50292"/>
          </a:xfrm>
          <a:prstGeom prst="rect">
            <a:avLst/>
          </a:prstGeom>
          <a:solidFill>
            <a:srgbClr val="0B4F6C"/>
          </a:solidFill>
          <a:ln>
            <a:noFill/>
          </a:ln>
          <a:effectLst/>
        </p:spPr>
        <p:txBody>
          <a:bodyPr rtlCol="0" anchor="ctr"/>
          <a:lstStyle/>
          <a:p>
            <a:pPr algn="ctr"/>
          </a:p>
        </p:txBody>
      </p:sp>
      <p:sp>
        <p:nvSpPr>
          <p:cNvPr id="19" name="TextBox 18"/>
          <p:cNvSpPr txBox="1"/>
          <p:nvPr/>
        </p:nvSpPr>
        <p:spPr>
          <a:xfrm>
            <a:off x="11109960" y="5102352"/>
            <a:ext cx="5943600" cy="411480"/>
          </a:xfrm>
          <a:prstGeom prst="rect">
            <a:avLst/>
          </a:prstGeom>
          <a:noFill/>
        </p:spPr>
        <p:txBody>
          <a:bodyPr wrap="square" lIns="0" rIns="0" tIns="0" bIns="0" anchor="t">
            <a:noAutofit/>
          </a:bodyPr>
          <a:lstStyle/>
          <a:p>
            <a:pPr algn="l">
              <a:lnSpc>
                <a:spcPct val="102000"/>
              </a:lnSpc>
              <a:spcBef>
                <a:spcPts val="0"/>
              </a:spcBef>
              <a:spcAft>
                <a:spcPts val="0"/>
              </a:spcAft>
            </a:pPr>
            <a:r>
              <a:rPr sz="1485" b="1" i="0">
                <a:solidFill>
                  <a:srgbClr val="0B4F6C"/>
                </a:solidFill>
                <a:latin typeface="Consolas"/>
              </a:rPr>
              <a:t>@empty</a:t>
            </a:r>
            <a:r>
              <a:rPr b="1" sz="1650" i="0">
                <a:solidFill>
                  <a:srgbClr val="0B4F6C"/>
                </a:solidFill>
                <a:latin typeface="Arial"/>
              </a:rPr>
              <a:t> natif</a:t>
            </a:r>
          </a:p>
        </p:txBody>
      </p:sp>
      <p:sp>
        <p:nvSpPr>
          <p:cNvPr id="20" name="TextBox 19"/>
          <p:cNvSpPr txBox="1"/>
          <p:nvPr/>
        </p:nvSpPr>
        <p:spPr>
          <a:xfrm>
            <a:off x="11109960" y="5541264"/>
            <a:ext cx="5943600" cy="731520"/>
          </a:xfrm>
          <a:prstGeom prst="rect">
            <a:avLst/>
          </a:prstGeom>
          <a:noFill/>
        </p:spPr>
        <p:txBody>
          <a:bodyPr wrap="square" lIns="0" rIns="0" tIns="0" bIns="0" anchor="t">
            <a:noAutofit/>
          </a:bodyPr>
          <a:lstStyle/>
          <a:p>
            <a:pPr algn="l">
              <a:lnSpc>
                <a:spcPct val="108000"/>
              </a:lnSpc>
              <a:spcBef>
                <a:spcPts val="0"/>
              </a:spcBef>
              <a:spcAft>
                <a:spcPts val="0"/>
              </a:spcAft>
            </a:pPr>
            <a:r>
              <a:rPr b="0" sz="1450" i="0">
                <a:solidFill>
                  <a:srgbClr val="1B3B47"/>
                </a:solidFill>
                <a:latin typeface="Arial"/>
              </a:rPr>
              <a:t>Plus besoin d'un second </a:t>
            </a:r>
            <a:r>
              <a:rPr sz="1305" b="0" i="0">
                <a:solidFill>
                  <a:srgbClr val="0B4F6C"/>
                </a:solidFill>
                <a:latin typeface="Consolas"/>
              </a:rPr>
              <a:t>*ngIf</a:t>
            </a:r>
            <a:r>
              <a:rPr b="0" sz="1450" i="0">
                <a:solidFill>
                  <a:srgbClr val="1B3B47"/>
                </a:solidFill>
                <a:latin typeface="Arial"/>
              </a:rPr>
              <a:t> pour le cas vide : le bloc est intégré.</a:t>
            </a:r>
          </a:p>
        </p:txBody>
      </p:sp>
      <p:sp>
        <p:nvSpPr>
          <p:cNvPr id="21" name="Rounded Rectangle 20"/>
          <p:cNvSpPr/>
          <p:nvPr/>
        </p:nvSpPr>
        <p:spPr>
          <a:xfrm>
            <a:off x="10835640" y="6629400"/>
            <a:ext cx="6355080" cy="160020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2" name="Rectangle 21"/>
          <p:cNvSpPr/>
          <p:nvPr/>
        </p:nvSpPr>
        <p:spPr>
          <a:xfrm>
            <a:off x="10835640" y="6629400"/>
            <a:ext cx="6355080" cy="50292"/>
          </a:xfrm>
          <a:prstGeom prst="rect">
            <a:avLst/>
          </a:prstGeom>
          <a:solidFill>
            <a:srgbClr val="ED1548"/>
          </a:solidFill>
          <a:ln>
            <a:noFill/>
          </a:ln>
          <a:effectLst/>
        </p:spPr>
        <p:txBody>
          <a:bodyPr rtlCol="0" anchor="ctr"/>
          <a:lstStyle/>
          <a:p>
            <a:pPr algn="ctr"/>
          </a:p>
        </p:txBody>
      </p:sp>
      <p:sp>
        <p:nvSpPr>
          <p:cNvPr id="23" name="TextBox 22"/>
          <p:cNvSpPr txBox="1"/>
          <p:nvPr/>
        </p:nvSpPr>
        <p:spPr>
          <a:xfrm>
            <a:off x="11109960" y="6885432"/>
            <a:ext cx="5943600" cy="411480"/>
          </a:xfrm>
          <a:prstGeom prst="rect">
            <a:avLst/>
          </a:prstGeom>
          <a:noFill/>
        </p:spPr>
        <p:txBody>
          <a:bodyPr wrap="square" lIns="0" rIns="0" tIns="0" bIns="0" anchor="t">
            <a:noAutofit/>
          </a:bodyPr>
          <a:lstStyle/>
          <a:p>
            <a:pPr algn="l">
              <a:lnSpc>
                <a:spcPct val="102000"/>
              </a:lnSpc>
              <a:spcBef>
                <a:spcPts val="0"/>
              </a:spcBef>
              <a:spcAft>
                <a:spcPts val="0"/>
              </a:spcAft>
            </a:pPr>
            <a:r>
              <a:rPr sz="1485" b="1" i="0">
                <a:solidFill>
                  <a:srgbClr val="ED1548"/>
                </a:solidFill>
                <a:latin typeface="Consolas"/>
              </a:rPr>
              <a:t>@defer</a:t>
            </a:r>
          </a:p>
        </p:txBody>
      </p:sp>
      <p:sp>
        <p:nvSpPr>
          <p:cNvPr id="24" name="TextBox 23"/>
          <p:cNvSpPr txBox="1"/>
          <p:nvPr/>
        </p:nvSpPr>
        <p:spPr>
          <a:xfrm>
            <a:off x="11109960" y="7324344"/>
            <a:ext cx="5943600" cy="731520"/>
          </a:xfrm>
          <a:prstGeom prst="rect">
            <a:avLst/>
          </a:prstGeom>
          <a:noFill/>
        </p:spPr>
        <p:txBody>
          <a:bodyPr wrap="square" lIns="0" rIns="0" tIns="0" bIns="0" anchor="t">
            <a:noAutofit/>
          </a:bodyPr>
          <a:lstStyle/>
          <a:p>
            <a:pPr algn="l">
              <a:lnSpc>
                <a:spcPct val="108000"/>
              </a:lnSpc>
              <a:spcBef>
                <a:spcPts val="0"/>
              </a:spcBef>
              <a:spcAft>
                <a:spcPts val="0"/>
              </a:spcAft>
            </a:pPr>
            <a:r>
              <a:rPr b="0" sz="1450" i="0">
                <a:solidFill>
                  <a:srgbClr val="1B3B47"/>
                </a:solidFill>
                <a:latin typeface="Arial"/>
              </a:rPr>
              <a:t>Charge un bloc à la demande (</a:t>
            </a:r>
            <a:r>
              <a:rPr sz="1305" b="0" i="0">
                <a:solidFill>
                  <a:srgbClr val="ED1548"/>
                </a:solidFill>
                <a:latin typeface="Consolas"/>
              </a:rPr>
              <a:t>on viewport</a:t>
            </a:r>
            <a:r>
              <a:rPr b="0" sz="1450" i="0">
                <a:solidFill>
                  <a:srgbClr val="1B3B47"/>
                </a:solidFill>
                <a:latin typeface="Arial"/>
              </a:rPr>
              <a:t>, </a:t>
            </a:r>
            <a:r>
              <a:rPr sz="1305" b="0" i="0">
                <a:solidFill>
                  <a:srgbClr val="ED1548"/>
                </a:solidFill>
                <a:latin typeface="Consolas"/>
              </a:rPr>
              <a:t>on idle</a:t>
            </a:r>
            <a:r>
              <a:rPr b="0" sz="1450" i="0">
                <a:solidFill>
                  <a:srgbClr val="1B3B47"/>
                </a:solidFill>
                <a:latin typeface="Arial"/>
              </a:rPr>
              <a:t>, </a:t>
            </a:r>
            <a:r>
              <a:rPr sz="1305" b="0" i="0">
                <a:solidFill>
                  <a:srgbClr val="ED1548"/>
                </a:solidFill>
                <a:latin typeface="Consolas"/>
              </a:rPr>
              <a:t>when</a:t>
            </a:r>
            <a:r>
              <a:rPr b="0" sz="1450" i="0">
                <a:solidFill>
                  <a:srgbClr val="1B3B47"/>
                </a:solidFill>
                <a:latin typeface="Arial"/>
              </a:rPr>
              <a:t>).</a:t>
            </a:r>
          </a:p>
        </p:txBody>
      </p:sp>
      <p:sp>
        <p:nvSpPr>
          <p:cNvPr id="25" name="Rounded Rectangle 24"/>
          <p:cNvSpPr/>
          <p:nvPr/>
        </p:nvSpPr>
        <p:spPr>
          <a:xfrm>
            <a:off x="2606040" y="8641080"/>
            <a:ext cx="14584680" cy="731520"/>
          </a:xfrm>
          <a:prstGeom prst="roundRect">
            <a:avLst>
              <a:gd name="adj" fmla="val 8000"/>
            </a:avLst>
          </a:prstGeom>
          <a:solidFill>
            <a:srgbClr val="FFF6E5"/>
          </a:solidFill>
          <a:ln>
            <a:noFill/>
          </a:ln>
          <a:effectLst/>
        </p:spPr>
        <p:txBody>
          <a:bodyPr rtlCol="0" anchor="ctr"/>
          <a:lstStyle/>
          <a:p>
            <a:pPr algn="ctr"/>
          </a:p>
        </p:txBody>
      </p:sp>
      <p:sp>
        <p:nvSpPr>
          <p:cNvPr id="26" name="Rectangle 25"/>
          <p:cNvSpPr/>
          <p:nvPr/>
        </p:nvSpPr>
        <p:spPr>
          <a:xfrm>
            <a:off x="2606040" y="8641080"/>
            <a:ext cx="64008" cy="731520"/>
          </a:xfrm>
          <a:prstGeom prst="rect">
            <a:avLst/>
          </a:prstGeom>
          <a:solidFill>
            <a:srgbClr val="B26A00"/>
          </a:solidFill>
          <a:ln>
            <a:noFill/>
          </a:ln>
          <a:effectLst/>
        </p:spPr>
        <p:txBody>
          <a:bodyPr rtlCol="0" anchor="ctr"/>
          <a:lstStyle/>
          <a:p>
            <a:pPr algn="ctr"/>
          </a:p>
        </p:txBody>
      </p:sp>
      <p:sp>
        <p:nvSpPr>
          <p:cNvPr id="27" name="TextBox 26"/>
          <p:cNvSpPr txBox="1"/>
          <p:nvPr/>
        </p:nvSpPr>
        <p:spPr>
          <a:xfrm>
            <a:off x="2898648" y="8805672"/>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B26A00"/>
                </a:solidFill>
                <a:latin typeface="Arial"/>
              </a:rPr>
              <a:t>CODE LEGACY</a:t>
            </a:r>
          </a:p>
        </p:txBody>
      </p:sp>
      <p:sp>
        <p:nvSpPr>
          <p:cNvPr id="28" name="TextBox 27"/>
          <p:cNvSpPr txBox="1"/>
          <p:nvPr/>
        </p:nvSpPr>
        <p:spPr>
          <a:xfrm>
            <a:off x="2898648" y="9098280"/>
            <a:ext cx="14173200" cy="164592"/>
          </a:xfrm>
          <a:prstGeom prst="rect">
            <a:avLst/>
          </a:prstGeom>
          <a:noFill/>
        </p:spPr>
        <p:txBody>
          <a:bodyPr wrap="square" lIns="0" rIns="0" tIns="0" bIns="0" anchor="t">
            <a:noAutofit/>
          </a:bodyPr>
          <a:lstStyle/>
          <a:p>
            <a:pPr algn="l">
              <a:lnSpc>
                <a:spcPct val="106000"/>
              </a:lnSpc>
              <a:spcBef>
                <a:spcPts val="0"/>
              </a:spcBef>
              <a:spcAft>
                <a:spcPts val="0"/>
              </a:spcAft>
            </a:pPr>
            <a:r>
              <a:rPr sz="1000" b="0" i="0">
                <a:solidFill>
                  <a:srgbClr val="B26A00"/>
                </a:solidFill>
                <a:latin typeface="Consolas"/>
              </a:rPr>
              <a:t>*ngIf</a:t>
            </a:r>
            <a:r>
              <a:rPr b="0" sz="1100" i="0">
                <a:solidFill>
                  <a:srgbClr val="1B3B47"/>
                </a:solidFill>
                <a:latin typeface="Arial"/>
              </a:rPr>
              <a:t> et </a:t>
            </a:r>
            <a:r>
              <a:rPr sz="1000" b="0" i="0">
                <a:solidFill>
                  <a:srgbClr val="B26A00"/>
                </a:solidFill>
                <a:latin typeface="Consolas"/>
              </a:rPr>
              <a:t>*ngFor</a:t>
            </a:r>
            <a:r>
              <a:rPr b="0" sz="1100" i="0">
                <a:solidFill>
                  <a:srgbClr val="1B3B47"/>
                </a:solidFill>
                <a:latin typeface="Arial"/>
              </a:rPr>
              <a:t> restent lisibles avec </a:t>
            </a:r>
            <a:r>
              <a:rPr sz="1000" b="0" i="0">
                <a:solidFill>
                  <a:srgbClr val="B26A00"/>
                </a:solidFill>
                <a:latin typeface="Consolas"/>
              </a:rPr>
              <a:t>NgIf</a:t>
            </a:r>
            <a:r>
              <a:rPr b="0" sz="1100" i="0">
                <a:solidFill>
                  <a:srgbClr val="1B3B47"/>
                </a:solidFill>
                <a:latin typeface="Arial"/>
              </a:rPr>
              <a:t>/</a:t>
            </a:r>
            <a:r>
              <a:rPr sz="1000" b="0" i="0">
                <a:solidFill>
                  <a:srgbClr val="B26A00"/>
                </a:solidFill>
                <a:latin typeface="Consolas"/>
              </a:rPr>
              <a:t>NgFor</a:t>
            </a:r>
            <a:r>
              <a:rPr b="0" sz="1100" i="0">
                <a:solidFill>
                  <a:srgbClr val="1B3B47"/>
                </a:solidFill>
                <a:latin typeface="Arial"/>
              </a:rPr>
              <a:t> importés. Ne les utilisez pas dans du code neuf.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1  ·  SIGNALS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Signals : l'état se propage, le template suit</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sz="1800" b="0" i="0">
                <a:solidFill>
                  <a:srgbClr val="ED1548"/>
                </a:solidFill>
                <a:latin typeface="Consolas"/>
              </a:rPr>
              <a:t>signal()</a:t>
            </a:r>
            <a:r>
              <a:rPr b="0" sz="2000" i="0">
                <a:solidFill>
                  <a:srgbClr val="5C6E76"/>
                </a:solidFill>
                <a:latin typeface="Arial"/>
              </a:rPr>
              <a:t> stocke, </a:t>
            </a:r>
            <a:r>
              <a:rPr sz="1800" b="0" i="0">
                <a:solidFill>
                  <a:srgbClr val="ED1548"/>
                </a:solidFill>
                <a:latin typeface="Consolas"/>
              </a:rPr>
              <a:t>computed()</a:t>
            </a:r>
            <a:r>
              <a:rPr b="0" sz="2000" i="0">
                <a:solidFill>
                  <a:srgbClr val="5C6E76"/>
                </a:solidFill>
                <a:latin typeface="Arial"/>
              </a:rPr>
              <a:t> dérive, </a:t>
            </a:r>
            <a:r>
              <a:rPr sz="1800" b="0" i="0">
                <a:solidFill>
                  <a:srgbClr val="ED1548"/>
                </a:solidFill>
                <a:latin typeface="Consolas"/>
              </a:rPr>
              <a:t>effect()</a:t>
            </a:r>
            <a:r>
              <a:rPr b="0" sz="2000" i="0">
                <a:solidFill>
                  <a:srgbClr val="5C6E76"/>
                </a:solidFill>
                <a:latin typeface="Arial"/>
              </a:rPr>
              <a:t> agit.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15 / 62</a:t>
            </a:r>
          </a:p>
        </p:txBody>
      </p:sp>
      <p:sp>
        <p:nvSpPr>
          <p:cNvPr id="9" name="Rounded Rectangle 8"/>
          <p:cNvSpPr/>
          <p:nvPr/>
        </p:nvSpPr>
        <p:spPr>
          <a:xfrm>
            <a:off x="2606040" y="3017520"/>
            <a:ext cx="3291840" cy="960120"/>
          </a:xfrm>
          <a:prstGeom prst="roundRect">
            <a:avLst>
              <a:gd name="adj" fmla="val 12000"/>
            </a:avLst>
          </a:prstGeom>
          <a:solidFill>
            <a:srgbClr val="FFFFFF"/>
          </a:solidFill>
          <a:ln w="9525">
            <a:solidFill>
              <a:srgbClr val="E0E6E8"/>
            </a:solidFill>
          </a:ln>
          <a:effectLst/>
        </p:spPr>
        <p:txBody>
          <a:bodyPr rtlCol="0" anchor="ctr"/>
          <a:lstStyle/>
          <a:p>
            <a:pPr algn="ctr"/>
          </a:p>
        </p:txBody>
      </p:sp>
      <p:sp>
        <p:nvSpPr>
          <p:cNvPr id="10" name="Rectangle 9"/>
          <p:cNvSpPr/>
          <p:nvPr/>
        </p:nvSpPr>
        <p:spPr>
          <a:xfrm>
            <a:off x="2606040" y="3017520"/>
            <a:ext cx="54864" cy="960120"/>
          </a:xfrm>
          <a:prstGeom prst="rect">
            <a:avLst/>
          </a:prstGeom>
          <a:solidFill>
            <a:srgbClr val="ED1548"/>
          </a:solidFill>
          <a:ln>
            <a:noFill/>
          </a:ln>
          <a:effectLst/>
        </p:spPr>
        <p:txBody>
          <a:bodyPr rtlCol="0" anchor="ctr"/>
          <a:lstStyle/>
          <a:p>
            <a:pPr algn="ctr"/>
          </a:p>
        </p:txBody>
      </p:sp>
      <p:sp>
        <p:nvSpPr>
          <p:cNvPr id="11" name="TextBox 10"/>
          <p:cNvSpPr txBox="1"/>
          <p:nvPr/>
        </p:nvSpPr>
        <p:spPr>
          <a:xfrm>
            <a:off x="2788920" y="3163824"/>
            <a:ext cx="29718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Consolas"/>
              </a:rPr>
              <a:t>factures</a:t>
            </a:r>
          </a:p>
        </p:txBody>
      </p:sp>
      <p:sp>
        <p:nvSpPr>
          <p:cNvPr id="12" name="TextBox 11"/>
          <p:cNvSpPr txBox="1"/>
          <p:nvPr/>
        </p:nvSpPr>
        <p:spPr>
          <a:xfrm>
            <a:off x="2788920" y="3456432"/>
            <a:ext cx="2971800" cy="484632"/>
          </a:xfrm>
          <a:prstGeom prst="rect">
            <a:avLst/>
          </a:prstGeom>
          <a:noFill/>
        </p:spPr>
        <p:txBody>
          <a:bodyPr wrap="square" lIns="0" rIns="0" tIns="0" bIns="0" anchor="t">
            <a:noAutofit/>
          </a:bodyPr>
          <a:lstStyle/>
          <a:p>
            <a:pPr algn="l">
              <a:lnSpc>
                <a:spcPct val="102000"/>
              </a:lnSpc>
              <a:spcBef>
                <a:spcPts val="0"/>
              </a:spcBef>
              <a:spcAft>
                <a:spcPts val="0"/>
              </a:spcAft>
            </a:pPr>
            <a:r>
              <a:rPr b="0" sz="1200" i="0">
                <a:solidFill>
                  <a:srgbClr val="5C6E76"/>
                </a:solidFill>
                <a:latin typeface="Consolas"/>
              </a:rPr>
              <a:t>signal&lt;Facture[]&gt;([])</a:t>
            </a:r>
          </a:p>
        </p:txBody>
      </p:sp>
      <p:sp>
        <p:nvSpPr>
          <p:cNvPr id="13" name="Rounded Rectangle 12"/>
          <p:cNvSpPr/>
          <p:nvPr/>
        </p:nvSpPr>
        <p:spPr>
          <a:xfrm>
            <a:off x="2606040" y="4160520"/>
            <a:ext cx="3291840" cy="960120"/>
          </a:xfrm>
          <a:prstGeom prst="roundRect">
            <a:avLst>
              <a:gd name="adj" fmla="val 12000"/>
            </a:avLst>
          </a:prstGeom>
          <a:solidFill>
            <a:srgbClr val="FFFFFF"/>
          </a:solidFill>
          <a:ln w="9525">
            <a:solidFill>
              <a:srgbClr val="E0E6E8"/>
            </a:solidFill>
          </a:ln>
          <a:effectLst/>
        </p:spPr>
        <p:txBody>
          <a:bodyPr rtlCol="0" anchor="ctr"/>
          <a:lstStyle/>
          <a:p>
            <a:pPr algn="ctr"/>
          </a:p>
        </p:txBody>
      </p:sp>
      <p:sp>
        <p:nvSpPr>
          <p:cNvPr id="14" name="Rectangle 13"/>
          <p:cNvSpPr/>
          <p:nvPr/>
        </p:nvSpPr>
        <p:spPr>
          <a:xfrm>
            <a:off x="2606040" y="4160520"/>
            <a:ext cx="54864" cy="960120"/>
          </a:xfrm>
          <a:prstGeom prst="rect">
            <a:avLst/>
          </a:prstGeom>
          <a:solidFill>
            <a:srgbClr val="ED1548"/>
          </a:solidFill>
          <a:ln>
            <a:noFill/>
          </a:ln>
          <a:effectLst/>
        </p:spPr>
        <p:txBody>
          <a:bodyPr rtlCol="0" anchor="ctr"/>
          <a:lstStyle/>
          <a:p>
            <a:pPr algn="ctr"/>
          </a:p>
        </p:txBody>
      </p:sp>
      <p:sp>
        <p:nvSpPr>
          <p:cNvPr id="15" name="TextBox 14"/>
          <p:cNvSpPr txBox="1"/>
          <p:nvPr/>
        </p:nvSpPr>
        <p:spPr>
          <a:xfrm>
            <a:off x="2788920" y="4306824"/>
            <a:ext cx="29718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Consolas"/>
              </a:rPr>
              <a:t>filtre</a:t>
            </a:r>
          </a:p>
        </p:txBody>
      </p:sp>
      <p:sp>
        <p:nvSpPr>
          <p:cNvPr id="16" name="TextBox 15"/>
          <p:cNvSpPr txBox="1"/>
          <p:nvPr/>
        </p:nvSpPr>
        <p:spPr>
          <a:xfrm>
            <a:off x="2788920" y="4599431"/>
            <a:ext cx="2971800" cy="484632"/>
          </a:xfrm>
          <a:prstGeom prst="rect">
            <a:avLst/>
          </a:prstGeom>
          <a:noFill/>
        </p:spPr>
        <p:txBody>
          <a:bodyPr wrap="square" lIns="0" rIns="0" tIns="0" bIns="0" anchor="t">
            <a:noAutofit/>
          </a:bodyPr>
          <a:lstStyle/>
          <a:p>
            <a:pPr algn="l">
              <a:lnSpc>
                <a:spcPct val="102000"/>
              </a:lnSpc>
              <a:spcBef>
                <a:spcPts val="0"/>
              </a:spcBef>
              <a:spcAft>
                <a:spcPts val="0"/>
              </a:spcAft>
            </a:pPr>
            <a:r>
              <a:rPr b="0" sz="1200" i="0">
                <a:solidFill>
                  <a:srgbClr val="5C6E76"/>
                </a:solidFill>
                <a:latin typeface="Consolas"/>
              </a:rPr>
              <a:t>signal&lt;Statut&gt;('tous')</a:t>
            </a:r>
          </a:p>
        </p:txBody>
      </p:sp>
      <p:sp>
        <p:nvSpPr>
          <p:cNvPr id="17" name="Rounded Rectangle 16"/>
          <p:cNvSpPr/>
          <p:nvPr/>
        </p:nvSpPr>
        <p:spPr>
          <a:xfrm>
            <a:off x="6720840" y="3520440"/>
            <a:ext cx="3566160" cy="1143000"/>
          </a:xfrm>
          <a:prstGeom prst="roundRect">
            <a:avLst>
              <a:gd name="adj" fmla="val 12000"/>
            </a:avLst>
          </a:prstGeom>
          <a:solidFill>
            <a:srgbClr val="FFFFFF"/>
          </a:solidFill>
          <a:ln w="9525">
            <a:solidFill>
              <a:srgbClr val="E0E6E8"/>
            </a:solidFill>
          </a:ln>
          <a:effectLst/>
        </p:spPr>
        <p:txBody>
          <a:bodyPr rtlCol="0" anchor="ctr"/>
          <a:lstStyle/>
          <a:p>
            <a:pPr algn="ctr"/>
          </a:p>
        </p:txBody>
      </p:sp>
      <p:sp>
        <p:nvSpPr>
          <p:cNvPr id="18" name="Rectangle 17"/>
          <p:cNvSpPr/>
          <p:nvPr/>
        </p:nvSpPr>
        <p:spPr>
          <a:xfrm>
            <a:off x="6720840" y="3520440"/>
            <a:ext cx="54864" cy="1143000"/>
          </a:xfrm>
          <a:prstGeom prst="rect">
            <a:avLst/>
          </a:prstGeom>
          <a:solidFill>
            <a:srgbClr val="0B4F6C"/>
          </a:solidFill>
          <a:ln>
            <a:noFill/>
          </a:ln>
          <a:effectLst/>
        </p:spPr>
        <p:txBody>
          <a:bodyPr rtlCol="0" anchor="ctr"/>
          <a:lstStyle/>
          <a:p>
            <a:pPr algn="ctr"/>
          </a:p>
        </p:txBody>
      </p:sp>
      <p:sp>
        <p:nvSpPr>
          <p:cNvPr id="19" name="TextBox 18"/>
          <p:cNvSpPr txBox="1"/>
          <p:nvPr/>
        </p:nvSpPr>
        <p:spPr>
          <a:xfrm>
            <a:off x="6903720" y="3666744"/>
            <a:ext cx="324612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0B4F6C"/>
                </a:solidFill>
                <a:latin typeface="Consolas"/>
              </a:rPr>
              <a:t>facturesFiltrees</a:t>
            </a:r>
          </a:p>
        </p:txBody>
      </p:sp>
      <p:sp>
        <p:nvSpPr>
          <p:cNvPr id="20" name="TextBox 19"/>
          <p:cNvSpPr txBox="1"/>
          <p:nvPr/>
        </p:nvSpPr>
        <p:spPr>
          <a:xfrm>
            <a:off x="6903720" y="3959352"/>
            <a:ext cx="3246120" cy="667512"/>
          </a:xfrm>
          <a:prstGeom prst="rect">
            <a:avLst/>
          </a:prstGeom>
          <a:noFill/>
        </p:spPr>
        <p:txBody>
          <a:bodyPr wrap="square" lIns="0" rIns="0" tIns="0" bIns="0" anchor="t">
            <a:noAutofit/>
          </a:bodyPr>
          <a:lstStyle/>
          <a:p>
            <a:pPr algn="l">
              <a:lnSpc>
                <a:spcPct val="102000"/>
              </a:lnSpc>
              <a:spcBef>
                <a:spcPts val="0"/>
              </a:spcBef>
              <a:spcAft>
                <a:spcPts val="0"/>
              </a:spcAft>
            </a:pPr>
            <a:r>
              <a:rPr b="0" sz="1200" i="0">
                <a:solidFill>
                  <a:srgbClr val="5C6E76"/>
                </a:solidFill>
                <a:latin typeface="Consolas"/>
              </a:rPr>
              <a:t>computed(() =&gt; …)</a:t>
            </a:r>
          </a:p>
        </p:txBody>
      </p:sp>
      <p:sp>
        <p:nvSpPr>
          <p:cNvPr id="21" name="Rounded Rectangle 20"/>
          <p:cNvSpPr/>
          <p:nvPr/>
        </p:nvSpPr>
        <p:spPr>
          <a:xfrm>
            <a:off x="11109960" y="3017520"/>
            <a:ext cx="2468880" cy="914400"/>
          </a:xfrm>
          <a:prstGeom prst="roundRect">
            <a:avLst>
              <a:gd name="adj" fmla="val 12000"/>
            </a:avLst>
          </a:prstGeom>
          <a:solidFill>
            <a:srgbClr val="FFFFFF"/>
          </a:solidFill>
          <a:ln w="9525">
            <a:solidFill>
              <a:srgbClr val="E0E6E8"/>
            </a:solidFill>
          </a:ln>
          <a:effectLst/>
        </p:spPr>
        <p:txBody>
          <a:bodyPr rtlCol="0" anchor="ctr"/>
          <a:lstStyle/>
          <a:p>
            <a:pPr algn="ctr"/>
          </a:p>
        </p:txBody>
      </p:sp>
      <p:sp>
        <p:nvSpPr>
          <p:cNvPr id="22" name="Rectangle 21"/>
          <p:cNvSpPr/>
          <p:nvPr/>
        </p:nvSpPr>
        <p:spPr>
          <a:xfrm>
            <a:off x="11109960" y="3017520"/>
            <a:ext cx="54864" cy="914400"/>
          </a:xfrm>
          <a:prstGeom prst="rect">
            <a:avLst/>
          </a:prstGeom>
          <a:solidFill>
            <a:srgbClr val="0B4F6C"/>
          </a:solidFill>
          <a:ln>
            <a:noFill/>
          </a:ln>
          <a:effectLst/>
        </p:spPr>
        <p:txBody>
          <a:bodyPr rtlCol="0" anchor="ctr"/>
          <a:lstStyle/>
          <a:p>
            <a:pPr algn="ctr"/>
          </a:p>
        </p:txBody>
      </p:sp>
      <p:sp>
        <p:nvSpPr>
          <p:cNvPr id="23" name="TextBox 22"/>
          <p:cNvSpPr txBox="1"/>
          <p:nvPr/>
        </p:nvSpPr>
        <p:spPr>
          <a:xfrm>
            <a:off x="11292840" y="3163824"/>
            <a:ext cx="214884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0B4F6C"/>
                </a:solidFill>
                <a:latin typeface="Consolas"/>
              </a:rPr>
              <a:t>Vue</a:t>
            </a:r>
          </a:p>
        </p:txBody>
      </p:sp>
      <p:sp>
        <p:nvSpPr>
          <p:cNvPr id="24" name="TextBox 23"/>
          <p:cNvSpPr txBox="1"/>
          <p:nvPr/>
        </p:nvSpPr>
        <p:spPr>
          <a:xfrm>
            <a:off x="11292840" y="3456432"/>
            <a:ext cx="2148840" cy="438912"/>
          </a:xfrm>
          <a:prstGeom prst="rect">
            <a:avLst/>
          </a:prstGeom>
          <a:noFill/>
        </p:spPr>
        <p:txBody>
          <a:bodyPr wrap="square" lIns="0" rIns="0" tIns="0" bIns="0" anchor="t">
            <a:noAutofit/>
          </a:bodyPr>
          <a:lstStyle/>
          <a:p>
            <a:pPr algn="l">
              <a:lnSpc>
                <a:spcPct val="102000"/>
              </a:lnSpc>
              <a:spcBef>
                <a:spcPts val="0"/>
              </a:spcBef>
              <a:spcAft>
                <a:spcPts val="0"/>
              </a:spcAft>
            </a:pPr>
            <a:r>
              <a:rPr b="0" sz="1200" i="0">
                <a:solidFill>
                  <a:srgbClr val="5C6E76"/>
                </a:solidFill>
                <a:latin typeface="Consolas"/>
              </a:rPr>
              <a:t>@for / @empty</a:t>
            </a:r>
          </a:p>
        </p:txBody>
      </p:sp>
      <p:sp>
        <p:nvSpPr>
          <p:cNvPr id="25" name="Rounded Rectangle 24"/>
          <p:cNvSpPr/>
          <p:nvPr/>
        </p:nvSpPr>
        <p:spPr>
          <a:xfrm>
            <a:off x="11109960" y="4206240"/>
            <a:ext cx="2468880" cy="914400"/>
          </a:xfrm>
          <a:prstGeom prst="roundRect">
            <a:avLst>
              <a:gd name="adj" fmla="val 12000"/>
            </a:avLst>
          </a:prstGeom>
          <a:solidFill>
            <a:srgbClr val="FFFFFF"/>
          </a:solidFill>
          <a:ln w="9525">
            <a:solidFill>
              <a:srgbClr val="E0E6E8"/>
            </a:solidFill>
          </a:ln>
          <a:effectLst/>
        </p:spPr>
        <p:txBody>
          <a:bodyPr rtlCol="0" anchor="ctr"/>
          <a:lstStyle/>
          <a:p>
            <a:pPr algn="ctr"/>
          </a:p>
        </p:txBody>
      </p:sp>
      <p:sp>
        <p:nvSpPr>
          <p:cNvPr id="26" name="Rectangle 25"/>
          <p:cNvSpPr/>
          <p:nvPr/>
        </p:nvSpPr>
        <p:spPr>
          <a:xfrm>
            <a:off x="11109960" y="4206240"/>
            <a:ext cx="54864" cy="914400"/>
          </a:xfrm>
          <a:prstGeom prst="rect">
            <a:avLst/>
          </a:prstGeom>
          <a:solidFill>
            <a:srgbClr val="0B4F6C"/>
          </a:solidFill>
          <a:ln>
            <a:noFill/>
          </a:ln>
          <a:effectLst/>
        </p:spPr>
        <p:txBody>
          <a:bodyPr rtlCol="0" anchor="ctr"/>
          <a:lstStyle/>
          <a:p>
            <a:pPr algn="ctr"/>
          </a:p>
        </p:txBody>
      </p:sp>
      <p:sp>
        <p:nvSpPr>
          <p:cNvPr id="27" name="TextBox 26"/>
          <p:cNvSpPr txBox="1"/>
          <p:nvPr/>
        </p:nvSpPr>
        <p:spPr>
          <a:xfrm>
            <a:off x="11292840" y="4352544"/>
            <a:ext cx="214884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0B4F6C"/>
                </a:solidFill>
                <a:latin typeface="Consolas"/>
              </a:rPr>
              <a:t>totalTTC</a:t>
            </a:r>
          </a:p>
        </p:txBody>
      </p:sp>
      <p:sp>
        <p:nvSpPr>
          <p:cNvPr id="28" name="TextBox 27"/>
          <p:cNvSpPr txBox="1"/>
          <p:nvPr/>
        </p:nvSpPr>
        <p:spPr>
          <a:xfrm>
            <a:off x="11292840" y="4645152"/>
            <a:ext cx="2148840" cy="438912"/>
          </a:xfrm>
          <a:prstGeom prst="rect">
            <a:avLst/>
          </a:prstGeom>
          <a:noFill/>
        </p:spPr>
        <p:txBody>
          <a:bodyPr wrap="square" lIns="0" rIns="0" tIns="0" bIns="0" anchor="t">
            <a:noAutofit/>
          </a:bodyPr>
          <a:lstStyle/>
          <a:p>
            <a:pPr algn="l">
              <a:lnSpc>
                <a:spcPct val="102000"/>
              </a:lnSpc>
              <a:spcBef>
                <a:spcPts val="0"/>
              </a:spcBef>
              <a:spcAft>
                <a:spcPts val="0"/>
              </a:spcAft>
            </a:pPr>
            <a:r>
              <a:rPr b="0" sz="1200" i="0">
                <a:solidFill>
                  <a:srgbClr val="5C6E76"/>
                </a:solidFill>
                <a:latin typeface="Consolas"/>
              </a:rPr>
              <a:t>computed(() =&gt; …)</a:t>
            </a:r>
          </a:p>
        </p:txBody>
      </p:sp>
      <p:cxnSp>
        <p:nvCxnSpPr>
          <p:cNvPr id="29" name="Connector 28"/>
          <p:cNvCxnSpPr/>
          <p:nvPr/>
        </p:nvCxnSpPr>
        <p:spPr>
          <a:xfrm>
            <a:off x="5897880" y="3493008"/>
            <a:ext cx="822960" cy="347472"/>
          </a:xfrm>
          <a:prstGeom prst="line">
            <a:avLst/>
          </a:prstGeom>
          <a:ln w="17780">
            <a:solidFill>
              <a:srgbClr val="8A9A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897880" y="4343400"/>
            <a:ext cx="822960" cy="301752"/>
          </a:xfrm>
          <a:prstGeom prst="line">
            <a:avLst/>
          </a:prstGeom>
          <a:ln w="17780">
            <a:solidFill>
              <a:srgbClr val="8A9A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0287000" y="3520440"/>
            <a:ext cx="822960" cy="320040"/>
          </a:xfrm>
          <a:prstGeom prst="line">
            <a:avLst/>
          </a:prstGeom>
          <a:ln w="17780">
            <a:solidFill>
              <a:srgbClr val="8A9A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287000" y="4343400"/>
            <a:ext cx="822960" cy="274320"/>
          </a:xfrm>
          <a:prstGeom prst="line">
            <a:avLst/>
          </a:prstGeom>
          <a:ln w="17780">
            <a:solidFill>
              <a:srgbClr val="8A9A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3898880" y="3246120"/>
            <a:ext cx="2971800" cy="1920240"/>
          </a:xfrm>
          <a:prstGeom prst="rect">
            <a:avLst/>
          </a:prstGeom>
          <a:noFill/>
        </p:spPr>
        <p:txBody>
          <a:bodyPr wrap="square" lIns="0" rIns="0" tIns="0" bIns="0" anchor="t">
            <a:noAutofit/>
          </a:bodyPr>
          <a:lstStyle/>
          <a:p>
            <a:pPr algn="l">
              <a:lnSpc>
                <a:spcPct val="112000"/>
              </a:lnSpc>
              <a:spcBef>
                <a:spcPts val="0"/>
              </a:spcBef>
              <a:spcAft>
                <a:spcPts val="0"/>
              </a:spcAft>
            </a:pPr>
            <a:r>
              <a:rPr b="1" sz="1250" i="0">
                <a:solidFill>
                  <a:srgbClr val="1B3B47"/>
                </a:solidFill>
                <a:latin typeface="Arial"/>
              </a:rPr>
              <a:t>signal()</a:t>
            </a:r>
          </a:p>
          <a:p>
            <a:pPr algn="l">
              <a:lnSpc>
                <a:spcPct val="112000"/>
              </a:lnSpc>
              <a:spcBef>
                <a:spcPts val="0"/>
              </a:spcBef>
              <a:spcAft>
                <a:spcPts val="0"/>
              </a:spcAft>
            </a:pPr>
            <a:r>
              <a:rPr b="0" sz="1250" i="0">
                <a:solidFill>
                  <a:srgbClr val="1B3B47"/>
                </a:solidFill>
                <a:latin typeface="Arial"/>
              </a:rPr>
              <a:t>Une valeur réactive.</a:t>
            </a:r>
          </a:p>
          <a:p>
            <a:pPr algn="l">
              <a:lnSpc>
                <a:spcPct val="112000"/>
              </a:lnSpc>
              <a:spcBef>
                <a:spcPts val="0"/>
              </a:spcBef>
              <a:spcAft>
                <a:spcPts val="0"/>
              </a:spcAft>
            </a:pPr>
          </a:p>
          <a:p>
            <a:pPr algn="l">
              <a:lnSpc>
                <a:spcPct val="112000"/>
              </a:lnSpc>
              <a:spcBef>
                <a:spcPts val="0"/>
              </a:spcBef>
              <a:spcAft>
                <a:spcPts val="0"/>
              </a:spcAft>
            </a:pPr>
            <a:r>
              <a:rPr b="1" sz="1250" i="0">
                <a:solidFill>
                  <a:srgbClr val="1B3B47"/>
                </a:solidFill>
                <a:latin typeface="Arial"/>
              </a:rPr>
              <a:t>computed()</a:t>
            </a:r>
          </a:p>
          <a:p>
            <a:pPr algn="l">
              <a:lnSpc>
                <a:spcPct val="112000"/>
              </a:lnSpc>
              <a:spcBef>
                <a:spcPts val="0"/>
              </a:spcBef>
              <a:spcAft>
                <a:spcPts val="0"/>
              </a:spcAft>
            </a:pPr>
            <a:r>
              <a:rPr b="0" sz="1250" i="0">
                <a:solidFill>
                  <a:srgbClr val="1B3B47"/>
                </a:solidFill>
                <a:latin typeface="Arial"/>
              </a:rPr>
              <a:t>Une valeur dérivée, mémoïsée.</a:t>
            </a:r>
          </a:p>
          <a:p>
            <a:pPr algn="l">
              <a:lnSpc>
                <a:spcPct val="112000"/>
              </a:lnSpc>
              <a:spcBef>
                <a:spcPts val="0"/>
              </a:spcBef>
              <a:spcAft>
                <a:spcPts val="0"/>
              </a:spcAft>
            </a:pPr>
          </a:p>
          <a:p>
            <a:pPr algn="l">
              <a:lnSpc>
                <a:spcPct val="112000"/>
              </a:lnSpc>
              <a:spcBef>
                <a:spcPts val="0"/>
              </a:spcBef>
              <a:spcAft>
                <a:spcPts val="0"/>
              </a:spcAft>
            </a:pPr>
            <a:r>
              <a:rPr b="1" sz="1250" i="0">
                <a:solidFill>
                  <a:srgbClr val="1B3B47"/>
                </a:solidFill>
                <a:latin typeface="Arial"/>
              </a:rPr>
              <a:t>effect()</a:t>
            </a:r>
          </a:p>
          <a:p>
            <a:pPr algn="l">
              <a:lnSpc>
                <a:spcPct val="112000"/>
              </a:lnSpc>
              <a:spcBef>
                <a:spcPts val="0"/>
              </a:spcBef>
              <a:spcAft>
                <a:spcPts val="0"/>
              </a:spcAft>
            </a:pPr>
            <a:r>
              <a:rPr b="0" sz="1250" i="0">
                <a:solidFill>
                  <a:srgbClr val="1B3B47"/>
                </a:solidFill>
                <a:latin typeface="Arial"/>
              </a:rPr>
              <a:t>Un effet de bord, jamais pour dériver.</a:t>
            </a:r>
          </a:p>
        </p:txBody>
      </p:sp>
      <p:sp>
        <p:nvSpPr>
          <p:cNvPr id="34" name="Rounded Rectangle 33"/>
          <p:cNvSpPr/>
          <p:nvPr/>
        </p:nvSpPr>
        <p:spPr>
          <a:xfrm>
            <a:off x="2606040" y="5440680"/>
            <a:ext cx="9144000" cy="3977639"/>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35" name="Oval 34"/>
          <p:cNvSpPr/>
          <p:nvPr/>
        </p:nvSpPr>
        <p:spPr>
          <a:xfrm>
            <a:off x="2825496" y="5614416"/>
            <a:ext cx="82296" cy="82296"/>
          </a:xfrm>
          <a:prstGeom prst="ellipse">
            <a:avLst/>
          </a:prstGeom>
          <a:solidFill>
            <a:srgbClr val="ED1548"/>
          </a:solidFill>
          <a:ln>
            <a:noFill/>
          </a:ln>
          <a:effectLst/>
        </p:spPr>
        <p:txBody>
          <a:bodyPr rtlCol="0" anchor="ctr"/>
          <a:lstStyle/>
          <a:p>
            <a:pPr algn="ctr"/>
          </a:p>
        </p:txBody>
      </p:sp>
      <p:sp>
        <p:nvSpPr>
          <p:cNvPr id="36" name="TextBox 35"/>
          <p:cNvSpPr txBox="1"/>
          <p:nvPr/>
        </p:nvSpPr>
        <p:spPr>
          <a:xfrm>
            <a:off x="2990088" y="5550408"/>
            <a:ext cx="850392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facture-list.ts</a:t>
            </a:r>
          </a:p>
        </p:txBody>
      </p:sp>
      <p:sp>
        <p:nvSpPr>
          <p:cNvPr id="37" name="TextBox 36"/>
          <p:cNvSpPr txBox="1"/>
          <p:nvPr/>
        </p:nvSpPr>
        <p:spPr>
          <a:xfrm>
            <a:off x="2852928" y="5916168"/>
            <a:ext cx="8686800" cy="3337559"/>
          </a:xfrm>
          <a:prstGeom prst="rect">
            <a:avLst/>
          </a:prstGeom>
          <a:noFill/>
        </p:spPr>
        <p:txBody>
          <a:bodyPr wrap="none" lIns="0" rIns="0" tIns="0" bIns="0">
            <a:noAutofit/>
          </a:bodyPr>
          <a:lstStyle/>
          <a:p>
            <a:pPr>
              <a:lnSpc>
                <a:spcPct val="100000"/>
              </a:lnSpc>
              <a:spcBef>
                <a:spcPts val="0"/>
              </a:spcBef>
              <a:spcAft>
                <a:spcPts val="0"/>
              </a:spcAft>
            </a:pPr>
            <a:r>
              <a:rPr sz="1350">
                <a:solidFill>
                  <a:srgbClr val="EAF2F4"/>
                </a:solidFill>
                <a:latin typeface="Consolas"/>
              </a:rPr>
              <a:t>factures = signal&lt;Facture[]&gt;([]);</a:t>
            </a:r>
          </a:p>
          <a:p>
            <a:pPr>
              <a:lnSpc>
                <a:spcPct val="100000"/>
              </a:lnSpc>
              <a:spcBef>
                <a:spcPts val="0"/>
              </a:spcBef>
              <a:spcAft>
                <a:spcPts val="0"/>
              </a:spcAft>
            </a:pPr>
            <a:r>
              <a:rPr sz="1350">
                <a:solidFill>
                  <a:srgbClr val="EAF2F4"/>
                </a:solidFill>
                <a:latin typeface="Consolas"/>
              </a:rPr>
              <a:t>filtre   = signal&lt;</a:t>
            </a:r>
            <a:r>
              <a:rPr sz="1350">
                <a:solidFill>
                  <a:srgbClr val="FFB3C1"/>
                </a:solidFill>
                <a:latin typeface="Consolas"/>
              </a:rPr>
              <a:t>'tous'</a:t>
            </a:r>
            <a:r>
              <a:rPr sz="1350">
                <a:solidFill>
                  <a:srgbClr val="EAF2F4"/>
                </a:solidFill>
                <a:latin typeface="Consolas"/>
              </a:rPr>
              <a:t> | Statut&gt;(</a:t>
            </a:r>
            <a:r>
              <a:rPr sz="1350">
                <a:solidFill>
                  <a:srgbClr val="FFB3C1"/>
                </a:solidFill>
                <a:latin typeface="Consolas"/>
              </a:rPr>
              <a:t>'tous'</a:t>
            </a:r>
            <a:r>
              <a:rPr sz="1350">
                <a:solidFill>
                  <a:srgbClr val="EAF2F4"/>
                </a:solidFill>
                <a:latin typeface="Consolas"/>
              </a:rPr>
              <a:t>);</a:t>
            </a:r>
          </a:p>
          <a:p>
            <a:pPr>
              <a:lnSpc>
                <a:spcPct val="100000"/>
              </a:lnSpc>
              <a:spcBef>
                <a:spcPts val="0"/>
              </a:spcBef>
              <a:spcAft>
                <a:spcPts val="0"/>
              </a:spcAft>
            </a:pPr>
          </a:p>
          <a:p>
            <a:pPr>
              <a:lnSpc>
                <a:spcPct val="100000"/>
              </a:lnSpc>
              <a:spcBef>
                <a:spcPts val="0"/>
              </a:spcBef>
              <a:spcAft>
                <a:spcPts val="0"/>
              </a:spcAft>
            </a:pPr>
            <a:r>
              <a:rPr sz="1350">
                <a:solidFill>
                  <a:srgbClr val="EAF2F4"/>
                </a:solidFill>
                <a:latin typeface="Consolas"/>
              </a:rPr>
              <a:t>facturesFiltrees = computed(() =&gt;</a:t>
            </a:r>
          </a:p>
          <a:p>
            <a:pPr>
              <a:lnSpc>
                <a:spcPct val="100000"/>
              </a:lnSpc>
              <a:spcBef>
                <a:spcPts val="0"/>
              </a:spcBef>
              <a:spcAft>
                <a:spcPts val="0"/>
              </a:spcAft>
            </a:pPr>
            <a:r>
              <a:rPr sz="1350">
                <a:solidFill>
                  <a:srgbClr val="EAF2F4"/>
                </a:solidFill>
                <a:latin typeface="Consolas"/>
              </a:rPr>
              <a:t>  </a:t>
            </a:r>
            <a:r>
              <a:rPr sz="1350">
                <a:solidFill>
                  <a:srgbClr val="7FD1E0"/>
                </a:solidFill>
                <a:latin typeface="Consolas"/>
              </a:rPr>
              <a:t>this</a:t>
            </a:r>
            <a:r>
              <a:rPr sz="1350">
                <a:solidFill>
                  <a:srgbClr val="EAF2F4"/>
                </a:solidFill>
                <a:latin typeface="Consolas"/>
              </a:rPr>
              <a:t>.factures().filter(f =&gt;</a:t>
            </a:r>
          </a:p>
          <a:p>
            <a:pPr>
              <a:lnSpc>
                <a:spcPct val="100000"/>
              </a:lnSpc>
              <a:spcBef>
                <a:spcPts val="0"/>
              </a:spcBef>
              <a:spcAft>
                <a:spcPts val="0"/>
              </a:spcAft>
            </a:pPr>
            <a:r>
              <a:rPr sz="1350">
                <a:solidFill>
                  <a:srgbClr val="EAF2F4"/>
                </a:solidFill>
                <a:latin typeface="Consolas"/>
              </a:rPr>
              <a:t>    </a:t>
            </a:r>
            <a:r>
              <a:rPr sz="1350">
                <a:solidFill>
                  <a:srgbClr val="7FD1E0"/>
                </a:solidFill>
                <a:latin typeface="Consolas"/>
              </a:rPr>
              <a:t>this</a:t>
            </a:r>
            <a:r>
              <a:rPr sz="1350">
                <a:solidFill>
                  <a:srgbClr val="EAF2F4"/>
                </a:solidFill>
                <a:latin typeface="Consolas"/>
              </a:rPr>
              <a:t>.filtre() === </a:t>
            </a:r>
            <a:r>
              <a:rPr sz="1350">
                <a:solidFill>
                  <a:srgbClr val="FFB3C1"/>
                </a:solidFill>
                <a:latin typeface="Consolas"/>
              </a:rPr>
              <a:t>'tous'</a:t>
            </a:r>
            <a:r>
              <a:rPr sz="1350">
                <a:solidFill>
                  <a:srgbClr val="EAF2F4"/>
                </a:solidFill>
                <a:latin typeface="Consolas"/>
              </a:rPr>
              <a:t> || f.statut === </a:t>
            </a:r>
            <a:r>
              <a:rPr sz="1350">
                <a:solidFill>
                  <a:srgbClr val="7FD1E0"/>
                </a:solidFill>
                <a:latin typeface="Consolas"/>
              </a:rPr>
              <a:t>this</a:t>
            </a:r>
            <a:r>
              <a:rPr sz="1350">
                <a:solidFill>
                  <a:srgbClr val="EAF2F4"/>
                </a:solidFill>
                <a:latin typeface="Consolas"/>
              </a:rPr>
              <a:t>.filtre()));</a:t>
            </a:r>
          </a:p>
          <a:p>
            <a:pPr>
              <a:lnSpc>
                <a:spcPct val="100000"/>
              </a:lnSpc>
              <a:spcBef>
                <a:spcPts val="0"/>
              </a:spcBef>
              <a:spcAft>
                <a:spcPts val="0"/>
              </a:spcAft>
            </a:pPr>
          </a:p>
          <a:p>
            <a:pPr>
              <a:lnSpc>
                <a:spcPct val="100000"/>
              </a:lnSpc>
              <a:spcBef>
                <a:spcPts val="0"/>
              </a:spcBef>
              <a:spcAft>
                <a:spcPts val="0"/>
              </a:spcAft>
            </a:pPr>
            <a:r>
              <a:rPr sz="1350">
                <a:solidFill>
                  <a:srgbClr val="EAF2F4"/>
                </a:solidFill>
                <a:latin typeface="Consolas"/>
              </a:rPr>
              <a:t>totalTTC = computed(() =&gt;</a:t>
            </a:r>
          </a:p>
          <a:p>
            <a:pPr>
              <a:lnSpc>
                <a:spcPct val="100000"/>
              </a:lnSpc>
              <a:spcBef>
                <a:spcPts val="0"/>
              </a:spcBef>
              <a:spcAft>
                <a:spcPts val="0"/>
              </a:spcAft>
            </a:pPr>
            <a:r>
              <a:rPr sz="1350">
                <a:solidFill>
                  <a:srgbClr val="EAF2F4"/>
                </a:solidFill>
                <a:latin typeface="Consolas"/>
              </a:rPr>
              <a:t>  </a:t>
            </a:r>
            <a:r>
              <a:rPr sz="1350">
                <a:solidFill>
                  <a:srgbClr val="7FD1E0"/>
                </a:solidFill>
                <a:latin typeface="Consolas"/>
              </a:rPr>
              <a:t>this</a:t>
            </a:r>
            <a:r>
              <a:rPr sz="1350">
                <a:solidFill>
                  <a:srgbClr val="EAF2F4"/>
                </a:solidFill>
                <a:latin typeface="Consolas"/>
              </a:rPr>
              <a:t>.facturesFiltrees()</a:t>
            </a:r>
          </a:p>
          <a:p>
            <a:pPr>
              <a:lnSpc>
                <a:spcPct val="100000"/>
              </a:lnSpc>
              <a:spcBef>
                <a:spcPts val="0"/>
              </a:spcBef>
              <a:spcAft>
                <a:spcPts val="0"/>
              </a:spcAft>
            </a:pPr>
            <a:r>
              <a:rPr sz="1350">
                <a:solidFill>
                  <a:srgbClr val="EAF2F4"/>
                </a:solidFill>
                <a:latin typeface="Consolas"/>
              </a:rPr>
              <a:t>    .reduce((somme, f) =&gt; somme + f.montantTTC, </a:t>
            </a:r>
            <a:r>
              <a:rPr sz="1350">
                <a:solidFill>
                  <a:srgbClr val="FFD166"/>
                </a:solidFill>
                <a:latin typeface="Consolas"/>
              </a:rPr>
              <a:t>0</a:t>
            </a:r>
            <a:r>
              <a:rPr sz="1350">
                <a:solidFill>
                  <a:srgbClr val="EAF2F4"/>
                </a:solidFill>
                <a:latin typeface="Consolas"/>
              </a:rPr>
              <a:t>));</a:t>
            </a:r>
          </a:p>
          <a:p>
            <a:pPr>
              <a:lnSpc>
                <a:spcPct val="100000"/>
              </a:lnSpc>
              <a:spcBef>
                <a:spcPts val="0"/>
              </a:spcBef>
              <a:spcAft>
                <a:spcPts val="0"/>
              </a:spcAft>
            </a:pPr>
          </a:p>
          <a:p>
            <a:pPr>
              <a:lnSpc>
                <a:spcPct val="100000"/>
              </a:lnSpc>
              <a:spcBef>
                <a:spcPts val="0"/>
              </a:spcBef>
              <a:spcAft>
                <a:spcPts val="0"/>
              </a:spcAft>
            </a:pPr>
            <a:r>
              <a:rPr sz="1350" i="1">
                <a:solidFill>
                  <a:srgbClr val="7FA6B2"/>
                </a:solidFill>
                <a:latin typeface="Consolas"/>
              </a:rPr>
              <a:t>// mise à jour immuable : on remplace le tableau</a:t>
            </a:r>
          </a:p>
          <a:p>
            <a:pPr>
              <a:lnSpc>
                <a:spcPct val="100000"/>
              </a:lnSpc>
              <a:spcBef>
                <a:spcPts val="0"/>
              </a:spcBef>
              <a:spcAft>
                <a:spcPts val="0"/>
              </a:spcAft>
            </a:pPr>
            <a:r>
              <a:rPr sz="1350">
                <a:solidFill>
                  <a:srgbClr val="7FD1E0"/>
                </a:solidFill>
                <a:latin typeface="Consolas"/>
              </a:rPr>
              <a:t>this</a:t>
            </a:r>
            <a:r>
              <a:rPr sz="1350">
                <a:solidFill>
                  <a:srgbClr val="EAF2F4"/>
                </a:solidFill>
                <a:latin typeface="Consolas"/>
              </a:rPr>
              <a:t>.factures.update(liste =&gt; [...liste, nouvelle]);</a:t>
            </a:r>
          </a:p>
        </p:txBody>
      </p:sp>
      <p:sp>
        <p:nvSpPr>
          <p:cNvPr id="38" name="TextBox 37"/>
          <p:cNvSpPr txBox="1"/>
          <p:nvPr/>
        </p:nvSpPr>
        <p:spPr>
          <a:xfrm>
            <a:off x="11887200" y="5440680"/>
            <a:ext cx="5166360" cy="3840480"/>
          </a:xfrm>
          <a:prstGeom prst="rect">
            <a:avLst/>
          </a:prstGeom>
          <a:noFill/>
        </p:spPr>
        <p:txBody>
          <a:bodyPr wrap="square" lIns="0" rIns="0" tIns="0" bIns="0">
            <a:noAutofit/>
          </a:bodyPr>
          <a:lstStyle/>
          <a:p>
            <a:pPr marL="274320" indent="-274320">
              <a:lnSpc>
                <a:spcPct val="102000"/>
              </a:lnSpc>
              <a:spcBef>
                <a:spcPts val="0"/>
              </a:spcBef>
              <a:spcAft>
                <a:spcPts val="720"/>
              </a:spcAft>
              <a:buClr>
                <a:srgbClr val="ED1548"/>
              </a:buClr>
              <a:buFont typeface="Arial"/>
              <a:buChar char="•"/>
            </a:pPr>
            <a:r>
              <a:rPr b="1" sz="1400" i="0">
                <a:solidFill>
                  <a:srgbClr val="093544"/>
                </a:solidFill>
                <a:latin typeface="Arial"/>
              </a:rPr>
              <a:t>Pas d'abonnement</a:t>
            </a:r>
            <a:r>
              <a:rPr b="0" sz="1400" i="0">
                <a:solidFill>
                  <a:srgbClr val="093544"/>
                </a:solidFill>
                <a:latin typeface="Arial"/>
              </a:rPr>
              <a:t> : le template lit la valeur.</a:t>
            </a:r>
          </a:p>
          <a:p>
            <a:pPr marL="274320" indent="-274320">
              <a:lnSpc>
                <a:spcPct val="102000"/>
              </a:lnSpc>
              <a:spcBef>
                <a:spcPts val="0"/>
              </a:spcBef>
              <a:spcAft>
                <a:spcPts val="720"/>
              </a:spcAft>
              <a:buClr>
                <a:srgbClr val="ED1548"/>
              </a:buClr>
              <a:buFont typeface="Arial"/>
              <a:buChar char="•"/>
            </a:pPr>
            <a:r>
              <a:rPr b="1" sz="1400" i="0">
                <a:solidFill>
                  <a:srgbClr val="093544"/>
                </a:solidFill>
                <a:latin typeface="Arial"/>
              </a:rPr>
              <a:t>Mémoïsation</a:t>
            </a:r>
            <a:r>
              <a:rPr b="0" sz="1400" i="0">
                <a:solidFill>
                  <a:srgbClr val="093544"/>
                </a:solidFill>
                <a:latin typeface="Arial"/>
              </a:rPr>
              <a:t> : </a:t>
            </a:r>
            <a:r>
              <a:rPr sz="1260" b="0" i="0">
                <a:solidFill>
                  <a:srgbClr val="ED1548"/>
                </a:solidFill>
                <a:latin typeface="Consolas"/>
              </a:rPr>
              <a:t>computed</a:t>
            </a:r>
            <a:r>
              <a:rPr b="0" sz="1400" i="0">
                <a:solidFill>
                  <a:srgbClr val="093544"/>
                </a:solidFill>
                <a:latin typeface="Arial"/>
              </a:rPr>
              <a:t> ne recalcule que si une dépendance change.</a:t>
            </a:r>
          </a:p>
          <a:p>
            <a:pPr marL="274320" indent="-274320">
              <a:lnSpc>
                <a:spcPct val="102000"/>
              </a:lnSpc>
              <a:spcBef>
                <a:spcPts val="0"/>
              </a:spcBef>
              <a:spcAft>
                <a:spcPts val="720"/>
              </a:spcAft>
              <a:buClr>
                <a:srgbClr val="ED1548"/>
              </a:buClr>
              <a:buFont typeface="Arial"/>
              <a:buChar char="•"/>
            </a:pPr>
            <a:r>
              <a:rPr b="1" sz="1400" i="0">
                <a:solidFill>
                  <a:srgbClr val="093544"/>
                </a:solidFill>
                <a:latin typeface="Arial"/>
              </a:rPr>
              <a:t>Immutabilité</a:t>
            </a:r>
            <a:r>
              <a:rPr b="0" sz="1400" i="0">
                <a:solidFill>
                  <a:srgbClr val="093544"/>
                </a:solidFill>
                <a:latin typeface="Arial"/>
              </a:rPr>
              <a:t> : </a:t>
            </a:r>
            <a:r>
              <a:rPr sz="1260" b="0" i="0">
                <a:solidFill>
                  <a:srgbClr val="ED1548"/>
                </a:solidFill>
                <a:latin typeface="Consolas"/>
              </a:rPr>
              <a:t>update()</a:t>
            </a:r>
            <a:r>
              <a:rPr b="0" sz="1400" i="0">
                <a:solidFill>
                  <a:srgbClr val="093544"/>
                </a:solidFill>
                <a:latin typeface="Arial"/>
              </a:rPr>
              <a:t> avec un nouveau tableau, pas </a:t>
            </a:r>
            <a:r>
              <a:rPr sz="1260" b="0" i="0">
                <a:solidFill>
                  <a:srgbClr val="ED1548"/>
                </a:solidFill>
                <a:latin typeface="Consolas"/>
              </a:rPr>
              <a:t>push()</a:t>
            </a:r>
            <a:r>
              <a:rPr b="0" sz="1400" i="0">
                <a:solidFill>
                  <a:srgbClr val="093544"/>
                </a:solidFill>
                <a:latin typeface="Arial"/>
              </a:rPr>
              <a:t>.</a:t>
            </a:r>
          </a:p>
          <a:p>
            <a:pPr marL="274320" indent="-274320">
              <a:lnSpc>
                <a:spcPct val="102000"/>
              </a:lnSpc>
              <a:spcBef>
                <a:spcPts val="0"/>
              </a:spcBef>
              <a:spcAft>
                <a:spcPts val="720"/>
              </a:spcAft>
              <a:buClr>
                <a:srgbClr val="ED1548"/>
              </a:buClr>
              <a:buFont typeface="Arial"/>
              <a:buChar char="•"/>
            </a:pPr>
            <a:r>
              <a:rPr b="1" sz="1400" i="0">
                <a:solidFill>
                  <a:srgbClr val="093544"/>
                </a:solidFill>
                <a:latin typeface="Arial"/>
              </a:rPr>
              <a:t>Piège</a:t>
            </a:r>
            <a:r>
              <a:rPr b="0" sz="1400" i="0">
                <a:solidFill>
                  <a:srgbClr val="093544"/>
                </a:solidFill>
                <a:latin typeface="Arial"/>
              </a:rPr>
              <a:t> : ne pas écrire de signal dans un </a:t>
            </a:r>
            <a:r>
              <a:rPr sz="1260" b="0" i="0">
                <a:solidFill>
                  <a:srgbClr val="ED1548"/>
                </a:solidFill>
                <a:latin typeface="Consolas"/>
              </a:rPr>
              <a:t>effect()</a:t>
            </a:r>
            <a:r>
              <a:rPr b="0" sz="1400" i="0">
                <a:solidFill>
                  <a:srgbClr val="093544"/>
                </a:solidFill>
                <a:latin typeface="Arial"/>
              </a:rPr>
              <a:t> pour dériver un état.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1  ·  TP 2 &amp; 3</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De la liste statique au filtre réactif</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Deux TPs qui s'enchaînent : d'abord afficher, ensuite filtrer.</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16 / 62</a:t>
            </a:r>
          </a:p>
        </p:txBody>
      </p:sp>
      <p:sp>
        <p:nvSpPr>
          <p:cNvPr id="9" name="Rounded Rectangle 8"/>
          <p:cNvSpPr/>
          <p:nvPr/>
        </p:nvSpPr>
        <p:spPr>
          <a:xfrm>
            <a:off x="2606040" y="3063240"/>
            <a:ext cx="7223760" cy="544068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0" name="Rectangle 9"/>
          <p:cNvSpPr/>
          <p:nvPr/>
        </p:nvSpPr>
        <p:spPr>
          <a:xfrm>
            <a:off x="2606040" y="3063240"/>
            <a:ext cx="7223760" cy="50292"/>
          </a:xfrm>
          <a:prstGeom prst="rect">
            <a:avLst/>
          </a:prstGeom>
          <a:solidFill>
            <a:srgbClr val="0B4F6C"/>
          </a:solidFill>
          <a:ln>
            <a:noFill/>
          </a:ln>
          <a:effectLst/>
        </p:spPr>
        <p:txBody>
          <a:bodyPr rtlCol="0" anchor="ctr"/>
          <a:lstStyle/>
          <a:p>
            <a:pPr algn="ctr"/>
          </a:p>
        </p:txBody>
      </p:sp>
      <p:sp>
        <p:nvSpPr>
          <p:cNvPr id="11" name="TextBox 10"/>
          <p:cNvSpPr txBox="1"/>
          <p:nvPr/>
        </p:nvSpPr>
        <p:spPr>
          <a:xfrm>
            <a:off x="2880360" y="3264408"/>
            <a:ext cx="6583680" cy="320040"/>
          </a:xfrm>
          <a:prstGeom prst="rect">
            <a:avLst/>
          </a:prstGeom>
          <a:noFill/>
        </p:spPr>
        <p:txBody>
          <a:bodyPr wrap="square" lIns="0" rIns="0" tIns="0" bIns="0" anchor="t">
            <a:noAutofit/>
          </a:bodyPr>
          <a:lstStyle/>
          <a:p>
            <a:pPr algn="l">
              <a:lnSpc>
                <a:spcPct val="102000"/>
              </a:lnSpc>
              <a:spcBef>
                <a:spcPts val="0"/>
              </a:spcBef>
              <a:spcAft>
                <a:spcPts val="0"/>
              </a:spcAft>
            </a:pPr>
            <a:r>
              <a:rPr b="1" sz="1800" i="0">
                <a:solidFill>
                  <a:srgbClr val="0B4F6C"/>
                </a:solidFill>
                <a:latin typeface="Arial"/>
              </a:rPr>
              <a:t>TP 2 — Liste statique</a:t>
            </a:r>
          </a:p>
        </p:txBody>
      </p:sp>
      <p:sp>
        <p:nvSpPr>
          <p:cNvPr id="12" name="Oval 11"/>
          <p:cNvSpPr/>
          <p:nvPr/>
        </p:nvSpPr>
        <p:spPr>
          <a:xfrm>
            <a:off x="2880360" y="3794759"/>
            <a:ext cx="329184" cy="329184"/>
          </a:xfrm>
          <a:prstGeom prst="ellipse">
            <a:avLst/>
          </a:prstGeom>
          <a:solidFill>
            <a:srgbClr val="ED1548"/>
          </a:solidFill>
          <a:ln>
            <a:noFill/>
          </a:ln>
          <a:effectLst/>
        </p:spPr>
        <p:txBody>
          <a:bodyPr rtlCol="0" anchor="ctr" lIns="0" rIns="0" tIns="0" bIns="0"/>
          <a:lstStyle/>
          <a:p>
            <a:pPr algn="ctr"/>
            <a:r>
              <a:rPr sz="1317" b="1">
                <a:solidFill>
                  <a:srgbClr val="FFFFFF"/>
                </a:solidFill>
                <a:latin typeface="Arial"/>
              </a:rPr>
              <a:t>1</a:t>
            </a:r>
          </a:p>
        </p:txBody>
      </p:sp>
      <p:sp>
        <p:nvSpPr>
          <p:cNvPr id="13" name="TextBox 12"/>
          <p:cNvSpPr txBox="1"/>
          <p:nvPr/>
        </p:nvSpPr>
        <p:spPr>
          <a:xfrm>
            <a:off x="3383280" y="3794759"/>
            <a:ext cx="6080760" cy="819302"/>
          </a:xfrm>
          <a:prstGeom prst="rect">
            <a:avLst/>
          </a:prstGeom>
          <a:noFill/>
        </p:spPr>
        <p:txBody>
          <a:bodyPr wrap="square" lIns="0" rIns="0" tIns="0" bIns="0" anchor="t">
            <a:noAutofit/>
          </a:bodyPr>
          <a:lstStyle/>
          <a:p>
            <a:pPr algn="l">
              <a:lnSpc>
                <a:spcPct val="106000"/>
              </a:lnSpc>
              <a:spcBef>
                <a:spcPts val="0"/>
              </a:spcBef>
              <a:spcAft>
                <a:spcPts val="0"/>
              </a:spcAft>
            </a:pPr>
            <a:r>
              <a:rPr b="0" sz="1550" i="0">
                <a:solidFill>
                  <a:srgbClr val="1B3B47"/>
                </a:solidFill>
                <a:latin typeface="Arial"/>
              </a:rPr>
              <a:t>Créer </a:t>
            </a:r>
            <a:r>
              <a:rPr sz="1395" b="0" i="0">
                <a:solidFill>
                  <a:srgbClr val="ED1548"/>
                </a:solidFill>
                <a:latin typeface="Consolas"/>
              </a:rPr>
              <a:t>core/models/facture.ts</a:t>
            </a:r>
            <a:r>
              <a:rPr b="0" sz="1550" i="0">
                <a:solidFill>
                  <a:srgbClr val="1B3B47"/>
                </a:solidFill>
                <a:latin typeface="Arial"/>
              </a:rPr>
              <a:t> avec l'interface </a:t>
            </a:r>
            <a:r>
              <a:rPr sz="1395" b="0" i="0">
                <a:solidFill>
                  <a:srgbClr val="ED1548"/>
                </a:solidFill>
                <a:latin typeface="Consolas"/>
              </a:rPr>
              <a:t>Facture</a:t>
            </a:r>
            <a:r>
              <a:rPr b="0" sz="1550" i="0">
                <a:solidFill>
                  <a:srgbClr val="1B3B47"/>
                </a:solidFill>
                <a:latin typeface="Arial"/>
              </a:rPr>
              <a:t>.</a:t>
            </a:r>
          </a:p>
        </p:txBody>
      </p:sp>
      <p:sp>
        <p:nvSpPr>
          <p:cNvPr id="14" name="Oval 13"/>
          <p:cNvSpPr/>
          <p:nvPr/>
        </p:nvSpPr>
        <p:spPr>
          <a:xfrm>
            <a:off x="2880360" y="4705502"/>
            <a:ext cx="329184" cy="329184"/>
          </a:xfrm>
          <a:prstGeom prst="ellipse">
            <a:avLst/>
          </a:prstGeom>
          <a:solidFill>
            <a:srgbClr val="ED1548"/>
          </a:solidFill>
          <a:ln>
            <a:noFill/>
          </a:ln>
          <a:effectLst/>
        </p:spPr>
        <p:txBody>
          <a:bodyPr rtlCol="0" anchor="ctr" lIns="0" rIns="0" tIns="0" bIns="0"/>
          <a:lstStyle/>
          <a:p>
            <a:pPr algn="ctr"/>
            <a:r>
              <a:rPr sz="1317" b="1">
                <a:solidFill>
                  <a:srgbClr val="FFFFFF"/>
                </a:solidFill>
                <a:latin typeface="Arial"/>
              </a:rPr>
              <a:t>2</a:t>
            </a:r>
          </a:p>
        </p:txBody>
      </p:sp>
      <p:sp>
        <p:nvSpPr>
          <p:cNvPr id="15" name="TextBox 14"/>
          <p:cNvSpPr txBox="1"/>
          <p:nvPr/>
        </p:nvSpPr>
        <p:spPr>
          <a:xfrm>
            <a:off x="3383280" y="4705502"/>
            <a:ext cx="6080760" cy="819302"/>
          </a:xfrm>
          <a:prstGeom prst="rect">
            <a:avLst/>
          </a:prstGeom>
          <a:noFill/>
        </p:spPr>
        <p:txBody>
          <a:bodyPr wrap="square" lIns="0" rIns="0" tIns="0" bIns="0" anchor="t">
            <a:noAutofit/>
          </a:bodyPr>
          <a:lstStyle/>
          <a:p>
            <a:pPr algn="l">
              <a:lnSpc>
                <a:spcPct val="106000"/>
              </a:lnSpc>
              <a:spcBef>
                <a:spcPts val="0"/>
              </a:spcBef>
              <a:spcAft>
                <a:spcPts val="0"/>
              </a:spcAft>
            </a:pPr>
            <a:r>
              <a:rPr b="0" sz="1550" i="0">
                <a:solidFill>
                  <a:srgbClr val="1B3B47"/>
                </a:solidFill>
                <a:latin typeface="Arial"/>
              </a:rPr>
              <a:t>Déclarer 3 factures en dur dans le composant.</a:t>
            </a:r>
          </a:p>
        </p:txBody>
      </p:sp>
      <p:sp>
        <p:nvSpPr>
          <p:cNvPr id="16" name="Oval 15"/>
          <p:cNvSpPr/>
          <p:nvPr/>
        </p:nvSpPr>
        <p:spPr>
          <a:xfrm>
            <a:off x="2880360" y="5616244"/>
            <a:ext cx="329184" cy="329184"/>
          </a:xfrm>
          <a:prstGeom prst="ellipse">
            <a:avLst/>
          </a:prstGeom>
          <a:solidFill>
            <a:srgbClr val="ED1548"/>
          </a:solidFill>
          <a:ln>
            <a:noFill/>
          </a:ln>
          <a:effectLst/>
        </p:spPr>
        <p:txBody>
          <a:bodyPr rtlCol="0" anchor="ctr" lIns="0" rIns="0" tIns="0" bIns="0"/>
          <a:lstStyle/>
          <a:p>
            <a:pPr algn="ctr"/>
            <a:r>
              <a:rPr sz="1317" b="1">
                <a:solidFill>
                  <a:srgbClr val="FFFFFF"/>
                </a:solidFill>
                <a:latin typeface="Arial"/>
              </a:rPr>
              <a:t>3</a:t>
            </a:r>
          </a:p>
        </p:txBody>
      </p:sp>
      <p:sp>
        <p:nvSpPr>
          <p:cNvPr id="17" name="TextBox 16"/>
          <p:cNvSpPr txBox="1"/>
          <p:nvPr/>
        </p:nvSpPr>
        <p:spPr>
          <a:xfrm>
            <a:off x="3383280" y="5616244"/>
            <a:ext cx="6080760" cy="819302"/>
          </a:xfrm>
          <a:prstGeom prst="rect">
            <a:avLst/>
          </a:prstGeom>
          <a:noFill/>
        </p:spPr>
        <p:txBody>
          <a:bodyPr wrap="square" lIns="0" rIns="0" tIns="0" bIns="0" anchor="t">
            <a:noAutofit/>
          </a:bodyPr>
          <a:lstStyle/>
          <a:p>
            <a:pPr algn="l">
              <a:lnSpc>
                <a:spcPct val="106000"/>
              </a:lnSpc>
              <a:spcBef>
                <a:spcPts val="0"/>
              </a:spcBef>
              <a:spcAft>
                <a:spcPts val="0"/>
              </a:spcAft>
            </a:pPr>
            <a:r>
              <a:rPr b="0" sz="1550" i="0">
                <a:solidFill>
                  <a:srgbClr val="1B3B47"/>
                </a:solidFill>
                <a:latin typeface="Arial"/>
              </a:rPr>
              <a:t>Afficher avec </a:t>
            </a:r>
            <a:r>
              <a:rPr sz="1395" b="0" i="0">
                <a:solidFill>
                  <a:srgbClr val="ED1548"/>
                </a:solidFill>
                <a:latin typeface="Consolas"/>
              </a:rPr>
              <a:t>@for … track f.id</a:t>
            </a:r>
            <a:r>
              <a:rPr b="0" sz="1550" i="0">
                <a:solidFill>
                  <a:srgbClr val="1B3B47"/>
                </a:solidFill>
                <a:latin typeface="Arial"/>
              </a:rPr>
              <a:t> et </a:t>
            </a:r>
            <a:r>
              <a:rPr sz="1395" b="0" i="0">
                <a:solidFill>
                  <a:srgbClr val="ED1548"/>
                </a:solidFill>
                <a:latin typeface="Consolas"/>
              </a:rPr>
              <a:t>@empty</a:t>
            </a:r>
            <a:r>
              <a:rPr b="0" sz="1550" i="0">
                <a:solidFill>
                  <a:srgbClr val="1B3B47"/>
                </a:solidFill>
                <a:latin typeface="Arial"/>
              </a:rPr>
              <a:t>.</a:t>
            </a:r>
          </a:p>
        </p:txBody>
      </p:sp>
      <p:sp>
        <p:nvSpPr>
          <p:cNvPr id="18" name="Oval 17"/>
          <p:cNvSpPr/>
          <p:nvPr/>
        </p:nvSpPr>
        <p:spPr>
          <a:xfrm>
            <a:off x="2880360" y="6526987"/>
            <a:ext cx="329184" cy="329184"/>
          </a:xfrm>
          <a:prstGeom prst="ellipse">
            <a:avLst/>
          </a:prstGeom>
          <a:solidFill>
            <a:srgbClr val="ED1548"/>
          </a:solidFill>
          <a:ln>
            <a:noFill/>
          </a:ln>
          <a:effectLst/>
        </p:spPr>
        <p:txBody>
          <a:bodyPr rtlCol="0" anchor="ctr" lIns="0" rIns="0" tIns="0" bIns="0"/>
          <a:lstStyle/>
          <a:p>
            <a:pPr algn="ctr"/>
            <a:r>
              <a:rPr sz="1317" b="1">
                <a:solidFill>
                  <a:srgbClr val="FFFFFF"/>
                </a:solidFill>
                <a:latin typeface="Arial"/>
              </a:rPr>
              <a:t>4</a:t>
            </a:r>
          </a:p>
        </p:txBody>
      </p:sp>
      <p:sp>
        <p:nvSpPr>
          <p:cNvPr id="19" name="TextBox 18"/>
          <p:cNvSpPr txBox="1"/>
          <p:nvPr/>
        </p:nvSpPr>
        <p:spPr>
          <a:xfrm>
            <a:off x="3383280" y="6526987"/>
            <a:ext cx="6080760" cy="819302"/>
          </a:xfrm>
          <a:prstGeom prst="rect">
            <a:avLst/>
          </a:prstGeom>
          <a:noFill/>
        </p:spPr>
        <p:txBody>
          <a:bodyPr wrap="square" lIns="0" rIns="0" tIns="0" bIns="0" anchor="t">
            <a:noAutofit/>
          </a:bodyPr>
          <a:lstStyle/>
          <a:p>
            <a:pPr algn="l">
              <a:lnSpc>
                <a:spcPct val="106000"/>
              </a:lnSpc>
              <a:spcBef>
                <a:spcPts val="0"/>
              </a:spcBef>
              <a:spcAft>
                <a:spcPts val="0"/>
              </a:spcAft>
            </a:pPr>
            <a:r>
              <a:rPr b="0" sz="1550" i="0">
                <a:solidFill>
                  <a:srgbClr val="1B3B47"/>
                </a:solidFill>
                <a:latin typeface="Arial"/>
              </a:rPr>
              <a:t>Afficher le statut avec </a:t>
            </a:r>
            <a:r>
              <a:rPr sz="1395" b="0" i="0">
                <a:solidFill>
                  <a:srgbClr val="ED1548"/>
                </a:solidFill>
                <a:latin typeface="Consolas"/>
              </a:rPr>
              <a:t>@switch</a:t>
            </a:r>
            <a:r>
              <a:rPr b="0" sz="1550" i="0">
                <a:solidFill>
                  <a:srgbClr val="1B3B47"/>
                </a:solidFill>
                <a:latin typeface="Arial"/>
              </a:rPr>
              <a:t>.</a:t>
            </a:r>
          </a:p>
        </p:txBody>
      </p:sp>
      <p:sp>
        <p:nvSpPr>
          <p:cNvPr id="20" name="Oval 19"/>
          <p:cNvSpPr/>
          <p:nvPr/>
        </p:nvSpPr>
        <p:spPr>
          <a:xfrm>
            <a:off x="2880360" y="7437729"/>
            <a:ext cx="329184" cy="329184"/>
          </a:xfrm>
          <a:prstGeom prst="ellipse">
            <a:avLst/>
          </a:prstGeom>
          <a:solidFill>
            <a:srgbClr val="ED1548"/>
          </a:solidFill>
          <a:ln>
            <a:noFill/>
          </a:ln>
          <a:effectLst/>
        </p:spPr>
        <p:txBody>
          <a:bodyPr rtlCol="0" anchor="ctr" lIns="0" rIns="0" tIns="0" bIns="0"/>
          <a:lstStyle/>
          <a:p>
            <a:pPr algn="ctr"/>
            <a:r>
              <a:rPr sz="1317" b="1">
                <a:solidFill>
                  <a:srgbClr val="FFFFFF"/>
                </a:solidFill>
                <a:latin typeface="Arial"/>
              </a:rPr>
              <a:t>5</a:t>
            </a:r>
          </a:p>
        </p:txBody>
      </p:sp>
      <p:sp>
        <p:nvSpPr>
          <p:cNvPr id="21" name="TextBox 20"/>
          <p:cNvSpPr txBox="1"/>
          <p:nvPr/>
        </p:nvSpPr>
        <p:spPr>
          <a:xfrm>
            <a:off x="3383280" y="7437729"/>
            <a:ext cx="6080760" cy="819302"/>
          </a:xfrm>
          <a:prstGeom prst="rect">
            <a:avLst/>
          </a:prstGeom>
          <a:noFill/>
        </p:spPr>
        <p:txBody>
          <a:bodyPr wrap="square" lIns="0" rIns="0" tIns="0" bIns="0" anchor="t">
            <a:noAutofit/>
          </a:bodyPr>
          <a:lstStyle/>
          <a:p>
            <a:pPr algn="l">
              <a:lnSpc>
                <a:spcPct val="106000"/>
              </a:lnSpc>
              <a:spcBef>
                <a:spcPts val="0"/>
              </a:spcBef>
              <a:spcAft>
                <a:spcPts val="0"/>
              </a:spcAft>
            </a:pPr>
            <a:r>
              <a:rPr b="0" sz="1550" i="0">
                <a:solidFill>
                  <a:srgbClr val="1B3B47"/>
                </a:solidFill>
                <a:latin typeface="Arial"/>
              </a:rPr>
              <a:t>Bouton « Détail » qui logue l'id dans la console.</a:t>
            </a:r>
          </a:p>
        </p:txBody>
      </p:sp>
      <p:sp>
        <p:nvSpPr>
          <p:cNvPr id="22" name="Rounded Rectangle 21"/>
          <p:cNvSpPr/>
          <p:nvPr/>
        </p:nvSpPr>
        <p:spPr>
          <a:xfrm>
            <a:off x="10058400" y="3063240"/>
            <a:ext cx="7132320" cy="544068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3" name="Rectangle 22"/>
          <p:cNvSpPr/>
          <p:nvPr/>
        </p:nvSpPr>
        <p:spPr>
          <a:xfrm>
            <a:off x="10058400" y="3063240"/>
            <a:ext cx="7132320" cy="50292"/>
          </a:xfrm>
          <a:prstGeom prst="rect">
            <a:avLst/>
          </a:prstGeom>
          <a:solidFill>
            <a:srgbClr val="ED1548"/>
          </a:solidFill>
          <a:ln>
            <a:noFill/>
          </a:ln>
          <a:effectLst/>
        </p:spPr>
        <p:txBody>
          <a:bodyPr rtlCol="0" anchor="ctr"/>
          <a:lstStyle/>
          <a:p>
            <a:pPr algn="ctr"/>
          </a:p>
        </p:txBody>
      </p:sp>
      <p:sp>
        <p:nvSpPr>
          <p:cNvPr id="24" name="TextBox 23"/>
          <p:cNvSpPr txBox="1"/>
          <p:nvPr/>
        </p:nvSpPr>
        <p:spPr>
          <a:xfrm>
            <a:off x="10332720" y="3264408"/>
            <a:ext cx="6583680" cy="320040"/>
          </a:xfrm>
          <a:prstGeom prst="rect">
            <a:avLst/>
          </a:prstGeom>
          <a:noFill/>
        </p:spPr>
        <p:txBody>
          <a:bodyPr wrap="square" lIns="0" rIns="0" tIns="0" bIns="0" anchor="t">
            <a:noAutofit/>
          </a:bodyPr>
          <a:lstStyle/>
          <a:p>
            <a:pPr algn="l">
              <a:lnSpc>
                <a:spcPct val="102000"/>
              </a:lnSpc>
              <a:spcBef>
                <a:spcPts val="0"/>
              </a:spcBef>
              <a:spcAft>
                <a:spcPts val="0"/>
              </a:spcAft>
            </a:pPr>
            <a:r>
              <a:rPr b="1" sz="1800" i="0">
                <a:solidFill>
                  <a:srgbClr val="ED1548"/>
                </a:solidFill>
                <a:latin typeface="Arial"/>
              </a:rPr>
              <a:t>TP 3 — Filtre réactif</a:t>
            </a:r>
          </a:p>
        </p:txBody>
      </p:sp>
      <p:sp>
        <p:nvSpPr>
          <p:cNvPr id="25" name="Oval 24"/>
          <p:cNvSpPr/>
          <p:nvPr/>
        </p:nvSpPr>
        <p:spPr>
          <a:xfrm>
            <a:off x="10332720" y="3794759"/>
            <a:ext cx="329184" cy="329184"/>
          </a:xfrm>
          <a:prstGeom prst="ellipse">
            <a:avLst/>
          </a:prstGeom>
          <a:solidFill>
            <a:srgbClr val="ED1548"/>
          </a:solidFill>
          <a:ln>
            <a:noFill/>
          </a:ln>
          <a:effectLst/>
        </p:spPr>
        <p:txBody>
          <a:bodyPr rtlCol="0" anchor="ctr" lIns="0" rIns="0" tIns="0" bIns="0"/>
          <a:lstStyle/>
          <a:p>
            <a:pPr algn="ctr"/>
            <a:r>
              <a:rPr sz="1317" b="1">
                <a:solidFill>
                  <a:srgbClr val="FFFFFF"/>
                </a:solidFill>
                <a:latin typeface="Arial"/>
              </a:rPr>
              <a:t>1</a:t>
            </a:r>
          </a:p>
        </p:txBody>
      </p:sp>
      <p:sp>
        <p:nvSpPr>
          <p:cNvPr id="26" name="TextBox 25"/>
          <p:cNvSpPr txBox="1"/>
          <p:nvPr/>
        </p:nvSpPr>
        <p:spPr>
          <a:xfrm>
            <a:off x="10835640" y="3794759"/>
            <a:ext cx="6080760" cy="819302"/>
          </a:xfrm>
          <a:prstGeom prst="rect">
            <a:avLst/>
          </a:prstGeom>
          <a:noFill/>
        </p:spPr>
        <p:txBody>
          <a:bodyPr wrap="square" lIns="0" rIns="0" tIns="0" bIns="0" anchor="t">
            <a:noAutofit/>
          </a:bodyPr>
          <a:lstStyle/>
          <a:p>
            <a:pPr algn="l">
              <a:lnSpc>
                <a:spcPct val="106000"/>
              </a:lnSpc>
              <a:spcBef>
                <a:spcPts val="0"/>
              </a:spcBef>
              <a:spcAft>
                <a:spcPts val="0"/>
              </a:spcAft>
            </a:pPr>
            <a:r>
              <a:rPr sz="1395" b="0" i="0">
                <a:solidFill>
                  <a:srgbClr val="ED1548"/>
                </a:solidFill>
                <a:latin typeface="Consolas"/>
              </a:rPr>
              <a:t>factures = signal&lt;Facture[]&gt;([...])</a:t>
            </a:r>
            <a:r>
              <a:rPr b="0" sz="1550" i="0">
                <a:solidFill>
                  <a:srgbClr val="1B3B47"/>
                </a:solidFill>
                <a:latin typeface="Arial"/>
              </a:rPr>
              <a:t>.</a:t>
            </a:r>
          </a:p>
        </p:txBody>
      </p:sp>
      <p:sp>
        <p:nvSpPr>
          <p:cNvPr id="27" name="Oval 26"/>
          <p:cNvSpPr/>
          <p:nvPr/>
        </p:nvSpPr>
        <p:spPr>
          <a:xfrm>
            <a:off x="10332720" y="4705502"/>
            <a:ext cx="329184" cy="329184"/>
          </a:xfrm>
          <a:prstGeom prst="ellipse">
            <a:avLst/>
          </a:prstGeom>
          <a:solidFill>
            <a:srgbClr val="ED1548"/>
          </a:solidFill>
          <a:ln>
            <a:noFill/>
          </a:ln>
          <a:effectLst/>
        </p:spPr>
        <p:txBody>
          <a:bodyPr rtlCol="0" anchor="ctr" lIns="0" rIns="0" tIns="0" bIns="0"/>
          <a:lstStyle/>
          <a:p>
            <a:pPr algn="ctr"/>
            <a:r>
              <a:rPr sz="1317" b="1">
                <a:solidFill>
                  <a:srgbClr val="FFFFFF"/>
                </a:solidFill>
                <a:latin typeface="Arial"/>
              </a:rPr>
              <a:t>2</a:t>
            </a:r>
          </a:p>
        </p:txBody>
      </p:sp>
      <p:sp>
        <p:nvSpPr>
          <p:cNvPr id="28" name="TextBox 27"/>
          <p:cNvSpPr txBox="1"/>
          <p:nvPr/>
        </p:nvSpPr>
        <p:spPr>
          <a:xfrm>
            <a:off x="10835640" y="4705502"/>
            <a:ext cx="6080760" cy="819302"/>
          </a:xfrm>
          <a:prstGeom prst="rect">
            <a:avLst/>
          </a:prstGeom>
          <a:noFill/>
        </p:spPr>
        <p:txBody>
          <a:bodyPr wrap="square" lIns="0" rIns="0" tIns="0" bIns="0" anchor="t">
            <a:noAutofit/>
          </a:bodyPr>
          <a:lstStyle/>
          <a:p>
            <a:pPr algn="l">
              <a:lnSpc>
                <a:spcPct val="106000"/>
              </a:lnSpc>
              <a:spcBef>
                <a:spcPts val="0"/>
              </a:spcBef>
              <a:spcAft>
                <a:spcPts val="0"/>
              </a:spcAft>
            </a:pPr>
            <a:r>
              <a:rPr sz="1395" b="0" i="0">
                <a:solidFill>
                  <a:srgbClr val="ED1548"/>
                </a:solidFill>
                <a:latin typeface="Consolas"/>
              </a:rPr>
              <a:t>statutFiltre = signal&lt;'tous' | Statut&gt;('tous')</a:t>
            </a:r>
            <a:r>
              <a:rPr b="0" sz="1550" i="0">
                <a:solidFill>
                  <a:srgbClr val="1B3B47"/>
                </a:solidFill>
                <a:latin typeface="Arial"/>
              </a:rPr>
              <a:t>.</a:t>
            </a:r>
          </a:p>
        </p:txBody>
      </p:sp>
      <p:sp>
        <p:nvSpPr>
          <p:cNvPr id="29" name="Oval 28"/>
          <p:cNvSpPr/>
          <p:nvPr/>
        </p:nvSpPr>
        <p:spPr>
          <a:xfrm>
            <a:off x="10332720" y="5616244"/>
            <a:ext cx="329184" cy="329184"/>
          </a:xfrm>
          <a:prstGeom prst="ellipse">
            <a:avLst/>
          </a:prstGeom>
          <a:solidFill>
            <a:srgbClr val="ED1548"/>
          </a:solidFill>
          <a:ln>
            <a:noFill/>
          </a:ln>
          <a:effectLst/>
        </p:spPr>
        <p:txBody>
          <a:bodyPr rtlCol="0" anchor="ctr" lIns="0" rIns="0" tIns="0" bIns="0"/>
          <a:lstStyle/>
          <a:p>
            <a:pPr algn="ctr"/>
            <a:r>
              <a:rPr sz="1317" b="1">
                <a:solidFill>
                  <a:srgbClr val="FFFFFF"/>
                </a:solidFill>
                <a:latin typeface="Arial"/>
              </a:rPr>
              <a:t>3</a:t>
            </a:r>
          </a:p>
        </p:txBody>
      </p:sp>
      <p:sp>
        <p:nvSpPr>
          <p:cNvPr id="30" name="TextBox 29"/>
          <p:cNvSpPr txBox="1"/>
          <p:nvPr/>
        </p:nvSpPr>
        <p:spPr>
          <a:xfrm>
            <a:off x="10835640" y="5616244"/>
            <a:ext cx="6080760" cy="819302"/>
          </a:xfrm>
          <a:prstGeom prst="rect">
            <a:avLst/>
          </a:prstGeom>
          <a:noFill/>
        </p:spPr>
        <p:txBody>
          <a:bodyPr wrap="square" lIns="0" rIns="0" tIns="0" bIns="0" anchor="t">
            <a:noAutofit/>
          </a:bodyPr>
          <a:lstStyle/>
          <a:p>
            <a:pPr algn="l">
              <a:lnSpc>
                <a:spcPct val="106000"/>
              </a:lnSpc>
              <a:spcBef>
                <a:spcPts val="0"/>
              </a:spcBef>
              <a:spcAft>
                <a:spcPts val="0"/>
              </a:spcAft>
            </a:pPr>
            <a:r>
              <a:rPr sz="1395" b="0" i="0">
                <a:solidFill>
                  <a:srgbClr val="ED1548"/>
                </a:solidFill>
                <a:latin typeface="Consolas"/>
              </a:rPr>
              <a:t>facturesFiltrees = computed(...)</a:t>
            </a:r>
            <a:r>
              <a:rPr b="0" sz="1550" i="0">
                <a:solidFill>
                  <a:srgbClr val="1B3B47"/>
                </a:solidFill>
                <a:latin typeface="Arial"/>
              </a:rPr>
              <a:t>.</a:t>
            </a:r>
          </a:p>
        </p:txBody>
      </p:sp>
      <p:sp>
        <p:nvSpPr>
          <p:cNvPr id="31" name="Oval 30"/>
          <p:cNvSpPr/>
          <p:nvPr/>
        </p:nvSpPr>
        <p:spPr>
          <a:xfrm>
            <a:off x="10332720" y="6526987"/>
            <a:ext cx="329184" cy="329184"/>
          </a:xfrm>
          <a:prstGeom prst="ellipse">
            <a:avLst/>
          </a:prstGeom>
          <a:solidFill>
            <a:srgbClr val="ED1548"/>
          </a:solidFill>
          <a:ln>
            <a:noFill/>
          </a:ln>
          <a:effectLst/>
        </p:spPr>
        <p:txBody>
          <a:bodyPr rtlCol="0" anchor="ctr" lIns="0" rIns="0" tIns="0" bIns="0"/>
          <a:lstStyle/>
          <a:p>
            <a:pPr algn="ctr"/>
            <a:r>
              <a:rPr sz="1317" b="1">
                <a:solidFill>
                  <a:srgbClr val="FFFFFF"/>
                </a:solidFill>
                <a:latin typeface="Arial"/>
              </a:rPr>
              <a:t>4</a:t>
            </a:r>
          </a:p>
        </p:txBody>
      </p:sp>
      <p:sp>
        <p:nvSpPr>
          <p:cNvPr id="32" name="TextBox 31"/>
          <p:cNvSpPr txBox="1"/>
          <p:nvPr/>
        </p:nvSpPr>
        <p:spPr>
          <a:xfrm>
            <a:off x="10835640" y="6526987"/>
            <a:ext cx="6080760" cy="819302"/>
          </a:xfrm>
          <a:prstGeom prst="rect">
            <a:avLst/>
          </a:prstGeom>
          <a:noFill/>
        </p:spPr>
        <p:txBody>
          <a:bodyPr wrap="square" lIns="0" rIns="0" tIns="0" bIns="0" anchor="t">
            <a:noAutofit/>
          </a:bodyPr>
          <a:lstStyle/>
          <a:p>
            <a:pPr algn="l">
              <a:lnSpc>
                <a:spcPct val="106000"/>
              </a:lnSpc>
              <a:spcBef>
                <a:spcPts val="0"/>
              </a:spcBef>
              <a:spcAft>
                <a:spcPts val="0"/>
              </a:spcAft>
            </a:pPr>
            <a:r>
              <a:rPr sz="1395" b="0" i="0">
                <a:solidFill>
                  <a:srgbClr val="ED1548"/>
                </a:solidFill>
                <a:latin typeface="Consolas"/>
              </a:rPr>
              <a:t>totalTTC = computed(...)</a:t>
            </a:r>
            <a:r>
              <a:rPr b="0" sz="1550" i="0">
                <a:solidFill>
                  <a:srgbClr val="1B3B47"/>
                </a:solidFill>
                <a:latin typeface="Arial"/>
              </a:rPr>
              <a:t> sur la liste filtrée.</a:t>
            </a:r>
          </a:p>
        </p:txBody>
      </p:sp>
      <p:sp>
        <p:nvSpPr>
          <p:cNvPr id="33" name="Oval 32"/>
          <p:cNvSpPr/>
          <p:nvPr/>
        </p:nvSpPr>
        <p:spPr>
          <a:xfrm>
            <a:off x="10332720" y="7437729"/>
            <a:ext cx="329184" cy="329184"/>
          </a:xfrm>
          <a:prstGeom prst="ellipse">
            <a:avLst/>
          </a:prstGeom>
          <a:solidFill>
            <a:srgbClr val="ED1548"/>
          </a:solidFill>
          <a:ln>
            <a:noFill/>
          </a:ln>
          <a:effectLst/>
        </p:spPr>
        <p:txBody>
          <a:bodyPr rtlCol="0" anchor="ctr" lIns="0" rIns="0" tIns="0" bIns="0"/>
          <a:lstStyle/>
          <a:p>
            <a:pPr algn="ctr"/>
            <a:r>
              <a:rPr sz="1317" b="1">
                <a:solidFill>
                  <a:srgbClr val="FFFFFF"/>
                </a:solidFill>
                <a:latin typeface="Arial"/>
              </a:rPr>
              <a:t>5</a:t>
            </a:r>
          </a:p>
        </p:txBody>
      </p:sp>
      <p:sp>
        <p:nvSpPr>
          <p:cNvPr id="34" name="TextBox 33"/>
          <p:cNvSpPr txBox="1"/>
          <p:nvPr/>
        </p:nvSpPr>
        <p:spPr>
          <a:xfrm>
            <a:off x="10835640" y="7437729"/>
            <a:ext cx="6080760" cy="819302"/>
          </a:xfrm>
          <a:prstGeom prst="rect">
            <a:avLst/>
          </a:prstGeom>
          <a:noFill/>
        </p:spPr>
        <p:txBody>
          <a:bodyPr wrap="square" lIns="0" rIns="0" tIns="0" bIns="0" anchor="t">
            <a:noAutofit/>
          </a:bodyPr>
          <a:lstStyle/>
          <a:p>
            <a:pPr algn="l">
              <a:lnSpc>
                <a:spcPct val="106000"/>
              </a:lnSpc>
              <a:spcBef>
                <a:spcPts val="0"/>
              </a:spcBef>
              <a:spcAft>
                <a:spcPts val="0"/>
              </a:spcAft>
            </a:pPr>
            <a:r>
              <a:rPr sz="1395" b="0" i="0">
                <a:solidFill>
                  <a:srgbClr val="ED1548"/>
                </a:solidFill>
                <a:latin typeface="Consolas"/>
              </a:rPr>
              <a:t>&lt;select&gt;</a:t>
            </a:r>
            <a:r>
              <a:rPr b="0" sz="1550" i="0">
                <a:solidFill>
                  <a:srgbClr val="1B3B47"/>
                </a:solidFill>
                <a:latin typeface="Arial"/>
              </a:rPr>
              <a:t> + </a:t>
            </a:r>
            <a:r>
              <a:rPr sz="1395" b="0" i="0">
                <a:solidFill>
                  <a:srgbClr val="ED1548"/>
                </a:solidFill>
                <a:latin typeface="Consolas"/>
              </a:rPr>
              <a:t>effect()</a:t>
            </a:r>
            <a:r>
              <a:rPr b="0" sz="1550" i="0">
                <a:solidFill>
                  <a:srgbClr val="1B3B47"/>
                </a:solidFill>
                <a:latin typeface="Arial"/>
              </a:rPr>
              <a:t> qui logue le nombre affiché.</a:t>
            </a:r>
          </a:p>
        </p:txBody>
      </p:sp>
      <p:sp>
        <p:nvSpPr>
          <p:cNvPr id="35" name="Rounded Rectangle 34"/>
          <p:cNvSpPr/>
          <p:nvPr/>
        </p:nvSpPr>
        <p:spPr>
          <a:xfrm>
            <a:off x="2606040" y="8732520"/>
            <a:ext cx="14584680" cy="777240"/>
          </a:xfrm>
          <a:prstGeom prst="roundRect">
            <a:avLst>
              <a:gd name="adj" fmla="val 8000"/>
            </a:avLst>
          </a:prstGeom>
          <a:solidFill>
            <a:srgbClr val="EBF6F8"/>
          </a:solidFill>
          <a:ln>
            <a:noFill/>
          </a:ln>
          <a:effectLst/>
        </p:spPr>
        <p:txBody>
          <a:bodyPr rtlCol="0" anchor="ctr"/>
          <a:lstStyle/>
          <a:p>
            <a:pPr algn="ctr"/>
          </a:p>
        </p:txBody>
      </p:sp>
      <p:sp>
        <p:nvSpPr>
          <p:cNvPr id="36" name="Rectangle 35"/>
          <p:cNvSpPr/>
          <p:nvPr/>
        </p:nvSpPr>
        <p:spPr>
          <a:xfrm>
            <a:off x="2606040" y="8732520"/>
            <a:ext cx="64008" cy="777240"/>
          </a:xfrm>
          <a:prstGeom prst="rect">
            <a:avLst/>
          </a:prstGeom>
          <a:solidFill>
            <a:srgbClr val="0B4F6C"/>
          </a:solidFill>
          <a:ln>
            <a:noFill/>
          </a:ln>
          <a:effectLst/>
        </p:spPr>
        <p:txBody>
          <a:bodyPr rtlCol="0" anchor="ctr"/>
          <a:lstStyle/>
          <a:p>
            <a:pPr algn="ctr"/>
          </a:p>
        </p:txBody>
      </p:sp>
      <p:sp>
        <p:nvSpPr>
          <p:cNvPr id="37" name="TextBox 36"/>
          <p:cNvSpPr txBox="1"/>
          <p:nvPr/>
        </p:nvSpPr>
        <p:spPr>
          <a:xfrm>
            <a:off x="2898648" y="8897112"/>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CHECKPOINT</a:t>
            </a:r>
          </a:p>
        </p:txBody>
      </p:sp>
      <p:sp>
        <p:nvSpPr>
          <p:cNvPr id="38" name="TextBox 37"/>
          <p:cNvSpPr txBox="1"/>
          <p:nvPr/>
        </p:nvSpPr>
        <p:spPr>
          <a:xfrm>
            <a:off x="2898648" y="9189720"/>
            <a:ext cx="14173200" cy="210311"/>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Le total se met à jour quand le filtre change, sans rechargement. Si ce n'est pas le cas, vérifier que le </a:t>
            </a:r>
            <a:r>
              <a:rPr sz="1260" b="0" i="0">
                <a:solidFill>
                  <a:srgbClr val="0B4F6C"/>
                </a:solidFill>
                <a:latin typeface="Consolas"/>
              </a:rPr>
              <a:t>computed</a:t>
            </a:r>
            <a:r>
              <a:rPr b="0" sz="1400" i="0">
                <a:solidFill>
                  <a:srgbClr val="1B3B47"/>
                </a:solidFill>
                <a:latin typeface="Arial"/>
              </a:rPr>
              <a:t> lit bien le signal de filtre.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1  ·  PIPES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Les pipes transforment l'affichage, pas la donnée</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Un pipe est pur : il n'est réévalué que si son entrée change.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17 / 62</a:t>
            </a:r>
          </a:p>
        </p:txBody>
      </p:sp>
      <p:sp>
        <p:nvSpPr>
          <p:cNvPr id="9" name="TextBox 8"/>
          <p:cNvSpPr txBox="1"/>
          <p:nvPr/>
        </p:nvSpPr>
        <p:spPr>
          <a:xfrm>
            <a:off x="2606040" y="3063240"/>
            <a:ext cx="6858000" cy="2148840"/>
          </a:xfrm>
          <a:prstGeom prst="rect">
            <a:avLst/>
          </a:prstGeom>
          <a:noFill/>
        </p:spPr>
        <p:txBody>
          <a:bodyPr wrap="square" lIns="0" rIns="0" tIns="0" bIns="0">
            <a:noAutofit/>
          </a:bodyPr>
          <a:lstStyle/>
          <a:p>
            <a:pPr marL="274320" indent="-274320">
              <a:lnSpc>
                <a:spcPct val="102000"/>
              </a:lnSpc>
              <a:spcBef>
                <a:spcPts val="0"/>
              </a:spcBef>
              <a:spcAft>
                <a:spcPts val="576"/>
              </a:spcAft>
              <a:buClr>
                <a:srgbClr val="ED1548"/>
              </a:buClr>
              <a:buFont typeface="Arial"/>
              <a:buChar char="•"/>
            </a:pPr>
            <a:r>
              <a:rPr b="1" sz="1600" i="0">
                <a:solidFill>
                  <a:srgbClr val="093544"/>
                </a:solidFill>
                <a:latin typeface="Arial"/>
              </a:rPr>
              <a:t>Pur par défaut</a:t>
            </a:r>
            <a:r>
              <a:rPr b="0" sz="1600" i="0">
                <a:solidFill>
                  <a:srgbClr val="093544"/>
                </a:solidFill>
                <a:latin typeface="Arial"/>
              </a:rPr>
              <a:t> : résultat mémoïsé tant que l'entrée ne change pas.</a:t>
            </a:r>
          </a:p>
          <a:p>
            <a:pPr marL="274320" indent="-274320">
              <a:lnSpc>
                <a:spcPct val="102000"/>
              </a:lnSpc>
              <a:spcBef>
                <a:spcPts val="0"/>
              </a:spcBef>
              <a:spcAft>
                <a:spcPts val="576"/>
              </a:spcAft>
              <a:buClr>
                <a:srgbClr val="ED1548"/>
              </a:buClr>
              <a:buFont typeface="Arial"/>
              <a:buChar char="•"/>
            </a:pPr>
            <a:r>
              <a:rPr b="1" sz="1600" i="0">
                <a:solidFill>
                  <a:srgbClr val="093544"/>
                </a:solidFill>
                <a:latin typeface="Arial"/>
              </a:rPr>
              <a:t>Composable</a:t>
            </a:r>
            <a:r>
              <a:rPr b="0" sz="1600" i="0">
                <a:solidFill>
                  <a:srgbClr val="093544"/>
                </a:solidFill>
                <a:latin typeface="Arial"/>
              </a:rPr>
              <a:t> : </a:t>
            </a:r>
            <a:r>
              <a:rPr sz="1440" b="0" i="0">
                <a:solidFill>
                  <a:srgbClr val="ED1548"/>
                </a:solidFill>
                <a:latin typeface="Consolas"/>
              </a:rPr>
              <a:t>{{ date | date:'dd/MM/yyyy' | uppercase }}</a:t>
            </a:r>
            <a:r>
              <a:rPr b="0" sz="1600" i="0">
                <a:solidFill>
                  <a:srgbClr val="093544"/>
                </a:solidFill>
                <a:latin typeface="Arial"/>
              </a:rPr>
              <a:t>.</a:t>
            </a:r>
          </a:p>
          <a:p>
            <a:pPr marL="274320" indent="-274320">
              <a:lnSpc>
                <a:spcPct val="102000"/>
              </a:lnSpc>
              <a:spcBef>
                <a:spcPts val="0"/>
              </a:spcBef>
              <a:spcAft>
                <a:spcPts val="576"/>
              </a:spcAft>
              <a:buClr>
                <a:srgbClr val="ED1548"/>
              </a:buClr>
              <a:buFont typeface="Arial"/>
              <a:buChar char="•"/>
            </a:pPr>
            <a:r>
              <a:rPr b="1" sz="1600" i="0">
                <a:solidFill>
                  <a:srgbClr val="093544"/>
                </a:solidFill>
                <a:latin typeface="Arial"/>
              </a:rPr>
              <a:t>Testable seul</a:t>
            </a:r>
            <a:r>
              <a:rPr b="0" sz="1600" i="0">
                <a:solidFill>
                  <a:srgbClr val="093544"/>
                </a:solidFill>
                <a:latin typeface="Arial"/>
              </a:rPr>
              <a:t> : </a:t>
            </a:r>
            <a:r>
              <a:rPr sz="1440" b="0" i="0">
                <a:solidFill>
                  <a:srgbClr val="ED1548"/>
                </a:solidFill>
                <a:latin typeface="Consolas"/>
              </a:rPr>
              <a:t>new EcheancePipe().transform(...)</a:t>
            </a:r>
            <a:r>
              <a:rPr b="0" sz="1600" i="0">
                <a:solidFill>
                  <a:srgbClr val="093544"/>
                </a:solidFill>
                <a:latin typeface="Arial"/>
              </a:rPr>
              <a:t>.</a:t>
            </a:r>
          </a:p>
        </p:txBody>
      </p:sp>
      <p:sp>
        <p:nvSpPr>
          <p:cNvPr id="10" name="Rounded Rectangle 9"/>
          <p:cNvSpPr/>
          <p:nvPr/>
        </p:nvSpPr>
        <p:spPr>
          <a:xfrm>
            <a:off x="2606040" y="5577840"/>
            <a:ext cx="6903720" cy="324612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1" name="Oval 10"/>
          <p:cNvSpPr/>
          <p:nvPr/>
        </p:nvSpPr>
        <p:spPr>
          <a:xfrm>
            <a:off x="2825496" y="5751576"/>
            <a:ext cx="82296" cy="82296"/>
          </a:xfrm>
          <a:prstGeom prst="ellipse">
            <a:avLst/>
          </a:prstGeom>
          <a:solidFill>
            <a:srgbClr val="ED1548"/>
          </a:solidFill>
          <a:ln>
            <a:noFill/>
          </a:ln>
          <a:effectLst/>
        </p:spPr>
        <p:txBody>
          <a:bodyPr rtlCol="0" anchor="ctr"/>
          <a:lstStyle/>
          <a:p>
            <a:pPr algn="ctr"/>
          </a:p>
        </p:txBody>
      </p:sp>
      <p:sp>
        <p:nvSpPr>
          <p:cNvPr id="12" name="TextBox 11"/>
          <p:cNvSpPr txBox="1"/>
          <p:nvPr/>
        </p:nvSpPr>
        <p:spPr>
          <a:xfrm>
            <a:off x="2990088" y="5687568"/>
            <a:ext cx="626364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statut-label.pipe.ts</a:t>
            </a:r>
          </a:p>
        </p:txBody>
      </p:sp>
      <p:sp>
        <p:nvSpPr>
          <p:cNvPr id="13" name="TextBox 12"/>
          <p:cNvSpPr txBox="1"/>
          <p:nvPr/>
        </p:nvSpPr>
        <p:spPr>
          <a:xfrm>
            <a:off x="2852928" y="6053327"/>
            <a:ext cx="6446520" cy="2606040"/>
          </a:xfrm>
          <a:prstGeom prst="rect">
            <a:avLst/>
          </a:prstGeom>
          <a:noFill/>
        </p:spPr>
        <p:txBody>
          <a:bodyPr wrap="none" lIns="0" rIns="0" tIns="0" bIns="0">
            <a:noAutofit/>
          </a:bodyPr>
          <a:lstStyle/>
          <a:p>
            <a:pPr>
              <a:lnSpc>
                <a:spcPct val="100000"/>
              </a:lnSpc>
              <a:spcBef>
                <a:spcPts val="0"/>
              </a:spcBef>
              <a:spcAft>
                <a:spcPts val="0"/>
              </a:spcAft>
            </a:pPr>
            <a:r>
              <a:rPr sz="1300">
                <a:solidFill>
                  <a:srgbClr val="FFD166"/>
                </a:solidFill>
                <a:latin typeface="Consolas"/>
              </a:rPr>
              <a:t>@Pipe</a:t>
            </a:r>
            <a:r>
              <a:rPr sz="1300">
                <a:solidFill>
                  <a:srgbClr val="EAF2F4"/>
                </a:solidFill>
                <a:latin typeface="Consolas"/>
              </a:rPr>
              <a:t>({ name: </a:t>
            </a:r>
            <a:r>
              <a:rPr sz="1300">
                <a:solidFill>
                  <a:srgbClr val="FFB3C1"/>
                </a:solidFill>
                <a:latin typeface="Consolas"/>
              </a:rPr>
              <a:t>'statutLabel'</a:t>
            </a:r>
            <a:r>
              <a:rPr sz="1300">
                <a:solidFill>
                  <a:srgbClr val="EAF2F4"/>
                </a:solidFill>
                <a:latin typeface="Consolas"/>
              </a:rPr>
              <a:t> })</a:t>
            </a:r>
          </a:p>
          <a:p>
            <a:pPr>
              <a:lnSpc>
                <a:spcPct val="100000"/>
              </a:lnSpc>
              <a:spcBef>
                <a:spcPts val="0"/>
              </a:spcBef>
              <a:spcAft>
                <a:spcPts val="0"/>
              </a:spcAft>
            </a:pPr>
            <a:r>
              <a:rPr sz="1300">
                <a:solidFill>
                  <a:srgbClr val="7FD1E0"/>
                </a:solidFill>
                <a:latin typeface="Consolas"/>
              </a:rPr>
              <a:t>export</a:t>
            </a:r>
            <a:r>
              <a:rPr sz="1300">
                <a:solidFill>
                  <a:srgbClr val="EAF2F4"/>
                </a:solidFill>
                <a:latin typeface="Consolas"/>
              </a:rPr>
              <a:t> </a:t>
            </a:r>
            <a:r>
              <a:rPr sz="1300">
                <a:solidFill>
                  <a:srgbClr val="7FD1E0"/>
                </a:solidFill>
                <a:latin typeface="Consolas"/>
              </a:rPr>
              <a:t>class</a:t>
            </a:r>
            <a:r>
              <a:rPr sz="1300">
                <a:solidFill>
                  <a:srgbClr val="EAF2F4"/>
                </a:solidFill>
                <a:latin typeface="Consolas"/>
              </a:rPr>
              <a:t> StatutLabelPipe </a:t>
            </a:r>
            <a:r>
              <a:rPr sz="1300">
                <a:solidFill>
                  <a:srgbClr val="7FD1E0"/>
                </a:solidFill>
                <a:latin typeface="Consolas"/>
              </a:rPr>
              <a:t>implements</a:t>
            </a:r>
            <a:r>
              <a:rPr sz="1300">
                <a:solidFill>
                  <a:srgbClr val="EAF2F4"/>
                </a:solidFill>
                <a:latin typeface="Consolas"/>
              </a:rPr>
              <a:t> PipeTransform {</a:t>
            </a:r>
          </a:p>
          <a:p>
            <a:pPr>
              <a:lnSpc>
                <a:spcPct val="100000"/>
              </a:lnSpc>
              <a:spcBef>
                <a:spcPts val="0"/>
              </a:spcBef>
              <a:spcAft>
                <a:spcPts val="0"/>
              </a:spcAft>
            </a:pPr>
            <a:r>
              <a:rPr sz="1300">
                <a:solidFill>
                  <a:srgbClr val="EAF2F4"/>
                </a:solidFill>
                <a:latin typeface="Consolas"/>
              </a:rPr>
              <a:t>  transform(statut: Statut): string {</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const</a:t>
            </a:r>
            <a:r>
              <a:rPr sz="1300">
                <a:solidFill>
                  <a:srgbClr val="EAF2F4"/>
                </a:solidFill>
                <a:latin typeface="Consolas"/>
              </a:rPr>
              <a:t> labels: Record&lt;Statut, string&gt; = {</a:t>
            </a:r>
          </a:p>
          <a:p>
            <a:pPr>
              <a:lnSpc>
                <a:spcPct val="100000"/>
              </a:lnSpc>
              <a:spcBef>
                <a:spcPts val="0"/>
              </a:spcBef>
              <a:spcAft>
                <a:spcPts val="0"/>
              </a:spcAft>
            </a:pPr>
            <a:r>
              <a:rPr sz="1300">
                <a:solidFill>
                  <a:srgbClr val="EAF2F4"/>
                </a:solidFill>
                <a:latin typeface="Consolas"/>
              </a:rPr>
              <a:t>      a_rapprocher: </a:t>
            </a:r>
            <a:r>
              <a:rPr sz="1300">
                <a:solidFill>
                  <a:srgbClr val="FFB3C1"/>
                </a:solidFill>
                <a:latin typeface="Consolas"/>
              </a:rPr>
              <a:t>'À rapprocher'</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rapprochee: </a:t>
            </a:r>
            <a:r>
              <a:rPr sz="1300">
                <a:solidFill>
                  <a:srgbClr val="FFB3C1"/>
                </a:solidFill>
                <a:latin typeface="Consolas"/>
              </a:rPr>
              <a:t>'Rapprochée'</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litige: </a:t>
            </a:r>
            <a:r>
              <a:rPr sz="1300">
                <a:solidFill>
                  <a:srgbClr val="FFB3C1"/>
                </a:solidFill>
                <a:latin typeface="Consolas"/>
              </a:rPr>
              <a:t>'Litige'</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return</a:t>
            </a:r>
            <a:r>
              <a:rPr sz="1300">
                <a:solidFill>
                  <a:srgbClr val="EAF2F4"/>
                </a:solidFill>
                <a:latin typeface="Consolas"/>
              </a:rPr>
              <a:t> labels[statut];</a:t>
            </a:r>
          </a:p>
          <a:p>
            <a:pPr>
              <a:lnSpc>
                <a:spcPct val="100000"/>
              </a:lnSpc>
              <a:spcBef>
                <a:spcPts val="0"/>
              </a:spcBef>
              <a:spcAft>
                <a:spcPts val="0"/>
              </a:spcAft>
            </a:pP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a:t>
            </a:r>
          </a:p>
        </p:txBody>
      </p:sp>
      <p:sp>
        <p:nvSpPr>
          <p:cNvPr id="14" name="TextBox 13"/>
          <p:cNvSpPr txBox="1"/>
          <p:nvPr/>
        </p:nvSpPr>
        <p:spPr>
          <a:xfrm>
            <a:off x="2606040" y="8961120"/>
            <a:ext cx="6903720" cy="411480"/>
          </a:xfrm>
          <a:prstGeom prst="rect">
            <a:avLst/>
          </a:prstGeom>
          <a:noFill/>
        </p:spPr>
        <p:txBody>
          <a:bodyPr wrap="square" lIns="0" rIns="0" tIns="0" bIns="0" anchor="t">
            <a:noAutofit/>
          </a:bodyPr>
          <a:lstStyle/>
          <a:p>
            <a:pPr algn="l">
              <a:lnSpc>
                <a:spcPct val="102000"/>
              </a:lnSpc>
              <a:spcBef>
                <a:spcPts val="0"/>
              </a:spcBef>
              <a:spcAft>
                <a:spcPts val="0"/>
              </a:spcAft>
            </a:pPr>
            <a:r>
              <a:rPr sz="1170" b="0" i="0">
                <a:solidFill>
                  <a:srgbClr val="ED1548"/>
                </a:solidFill>
                <a:latin typeface="Consolas"/>
              </a:rPr>
              <a:t>echeance</a:t>
            </a:r>
            <a:r>
              <a:rPr b="0" sz="1300" i="0">
                <a:solidFill>
                  <a:srgbClr val="5C6E76"/>
                </a:solidFill>
                <a:latin typeface="Consolas"/>
              </a:rPr>
              <a:t> : « en retard de N j » / « dans N j »</a:t>
            </a:r>
          </a:p>
        </p:txBody>
      </p:sp>
      <p:graphicFrame>
        <p:nvGraphicFramePr>
          <p:cNvPr id="15" name="Table 14"/>
          <p:cNvGraphicFramePr>
            <a:graphicFrameLocks noGrp="1"/>
          </p:cNvGraphicFramePr>
          <p:nvPr/>
        </p:nvGraphicFramePr>
        <p:xfrm>
          <a:off x="9738360" y="3063240"/>
          <a:ext cx="7452359" cy="2834640"/>
        </p:xfrm>
        <a:graphic>
          <a:graphicData uri="http://schemas.openxmlformats.org/drawingml/2006/table">
            <a:tbl>
              <a:tblPr>
                <a:tableStyleId>{5C22544A-7EE6-4342-B048-85BDC9FD1C3A}</a:tableStyleId>
              </a:tblPr>
              <a:tblGrid>
                <a:gridCol w="1975324"/>
                <a:gridCol w="5477035"/>
              </a:tblGrid>
              <a:tr h="411480">
                <a:tc>
                  <a:txBody>
                    <a:bodyPr wrap="square"/>
                    <a:lstStyle/>
                    <a:p>
                      <a:pPr algn="l">
                        <a:lnSpc>
                          <a:spcPct val="100000"/>
                        </a:lnSpc>
                      </a:pPr>
                      <a:r>
                        <a:rPr b="1" sz="1300" i="0">
                          <a:solidFill>
                            <a:srgbClr val="FFFFFF"/>
                          </a:solidFill>
                          <a:latin typeface="Arial"/>
                        </a:rPr>
                        <a:t>Pipe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300" i="0">
                          <a:solidFill>
                            <a:srgbClr val="FFFFFF"/>
                          </a:solidFill>
                          <a:latin typeface="Arial"/>
                        </a:rPr>
                        <a:t>Usage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r>
              <a:tr h="484632">
                <a:tc>
                  <a:txBody>
                    <a:bodyPr wrap="square"/>
                    <a:lstStyle/>
                    <a:p>
                      <a:pPr algn="l">
                        <a:lnSpc>
                          <a:spcPct val="100000"/>
                        </a:lnSpc>
                      </a:pPr>
                      <a:r>
                        <a:rPr sz="1260" b="0" i="0">
                          <a:solidFill>
                            <a:srgbClr val="ED1548"/>
                          </a:solidFill>
                          <a:latin typeface="Consolas"/>
                        </a:rPr>
                        <a:t>date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400" i="0">
                          <a:solidFill>
                            <a:srgbClr val="1B3B47"/>
                          </a:solidFill>
                          <a:latin typeface="Arial"/>
                        </a:rPr>
                        <a:t>dates localisées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484632">
                <a:tc>
                  <a:txBody>
                    <a:bodyPr wrap="square"/>
                    <a:lstStyle/>
                    <a:p>
                      <a:pPr algn="l">
                        <a:lnSpc>
                          <a:spcPct val="100000"/>
                        </a:lnSpc>
                      </a:pPr>
                      <a:r>
                        <a:rPr sz="1260" b="0" i="0">
                          <a:solidFill>
                            <a:srgbClr val="ED1548"/>
                          </a:solidFill>
                          <a:latin typeface="Consolas"/>
                        </a:rPr>
                        <a:t>currency</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400" i="0">
                          <a:solidFill>
                            <a:srgbClr val="1B3B47"/>
                          </a:solidFill>
                          <a:latin typeface="Arial"/>
                        </a:rPr>
                        <a:t>montants (EUR)</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484632">
                <a:tc>
                  <a:txBody>
                    <a:bodyPr wrap="square"/>
                    <a:lstStyle/>
                    <a:p>
                      <a:pPr algn="l">
                        <a:lnSpc>
                          <a:spcPct val="100000"/>
                        </a:lnSpc>
                      </a:pPr>
                      <a:r>
                        <a:rPr sz="1260" b="0" i="0">
                          <a:solidFill>
                            <a:srgbClr val="ED1548"/>
                          </a:solidFill>
                          <a:latin typeface="Consolas"/>
                        </a:rPr>
                        <a:t>percent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400" i="0">
                          <a:solidFill>
                            <a:srgbClr val="1B3B47"/>
                          </a:solidFill>
                          <a:latin typeface="Arial"/>
                        </a:rPr>
                        <a:t>taux</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484632">
                <a:tc>
                  <a:txBody>
                    <a:bodyPr wrap="square"/>
                    <a:lstStyle/>
                    <a:p>
                      <a:pPr algn="l">
                        <a:lnSpc>
                          <a:spcPct val="100000"/>
                        </a:lnSpc>
                      </a:pPr>
                      <a:r>
                        <a:rPr sz="1260" b="0" i="0">
                          <a:solidFill>
                            <a:srgbClr val="ED1548"/>
                          </a:solidFill>
                          <a:latin typeface="Consolas"/>
                        </a:rPr>
                        <a:t>async</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400" i="0">
                          <a:solidFill>
                            <a:srgbClr val="1B3B47"/>
                          </a:solidFill>
                          <a:latin typeface="Arial"/>
                        </a:rPr>
                        <a:t>Observable / Promise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484632">
                <a:tc>
                  <a:txBody>
                    <a:bodyPr wrap="square"/>
                    <a:lstStyle/>
                    <a:p>
                      <a:pPr algn="l">
                        <a:lnSpc>
                          <a:spcPct val="100000"/>
                        </a:lnSpc>
                      </a:pPr>
                      <a:r>
                        <a:rPr sz="1260" b="0" i="0">
                          <a:solidFill>
                            <a:srgbClr val="ED1548"/>
                          </a:solidFill>
                          <a:latin typeface="Consolas"/>
                        </a:rPr>
                        <a:t>json</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400" i="0">
                          <a:solidFill>
                            <a:srgbClr val="1B3B47"/>
                          </a:solidFill>
                          <a:latin typeface="Arial"/>
                        </a:rPr>
                        <a:t>débogage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bl>
          </a:graphicData>
        </a:graphic>
      </p:graphicFrame>
      <p:sp>
        <p:nvSpPr>
          <p:cNvPr id="16" name="Rounded Rectangle 15"/>
          <p:cNvSpPr/>
          <p:nvPr/>
        </p:nvSpPr>
        <p:spPr>
          <a:xfrm>
            <a:off x="9738360" y="6217920"/>
            <a:ext cx="7452360" cy="2651760"/>
          </a:xfrm>
          <a:prstGeom prst="roundRect">
            <a:avLst>
              <a:gd name="adj" fmla="val 8000"/>
            </a:avLst>
          </a:prstGeom>
          <a:solidFill>
            <a:srgbClr val="FFF6E5"/>
          </a:solidFill>
          <a:ln>
            <a:noFill/>
          </a:ln>
          <a:effectLst/>
        </p:spPr>
        <p:txBody>
          <a:bodyPr rtlCol="0" anchor="ctr"/>
          <a:lstStyle/>
          <a:p>
            <a:pPr algn="ctr"/>
          </a:p>
        </p:txBody>
      </p:sp>
      <p:sp>
        <p:nvSpPr>
          <p:cNvPr id="17" name="Rectangle 16"/>
          <p:cNvSpPr/>
          <p:nvPr/>
        </p:nvSpPr>
        <p:spPr>
          <a:xfrm>
            <a:off x="9738360" y="6217920"/>
            <a:ext cx="64008" cy="2651760"/>
          </a:xfrm>
          <a:prstGeom prst="rect">
            <a:avLst/>
          </a:prstGeom>
          <a:solidFill>
            <a:srgbClr val="B26A00"/>
          </a:solidFill>
          <a:ln>
            <a:noFill/>
          </a:ln>
          <a:effectLst/>
        </p:spPr>
        <p:txBody>
          <a:bodyPr rtlCol="0" anchor="ctr"/>
          <a:lstStyle/>
          <a:p>
            <a:pPr algn="ctr"/>
          </a:p>
        </p:txBody>
      </p:sp>
      <p:sp>
        <p:nvSpPr>
          <p:cNvPr id="18" name="TextBox 17"/>
          <p:cNvSpPr txBox="1"/>
          <p:nvPr/>
        </p:nvSpPr>
        <p:spPr>
          <a:xfrm>
            <a:off x="10030968" y="6382512"/>
            <a:ext cx="7086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B26A00"/>
                </a:solidFill>
                <a:latin typeface="Arial"/>
              </a:rPr>
              <a:t>LOCALE FRANÇAISE</a:t>
            </a:r>
          </a:p>
        </p:txBody>
      </p:sp>
      <p:sp>
        <p:nvSpPr>
          <p:cNvPr id="19" name="TextBox 18"/>
          <p:cNvSpPr txBox="1"/>
          <p:nvPr/>
        </p:nvSpPr>
        <p:spPr>
          <a:xfrm>
            <a:off x="10030968" y="6675120"/>
            <a:ext cx="7040880" cy="2084831"/>
          </a:xfrm>
          <a:prstGeom prst="rect">
            <a:avLst/>
          </a:prstGeom>
          <a:noFill/>
        </p:spPr>
        <p:txBody>
          <a:bodyPr wrap="square" lIns="0" rIns="0" tIns="0" bIns="0" anchor="t">
            <a:noAutofit/>
          </a:bodyPr>
          <a:lstStyle/>
          <a:p>
            <a:pPr algn="l">
              <a:lnSpc>
                <a:spcPct val="106000"/>
              </a:lnSpc>
              <a:spcBef>
                <a:spcPts val="0"/>
              </a:spcBef>
              <a:spcAft>
                <a:spcPts val="0"/>
              </a:spcAft>
            </a:pPr>
            <a:r>
              <a:rPr sz="1260" b="0" i="0">
                <a:solidFill>
                  <a:srgbClr val="B26A00"/>
                </a:solidFill>
                <a:latin typeface="Consolas"/>
              </a:rPr>
              <a:t>registerLocaleData(localeFr)</a:t>
            </a:r>
            <a:r>
              <a:rPr b="0" sz="1400" i="0">
                <a:solidFill>
                  <a:srgbClr val="1B3B47"/>
                </a:solidFill>
                <a:latin typeface="Arial"/>
              </a:rPr>
              <a:t> dans </a:t>
            </a:r>
            <a:r>
              <a:rPr sz="1260" b="0" i="0">
                <a:solidFill>
                  <a:srgbClr val="B26A00"/>
                </a:solidFill>
                <a:latin typeface="Consolas"/>
              </a:rPr>
              <a:t>app.config.ts</a:t>
            </a:r>
            <a:r>
              <a:rPr b="0" sz="1400" i="0">
                <a:solidFill>
                  <a:srgbClr val="1B3B47"/>
                </a:solidFill>
                <a:latin typeface="Arial"/>
              </a:rPr>
              <a:t>, puis </a:t>
            </a:r>
            <a:r>
              <a:rPr sz="1260" b="0" i="0">
                <a:solidFill>
                  <a:srgbClr val="B26A00"/>
                </a:solidFill>
                <a:latin typeface="Consolas"/>
              </a:rPr>
              <a:t>{ provide: LOCALE_ID, useValue: 'fr' }</a:t>
            </a:r>
            <a:r>
              <a:rPr b="0" sz="1400" i="0">
                <a:solidFill>
                  <a:srgbClr val="1B3B47"/>
                </a:solidFill>
                <a:latin typeface="Arial"/>
              </a:rPr>
              <a:t>. Sans cela, </a:t>
            </a:r>
            <a:r>
              <a:rPr sz="1260" b="0" i="0">
                <a:solidFill>
                  <a:srgbClr val="B26A00"/>
                </a:solidFill>
                <a:latin typeface="Consolas"/>
              </a:rPr>
              <a:t>currency</a:t>
            </a:r>
            <a:r>
              <a:rPr b="0" sz="1400" i="0">
                <a:solidFill>
                  <a:srgbClr val="1B3B47"/>
                </a:solidFill>
                <a:latin typeface="Arial"/>
              </a:rPr>
              <a:t> et </a:t>
            </a:r>
            <a:r>
              <a:rPr sz="1260" b="0" i="0">
                <a:solidFill>
                  <a:srgbClr val="B26A00"/>
                </a:solidFill>
                <a:latin typeface="Consolas"/>
              </a:rPr>
              <a:t>date</a:t>
            </a:r>
            <a:r>
              <a:rPr b="0" sz="1400" i="0">
                <a:solidFill>
                  <a:srgbClr val="1B3B47"/>
                </a:solidFill>
                <a:latin typeface="Arial"/>
              </a:rPr>
              <a:t> restent en anglais.</a:t>
            </a:r>
          </a:p>
        </p:txBody>
      </p:sp>
      <p:sp>
        <p:nvSpPr>
          <p:cNvPr id="20" name="TextBox 19"/>
          <p:cNvSpPr txBox="1"/>
          <p:nvPr/>
        </p:nvSpPr>
        <p:spPr>
          <a:xfrm>
            <a:off x="9738360" y="9098280"/>
            <a:ext cx="7452360" cy="411480"/>
          </a:xfrm>
          <a:prstGeom prst="rect">
            <a:avLst/>
          </a:prstGeom>
          <a:noFill/>
        </p:spPr>
        <p:txBody>
          <a:bodyPr wrap="square" lIns="0" rIns="0" tIns="0" bIns="0" anchor="t">
            <a:noAutofit/>
          </a:bodyPr>
          <a:lstStyle/>
          <a:p>
            <a:pPr algn="l">
              <a:lnSpc>
                <a:spcPct val="102000"/>
              </a:lnSpc>
              <a:spcBef>
                <a:spcPts val="0"/>
              </a:spcBef>
              <a:spcAft>
                <a:spcPts val="0"/>
              </a:spcAft>
            </a:pPr>
            <a:r>
              <a:rPr b="0" sz="1250" i="0">
                <a:solidFill>
                  <a:srgbClr val="5C6E76"/>
                </a:solidFill>
                <a:latin typeface="Arial"/>
              </a:rPr>
              <a:t>Pourquoi un pipe plutôt qu'une méthode : réutilisable, testable, mémoïsé.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1  ·  DIRECTIVES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Une directive décore un élément existant</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Pas de DOM supplémentaire : on ajoute un comportement à </a:t>
            </a:r>
            <a:r>
              <a:rPr sz="1800" b="0" i="0">
                <a:solidFill>
                  <a:srgbClr val="ED1548"/>
                </a:solidFill>
                <a:latin typeface="Consolas"/>
              </a:rPr>
              <a:t>&lt;td&gt;</a:t>
            </a:r>
            <a:r>
              <a:rPr b="0" sz="2000" i="0">
                <a:solidFill>
                  <a:srgbClr val="5C6E76"/>
                </a:solidFill>
                <a:latin typeface="Arial"/>
              </a:rPr>
              <a:t>, </a:t>
            </a:r>
            <a:r>
              <a:rPr sz="1800" b="0" i="0">
                <a:solidFill>
                  <a:srgbClr val="ED1548"/>
                </a:solidFill>
                <a:latin typeface="Consolas"/>
              </a:rPr>
              <a:t>&lt;button&gt;</a:t>
            </a:r>
            <a:r>
              <a:rPr b="0" sz="2000" i="0">
                <a:solidFill>
                  <a:srgbClr val="5C6E76"/>
                </a:solidFill>
                <a:latin typeface="Arial"/>
              </a:rPr>
              <a: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18 / 62</a:t>
            </a:r>
          </a:p>
        </p:txBody>
      </p:sp>
      <p:sp>
        <p:nvSpPr>
          <p:cNvPr id="9" name="TextBox 8"/>
          <p:cNvSpPr txBox="1"/>
          <p:nvPr/>
        </p:nvSpPr>
        <p:spPr>
          <a:xfrm>
            <a:off x="2606040" y="3063240"/>
            <a:ext cx="6949440" cy="2103120"/>
          </a:xfrm>
          <a:prstGeom prst="rect">
            <a:avLst/>
          </a:prstGeom>
          <a:noFill/>
        </p:spPr>
        <p:txBody>
          <a:bodyPr wrap="square" lIns="0" rIns="0" tIns="0" bIns="0">
            <a:noAutofit/>
          </a:bodyPr>
          <a:lstStyle/>
          <a:p>
            <a:pPr marL="274320" indent="-274320">
              <a:lnSpc>
                <a:spcPct val="102000"/>
              </a:lnSpc>
              <a:spcBef>
                <a:spcPts val="0"/>
              </a:spcBef>
              <a:spcAft>
                <a:spcPts val="576"/>
              </a:spcAft>
              <a:buClr>
                <a:srgbClr val="ED1548"/>
              </a:buClr>
              <a:buFont typeface="Arial"/>
              <a:buChar char="•"/>
            </a:pPr>
            <a:r>
              <a:rPr b="1" sz="1600" i="0">
                <a:solidFill>
                  <a:srgbClr val="093544"/>
                </a:solidFill>
                <a:latin typeface="Arial"/>
              </a:rPr>
              <a:t>Directive d'attribut</a:t>
            </a:r>
            <a:r>
              <a:rPr b="0" sz="1600" i="0">
                <a:solidFill>
                  <a:srgbClr val="093544"/>
                </a:solidFill>
                <a:latin typeface="Arial"/>
              </a:rPr>
              <a:t> : </a:t>
            </a:r>
            <a:r>
              <a:rPr sz="1440" b="0" i="0">
                <a:solidFill>
                  <a:srgbClr val="ED1548"/>
                </a:solidFill>
                <a:latin typeface="Consolas"/>
              </a:rPr>
              <a:t>[appStatutBadge]</a:t>
            </a:r>
            <a:r>
              <a:rPr b="0" sz="1600" i="0">
                <a:solidFill>
                  <a:srgbClr val="093544"/>
                </a:solidFill>
                <a:latin typeface="Arial"/>
              </a:rPr>
              <a:t> sur un élément.</a:t>
            </a:r>
          </a:p>
          <a:p>
            <a:pPr marL="274320" indent="-274320">
              <a:lnSpc>
                <a:spcPct val="102000"/>
              </a:lnSpc>
              <a:spcBef>
                <a:spcPts val="0"/>
              </a:spcBef>
              <a:spcAft>
                <a:spcPts val="576"/>
              </a:spcAft>
              <a:buClr>
                <a:srgbClr val="ED1548"/>
              </a:buClr>
              <a:buFont typeface="Arial"/>
              <a:buChar char="•"/>
            </a:pPr>
            <a:r>
              <a:rPr b="1" sz="1600" i="0">
                <a:solidFill>
                  <a:srgbClr val="093544"/>
                </a:solidFill>
                <a:latin typeface="Arial"/>
              </a:rPr>
              <a:t>Host bindings</a:t>
            </a:r>
            <a:r>
              <a:rPr b="0" sz="1600" i="0">
                <a:solidFill>
                  <a:srgbClr val="093544"/>
                </a:solidFill>
                <a:latin typeface="Arial"/>
              </a:rPr>
              <a:t> : classes, styles, événements, sans template.</a:t>
            </a:r>
          </a:p>
          <a:p>
            <a:pPr marL="274320" indent="-274320">
              <a:lnSpc>
                <a:spcPct val="102000"/>
              </a:lnSpc>
              <a:spcBef>
                <a:spcPts val="0"/>
              </a:spcBef>
              <a:spcAft>
                <a:spcPts val="576"/>
              </a:spcAft>
              <a:buClr>
                <a:srgbClr val="ED1548"/>
              </a:buClr>
              <a:buFont typeface="Arial"/>
              <a:buChar char="•"/>
            </a:pPr>
            <a:r>
              <a:rPr b="1" sz="1600" i="0">
                <a:solidFill>
                  <a:srgbClr val="093544"/>
                </a:solidFill>
                <a:latin typeface="Arial"/>
              </a:rPr>
              <a:t>Cumulable</a:t>
            </a:r>
            <a:r>
              <a:rPr b="0" sz="1600" i="0">
                <a:solidFill>
                  <a:srgbClr val="093544"/>
                </a:solidFill>
                <a:latin typeface="Arial"/>
              </a:rPr>
              <a:t> : plusieurs directives sur le même élément.</a:t>
            </a:r>
          </a:p>
        </p:txBody>
      </p:sp>
      <p:sp>
        <p:nvSpPr>
          <p:cNvPr id="10" name="Rounded Rectangle 9"/>
          <p:cNvSpPr/>
          <p:nvPr/>
        </p:nvSpPr>
        <p:spPr>
          <a:xfrm>
            <a:off x="2606040" y="5486400"/>
            <a:ext cx="6995160" cy="3749039"/>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1" name="Oval 10"/>
          <p:cNvSpPr/>
          <p:nvPr/>
        </p:nvSpPr>
        <p:spPr>
          <a:xfrm>
            <a:off x="2825496" y="5660136"/>
            <a:ext cx="82296" cy="82296"/>
          </a:xfrm>
          <a:prstGeom prst="ellipse">
            <a:avLst/>
          </a:prstGeom>
          <a:solidFill>
            <a:srgbClr val="ED1548"/>
          </a:solidFill>
          <a:ln>
            <a:noFill/>
          </a:ln>
          <a:effectLst/>
        </p:spPr>
        <p:txBody>
          <a:bodyPr rtlCol="0" anchor="ctr"/>
          <a:lstStyle/>
          <a:p>
            <a:pPr algn="ctr"/>
          </a:p>
        </p:txBody>
      </p:sp>
      <p:sp>
        <p:nvSpPr>
          <p:cNvPr id="12" name="TextBox 11"/>
          <p:cNvSpPr txBox="1"/>
          <p:nvPr/>
        </p:nvSpPr>
        <p:spPr>
          <a:xfrm>
            <a:off x="2990088" y="5596128"/>
            <a:ext cx="635508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statut-badge.directive.ts</a:t>
            </a:r>
          </a:p>
        </p:txBody>
      </p:sp>
      <p:sp>
        <p:nvSpPr>
          <p:cNvPr id="13" name="TextBox 12"/>
          <p:cNvSpPr txBox="1"/>
          <p:nvPr/>
        </p:nvSpPr>
        <p:spPr>
          <a:xfrm>
            <a:off x="2852928" y="5961888"/>
            <a:ext cx="6537960" cy="3108960"/>
          </a:xfrm>
          <a:prstGeom prst="rect">
            <a:avLst/>
          </a:prstGeom>
          <a:noFill/>
        </p:spPr>
        <p:txBody>
          <a:bodyPr wrap="none" lIns="0" rIns="0" tIns="0" bIns="0">
            <a:noAutofit/>
          </a:bodyPr>
          <a:lstStyle/>
          <a:p>
            <a:pPr>
              <a:lnSpc>
                <a:spcPct val="100000"/>
              </a:lnSpc>
              <a:spcBef>
                <a:spcPts val="0"/>
              </a:spcBef>
              <a:spcAft>
                <a:spcPts val="0"/>
              </a:spcAft>
            </a:pPr>
            <a:r>
              <a:rPr sz="1300">
                <a:solidFill>
                  <a:srgbClr val="FFD166"/>
                </a:solidFill>
                <a:latin typeface="Consolas"/>
              </a:rPr>
              <a:t>@Directive</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selector: </a:t>
            </a:r>
            <a:r>
              <a:rPr sz="1300">
                <a:solidFill>
                  <a:srgbClr val="FFB3C1"/>
                </a:solidFill>
                <a:latin typeface="Consolas"/>
              </a:rPr>
              <a:t>'[appStatutBadge]'</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host: {</a:t>
            </a:r>
          </a:p>
          <a:p>
            <a:pPr>
              <a:lnSpc>
                <a:spcPct val="100000"/>
              </a:lnSpc>
              <a:spcBef>
                <a:spcPts val="0"/>
              </a:spcBef>
              <a:spcAft>
                <a:spcPts val="0"/>
              </a:spcAft>
            </a:pPr>
            <a:r>
              <a:rPr sz="1300">
                <a:solidFill>
                  <a:srgbClr val="EAF2F4"/>
                </a:solidFill>
                <a:latin typeface="Consolas"/>
              </a:rPr>
              <a:t>    </a:t>
            </a:r>
            <a:r>
              <a:rPr sz="1300">
                <a:solidFill>
                  <a:srgbClr val="FFB3C1"/>
                </a:solidFill>
                <a:latin typeface="Consolas"/>
              </a:rPr>
              <a:t>'[class.badge-ok]'</a:t>
            </a:r>
            <a:r>
              <a:rPr sz="1300">
                <a:solidFill>
                  <a:srgbClr val="EAF2F4"/>
                </a:solidFill>
                <a:latin typeface="Consolas"/>
              </a:rPr>
              <a:t>:    </a:t>
            </a:r>
            <a:r>
              <a:rPr sz="1300">
                <a:solidFill>
                  <a:srgbClr val="FFB3C1"/>
                </a:solidFill>
                <a:latin typeface="Consolas"/>
              </a:rPr>
              <a:t>"statut() === 'rapprochee'"</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a:t>
            </a:r>
            <a:r>
              <a:rPr sz="1300">
                <a:solidFill>
                  <a:srgbClr val="FFB3C1"/>
                </a:solidFill>
                <a:latin typeface="Consolas"/>
              </a:rPr>
              <a:t>'[class.badge-wait]'</a:t>
            </a:r>
            <a:r>
              <a:rPr sz="1300">
                <a:solidFill>
                  <a:srgbClr val="EAF2F4"/>
                </a:solidFill>
                <a:latin typeface="Consolas"/>
              </a:rPr>
              <a:t>:  </a:t>
            </a:r>
            <a:r>
              <a:rPr sz="1300">
                <a:solidFill>
                  <a:srgbClr val="FFB3C1"/>
                </a:solidFill>
                <a:latin typeface="Consolas"/>
              </a:rPr>
              <a:t>"statut() === 'a_rapprocher'"</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a:t>
            </a:r>
            <a:r>
              <a:rPr sz="1300">
                <a:solidFill>
                  <a:srgbClr val="FFB3C1"/>
                </a:solidFill>
                <a:latin typeface="Consolas"/>
              </a:rPr>
              <a:t>'[class.badge-danger]'</a:t>
            </a:r>
            <a:r>
              <a:rPr sz="1300">
                <a:solidFill>
                  <a:srgbClr val="EAF2F4"/>
                </a:solidFill>
                <a:latin typeface="Consolas"/>
              </a:rPr>
              <a:t>:</a:t>
            </a:r>
            <a:r>
              <a:rPr sz="1300">
                <a:solidFill>
                  <a:srgbClr val="FFB3C1"/>
                </a:solidFill>
                <a:latin typeface="Consolas"/>
              </a:rPr>
              <a:t>"statut() === 'litige'"</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a:t>
            </a:r>
          </a:p>
          <a:p>
            <a:pPr>
              <a:lnSpc>
                <a:spcPct val="100000"/>
              </a:lnSpc>
              <a:spcBef>
                <a:spcPts val="0"/>
              </a:spcBef>
              <a:spcAft>
                <a:spcPts val="0"/>
              </a:spcAft>
            </a:pPr>
            <a:r>
              <a:rPr sz="1300">
                <a:solidFill>
                  <a:srgbClr val="7FD1E0"/>
                </a:solidFill>
                <a:latin typeface="Consolas"/>
              </a:rPr>
              <a:t>export</a:t>
            </a:r>
            <a:r>
              <a:rPr sz="1300">
                <a:solidFill>
                  <a:srgbClr val="EAF2F4"/>
                </a:solidFill>
                <a:latin typeface="Consolas"/>
              </a:rPr>
              <a:t> </a:t>
            </a:r>
            <a:r>
              <a:rPr sz="1300">
                <a:solidFill>
                  <a:srgbClr val="7FD1E0"/>
                </a:solidFill>
                <a:latin typeface="Consolas"/>
              </a:rPr>
              <a:t>class</a:t>
            </a:r>
            <a:r>
              <a:rPr sz="1300">
                <a:solidFill>
                  <a:srgbClr val="EAF2F4"/>
                </a:solidFill>
                <a:latin typeface="Consolas"/>
              </a:rPr>
              <a:t> StatutBadgeDirective {</a:t>
            </a:r>
          </a:p>
          <a:p>
            <a:pPr>
              <a:lnSpc>
                <a:spcPct val="100000"/>
              </a:lnSpc>
              <a:spcBef>
                <a:spcPts val="0"/>
              </a:spcBef>
              <a:spcAft>
                <a:spcPts val="0"/>
              </a:spcAft>
            </a:pPr>
            <a:r>
              <a:rPr sz="1300">
                <a:solidFill>
                  <a:srgbClr val="EAF2F4"/>
                </a:solidFill>
                <a:latin typeface="Consolas"/>
              </a:rPr>
              <a:t>  statut = input.required&lt;Statut&gt;({ alias: </a:t>
            </a:r>
            <a:r>
              <a:rPr sz="1300">
                <a:solidFill>
                  <a:srgbClr val="FFB3C1"/>
                </a:solidFill>
                <a:latin typeface="Consolas"/>
              </a:rPr>
              <a:t>'appStatutBadge'</a:t>
            </a: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a:t>
            </a:r>
          </a:p>
        </p:txBody>
      </p:sp>
      <p:sp>
        <p:nvSpPr>
          <p:cNvPr id="14" name="Rounded Rectangle 13"/>
          <p:cNvSpPr/>
          <p:nvPr/>
        </p:nvSpPr>
        <p:spPr>
          <a:xfrm>
            <a:off x="9921240" y="3063240"/>
            <a:ext cx="7269480" cy="3977639"/>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5" name="Rectangle 14"/>
          <p:cNvSpPr/>
          <p:nvPr/>
        </p:nvSpPr>
        <p:spPr>
          <a:xfrm>
            <a:off x="9921240" y="3063240"/>
            <a:ext cx="7269480" cy="50292"/>
          </a:xfrm>
          <a:prstGeom prst="rect">
            <a:avLst/>
          </a:prstGeom>
          <a:solidFill>
            <a:srgbClr val="ED1548"/>
          </a:solidFill>
          <a:ln>
            <a:noFill/>
          </a:ln>
          <a:effectLst/>
        </p:spPr>
        <p:txBody>
          <a:bodyPr rtlCol="0" anchor="ctr"/>
          <a:lstStyle/>
          <a:p>
            <a:pPr algn="ctr"/>
          </a:p>
        </p:txBody>
      </p:sp>
      <p:sp>
        <p:nvSpPr>
          <p:cNvPr id="16" name="TextBox 15"/>
          <p:cNvSpPr txBox="1"/>
          <p:nvPr/>
        </p:nvSpPr>
        <p:spPr>
          <a:xfrm>
            <a:off x="10195560" y="3246120"/>
            <a:ext cx="6766560" cy="320040"/>
          </a:xfrm>
          <a:prstGeom prst="rect">
            <a:avLst/>
          </a:prstGeom>
          <a:noFill/>
        </p:spPr>
        <p:txBody>
          <a:bodyPr wrap="square" lIns="0" rIns="0" tIns="0" bIns="0" anchor="t">
            <a:noAutofit/>
          </a:bodyPr>
          <a:lstStyle/>
          <a:p>
            <a:pPr algn="l">
              <a:lnSpc>
                <a:spcPct val="102000"/>
              </a:lnSpc>
              <a:spcBef>
                <a:spcPts val="0"/>
              </a:spcBef>
              <a:spcAft>
                <a:spcPts val="0"/>
              </a:spcAft>
            </a:pPr>
            <a:r>
              <a:rPr b="1" sz="1800" i="0">
                <a:solidFill>
                  <a:srgbClr val="ED1548"/>
                </a:solidFill>
                <a:latin typeface="Arial"/>
              </a:rPr>
              <a:t>TP 4 — Pipes et badge</a:t>
            </a:r>
          </a:p>
        </p:txBody>
      </p:sp>
      <p:sp>
        <p:nvSpPr>
          <p:cNvPr id="17" name="Oval 16"/>
          <p:cNvSpPr/>
          <p:nvPr/>
        </p:nvSpPr>
        <p:spPr>
          <a:xfrm>
            <a:off x="10195560" y="3739896"/>
            <a:ext cx="329184" cy="329184"/>
          </a:xfrm>
          <a:prstGeom prst="ellipse">
            <a:avLst/>
          </a:prstGeom>
          <a:solidFill>
            <a:srgbClr val="ED1548"/>
          </a:solidFill>
          <a:ln>
            <a:noFill/>
          </a:ln>
          <a:effectLst/>
        </p:spPr>
        <p:txBody>
          <a:bodyPr rtlCol="0" anchor="ctr" lIns="0" rIns="0" tIns="0" bIns="0"/>
          <a:lstStyle/>
          <a:p>
            <a:pPr algn="ctr"/>
            <a:r>
              <a:rPr sz="1190" b="1">
                <a:solidFill>
                  <a:srgbClr val="FFFFFF"/>
                </a:solidFill>
                <a:latin typeface="Arial"/>
              </a:rPr>
              <a:t>1</a:t>
            </a:r>
          </a:p>
        </p:txBody>
      </p:sp>
      <p:sp>
        <p:nvSpPr>
          <p:cNvPr id="18" name="TextBox 17"/>
          <p:cNvSpPr txBox="1"/>
          <p:nvPr/>
        </p:nvSpPr>
        <p:spPr>
          <a:xfrm>
            <a:off x="10698480" y="3739896"/>
            <a:ext cx="6263640" cy="559612"/>
          </a:xfrm>
          <a:prstGeom prst="rect">
            <a:avLst/>
          </a:prstGeom>
          <a:noFill/>
        </p:spPr>
        <p:txBody>
          <a:bodyPr wrap="square" lIns="0" rIns="0" tIns="0" bIns="0" anchor="t">
            <a:noAutofit/>
          </a:bodyPr>
          <a:lstStyle/>
          <a:p>
            <a:pPr algn="l">
              <a:lnSpc>
                <a:spcPct val="106000"/>
              </a:lnSpc>
              <a:spcBef>
                <a:spcPts val="0"/>
              </a:spcBef>
              <a:spcAft>
                <a:spcPts val="0"/>
              </a:spcAft>
            </a:pPr>
            <a:r>
              <a:rPr sz="1260" b="0" i="0">
                <a:solidFill>
                  <a:srgbClr val="ED1548"/>
                </a:solidFill>
                <a:latin typeface="Consolas"/>
              </a:rPr>
              <a:t>currency:'EUR':'symbol':'1.2-2':'fr'</a:t>
            </a:r>
            <a:r>
              <a:rPr b="0" sz="1400" i="0">
                <a:solidFill>
                  <a:srgbClr val="1B3B47"/>
                </a:solidFill>
                <a:latin typeface="Arial"/>
              </a:rPr>
              <a:t> et </a:t>
            </a:r>
            <a:r>
              <a:rPr sz="1260" b="0" i="0">
                <a:solidFill>
                  <a:srgbClr val="ED1548"/>
                </a:solidFill>
                <a:latin typeface="Consolas"/>
              </a:rPr>
              <a:t>date:'dd/MM/yyyy'</a:t>
            </a:r>
            <a:r>
              <a:rPr b="0" sz="1400" i="0">
                <a:solidFill>
                  <a:srgbClr val="1B3B47"/>
                </a:solidFill>
                <a:latin typeface="Arial"/>
              </a:rPr>
              <a:t>.</a:t>
            </a:r>
          </a:p>
        </p:txBody>
      </p:sp>
      <p:sp>
        <p:nvSpPr>
          <p:cNvPr id="19" name="Oval 18"/>
          <p:cNvSpPr/>
          <p:nvPr/>
        </p:nvSpPr>
        <p:spPr>
          <a:xfrm>
            <a:off x="10195560" y="4372660"/>
            <a:ext cx="329184" cy="329184"/>
          </a:xfrm>
          <a:prstGeom prst="ellipse">
            <a:avLst/>
          </a:prstGeom>
          <a:solidFill>
            <a:srgbClr val="ED1548"/>
          </a:solidFill>
          <a:ln>
            <a:noFill/>
          </a:ln>
          <a:effectLst/>
        </p:spPr>
        <p:txBody>
          <a:bodyPr rtlCol="0" anchor="ctr" lIns="0" rIns="0" tIns="0" bIns="0"/>
          <a:lstStyle/>
          <a:p>
            <a:pPr algn="ctr"/>
            <a:r>
              <a:rPr sz="1190" b="1">
                <a:solidFill>
                  <a:srgbClr val="FFFFFF"/>
                </a:solidFill>
                <a:latin typeface="Arial"/>
              </a:rPr>
              <a:t>2</a:t>
            </a:r>
          </a:p>
        </p:txBody>
      </p:sp>
      <p:sp>
        <p:nvSpPr>
          <p:cNvPr id="20" name="TextBox 19"/>
          <p:cNvSpPr txBox="1"/>
          <p:nvPr/>
        </p:nvSpPr>
        <p:spPr>
          <a:xfrm>
            <a:off x="10698480" y="4372660"/>
            <a:ext cx="6263640" cy="559612"/>
          </a:xfrm>
          <a:prstGeom prst="rect">
            <a:avLst/>
          </a:prstGeom>
          <a:noFill/>
        </p:spPr>
        <p:txBody>
          <a:bodyPr wrap="square" lIns="0" rIns="0" tIns="0" bIns="0" anchor="t">
            <a:noAutofit/>
          </a:bodyPr>
          <a:lstStyle/>
          <a:p>
            <a:pPr algn="l">
              <a:lnSpc>
                <a:spcPct val="106000"/>
              </a:lnSpc>
              <a:spcBef>
                <a:spcPts val="0"/>
              </a:spcBef>
              <a:spcAft>
                <a:spcPts val="0"/>
              </a:spcAft>
            </a:pPr>
            <a:r>
              <a:rPr sz="1260" b="0" i="0">
                <a:solidFill>
                  <a:srgbClr val="ED1548"/>
                </a:solidFill>
                <a:latin typeface="Consolas"/>
              </a:rPr>
              <a:t>ng g pipe shared/pipes/statut-label</a:t>
            </a:r>
            <a:r>
              <a:rPr b="0" sz="1400" i="0">
                <a:solidFill>
                  <a:srgbClr val="1B3B47"/>
                </a:solidFill>
                <a:latin typeface="Arial"/>
              </a:rPr>
              <a:t>.</a:t>
            </a:r>
          </a:p>
        </p:txBody>
      </p:sp>
      <p:sp>
        <p:nvSpPr>
          <p:cNvPr id="21" name="Oval 20"/>
          <p:cNvSpPr/>
          <p:nvPr/>
        </p:nvSpPr>
        <p:spPr>
          <a:xfrm>
            <a:off x="10195560" y="5005425"/>
            <a:ext cx="329184" cy="329184"/>
          </a:xfrm>
          <a:prstGeom prst="ellipse">
            <a:avLst/>
          </a:prstGeom>
          <a:solidFill>
            <a:srgbClr val="ED1548"/>
          </a:solidFill>
          <a:ln>
            <a:noFill/>
          </a:ln>
          <a:effectLst/>
        </p:spPr>
        <p:txBody>
          <a:bodyPr rtlCol="0" anchor="ctr" lIns="0" rIns="0" tIns="0" bIns="0"/>
          <a:lstStyle/>
          <a:p>
            <a:pPr algn="ctr"/>
            <a:r>
              <a:rPr sz="1190" b="1">
                <a:solidFill>
                  <a:srgbClr val="FFFFFF"/>
                </a:solidFill>
                <a:latin typeface="Arial"/>
              </a:rPr>
              <a:t>3</a:t>
            </a:r>
          </a:p>
        </p:txBody>
      </p:sp>
      <p:sp>
        <p:nvSpPr>
          <p:cNvPr id="22" name="TextBox 21"/>
          <p:cNvSpPr txBox="1"/>
          <p:nvPr/>
        </p:nvSpPr>
        <p:spPr>
          <a:xfrm>
            <a:off x="10698480" y="5005425"/>
            <a:ext cx="6263640" cy="559612"/>
          </a:xfrm>
          <a:prstGeom prst="rect">
            <a:avLst/>
          </a:prstGeom>
          <a:noFill/>
        </p:spPr>
        <p:txBody>
          <a:bodyPr wrap="square" lIns="0" rIns="0" tIns="0" bIns="0" anchor="t">
            <a:noAutofit/>
          </a:bodyPr>
          <a:lstStyle/>
          <a:p>
            <a:pPr algn="l">
              <a:lnSpc>
                <a:spcPct val="106000"/>
              </a:lnSpc>
              <a:spcBef>
                <a:spcPts val="0"/>
              </a:spcBef>
              <a:spcAft>
                <a:spcPts val="0"/>
              </a:spcAft>
            </a:pPr>
            <a:r>
              <a:rPr sz="1260" b="0" i="0">
                <a:solidFill>
                  <a:srgbClr val="ED1548"/>
                </a:solidFill>
                <a:latin typeface="Consolas"/>
              </a:rPr>
              <a:t>ng g pipe shared/pipes/echeance</a:t>
            </a:r>
            <a:r>
              <a:rPr b="0" sz="1400" i="0">
                <a:solidFill>
                  <a:srgbClr val="1B3B47"/>
                </a:solidFill>
                <a:latin typeface="Arial"/>
              </a:rPr>
              <a:t>.</a:t>
            </a:r>
          </a:p>
        </p:txBody>
      </p:sp>
      <p:sp>
        <p:nvSpPr>
          <p:cNvPr id="23" name="Oval 22"/>
          <p:cNvSpPr/>
          <p:nvPr/>
        </p:nvSpPr>
        <p:spPr>
          <a:xfrm>
            <a:off x="10195560" y="5638190"/>
            <a:ext cx="329184" cy="329184"/>
          </a:xfrm>
          <a:prstGeom prst="ellipse">
            <a:avLst/>
          </a:prstGeom>
          <a:solidFill>
            <a:srgbClr val="ED1548"/>
          </a:solidFill>
          <a:ln>
            <a:noFill/>
          </a:ln>
          <a:effectLst/>
        </p:spPr>
        <p:txBody>
          <a:bodyPr rtlCol="0" anchor="ctr" lIns="0" rIns="0" tIns="0" bIns="0"/>
          <a:lstStyle/>
          <a:p>
            <a:pPr algn="ctr"/>
            <a:r>
              <a:rPr sz="1190" b="1">
                <a:solidFill>
                  <a:srgbClr val="FFFFFF"/>
                </a:solidFill>
                <a:latin typeface="Arial"/>
              </a:rPr>
              <a:t>4</a:t>
            </a:r>
          </a:p>
        </p:txBody>
      </p:sp>
      <p:sp>
        <p:nvSpPr>
          <p:cNvPr id="24" name="TextBox 23"/>
          <p:cNvSpPr txBox="1"/>
          <p:nvPr/>
        </p:nvSpPr>
        <p:spPr>
          <a:xfrm>
            <a:off x="10698480" y="5638190"/>
            <a:ext cx="6263640" cy="559612"/>
          </a:xfrm>
          <a:prstGeom prst="rect">
            <a:avLst/>
          </a:prstGeom>
          <a:noFill/>
        </p:spPr>
        <p:txBody>
          <a:bodyPr wrap="square" lIns="0" rIns="0" tIns="0" bIns="0" anchor="t">
            <a:noAutofit/>
          </a:bodyPr>
          <a:lstStyle/>
          <a:p>
            <a:pPr algn="l">
              <a:lnSpc>
                <a:spcPct val="106000"/>
              </a:lnSpc>
              <a:spcBef>
                <a:spcPts val="0"/>
              </a:spcBef>
              <a:spcAft>
                <a:spcPts val="0"/>
              </a:spcAft>
            </a:pPr>
            <a:r>
              <a:rPr sz="1260" b="0" i="0">
                <a:solidFill>
                  <a:srgbClr val="ED1548"/>
                </a:solidFill>
                <a:latin typeface="Consolas"/>
              </a:rPr>
              <a:t>ng g directive shared/directives/statut-badge</a:t>
            </a:r>
            <a:r>
              <a:rPr b="0" sz="1400" i="0">
                <a:solidFill>
                  <a:srgbClr val="1B3B47"/>
                </a:solidFill>
                <a:latin typeface="Arial"/>
              </a:rPr>
              <a:t>.</a:t>
            </a:r>
          </a:p>
        </p:txBody>
      </p:sp>
      <p:sp>
        <p:nvSpPr>
          <p:cNvPr id="25" name="Oval 24"/>
          <p:cNvSpPr/>
          <p:nvPr/>
        </p:nvSpPr>
        <p:spPr>
          <a:xfrm>
            <a:off x="10195560" y="6270955"/>
            <a:ext cx="329184" cy="329184"/>
          </a:xfrm>
          <a:prstGeom prst="ellipse">
            <a:avLst/>
          </a:prstGeom>
          <a:solidFill>
            <a:srgbClr val="ED1548"/>
          </a:solidFill>
          <a:ln>
            <a:noFill/>
          </a:ln>
          <a:effectLst/>
        </p:spPr>
        <p:txBody>
          <a:bodyPr rtlCol="0" anchor="ctr" lIns="0" rIns="0" tIns="0" bIns="0"/>
          <a:lstStyle/>
          <a:p>
            <a:pPr algn="ctr"/>
            <a:r>
              <a:rPr sz="1190" b="1">
                <a:solidFill>
                  <a:srgbClr val="FFFFFF"/>
                </a:solidFill>
                <a:latin typeface="Arial"/>
              </a:rPr>
              <a:t>5</a:t>
            </a:r>
          </a:p>
        </p:txBody>
      </p:sp>
      <p:sp>
        <p:nvSpPr>
          <p:cNvPr id="26" name="TextBox 25"/>
          <p:cNvSpPr txBox="1"/>
          <p:nvPr/>
        </p:nvSpPr>
        <p:spPr>
          <a:xfrm>
            <a:off x="10698480" y="6270955"/>
            <a:ext cx="6263640" cy="559612"/>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Appliquer au tableau et comparer avec une méthode.</a:t>
            </a:r>
          </a:p>
        </p:txBody>
      </p:sp>
      <p:sp>
        <p:nvSpPr>
          <p:cNvPr id="27" name="TextBox 26"/>
          <p:cNvSpPr txBox="1"/>
          <p:nvPr/>
        </p:nvSpPr>
        <p:spPr>
          <a:xfrm>
            <a:off x="10195560" y="7269479"/>
            <a:ext cx="6766560" cy="274320"/>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8A9AA1"/>
                </a:solidFill>
                <a:latin typeface="Arial"/>
              </a:rPr>
              <a:t>RÉSULTAT ATTENDU</a:t>
            </a:r>
          </a:p>
        </p:txBody>
      </p:sp>
      <p:sp>
        <p:nvSpPr>
          <p:cNvPr id="28" name="Rounded Rectangle 27"/>
          <p:cNvSpPr/>
          <p:nvPr/>
        </p:nvSpPr>
        <p:spPr>
          <a:xfrm>
            <a:off x="10195560" y="7589520"/>
            <a:ext cx="1691640" cy="329184"/>
          </a:xfrm>
          <a:prstGeom prst="roundRect">
            <a:avLst>
              <a:gd name="adj" fmla="val 50000"/>
            </a:avLst>
          </a:prstGeom>
          <a:solidFill>
            <a:srgbClr val="D98200"/>
          </a:solidFill>
          <a:ln>
            <a:noFill/>
          </a:ln>
          <a:effectLst/>
        </p:spPr>
        <p:txBody>
          <a:bodyPr rtlCol="0" anchor="ctr" lIns="0" rIns="0" tIns="0" bIns="0"/>
          <a:lstStyle/>
          <a:p>
            <a:pPr algn="ctr"/>
            <a:r>
              <a:rPr sz="1200" b="1">
                <a:solidFill>
                  <a:srgbClr val="FFFFFF"/>
                </a:solidFill>
                <a:latin typeface="Arial"/>
              </a:rPr>
              <a:t>À rapprocher</a:t>
            </a:r>
          </a:p>
        </p:txBody>
      </p:sp>
      <p:sp>
        <p:nvSpPr>
          <p:cNvPr id="29" name="Rounded Rectangle 28"/>
          <p:cNvSpPr/>
          <p:nvPr/>
        </p:nvSpPr>
        <p:spPr>
          <a:xfrm>
            <a:off x="12051792" y="7589520"/>
            <a:ext cx="1417320" cy="329184"/>
          </a:xfrm>
          <a:prstGeom prst="roundRect">
            <a:avLst>
              <a:gd name="adj" fmla="val 50000"/>
            </a:avLst>
          </a:prstGeom>
          <a:solidFill>
            <a:srgbClr val="1E8E5A"/>
          </a:solidFill>
          <a:ln>
            <a:noFill/>
          </a:ln>
          <a:effectLst/>
        </p:spPr>
        <p:txBody>
          <a:bodyPr rtlCol="0" anchor="ctr" lIns="0" rIns="0" tIns="0" bIns="0"/>
          <a:lstStyle/>
          <a:p>
            <a:pPr algn="ctr"/>
            <a:r>
              <a:rPr sz="1200" b="1">
                <a:solidFill>
                  <a:srgbClr val="FFFFFF"/>
                </a:solidFill>
                <a:latin typeface="Arial"/>
              </a:rPr>
              <a:t>Rapprochée</a:t>
            </a:r>
          </a:p>
        </p:txBody>
      </p:sp>
      <p:sp>
        <p:nvSpPr>
          <p:cNvPr id="30" name="Rounded Rectangle 29"/>
          <p:cNvSpPr/>
          <p:nvPr/>
        </p:nvSpPr>
        <p:spPr>
          <a:xfrm>
            <a:off x="13633704" y="7589520"/>
            <a:ext cx="1051560" cy="329184"/>
          </a:xfrm>
          <a:prstGeom prst="roundRect">
            <a:avLst>
              <a:gd name="adj" fmla="val 50000"/>
            </a:avLst>
          </a:prstGeom>
          <a:solidFill>
            <a:srgbClr val="C62828"/>
          </a:solidFill>
          <a:ln>
            <a:noFill/>
          </a:ln>
          <a:effectLst/>
        </p:spPr>
        <p:txBody>
          <a:bodyPr rtlCol="0" anchor="ctr" lIns="0" rIns="0" tIns="0" bIns="0"/>
          <a:lstStyle/>
          <a:p>
            <a:pPr algn="ctr"/>
            <a:r>
              <a:rPr sz="1200" b="1">
                <a:solidFill>
                  <a:srgbClr val="FFFFFF"/>
                </a:solidFill>
                <a:latin typeface="Arial"/>
              </a:rPr>
              <a:t>Litige</a:t>
            </a:r>
          </a:p>
        </p:txBody>
      </p:sp>
      <p:sp>
        <p:nvSpPr>
          <p:cNvPr id="31" name="Rounded Rectangle 30"/>
          <p:cNvSpPr/>
          <p:nvPr/>
        </p:nvSpPr>
        <p:spPr>
          <a:xfrm>
            <a:off x="9921240" y="8183879"/>
            <a:ext cx="7269480" cy="1051560"/>
          </a:xfrm>
          <a:prstGeom prst="roundRect">
            <a:avLst>
              <a:gd name="adj" fmla="val 8000"/>
            </a:avLst>
          </a:prstGeom>
          <a:solidFill>
            <a:srgbClr val="FFF0F4"/>
          </a:solidFill>
          <a:ln>
            <a:noFill/>
          </a:ln>
          <a:effectLst/>
        </p:spPr>
        <p:txBody>
          <a:bodyPr rtlCol="0" anchor="ctr"/>
          <a:lstStyle/>
          <a:p>
            <a:pPr algn="ctr"/>
          </a:p>
        </p:txBody>
      </p:sp>
      <p:sp>
        <p:nvSpPr>
          <p:cNvPr id="32" name="Rectangle 31"/>
          <p:cNvSpPr/>
          <p:nvPr/>
        </p:nvSpPr>
        <p:spPr>
          <a:xfrm>
            <a:off x="9921240" y="8183879"/>
            <a:ext cx="64008" cy="1051560"/>
          </a:xfrm>
          <a:prstGeom prst="rect">
            <a:avLst/>
          </a:prstGeom>
          <a:solidFill>
            <a:srgbClr val="ED1548"/>
          </a:solidFill>
          <a:ln>
            <a:noFill/>
          </a:ln>
          <a:effectLst/>
        </p:spPr>
        <p:txBody>
          <a:bodyPr rtlCol="0" anchor="ctr"/>
          <a:lstStyle/>
          <a:p>
            <a:pPr algn="ctr"/>
          </a:p>
        </p:txBody>
      </p:sp>
      <p:sp>
        <p:nvSpPr>
          <p:cNvPr id="33" name="TextBox 32"/>
          <p:cNvSpPr txBox="1"/>
          <p:nvPr/>
        </p:nvSpPr>
        <p:spPr>
          <a:xfrm>
            <a:off x="10213848" y="8348471"/>
            <a:ext cx="69037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CRITÈRE</a:t>
            </a:r>
          </a:p>
        </p:txBody>
      </p:sp>
      <p:sp>
        <p:nvSpPr>
          <p:cNvPr id="34" name="TextBox 33"/>
          <p:cNvSpPr txBox="1"/>
          <p:nvPr/>
        </p:nvSpPr>
        <p:spPr>
          <a:xfrm>
            <a:off x="10213848" y="8641080"/>
            <a:ext cx="6858000" cy="484631"/>
          </a:xfrm>
          <a:prstGeom prst="rect">
            <a:avLst/>
          </a:prstGeom>
          <a:noFill/>
        </p:spPr>
        <p:txBody>
          <a:bodyPr wrap="square" lIns="0" rIns="0" tIns="0" bIns="0" anchor="t">
            <a:noAutofit/>
          </a:bodyPr>
          <a:lstStyle/>
          <a:p>
            <a:pPr algn="l">
              <a:lnSpc>
                <a:spcPct val="106000"/>
              </a:lnSpc>
              <a:spcBef>
                <a:spcPts val="0"/>
              </a:spcBef>
              <a:spcAft>
                <a:spcPts val="0"/>
              </a:spcAft>
            </a:pPr>
            <a:r>
              <a:rPr b="0" sz="1350" i="0">
                <a:solidFill>
                  <a:srgbClr val="1B3B47"/>
                </a:solidFill>
                <a:latin typeface="Arial"/>
              </a:rPr>
              <a:t>Dates FR, montants EUR, badge coloré et mention « en retard de N j » visible.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1  ·  DONNÉES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json-server expose </a:t>
            </a:r>
            <a:r>
              <a:rPr sz="3420" b="1" i="0">
                <a:solidFill>
                  <a:srgbClr val="ED1548"/>
                </a:solidFill>
                <a:latin typeface="Consolas"/>
              </a:rPr>
              <a:t>db.json</a:t>
            </a:r>
            <a:r>
              <a:rPr b="1" sz="3800" i="0">
                <a:solidFill>
                  <a:srgbClr val="093544"/>
                </a:solidFill>
                <a:latin typeface="Arial"/>
              </a:rPr>
              <a:t> en REST</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Pas de backend à écrire : les URL suffisent pour apprendre HttpClient.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19 / 62</a:t>
            </a:r>
          </a:p>
        </p:txBody>
      </p:sp>
      <p:graphicFrame>
        <p:nvGraphicFramePr>
          <p:cNvPr id="9" name="Table 8"/>
          <p:cNvGraphicFramePr>
            <a:graphicFrameLocks noGrp="1"/>
          </p:cNvGraphicFramePr>
          <p:nvPr/>
        </p:nvGraphicFramePr>
        <p:xfrm>
          <a:off x="2606040" y="3063240"/>
          <a:ext cx="7315200" cy="3246120"/>
        </p:xfrm>
        <a:graphic>
          <a:graphicData uri="http://schemas.openxmlformats.org/drawingml/2006/table">
            <a:tbl>
              <a:tblPr>
                <a:tableStyleId>{5C22544A-7EE6-4342-B048-85BDC9FD1C3A}</a:tableStyleId>
              </a:tblPr>
              <a:tblGrid>
                <a:gridCol w="4297680"/>
                <a:gridCol w="3017520"/>
              </a:tblGrid>
              <a:tr h="411480">
                <a:tc>
                  <a:txBody>
                    <a:bodyPr wrap="square"/>
                    <a:lstStyle/>
                    <a:p>
                      <a:pPr algn="l">
                        <a:lnSpc>
                          <a:spcPct val="100000"/>
                        </a:lnSpc>
                      </a:pPr>
                      <a:r>
                        <a:rPr b="1" sz="1300" i="0">
                          <a:solidFill>
                            <a:srgbClr val="FFFFFF"/>
                          </a:solidFill>
                          <a:latin typeface="Arial"/>
                        </a:rPr>
                        <a:t>Requête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300" i="0">
                          <a:solidFill>
                            <a:srgbClr val="FFFFFF"/>
                          </a:solidFill>
                          <a:latin typeface="Arial"/>
                        </a:rPr>
                        <a:t>Résultat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r>
              <a:tr h="502920">
                <a:tc>
                  <a:txBody>
                    <a:bodyPr wrap="square"/>
                    <a:lstStyle/>
                    <a:p>
                      <a:pPr algn="l">
                        <a:lnSpc>
                          <a:spcPct val="100000"/>
                        </a:lnSpc>
                      </a:pPr>
                      <a:r>
                        <a:rPr sz="1215" b="0" i="0">
                          <a:solidFill>
                            <a:srgbClr val="ED1548"/>
                          </a:solidFill>
                          <a:latin typeface="Consolas"/>
                        </a:rPr>
                        <a:t>GET /factures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350" i="0">
                          <a:solidFill>
                            <a:srgbClr val="1B3B47"/>
                          </a:solidFill>
                          <a:latin typeface="Arial"/>
                        </a:rPr>
                        <a:t>200 factures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502920">
                <a:tc>
                  <a:txBody>
                    <a:bodyPr wrap="square"/>
                    <a:lstStyle/>
                    <a:p>
                      <a:pPr algn="l">
                        <a:lnSpc>
                          <a:spcPct val="100000"/>
                        </a:lnSpc>
                      </a:pPr>
                      <a:r>
                        <a:rPr sz="1215" b="0" i="0">
                          <a:solidFill>
                            <a:srgbClr val="ED1548"/>
                          </a:solidFill>
                          <a:latin typeface="Consolas"/>
                        </a:rPr>
                        <a:t>GET /factures?statut=litige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350" i="0">
                          <a:solidFill>
                            <a:srgbClr val="1B3B47"/>
                          </a:solidFill>
                          <a:latin typeface="Arial"/>
                        </a:rPr>
                        <a:t>filtre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640080">
                <a:tc>
                  <a:txBody>
                    <a:bodyPr wrap="square"/>
                    <a:lstStyle/>
                    <a:p>
                      <a:pPr algn="l">
                        <a:lnSpc>
                          <a:spcPct val="100000"/>
                        </a:lnSpc>
                      </a:pPr>
                      <a:r>
                        <a:rPr sz="1215" b="0" i="0">
                          <a:solidFill>
                            <a:srgbClr val="ED1548"/>
                          </a:solidFill>
                          <a:latin typeface="Consolas"/>
                        </a:rPr>
                        <a:t>GET /factures?_sort=dateEcheance&amp;_order=asc</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350" i="0">
                          <a:solidFill>
                            <a:srgbClr val="1B3B47"/>
                          </a:solidFill>
                          <a:latin typeface="Arial"/>
                        </a:rPr>
                        <a:t>tri</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594360">
                <a:tc>
                  <a:txBody>
                    <a:bodyPr wrap="square"/>
                    <a:lstStyle/>
                    <a:p>
                      <a:pPr algn="l">
                        <a:lnSpc>
                          <a:spcPct val="100000"/>
                        </a:lnSpc>
                      </a:pPr>
                      <a:r>
                        <a:rPr sz="1215" b="0" i="0">
                          <a:solidFill>
                            <a:srgbClr val="ED1548"/>
                          </a:solidFill>
                          <a:latin typeface="Consolas"/>
                        </a:rPr>
                        <a:t>GET /factures?_page=1&amp;_limit=20</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350" i="0">
                          <a:solidFill>
                            <a:srgbClr val="1B3B47"/>
                          </a:solidFill>
                          <a:latin typeface="Arial"/>
                        </a:rPr>
                        <a:t>pagination</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594360">
                <a:tc>
                  <a:txBody>
                    <a:bodyPr wrap="square"/>
                    <a:lstStyle/>
                    <a:p>
                      <a:pPr algn="l">
                        <a:lnSpc>
                          <a:spcPct val="100000"/>
                        </a:lnSpc>
                      </a:pPr>
                      <a:r>
                        <a:rPr sz="1215" b="0" i="0">
                          <a:solidFill>
                            <a:srgbClr val="ED1548"/>
                          </a:solidFill>
                          <a:latin typeface="Consolas"/>
                        </a:rPr>
                        <a:t>PATCH /factures/:id</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350" i="0">
                          <a:solidFill>
                            <a:srgbClr val="1B3B47"/>
                          </a:solidFill>
                          <a:latin typeface="Arial"/>
                        </a:rPr>
                        <a:t>mise à jour partielle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bl>
          </a:graphicData>
        </a:graphic>
      </p:graphicFrame>
      <p:sp>
        <p:nvSpPr>
          <p:cNvPr id="10" name="Rounded Rectangle 9"/>
          <p:cNvSpPr/>
          <p:nvPr/>
        </p:nvSpPr>
        <p:spPr>
          <a:xfrm>
            <a:off x="10104120" y="3063240"/>
            <a:ext cx="7086600" cy="434340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1" name="Oval 10"/>
          <p:cNvSpPr/>
          <p:nvPr/>
        </p:nvSpPr>
        <p:spPr>
          <a:xfrm>
            <a:off x="10323576" y="3236976"/>
            <a:ext cx="82296" cy="82296"/>
          </a:xfrm>
          <a:prstGeom prst="ellipse">
            <a:avLst/>
          </a:prstGeom>
          <a:solidFill>
            <a:srgbClr val="ED1548"/>
          </a:solidFill>
          <a:ln>
            <a:noFill/>
          </a:ln>
          <a:effectLst/>
        </p:spPr>
        <p:txBody>
          <a:bodyPr rtlCol="0" anchor="ctr"/>
          <a:lstStyle/>
          <a:p>
            <a:pPr algn="ctr"/>
          </a:p>
        </p:txBody>
      </p:sp>
      <p:sp>
        <p:nvSpPr>
          <p:cNvPr id="12" name="TextBox 11"/>
          <p:cNvSpPr txBox="1"/>
          <p:nvPr/>
        </p:nvSpPr>
        <p:spPr>
          <a:xfrm>
            <a:off x="10488168" y="3172968"/>
            <a:ext cx="658368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facture.service.ts — version J1</a:t>
            </a:r>
          </a:p>
        </p:txBody>
      </p:sp>
      <p:sp>
        <p:nvSpPr>
          <p:cNvPr id="13" name="TextBox 12"/>
          <p:cNvSpPr txBox="1"/>
          <p:nvPr/>
        </p:nvSpPr>
        <p:spPr>
          <a:xfrm>
            <a:off x="10351008" y="3538728"/>
            <a:ext cx="6766560" cy="3703320"/>
          </a:xfrm>
          <a:prstGeom prst="rect">
            <a:avLst/>
          </a:prstGeom>
          <a:noFill/>
        </p:spPr>
        <p:txBody>
          <a:bodyPr wrap="none" lIns="0" rIns="0" tIns="0" bIns="0">
            <a:noAutofit/>
          </a:bodyPr>
          <a:lstStyle/>
          <a:p>
            <a:pPr>
              <a:lnSpc>
                <a:spcPct val="100000"/>
              </a:lnSpc>
              <a:spcBef>
                <a:spcPts val="0"/>
              </a:spcBef>
              <a:spcAft>
                <a:spcPts val="0"/>
              </a:spcAft>
            </a:pPr>
            <a:r>
              <a:rPr sz="1400">
                <a:solidFill>
                  <a:srgbClr val="FFD166"/>
                </a:solidFill>
                <a:latin typeface="Consolas"/>
              </a:rPr>
              <a:t>@Service</a:t>
            </a:r>
            <a:r>
              <a:rPr sz="1400">
                <a:solidFill>
                  <a:srgbClr val="EAF2F4"/>
                </a:solidFill>
                <a:latin typeface="Consolas"/>
              </a:rPr>
              <a:t>()</a:t>
            </a:r>
          </a:p>
          <a:p>
            <a:pPr>
              <a:lnSpc>
                <a:spcPct val="100000"/>
              </a:lnSpc>
              <a:spcBef>
                <a:spcPts val="0"/>
              </a:spcBef>
              <a:spcAft>
                <a:spcPts val="0"/>
              </a:spcAft>
            </a:pPr>
            <a:r>
              <a:rPr sz="1400">
                <a:solidFill>
                  <a:srgbClr val="7FD1E0"/>
                </a:solidFill>
                <a:latin typeface="Consolas"/>
              </a:rPr>
              <a:t>export</a:t>
            </a:r>
            <a:r>
              <a:rPr sz="1400">
                <a:solidFill>
                  <a:srgbClr val="EAF2F4"/>
                </a:solidFill>
                <a:latin typeface="Consolas"/>
              </a:rPr>
              <a:t> </a:t>
            </a:r>
            <a:r>
              <a:rPr sz="1400">
                <a:solidFill>
                  <a:srgbClr val="7FD1E0"/>
                </a:solidFill>
                <a:latin typeface="Consolas"/>
              </a:rPr>
              <a:t>class</a:t>
            </a:r>
            <a:r>
              <a:rPr sz="1400">
                <a:solidFill>
                  <a:srgbClr val="EAF2F4"/>
                </a:solidFill>
                <a:latin typeface="Consolas"/>
              </a:rPr>
              <a:t> FactureService {</a:t>
            </a:r>
          </a:p>
          <a:p>
            <a:pPr>
              <a:lnSpc>
                <a:spcPct val="100000"/>
              </a:lnSpc>
              <a:spcBef>
                <a:spcPts val="0"/>
              </a:spcBef>
              <a:spcAft>
                <a:spcPts val="0"/>
              </a:spcAft>
            </a:pPr>
            <a:r>
              <a:rPr sz="1400">
                <a:solidFill>
                  <a:srgbClr val="EAF2F4"/>
                </a:solidFill>
                <a:latin typeface="Consolas"/>
              </a:rPr>
              <a:t>  </a:t>
            </a:r>
            <a:r>
              <a:rPr sz="1400">
                <a:solidFill>
                  <a:srgbClr val="7FD1E0"/>
                </a:solidFill>
                <a:latin typeface="Consolas"/>
              </a:rPr>
              <a:t>private</a:t>
            </a:r>
            <a:r>
              <a:rPr sz="1400">
                <a:solidFill>
                  <a:srgbClr val="EAF2F4"/>
                </a:solidFill>
                <a:latin typeface="Consolas"/>
              </a:rPr>
              <a:t> api = </a:t>
            </a:r>
            <a:r>
              <a:rPr sz="1400">
                <a:solidFill>
                  <a:srgbClr val="FFB3C1"/>
                </a:solidFill>
                <a:latin typeface="Consolas"/>
              </a:rPr>
              <a:t>'http://localhost:3000'</a:t>
            </a:r>
            <a:r>
              <a:rPr sz="1400">
                <a:solidFill>
                  <a:srgbClr val="EAF2F4"/>
                </a:solidFill>
                <a:latin typeface="Consolas"/>
              </a:rPr>
              <a:t>;</a:t>
            </a:r>
          </a:p>
          <a:p>
            <a:pPr>
              <a:lnSpc>
                <a:spcPct val="100000"/>
              </a:lnSpc>
              <a:spcBef>
                <a:spcPts val="0"/>
              </a:spcBef>
              <a:spcAft>
                <a:spcPts val="0"/>
              </a:spcAft>
            </a:pPr>
            <a:r>
              <a:rPr sz="1400">
                <a:solidFill>
                  <a:srgbClr val="EAF2F4"/>
                </a:solidFill>
                <a:latin typeface="Consolas"/>
              </a:rPr>
              <a:t>  factures = signal&lt;Facture[]&gt;([]);</a:t>
            </a:r>
          </a:p>
          <a:p>
            <a:pPr>
              <a:lnSpc>
                <a:spcPct val="100000"/>
              </a:lnSpc>
              <a:spcBef>
                <a:spcPts val="0"/>
              </a:spcBef>
              <a:spcAft>
                <a:spcPts val="0"/>
              </a:spcAft>
            </a:pPr>
          </a:p>
          <a:p>
            <a:pPr>
              <a:lnSpc>
                <a:spcPct val="100000"/>
              </a:lnSpc>
              <a:spcBef>
                <a:spcPts val="0"/>
              </a:spcBef>
              <a:spcAft>
                <a:spcPts val="0"/>
              </a:spcAft>
            </a:pPr>
            <a:r>
              <a:rPr sz="1400">
                <a:solidFill>
                  <a:srgbClr val="EAF2F4"/>
                </a:solidFill>
                <a:latin typeface="Consolas"/>
              </a:rPr>
              <a:t>  </a:t>
            </a:r>
            <a:r>
              <a:rPr sz="1400">
                <a:solidFill>
                  <a:srgbClr val="7FD1E0"/>
                </a:solidFill>
                <a:latin typeface="Consolas"/>
              </a:rPr>
              <a:t>async</a:t>
            </a:r>
            <a:r>
              <a:rPr sz="1400">
                <a:solidFill>
                  <a:srgbClr val="EAF2F4"/>
                </a:solidFill>
                <a:latin typeface="Consolas"/>
              </a:rPr>
              <a:t> charger() {</a:t>
            </a:r>
          </a:p>
          <a:p>
            <a:pPr>
              <a:lnSpc>
                <a:spcPct val="100000"/>
              </a:lnSpc>
              <a:spcBef>
                <a:spcPts val="0"/>
              </a:spcBef>
              <a:spcAft>
                <a:spcPts val="0"/>
              </a:spcAft>
            </a:pPr>
            <a:r>
              <a:rPr sz="1400">
                <a:solidFill>
                  <a:srgbClr val="EAF2F4"/>
                </a:solidFill>
                <a:latin typeface="Consolas"/>
              </a:rPr>
              <a:t>    </a:t>
            </a:r>
            <a:r>
              <a:rPr sz="1400">
                <a:solidFill>
                  <a:srgbClr val="7FD1E0"/>
                </a:solidFill>
                <a:latin typeface="Consolas"/>
              </a:rPr>
              <a:t>const</a:t>
            </a:r>
            <a:r>
              <a:rPr sz="1400">
                <a:solidFill>
                  <a:srgbClr val="EAF2F4"/>
                </a:solidFill>
                <a:latin typeface="Consolas"/>
              </a:rPr>
              <a:t> res = </a:t>
            </a:r>
            <a:r>
              <a:rPr sz="1400">
                <a:solidFill>
                  <a:srgbClr val="7FD1E0"/>
                </a:solidFill>
                <a:latin typeface="Consolas"/>
              </a:rPr>
              <a:t>await</a:t>
            </a:r>
            <a:r>
              <a:rPr sz="1400">
                <a:solidFill>
                  <a:srgbClr val="EAF2F4"/>
                </a:solidFill>
                <a:latin typeface="Consolas"/>
              </a:rPr>
              <a:t> fetch(</a:t>
            </a:r>
            <a:r>
              <a:rPr sz="1400">
                <a:solidFill>
                  <a:srgbClr val="FFB3C1"/>
                </a:solidFill>
                <a:latin typeface="Consolas"/>
              </a:rPr>
              <a:t>`${this.api}/factures`</a:t>
            </a:r>
            <a:r>
              <a:rPr sz="1400">
                <a:solidFill>
                  <a:srgbClr val="EAF2F4"/>
                </a:solidFill>
                <a:latin typeface="Consolas"/>
              </a:rPr>
              <a:t>);</a:t>
            </a:r>
          </a:p>
          <a:p>
            <a:pPr>
              <a:lnSpc>
                <a:spcPct val="100000"/>
              </a:lnSpc>
              <a:spcBef>
                <a:spcPts val="0"/>
              </a:spcBef>
              <a:spcAft>
                <a:spcPts val="0"/>
              </a:spcAft>
            </a:pPr>
            <a:r>
              <a:rPr sz="1400">
                <a:solidFill>
                  <a:srgbClr val="EAF2F4"/>
                </a:solidFill>
                <a:latin typeface="Consolas"/>
              </a:rPr>
              <a:t>    </a:t>
            </a:r>
            <a:r>
              <a:rPr sz="1400">
                <a:solidFill>
                  <a:srgbClr val="7FD1E0"/>
                </a:solidFill>
                <a:latin typeface="Consolas"/>
              </a:rPr>
              <a:t>this</a:t>
            </a:r>
            <a:r>
              <a:rPr sz="1400">
                <a:solidFill>
                  <a:srgbClr val="EAF2F4"/>
                </a:solidFill>
                <a:latin typeface="Consolas"/>
              </a:rPr>
              <a:t>.factures.set(</a:t>
            </a:r>
            <a:r>
              <a:rPr sz="1400">
                <a:solidFill>
                  <a:srgbClr val="7FD1E0"/>
                </a:solidFill>
                <a:latin typeface="Consolas"/>
              </a:rPr>
              <a:t>await</a:t>
            </a:r>
            <a:r>
              <a:rPr sz="1400">
                <a:solidFill>
                  <a:srgbClr val="EAF2F4"/>
                </a:solidFill>
                <a:latin typeface="Consolas"/>
              </a:rPr>
              <a:t> res.json());</a:t>
            </a:r>
          </a:p>
          <a:p>
            <a:pPr>
              <a:lnSpc>
                <a:spcPct val="100000"/>
              </a:lnSpc>
              <a:spcBef>
                <a:spcPts val="0"/>
              </a:spcBef>
              <a:spcAft>
                <a:spcPts val="0"/>
              </a:spcAft>
            </a:pPr>
            <a:r>
              <a:rPr sz="1400">
                <a:solidFill>
                  <a:srgbClr val="EAF2F4"/>
                </a:solidFill>
                <a:latin typeface="Consolas"/>
              </a:rPr>
              <a:t>  }</a:t>
            </a:r>
          </a:p>
          <a:p>
            <a:pPr>
              <a:lnSpc>
                <a:spcPct val="100000"/>
              </a:lnSpc>
              <a:spcBef>
                <a:spcPts val="0"/>
              </a:spcBef>
              <a:spcAft>
                <a:spcPts val="0"/>
              </a:spcAft>
            </a:pPr>
            <a:r>
              <a:rPr sz="1400">
                <a:solidFill>
                  <a:srgbClr val="EAF2F4"/>
                </a:solidFill>
                <a:latin typeface="Consolas"/>
              </a:rPr>
              <a:t>}</a:t>
            </a:r>
          </a:p>
        </p:txBody>
      </p:sp>
      <p:sp>
        <p:nvSpPr>
          <p:cNvPr id="14" name="Rounded Rectangle 13"/>
          <p:cNvSpPr/>
          <p:nvPr/>
        </p:nvSpPr>
        <p:spPr>
          <a:xfrm>
            <a:off x="2606040" y="7818120"/>
            <a:ext cx="14584680" cy="1234440"/>
          </a:xfrm>
          <a:prstGeom prst="roundRect">
            <a:avLst>
              <a:gd name="adj" fmla="val 8000"/>
            </a:avLst>
          </a:prstGeom>
          <a:solidFill>
            <a:srgbClr val="FFF6E5"/>
          </a:solidFill>
          <a:ln>
            <a:noFill/>
          </a:ln>
          <a:effectLst/>
        </p:spPr>
        <p:txBody>
          <a:bodyPr rtlCol="0" anchor="ctr"/>
          <a:lstStyle/>
          <a:p>
            <a:pPr algn="ctr"/>
          </a:p>
        </p:txBody>
      </p:sp>
      <p:sp>
        <p:nvSpPr>
          <p:cNvPr id="15" name="Rectangle 14"/>
          <p:cNvSpPr/>
          <p:nvPr/>
        </p:nvSpPr>
        <p:spPr>
          <a:xfrm>
            <a:off x="2606040" y="7818120"/>
            <a:ext cx="64008" cy="1234440"/>
          </a:xfrm>
          <a:prstGeom prst="rect">
            <a:avLst/>
          </a:prstGeom>
          <a:solidFill>
            <a:srgbClr val="B26A00"/>
          </a:solidFill>
          <a:ln>
            <a:noFill/>
          </a:ln>
          <a:effectLst/>
        </p:spPr>
        <p:txBody>
          <a:bodyPr rtlCol="0" anchor="ctr"/>
          <a:lstStyle/>
          <a:p>
            <a:pPr algn="ctr"/>
          </a:p>
        </p:txBody>
      </p:sp>
      <p:sp>
        <p:nvSpPr>
          <p:cNvPr id="16" name="TextBox 15"/>
          <p:cNvSpPr txBox="1"/>
          <p:nvPr/>
        </p:nvSpPr>
        <p:spPr>
          <a:xfrm>
            <a:off x="2898648" y="7982712"/>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B26A00"/>
                </a:solidFill>
                <a:latin typeface="Arial"/>
              </a:rPr>
              <a:t>VERSION ÉPINGLÉE</a:t>
            </a:r>
          </a:p>
        </p:txBody>
      </p:sp>
      <p:sp>
        <p:nvSpPr>
          <p:cNvPr id="17" name="TextBox 16"/>
          <p:cNvSpPr txBox="1"/>
          <p:nvPr/>
        </p:nvSpPr>
        <p:spPr>
          <a:xfrm>
            <a:off x="2898648" y="8275320"/>
            <a:ext cx="14173200" cy="667512"/>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json-server 0.17.4 : </a:t>
            </a:r>
            <a:r>
              <a:rPr sz="1260" b="0" i="0">
                <a:solidFill>
                  <a:srgbClr val="B26A00"/>
                </a:solidFill>
                <a:latin typeface="Consolas"/>
              </a:rPr>
              <a:t>_sort</a:t>
            </a:r>
            <a:r>
              <a:rPr b="0" sz="1400" i="0">
                <a:solidFill>
                  <a:srgbClr val="1B3B47"/>
                </a:solidFill>
                <a:latin typeface="Arial"/>
              </a:rPr>
              <a:t>, </a:t>
            </a:r>
            <a:r>
              <a:rPr sz="1260" b="0" i="0">
                <a:solidFill>
                  <a:srgbClr val="B26A00"/>
                </a:solidFill>
                <a:latin typeface="Consolas"/>
              </a:rPr>
              <a:t>_page</a:t>
            </a:r>
            <a:r>
              <a:rPr b="0" sz="1400" i="0">
                <a:solidFill>
                  <a:srgbClr val="1B3B47"/>
                </a:solidFill>
                <a:latin typeface="Arial"/>
              </a:rPr>
              <a:t>, </a:t>
            </a:r>
            <a:r>
              <a:rPr sz="1260" b="0" i="0">
                <a:solidFill>
                  <a:srgbClr val="B26A00"/>
                </a:solidFill>
                <a:latin typeface="Consolas"/>
              </a:rPr>
              <a:t>_expand</a:t>
            </a:r>
            <a:r>
              <a:rPr b="0" sz="1400" i="0">
                <a:solidFill>
                  <a:srgbClr val="1B3B47"/>
                </a:solidFill>
                <a:latin typeface="Arial"/>
              </a:rPr>
              <a:t> fonctionnent comme dans les TPs. La v1 change ces paramètres ; ne pas la mettre à jour sans adapter les requêtes.</a:t>
            </a:r>
          </a:p>
        </p:txBody>
      </p:sp>
      <p:sp>
        <p:nvSpPr>
          <p:cNvPr id="18" name="TextBox 17"/>
          <p:cNvSpPr txBox="1"/>
          <p:nvPr/>
        </p:nvSpPr>
        <p:spPr>
          <a:xfrm>
            <a:off x="2606040" y="6720840"/>
            <a:ext cx="7315200" cy="731520"/>
          </a:xfrm>
          <a:prstGeom prst="rect">
            <a:avLst/>
          </a:prstGeom>
          <a:noFill/>
        </p:spPr>
        <p:txBody>
          <a:bodyPr wrap="square" lIns="0" rIns="0" tIns="0" bIns="0" anchor="t">
            <a:noAutofit/>
          </a:bodyPr>
          <a:lstStyle/>
          <a:p>
            <a:pPr algn="l">
              <a:lnSpc>
                <a:spcPct val="102000"/>
              </a:lnSpc>
              <a:spcBef>
                <a:spcPts val="0"/>
              </a:spcBef>
              <a:spcAft>
                <a:spcPts val="0"/>
              </a:spcAft>
            </a:pPr>
            <a:r>
              <a:rPr b="0" sz="1300" i="0">
                <a:solidFill>
                  <a:srgbClr val="5C6E76"/>
                </a:solidFill>
                <a:latin typeface="Arial"/>
              </a:rPr>
              <a:t>Le J2 remplace </a:t>
            </a:r>
            <a:r>
              <a:rPr sz="1170" b="0" i="0">
                <a:solidFill>
                  <a:srgbClr val="ED1548"/>
                </a:solidFill>
                <a:latin typeface="Consolas"/>
              </a:rPr>
              <a:t>fetch</a:t>
            </a:r>
            <a:r>
              <a:rPr b="0" sz="1300" i="0">
                <a:solidFill>
                  <a:srgbClr val="5C6E76"/>
                </a:solidFill>
                <a:latin typeface="Arial"/>
              </a:rPr>
              <a:t> par </a:t>
            </a:r>
            <a:r>
              <a:rPr sz="1170" b="0" i="0">
                <a:solidFill>
                  <a:srgbClr val="ED1548"/>
                </a:solidFill>
                <a:latin typeface="Consolas"/>
              </a:rPr>
              <a:t>HttpClient</a:t>
            </a:r>
            <a:r>
              <a:rPr b="0" sz="1300" i="0">
                <a:solidFill>
                  <a:srgbClr val="5C6E76"/>
                </a:solidFill>
                <a:latin typeface="Arial"/>
              </a:rPr>
              <a:t> : les URL et les types ne changent pas.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1  ·  TP 5</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Brancher la liste sur l'API</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Objectif : 200 factures, filtres, badges et total TTC correct.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20 / 62</a:t>
            </a:r>
          </a:p>
        </p:txBody>
      </p:sp>
      <p:sp>
        <p:nvSpPr>
          <p:cNvPr id="9" name="Oval 8"/>
          <p:cNvSpPr/>
          <p:nvPr/>
        </p:nvSpPr>
        <p:spPr>
          <a:xfrm>
            <a:off x="2606040" y="3081528"/>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1</a:t>
            </a:r>
          </a:p>
        </p:txBody>
      </p:sp>
      <p:sp>
        <p:nvSpPr>
          <p:cNvPr id="10" name="TextBox 9"/>
          <p:cNvSpPr txBox="1"/>
          <p:nvPr/>
        </p:nvSpPr>
        <p:spPr>
          <a:xfrm>
            <a:off x="3108960" y="3081528"/>
            <a:ext cx="8092440" cy="819912"/>
          </a:xfrm>
          <a:prstGeom prst="rect">
            <a:avLst/>
          </a:prstGeom>
          <a:noFill/>
        </p:spPr>
        <p:txBody>
          <a:bodyPr wrap="square" lIns="0" rIns="0" tIns="0" bIns="0" anchor="t">
            <a:noAutofit/>
          </a:bodyPr>
          <a:lstStyle/>
          <a:p>
            <a:pPr algn="l">
              <a:lnSpc>
                <a:spcPct val="106000"/>
              </a:lnSpc>
              <a:spcBef>
                <a:spcPts val="0"/>
              </a:spcBef>
              <a:spcAft>
                <a:spcPts val="0"/>
              </a:spcAft>
            </a:pPr>
            <a:r>
              <a:rPr b="0" sz="1700" i="0">
                <a:solidFill>
                  <a:srgbClr val="1B3B47"/>
                </a:solidFill>
                <a:latin typeface="Arial"/>
              </a:rPr>
              <a:t>Lancer </a:t>
            </a:r>
            <a:r>
              <a:rPr sz="1530" b="0" i="0">
                <a:solidFill>
                  <a:srgbClr val="ED1548"/>
                </a:solidFill>
                <a:latin typeface="Consolas"/>
              </a:rPr>
              <a:t>npm run api</a:t>
            </a:r>
            <a:r>
              <a:rPr b="0" sz="1700" i="0">
                <a:solidFill>
                  <a:srgbClr val="1B3B47"/>
                </a:solidFill>
                <a:latin typeface="Arial"/>
              </a:rPr>
              <a:t> et tester </a:t>
            </a:r>
            <a:r>
              <a:rPr sz="1530" b="0" i="0">
                <a:solidFill>
                  <a:srgbClr val="ED1548"/>
                </a:solidFill>
                <a:latin typeface="Consolas"/>
              </a:rPr>
              <a:t>/factures?statut=litige</a:t>
            </a:r>
            <a:r>
              <a:rPr b="0" sz="1700" i="0">
                <a:solidFill>
                  <a:srgbClr val="1B3B47"/>
                </a:solidFill>
                <a:latin typeface="Arial"/>
              </a:rPr>
              <a:t>.</a:t>
            </a:r>
          </a:p>
        </p:txBody>
      </p:sp>
      <p:sp>
        <p:nvSpPr>
          <p:cNvPr id="11" name="Oval 10"/>
          <p:cNvSpPr/>
          <p:nvPr/>
        </p:nvSpPr>
        <p:spPr>
          <a:xfrm>
            <a:off x="2606040" y="4047743"/>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2</a:t>
            </a:r>
          </a:p>
        </p:txBody>
      </p:sp>
      <p:sp>
        <p:nvSpPr>
          <p:cNvPr id="12" name="TextBox 11"/>
          <p:cNvSpPr txBox="1"/>
          <p:nvPr/>
        </p:nvSpPr>
        <p:spPr>
          <a:xfrm>
            <a:off x="3108960" y="4047743"/>
            <a:ext cx="8092440" cy="819912"/>
          </a:xfrm>
          <a:prstGeom prst="rect">
            <a:avLst/>
          </a:prstGeom>
          <a:noFill/>
        </p:spPr>
        <p:txBody>
          <a:bodyPr wrap="square" lIns="0" rIns="0" tIns="0" bIns="0" anchor="t">
            <a:noAutofit/>
          </a:bodyPr>
          <a:lstStyle/>
          <a:p>
            <a:pPr algn="l">
              <a:lnSpc>
                <a:spcPct val="106000"/>
              </a:lnSpc>
              <a:spcBef>
                <a:spcPts val="0"/>
              </a:spcBef>
              <a:spcAft>
                <a:spcPts val="0"/>
              </a:spcAft>
            </a:pPr>
            <a:r>
              <a:rPr sz="1530" b="0" i="0">
                <a:solidFill>
                  <a:srgbClr val="ED1548"/>
                </a:solidFill>
                <a:latin typeface="Consolas"/>
              </a:rPr>
              <a:t>ng g s core/services/facture</a:t>
            </a:r>
            <a:r>
              <a:rPr b="0" sz="1700" i="0">
                <a:solidFill>
                  <a:srgbClr val="1B3B47"/>
                </a:solidFill>
                <a:latin typeface="Arial"/>
              </a:rPr>
              <a:t> (génère </a:t>
            </a:r>
            <a:r>
              <a:rPr sz="1530" b="0" i="0">
                <a:solidFill>
                  <a:srgbClr val="ED1548"/>
                </a:solidFill>
                <a:latin typeface="Consolas"/>
              </a:rPr>
              <a:t>@Service()</a:t>
            </a:r>
            <a:r>
              <a:rPr b="0" sz="1700" i="0">
                <a:solidFill>
                  <a:srgbClr val="1B3B47"/>
                </a:solidFill>
                <a:latin typeface="Arial"/>
              </a:rPr>
              <a:t>).</a:t>
            </a:r>
          </a:p>
        </p:txBody>
      </p:sp>
      <p:sp>
        <p:nvSpPr>
          <p:cNvPr id="13" name="Oval 12"/>
          <p:cNvSpPr/>
          <p:nvPr/>
        </p:nvSpPr>
        <p:spPr>
          <a:xfrm>
            <a:off x="2606040" y="5013959"/>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3</a:t>
            </a:r>
          </a:p>
        </p:txBody>
      </p:sp>
      <p:sp>
        <p:nvSpPr>
          <p:cNvPr id="14" name="TextBox 13"/>
          <p:cNvSpPr txBox="1"/>
          <p:nvPr/>
        </p:nvSpPr>
        <p:spPr>
          <a:xfrm>
            <a:off x="3108960" y="5013959"/>
            <a:ext cx="8092440" cy="819912"/>
          </a:xfrm>
          <a:prstGeom prst="rect">
            <a:avLst/>
          </a:prstGeom>
          <a:noFill/>
        </p:spPr>
        <p:txBody>
          <a:bodyPr wrap="square" lIns="0" rIns="0" tIns="0" bIns="0" anchor="t">
            <a:noAutofit/>
          </a:bodyPr>
          <a:lstStyle/>
          <a:p>
            <a:pPr algn="l">
              <a:lnSpc>
                <a:spcPct val="106000"/>
              </a:lnSpc>
              <a:spcBef>
                <a:spcPts val="0"/>
              </a:spcBef>
              <a:spcAft>
                <a:spcPts val="0"/>
              </a:spcAft>
            </a:pPr>
            <a:r>
              <a:rPr sz="1530" b="0" i="0">
                <a:solidFill>
                  <a:srgbClr val="ED1548"/>
                </a:solidFill>
                <a:latin typeface="Consolas"/>
              </a:rPr>
              <a:t>factures = signal&lt;Facture[]&gt;([])</a:t>
            </a:r>
            <a:r>
              <a:rPr b="0" sz="1700" i="0">
                <a:solidFill>
                  <a:srgbClr val="1B3B47"/>
                </a:solidFill>
                <a:latin typeface="Arial"/>
              </a:rPr>
              <a:t> + </a:t>
            </a:r>
            <a:r>
              <a:rPr sz="1530" b="0" i="0">
                <a:solidFill>
                  <a:srgbClr val="ED1548"/>
                </a:solidFill>
                <a:latin typeface="Consolas"/>
              </a:rPr>
              <a:t>charger()</a:t>
            </a:r>
            <a:r>
              <a:rPr b="0" sz="1700" i="0">
                <a:solidFill>
                  <a:srgbClr val="1B3B47"/>
                </a:solidFill>
                <a:latin typeface="Arial"/>
              </a:rPr>
              <a:t> via </a:t>
            </a:r>
            <a:r>
              <a:rPr sz="1530" b="0" i="0">
                <a:solidFill>
                  <a:srgbClr val="ED1548"/>
                </a:solidFill>
                <a:latin typeface="Consolas"/>
              </a:rPr>
              <a:t>fetch</a:t>
            </a:r>
            <a:r>
              <a:rPr b="0" sz="1700" i="0">
                <a:solidFill>
                  <a:srgbClr val="1B3B47"/>
                </a:solidFill>
                <a:latin typeface="Arial"/>
              </a:rPr>
              <a:t>.</a:t>
            </a:r>
          </a:p>
        </p:txBody>
      </p:sp>
      <p:sp>
        <p:nvSpPr>
          <p:cNvPr id="15" name="Oval 14"/>
          <p:cNvSpPr/>
          <p:nvPr/>
        </p:nvSpPr>
        <p:spPr>
          <a:xfrm>
            <a:off x="2606040" y="5980175"/>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4</a:t>
            </a:r>
          </a:p>
        </p:txBody>
      </p:sp>
      <p:sp>
        <p:nvSpPr>
          <p:cNvPr id="16" name="TextBox 15"/>
          <p:cNvSpPr txBox="1"/>
          <p:nvPr/>
        </p:nvSpPr>
        <p:spPr>
          <a:xfrm>
            <a:off x="3108960" y="5980175"/>
            <a:ext cx="8092440" cy="819912"/>
          </a:xfrm>
          <a:prstGeom prst="rect">
            <a:avLst/>
          </a:prstGeom>
          <a:noFill/>
        </p:spPr>
        <p:txBody>
          <a:bodyPr wrap="square" lIns="0" rIns="0" tIns="0" bIns="0" anchor="t">
            <a:noAutofit/>
          </a:bodyPr>
          <a:lstStyle/>
          <a:p>
            <a:pPr algn="l">
              <a:lnSpc>
                <a:spcPct val="106000"/>
              </a:lnSpc>
              <a:spcBef>
                <a:spcPts val="0"/>
              </a:spcBef>
              <a:spcAft>
                <a:spcPts val="0"/>
              </a:spcAft>
            </a:pPr>
            <a:r>
              <a:rPr b="0" sz="1700" i="0">
                <a:solidFill>
                  <a:srgbClr val="1B3B47"/>
                </a:solidFill>
                <a:latin typeface="Arial"/>
              </a:rPr>
              <a:t>Injecter avec </a:t>
            </a:r>
            <a:r>
              <a:rPr sz="1530" b="0" i="0">
                <a:solidFill>
                  <a:srgbClr val="ED1548"/>
                </a:solidFill>
                <a:latin typeface="Consolas"/>
              </a:rPr>
              <a:t>inject(FactureService)</a:t>
            </a:r>
            <a:r>
              <a:rPr b="0" sz="1700" i="0">
                <a:solidFill>
                  <a:srgbClr val="1B3B47"/>
                </a:solidFill>
                <a:latin typeface="Arial"/>
              </a:rPr>
              <a:t> et supprimer les données en dur.</a:t>
            </a:r>
          </a:p>
        </p:txBody>
      </p:sp>
      <p:sp>
        <p:nvSpPr>
          <p:cNvPr id="17" name="Oval 16"/>
          <p:cNvSpPr/>
          <p:nvPr/>
        </p:nvSpPr>
        <p:spPr>
          <a:xfrm>
            <a:off x="2606040" y="6946391"/>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5</a:t>
            </a:r>
          </a:p>
        </p:txBody>
      </p:sp>
      <p:sp>
        <p:nvSpPr>
          <p:cNvPr id="18" name="TextBox 17"/>
          <p:cNvSpPr txBox="1"/>
          <p:nvPr/>
        </p:nvSpPr>
        <p:spPr>
          <a:xfrm>
            <a:off x="3108960" y="6946391"/>
            <a:ext cx="8092440" cy="819912"/>
          </a:xfrm>
          <a:prstGeom prst="rect">
            <a:avLst/>
          </a:prstGeom>
          <a:noFill/>
        </p:spPr>
        <p:txBody>
          <a:bodyPr wrap="square" lIns="0" rIns="0" tIns="0" bIns="0" anchor="t">
            <a:noAutofit/>
          </a:bodyPr>
          <a:lstStyle/>
          <a:p>
            <a:pPr algn="l">
              <a:lnSpc>
                <a:spcPct val="106000"/>
              </a:lnSpc>
              <a:spcBef>
                <a:spcPts val="0"/>
              </a:spcBef>
              <a:spcAft>
                <a:spcPts val="0"/>
              </a:spcAft>
            </a:pPr>
            <a:r>
              <a:rPr b="0" sz="1700" i="0">
                <a:solidFill>
                  <a:srgbClr val="1B3B47"/>
                </a:solidFill>
                <a:latin typeface="Arial"/>
              </a:rPr>
              <a:t>Combiner recherche et statut dans un seul </a:t>
            </a:r>
            <a:r>
              <a:rPr sz="1530" b="0" i="0">
                <a:solidFill>
                  <a:srgbClr val="ED1548"/>
                </a:solidFill>
                <a:latin typeface="Consolas"/>
              </a:rPr>
              <a:t>computed</a:t>
            </a:r>
            <a:r>
              <a:rPr b="0" sz="1700" i="0">
                <a:solidFill>
                  <a:srgbClr val="1B3B47"/>
                </a:solidFill>
                <a:latin typeface="Arial"/>
              </a:rPr>
              <a:t>.</a:t>
            </a:r>
          </a:p>
        </p:txBody>
      </p:sp>
      <p:sp>
        <p:nvSpPr>
          <p:cNvPr id="19" name="Oval 18"/>
          <p:cNvSpPr/>
          <p:nvPr/>
        </p:nvSpPr>
        <p:spPr>
          <a:xfrm>
            <a:off x="2606040" y="7912607"/>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6</a:t>
            </a:r>
          </a:p>
        </p:txBody>
      </p:sp>
      <p:sp>
        <p:nvSpPr>
          <p:cNvPr id="20" name="TextBox 19"/>
          <p:cNvSpPr txBox="1"/>
          <p:nvPr/>
        </p:nvSpPr>
        <p:spPr>
          <a:xfrm>
            <a:off x="3108960" y="7912607"/>
            <a:ext cx="8092440" cy="819912"/>
          </a:xfrm>
          <a:prstGeom prst="rect">
            <a:avLst/>
          </a:prstGeom>
          <a:noFill/>
        </p:spPr>
        <p:txBody>
          <a:bodyPr wrap="square" lIns="0" rIns="0" tIns="0" bIns="0" anchor="t">
            <a:noAutofit/>
          </a:bodyPr>
          <a:lstStyle/>
          <a:p>
            <a:pPr algn="l">
              <a:lnSpc>
                <a:spcPct val="106000"/>
              </a:lnSpc>
              <a:spcBef>
                <a:spcPts val="0"/>
              </a:spcBef>
              <a:spcAft>
                <a:spcPts val="0"/>
              </a:spcAft>
            </a:pPr>
            <a:r>
              <a:rPr b="0" sz="1700" i="0">
                <a:solidFill>
                  <a:srgbClr val="1B3B47"/>
                </a:solidFill>
                <a:latin typeface="Arial"/>
              </a:rPr>
              <a:t>Vérifier le total TTC et les badges sur les 200 lignes.</a:t>
            </a:r>
          </a:p>
        </p:txBody>
      </p:sp>
      <p:sp>
        <p:nvSpPr>
          <p:cNvPr id="21" name="Rounded Rectangle 20"/>
          <p:cNvSpPr/>
          <p:nvPr/>
        </p:nvSpPr>
        <p:spPr>
          <a:xfrm>
            <a:off x="11567160" y="3063240"/>
            <a:ext cx="5623560" cy="2743200"/>
          </a:xfrm>
          <a:prstGeom prst="roundRect">
            <a:avLst>
              <a:gd name="adj" fmla="val 8000"/>
            </a:avLst>
          </a:prstGeom>
          <a:solidFill>
            <a:srgbClr val="FFF0F4"/>
          </a:solidFill>
          <a:ln>
            <a:noFill/>
          </a:ln>
          <a:effectLst/>
        </p:spPr>
        <p:txBody>
          <a:bodyPr rtlCol="0" anchor="ctr"/>
          <a:lstStyle/>
          <a:p>
            <a:pPr algn="ctr"/>
          </a:p>
        </p:txBody>
      </p:sp>
      <p:sp>
        <p:nvSpPr>
          <p:cNvPr id="22" name="Rectangle 21"/>
          <p:cNvSpPr/>
          <p:nvPr/>
        </p:nvSpPr>
        <p:spPr>
          <a:xfrm>
            <a:off x="11567160" y="3063240"/>
            <a:ext cx="64008" cy="2743200"/>
          </a:xfrm>
          <a:prstGeom prst="rect">
            <a:avLst/>
          </a:prstGeom>
          <a:solidFill>
            <a:srgbClr val="ED1548"/>
          </a:solidFill>
          <a:ln>
            <a:noFill/>
          </a:ln>
          <a:effectLst/>
        </p:spPr>
        <p:txBody>
          <a:bodyPr rtlCol="0" anchor="ctr"/>
          <a:lstStyle/>
          <a:p>
            <a:pPr algn="ctr"/>
          </a:p>
        </p:txBody>
      </p:sp>
      <p:sp>
        <p:nvSpPr>
          <p:cNvPr id="23" name="TextBox 22"/>
          <p:cNvSpPr txBox="1"/>
          <p:nvPr/>
        </p:nvSpPr>
        <p:spPr>
          <a:xfrm>
            <a:off x="11859768" y="3227832"/>
            <a:ext cx="52578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CRITÈRES DE RÉUSSITE</a:t>
            </a:r>
          </a:p>
        </p:txBody>
      </p:sp>
      <p:sp>
        <p:nvSpPr>
          <p:cNvPr id="24" name="TextBox 23"/>
          <p:cNvSpPr txBox="1"/>
          <p:nvPr/>
        </p:nvSpPr>
        <p:spPr>
          <a:xfrm>
            <a:off x="11859768" y="3520440"/>
            <a:ext cx="5212080" cy="2176272"/>
          </a:xfrm>
          <a:prstGeom prst="rect">
            <a:avLst/>
          </a:prstGeom>
          <a:noFill/>
        </p:spPr>
        <p:txBody>
          <a:bodyPr wrap="square" lIns="0" rIns="0" tIns="0" bIns="0" anchor="t">
            <a:noAutofit/>
          </a:bodyPr>
          <a:lstStyle/>
          <a:p>
            <a:pPr algn="l">
              <a:lnSpc>
                <a:spcPct val="106000"/>
              </a:lnSpc>
              <a:spcBef>
                <a:spcPts val="0"/>
              </a:spcBef>
              <a:spcAft>
                <a:spcPts val="0"/>
              </a:spcAft>
            </a:pPr>
            <a:r>
              <a:rPr b="0" sz="1500" i="0">
                <a:solidFill>
                  <a:srgbClr val="1B3B47"/>
                </a:solidFill>
                <a:latin typeface="Arial"/>
              </a:rPr>
              <a:t>200 factures affichées · filtres statut + recherche · pipes et badges appliqués · total TTC correct.</a:t>
            </a:r>
          </a:p>
        </p:txBody>
      </p:sp>
      <p:sp>
        <p:nvSpPr>
          <p:cNvPr id="25" name="Rounded Rectangle 24"/>
          <p:cNvSpPr/>
          <p:nvPr/>
        </p:nvSpPr>
        <p:spPr>
          <a:xfrm>
            <a:off x="11567160" y="6035040"/>
            <a:ext cx="5623560" cy="182880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26" name="Oval 25"/>
          <p:cNvSpPr/>
          <p:nvPr/>
        </p:nvSpPr>
        <p:spPr>
          <a:xfrm>
            <a:off x="11786616" y="6208776"/>
            <a:ext cx="82296" cy="82296"/>
          </a:xfrm>
          <a:prstGeom prst="ellipse">
            <a:avLst/>
          </a:prstGeom>
          <a:solidFill>
            <a:srgbClr val="ED1548"/>
          </a:solidFill>
          <a:ln>
            <a:noFill/>
          </a:ln>
          <a:effectLst/>
        </p:spPr>
        <p:txBody>
          <a:bodyPr rtlCol="0" anchor="ctr"/>
          <a:lstStyle/>
          <a:p>
            <a:pPr algn="ctr"/>
          </a:p>
        </p:txBody>
      </p:sp>
      <p:sp>
        <p:nvSpPr>
          <p:cNvPr id="27" name="TextBox 26"/>
          <p:cNvSpPr txBox="1"/>
          <p:nvPr/>
        </p:nvSpPr>
        <p:spPr>
          <a:xfrm>
            <a:off x="11951208" y="6144768"/>
            <a:ext cx="512064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backend</a:t>
            </a:r>
          </a:p>
        </p:txBody>
      </p:sp>
      <p:sp>
        <p:nvSpPr>
          <p:cNvPr id="28" name="TextBox 27"/>
          <p:cNvSpPr txBox="1"/>
          <p:nvPr/>
        </p:nvSpPr>
        <p:spPr>
          <a:xfrm>
            <a:off x="11814048" y="6510527"/>
            <a:ext cx="5303520" cy="1188720"/>
          </a:xfrm>
          <a:prstGeom prst="rect">
            <a:avLst/>
          </a:prstGeom>
          <a:noFill/>
        </p:spPr>
        <p:txBody>
          <a:bodyPr wrap="none" lIns="0" rIns="0" tIns="0" bIns="0">
            <a:noAutofit/>
          </a:bodyPr>
          <a:lstStyle/>
          <a:p>
            <a:pPr>
              <a:lnSpc>
                <a:spcPct val="100000"/>
              </a:lnSpc>
              <a:spcBef>
                <a:spcPts val="0"/>
              </a:spcBef>
              <a:spcAft>
                <a:spcPts val="0"/>
              </a:spcAft>
            </a:pPr>
            <a:r>
              <a:rPr sz="1300">
                <a:solidFill>
                  <a:srgbClr val="EAF2F4"/>
                </a:solidFill>
                <a:latin typeface="Consolas"/>
              </a:rPr>
              <a:t>cd backend</a:t>
            </a:r>
          </a:p>
          <a:p>
            <a:pPr>
              <a:lnSpc>
                <a:spcPct val="100000"/>
              </a:lnSpc>
              <a:spcBef>
                <a:spcPts val="0"/>
              </a:spcBef>
              <a:spcAft>
                <a:spcPts val="0"/>
              </a:spcAft>
            </a:pPr>
            <a:r>
              <a:rPr sz="1300">
                <a:solidFill>
                  <a:srgbClr val="EAF2F4"/>
                </a:solidFill>
                <a:latin typeface="Consolas"/>
              </a:rPr>
              <a:t>npm install</a:t>
            </a:r>
          </a:p>
          <a:p>
            <a:pPr>
              <a:lnSpc>
                <a:spcPct val="100000"/>
              </a:lnSpc>
              <a:spcBef>
                <a:spcPts val="0"/>
              </a:spcBef>
              <a:spcAft>
                <a:spcPts val="0"/>
              </a:spcAft>
            </a:pPr>
            <a:r>
              <a:rPr sz="1300">
                <a:solidFill>
                  <a:srgbClr val="EAF2F4"/>
                </a:solidFill>
                <a:latin typeface="Consolas"/>
              </a:rPr>
              <a:t>npm run api</a:t>
            </a:r>
          </a:p>
        </p:txBody>
      </p:sp>
      <p:sp>
        <p:nvSpPr>
          <p:cNvPr id="29" name="Rounded Rectangle 28"/>
          <p:cNvSpPr/>
          <p:nvPr/>
        </p:nvSpPr>
        <p:spPr>
          <a:xfrm>
            <a:off x="11567160" y="8046720"/>
            <a:ext cx="5623560" cy="1188720"/>
          </a:xfrm>
          <a:prstGeom prst="roundRect">
            <a:avLst>
              <a:gd name="adj" fmla="val 8000"/>
            </a:avLst>
          </a:prstGeom>
          <a:solidFill>
            <a:srgbClr val="EBF6F8"/>
          </a:solidFill>
          <a:ln>
            <a:noFill/>
          </a:ln>
          <a:effectLst/>
        </p:spPr>
        <p:txBody>
          <a:bodyPr rtlCol="0" anchor="ctr"/>
          <a:lstStyle/>
          <a:p>
            <a:pPr algn="ctr"/>
          </a:p>
        </p:txBody>
      </p:sp>
      <p:sp>
        <p:nvSpPr>
          <p:cNvPr id="30" name="Rectangle 29"/>
          <p:cNvSpPr/>
          <p:nvPr/>
        </p:nvSpPr>
        <p:spPr>
          <a:xfrm>
            <a:off x="11567160" y="8046720"/>
            <a:ext cx="64008" cy="1188720"/>
          </a:xfrm>
          <a:prstGeom prst="rect">
            <a:avLst/>
          </a:prstGeom>
          <a:solidFill>
            <a:srgbClr val="0B4F6C"/>
          </a:solidFill>
          <a:ln>
            <a:noFill/>
          </a:ln>
          <a:effectLst/>
        </p:spPr>
        <p:txBody>
          <a:bodyPr rtlCol="0" anchor="ctr"/>
          <a:lstStyle/>
          <a:p>
            <a:pPr algn="ctr"/>
          </a:p>
        </p:txBody>
      </p:sp>
      <p:sp>
        <p:nvSpPr>
          <p:cNvPr id="31" name="TextBox 30"/>
          <p:cNvSpPr txBox="1"/>
          <p:nvPr/>
        </p:nvSpPr>
        <p:spPr>
          <a:xfrm>
            <a:off x="11859768" y="8211312"/>
            <a:ext cx="52578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NOTE J2</a:t>
            </a:r>
          </a:p>
        </p:txBody>
      </p:sp>
      <p:sp>
        <p:nvSpPr>
          <p:cNvPr id="32" name="TextBox 31"/>
          <p:cNvSpPr txBox="1"/>
          <p:nvPr/>
        </p:nvSpPr>
        <p:spPr>
          <a:xfrm>
            <a:off x="11859768" y="8503920"/>
            <a:ext cx="5212080" cy="621792"/>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Le service sera migré vers HttpClient sans changer les composants.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1  ·  QUIZ</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Trois questions pour vérifier les réflexes</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À faire seul ou en binôme ; les corrigés sont en annexe.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21 / 62</a:t>
            </a:r>
          </a:p>
        </p:txBody>
      </p:sp>
      <p:sp>
        <p:nvSpPr>
          <p:cNvPr id="9" name="Rounded Rectangle 8"/>
          <p:cNvSpPr/>
          <p:nvPr/>
        </p:nvSpPr>
        <p:spPr>
          <a:xfrm>
            <a:off x="2606040" y="3200400"/>
            <a:ext cx="4572000" cy="448056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0" name="Rectangle 9"/>
          <p:cNvSpPr/>
          <p:nvPr/>
        </p:nvSpPr>
        <p:spPr>
          <a:xfrm>
            <a:off x="2606040" y="3200400"/>
            <a:ext cx="4572000" cy="50292"/>
          </a:xfrm>
          <a:prstGeom prst="rect">
            <a:avLst/>
          </a:prstGeom>
          <a:solidFill>
            <a:srgbClr val="ED1548"/>
          </a:solidFill>
          <a:ln>
            <a:noFill/>
          </a:ln>
          <a:effectLst/>
        </p:spPr>
        <p:txBody>
          <a:bodyPr rtlCol="0" anchor="ctr"/>
          <a:lstStyle/>
          <a:p>
            <a:pPr algn="ctr"/>
          </a:p>
        </p:txBody>
      </p:sp>
      <p:sp>
        <p:nvSpPr>
          <p:cNvPr id="11" name="TextBox 10"/>
          <p:cNvSpPr txBox="1"/>
          <p:nvPr/>
        </p:nvSpPr>
        <p:spPr>
          <a:xfrm>
            <a:off x="2926080" y="3429000"/>
            <a:ext cx="1371600" cy="731520"/>
          </a:xfrm>
          <a:prstGeom prst="rect">
            <a:avLst/>
          </a:prstGeom>
          <a:noFill/>
        </p:spPr>
        <p:txBody>
          <a:bodyPr wrap="square" lIns="0" rIns="0" tIns="0" bIns="0" anchor="t">
            <a:noAutofit/>
          </a:bodyPr>
          <a:lstStyle/>
          <a:p>
            <a:pPr algn="l">
              <a:lnSpc>
                <a:spcPct val="102000"/>
              </a:lnSpc>
              <a:spcBef>
                <a:spcPts val="0"/>
              </a:spcBef>
              <a:spcAft>
                <a:spcPts val="0"/>
              </a:spcAft>
            </a:pPr>
            <a:r>
              <a:rPr b="1" sz="4600" i="0">
                <a:solidFill>
                  <a:srgbClr val="ED1548"/>
                </a:solidFill>
                <a:latin typeface="Arial"/>
              </a:rPr>
              <a:t>01</a:t>
            </a:r>
          </a:p>
        </p:txBody>
      </p:sp>
      <p:sp>
        <p:nvSpPr>
          <p:cNvPr id="12" name="TextBox 11"/>
          <p:cNvSpPr txBox="1"/>
          <p:nvPr/>
        </p:nvSpPr>
        <p:spPr>
          <a:xfrm>
            <a:off x="2926080" y="4297680"/>
            <a:ext cx="3931920" cy="1828800"/>
          </a:xfrm>
          <a:prstGeom prst="rect">
            <a:avLst/>
          </a:prstGeom>
          <a:noFill/>
        </p:spPr>
        <p:txBody>
          <a:bodyPr wrap="square" lIns="0" rIns="0" tIns="0" bIns="0" anchor="t">
            <a:noAutofit/>
          </a:bodyPr>
          <a:lstStyle/>
          <a:p>
            <a:pPr algn="l">
              <a:lnSpc>
                <a:spcPct val="108000"/>
              </a:lnSpc>
              <a:spcBef>
                <a:spcPts val="0"/>
              </a:spcBef>
              <a:spcAft>
                <a:spcPts val="0"/>
              </a:spcAft>
            </a:pPr>
            <a:r>
              <a:rPr b="1" sz="2000" i="0">
                <a:solidFill>
                  <a:srgbClr val="093544"/>
                </a:solidFill>
                <a:latin typeface="Arial"/>
              </a:rPr>
              <a:t>Pourquoi </a:t>
            </a:r>
            <a:r>
              <a:rPr sz="1800" b="1" i="0">
                <a:solidFill>
                  <a:srgbClr val="ED1548"/>
                </a:solidFill>
                <a:latin typeface="Consolas"/>
              </a:rPr>
              <a:t>track</a:t>
            </a:r>
            <a:r>
              <a:rPr b="1" sz="2000" i="0">
                <a:solidFill>
                  <a:srgbClr val="093544"/>
                </a:solidFill>
                <a:latin typeface="Arial"/>
              </a:rPr>
              <a:t> est-il obligatoire dans </a:t>
            </a:r>
            <a:r>
              <a:rPr sz="1800" b="1" i="0">
                <a:solidFill>
                  <a:srgbClr val="ED1548"/>
                </a:solidFill>
                <a:latin typeface="Consolas"/>
              </a:rPr>
              <a:t>@for</a:t>
            </a:r>
            <a:r>
              <a:rPr b="1" sz="2000" i="0">
                <a:solidFill>
                  <a:srgbClr val="093544"/>
                </a:solidFill>
                <a:latin typeface="Arial"/>
              </a:rPr>
              <a:t> ?</a:t>
            </a:r>
          </a:p>
        </p:txBody>
      </p:sp>
      <p:sp>
        <p:nvSpPr>
          <p:cNvPr id="13" name="TextBox 12"/>
          <p:cNvSpPr txBox="1"/>
          <p:nvPr/>
        </p:nvSpPr>
        <p:spPr>
          <a:xfrm>
            <a:off x="2926080" y="6492240"/>
            <a:ext cx="3931920" cy="731520"/>
          </a:xfrm>
          <a:prstGeom prst="rect">
            <a:avLst/>
          </a:prstGeom>
          <a:noFill/>
        </p:spPr>
        <p:txBody>
          <a:bodyPr wrap="square" lIns="0" rIns="0" tIns="0" bIns="0" anchor="t">
            <a:noAutofit/>
          </a:bodyPr>
          <a:lstStyle/>
          <a:p>
            <a:pPr algn="l">
              <a:lnSpc>
                <a:spcPct val="102000"/>
              </a:lnSpc>
              <a:spcBef>
                <a:spcPts val="0"/>
              </a:spcBef>
              <a:spcAft>
                <a:spcPts val="0"/>
              </a:spcAft>
            </a:pPr>
            <a:r>
              <a:rPr b="0" sz="1350" i="0">
                <a:solidFill>
                  <a:srgbClr val="5C6E76"/>
                </a:solidFill>
                <a:latin typeface="Arial"/>
              </a:rPr>
              <a:t>Pensez au DOM recréé et à l'état local.</a:t>
            </a:r>
          </a:p>
        </p:txBody>
      </p:sp>
      <p:sp>
        <p:nvSpPr>
          <p:cNvPr id="14" name="Rounded Rectangle 13"/>
          <p:cNvSpPr/>
          <p:nvPr/>
        </p:nvSpPr>
        <p:spPr>
          <a:xfrm>
            <a:off x="7680960" y="3200400"/>
            <a:ext cx="4572000" cy="448056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5" name="Rectangle 14"/>
          <p:cNvSpPr/>
          <p:nvPr/>
        </p:nvSpPr>
        <p:spPr>
          <a:xfrm>
            <a:off x="7680960" y="3200400"/>
            <a:ext cx="4572000" cy="50292"/>
          </a:xfrm>
          <a:prstGeom prst="rect">
            <a:avLst/>
          </a:prstGeom>
          <a:solidFill>
            <a:srgbClr val="ED1548"/>
          </a:solidFill>
          <a:ln>
            <a:noFill/>
          </a:ln>
          <a:effectLst/>
        </p:spPr>
        <p:txBody>
          <a:bodyPr rtlCol="0" anchor="ctr"/>
          <a:lstStyle/>
          <a:p>
            <a:pPr algn="ctr"/>
          </a:p>
        </p:txBody>
      </p:sp>
      <p:sp>
        <p:nvSpPr>
          <p:cNvPr id="16" name="TextBox 15"/>
          <p:cNvSpPr txBox="1"/>
          <p:nvPr/>
        </p:nvSpPr>
        <p:spPr>
          <a:xfrm>
            <a:off x="8001000" y="3429000"/>
            <a:ext cx="1371600" cy="731520"/>
          </a:xfrm>
          <a:prstGeom prst="rect">
            <a:avLst/>
          </a:prstGeom>
          <a:noFill/>
        </p:spPr>
        <p:txBody>
          <a:bodyPr wrap="square" lIns="0" rIns="0" tIns="0" bIns="0" anchor="t">
            <a:noAutofit/>
          </a:bodyPr>
          <a:lstStyle/>
          <a:p>
            <a:pPr algn="l">
              <a:lnSpc>
                <a:spcPct val="102000"/>
              </a:lnSpc>
              <a:spcBef>
                <a:spcPts val="0"/>
              </a:spcBef>
              <a:spcAft>
                <a:spcPts val="0"/>
              </a:spcAft>
            </a:pPr>
            <a:r>
              <a:rPr b="1" sz="4600" i="0">
                <a:solidFill>
                  <a:srgbClr val="ED1548"/>
                </a:solidFill>
                <a:latin typeface="Arial"/>
              </a:rPr>
              <a:t>02</a:t>
            </a:r>
          </a:p>
        </p:txBody>
      </p:sp>
      <p:sp>
        <p:nvSpPr>
          <p:cNvPr id="17" name="TextBox 16"/>
          <p:cNvSpPr txBox="1"/>
          <p:nvPr/>
        </p:nvSpPr>
        <p:spPr>
          <a:xfrm>
            <a:off x="8001000" y="4297680"/>
            <a:ext cx="3931920" cy="1828800"/>
          </a:xfrm>
          <a:prstGeom prst="rect">
            <a:avLst/>
          </a:prstGeom>
          <a:noFill/>
        </p:spPr>
        <p:txBody>
          <a:bodyPr wrap="square" lIns="0" rIns="0" tIns="0" bIns="0" anchor="t">
            <a:noAutofit/>
          </a:bodyPr>
          <a:lstStyle/>
          <a:p>
            <a:pPr algn="l">
              <a:lnSpc>
                <a:spcPct val="108000"/>
              </a:lnSpc>
              <a:spcBef>
                <a:spcPts val="0"/>
              </a:spcBef>
              <a:spcAft>
                <a:spcPts val="0"/>
              </a:spcAft>
            </a:pPr>
            <a:r>
              <a:rPr sz="1800" b="1" i="0">
                <a:solidFill>
                  <a:srgbClr val="ED1548"/>
                </a:solidFill>
                <a:latin typeface="Consolas"/>
              </a:rPr>
              <a:t>computed</a:t>
            </a:r>
            <a:r>
              <a:rPr b="1" sz="2000" i="0">
                <a:solidFill>
                  <a:srgbClr val="093544"/>
                </a:solidFill>
                <a:latin typeface="Arial"/>
              </a:rPr>
              <a:t> ou méthode dans le template : quelle différence ?</a:t>
            </a:r>
          </a:p>
        </p:txBody>
      </p:sp>
      <p:sp>
        <p:nvSpPr>
          <p:cNvPr id="18" name="TextBox 17"/>
          <p:cNvSpPr txBox="1"/>
          <p:nvPr/>
        </p:nvSpPr>
        <p:spPr>
          <a:xfrm>
            <a:off x="8001000" y="6492240"/>
            <a:ext cx="3931920" cy="731520"/>
          </a:xfrm>
          <a:prstGeom prst="rect">
            <a:avLst/>
          </a:prstGeom>
          <a:noFill/>
        </p:spPr>
        <p:txBody>
          <a:bodyPr wrap="square" lIns="0" rIns="0" tIns="0" bIns="0" anchor="t">
            <a:noAutofit/>
          </a:bodyPr>
          <a:lstStyle/>
          <a:p>
            <a:pPr algn="l">
              <a:lnSpc>
                <a:spcPct val="102000"/>
              </a:lnSpc>
              <a:spcBef>
                <a:spcPts val="0"/>
              </a:spcBef>
              <a:spcAft>
                <a:spcPts val="0"/>
              </a:spcAft>
            </a:pPr>
            <a:r>
              <a:rPr b="0" sz="1350" i="0">
                <a:solidFill>
                  <a:srgbClr val="5C6E76"/>
                </a:solidFill>
                <a:latin typeface="Arial"/>
              </a:rPr>
              <a:t>Pensez aux recalculs et à la mémoïsation.</a:t>
            </a:r>
          </a:p>
        </p:txBody>
      </p:sp>
      <p:sp>
        <p:nvSpPr>
          <p:cNvPr id="19" name="Rounded Rectangle 18"/>
          <p:cNvSpPr/>
          <p:nvPr/>
        </p:nvSpPr>
        <p:spPr>
          <a:xfrm>
            <a:off x="12755880" y="3200400"/>
            <a:ext cx="4434840" cy="448056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0" name="Rectangle 19"/>
          <p:cNvSpPr/>
          <p:nvPr/>
        </p:nvSpPr>
        <p:spPr>
          <a:xfrm>
            <a:off x="12755880" y="3200400"/>
            <a:ext cx="4434840" cy="50292"/>
          </a:xfrm>
          <a:prstGeom prst="rect">
            <a:avLst/>
          </a:prstGeom>
          <a:solidFill>
            <a:srgbClr val="ED1548"/>
          </a:solidFill>
          <a:ln>
            <a:noFill/>
          </a:ln>
          <a:effectLst/>
        </p:spPr>
        <p:txBody>
          <a:bodyPr rtlCol="0" anchor="ctr"/>
          <a:lstStyle/>
          <a:p>
            <a:pPr algn="ctr"/>
          </a:p>
        </p:txBody>
      </p:sp>
      <p:sp>
        <p:nvSpPr>
          <p:cNvPr id="21" name="TextBox 20"/>
          <p:cNvSpPr txBox="1"/>
          <p:nvPr/>
        </p:nvSpPr>
        <p:spPr>
          <a:xfrm>
            <a:off x="13075919" y="3429000"/>
            <a:ext cx="1371600" cy="731520"/>
          </a:xfrm>
          <a:prstGeom prst="rect">
            <a:avLst/>
          </a:prstGeom>
          <a:noFill/>
        </p:spPr>
        <p:txBody>
          <a:bodyPr wrap="square" lIns="0" rIns="0" tIns="0" bIns="0" anchor="t">
            <a:noAutofit/>
          </a:bodyPr>
          <a:lstStyle/>
          <a:p>
            <a:pPr algn="l">
              <a:lnSpc>
                <a:spcPct val="102000"/>
              </a:lnSpc>
              <a:spcBef>
                <a:spcPts val="0"/>
              </a:spcBef>
              <a:spcAft>
                <a:spcPts val="0"/>
              </a:spcAft>
            </a:pPr>
            <a:r>
              <a:rPr b="1" sz="4600" i="0">
                <a:solidFill>
                  <a:srgbClr val="ED1548"/>
                </a:solidFill>
                <a:latin typeface="Arial"/>
              </a:rPr>
              <a:t>03</a:t>
            </a:r>
          </a:p>
        </p:txBody>
      </p:sp>
      <p:sp>
        <p:nvSpPr>
          <p:cNvPr id="22" name="TextBox 21"/>
          <p:cNvSpPr txBox="1"/>
          <p:nvPr/>
        </p:nvSpPr>
        <p:spPr>
          <a:xfrm>
            <a:off x="13075919" y="4297680"/>
            <a:ext cx="3931920" cy="1828800"/>
          </a:xfrm>
          <a:prstGeom prst="rect">
            <a:avLst/>
          </a:prstGeom>
          <a:noFill/>
        </p:spPr>
        <p:txBody>
          <a:bodyPr wrap="square" lIns="0" rIns="0" tIns="0" bIns="0" anchor="t">
            <a:noAutofit/>
          </a:bodyPr>
          <a:lstStyle/>
          <a:p>
            <a:pPr algn="l">
              <a:lnSpc>
                <a:spcPct val="108000"/>
              </a:lnSpc>
              <a:spcBef>
                <a:spcPts val="0"/>
              </a:spcBef>
              <a:spcAft>
                <a:spcPts val="0"/>
              </a:spcAft>
            </a:pPr>
            <a:r>
              <a:rPr b="1" sz="2000" i="0">
                <a:solidFill>
                  <a:srgbClr val="093544"/>
                </a:solidFill>
                <a:latin typeface="Arial"/>
              </a:rPr>
              <a:t>Quand créer une directive plutôt qu'un composant ?</a:t>
            </a:r>
          </a:p>
        </p:txBody>
      </p:sp>
      <p:sp>
        <p:nvSpPr>
          <p:cNvPr id="23" name="TextBox 22"/>
          <p:cNvSpPr txBox="1"/>
          <p:nvPr/>
        </p:nvSpPr>
        <p:spPr>
          <a:xfrm>
            <a:off x="13075919" y="6492240"/>
            <a:ext cx="3931920" cy="731520"/>
          </a:xfrm>
          <a:prstGeom prst="rect">
            <a:avLst/>
          </a:prstGeom>
          <a:noFill/>
        </p:spPr>
        <p:txBody>
          <a:bodyPr wrap="square" lIns="0" rIns="0" tIns="0" bIns="0" anchor="t">
            <a:noAutofit/>
          </a:bodyPr>
          <a:lstStyle/>
          <a:p>
            <a:pPr algn="l">
              <a:lnSpc>
                <a:spcPct val="102000"/>
              </a:lnSpc>
              <a:spcBef>
                <a:spcPts val="0"/>
              </a:spcBef>
              <a:spcAft>
                <a:spcPts val="0"/>
              </a:spcAft>
            </a:pPr>
            <a:r>
              <a:rPr b="0" sz="1350" i="0">
                <a:solidFill>
                  <a:srgbClr val="5C6E76"/>
                </a:solidFill>
                <a:latin typeface="Arial"/>
              </a:rPr>
              <a:t>Pensez au DOM existant et au cumul.</a:t>
            </a:r>
          </a:p>
        </p:txBody>
      </p:sp>
      <p:sp>
        <p:nvSpPr>
          <p:cNvPr id="24" name="Rounded Rectangle 23"/>
          <p:cNvSpPr/>
          <p:nvPr/>
        </p:nvSpPr>
        <p:spPr>
          <a:xfrm>
            <a:off x="2606040" y="7955279"/>
            <a:ext cx="14584680" cy="777240"/>
          </a:xfrm>
          <a:prstGeom prst="roundRect">
            <a:avLst>
              <a:gd name="adj" fmla="val 8000"/>
            </a:avLst>
          </a:prstGeom>
          <a:solidFill>
            <a:srgbClr val="EBF6F8"/>
          </a:solidFill>
          <a:ln>
            <a:noFill/>
          </a:ln>
          <a:effectLst/>
        </p:spPr>
        <p:txBody>
          <a:bodyPr rtlCol="0" anchor="ctr"/>
          <a:lstStyle/>
          <a:p>
            <a:pPr algn="ctr"/>
          </a:p>
        </p:txBody>
      </p:sp>
      <p:sp>
        <p:nvSpPr>
          <p:cNvPr id="25" name="Rectangle 24"/>
          <p:cNvSpPr/>
          <p:nvPr/>
        </p:nvSpPr>
        <p:spPr>
          <a:xfrm>
            <a:off x="2606040" y="7955279"/>
            <a:ext cx="64008" cy="777240"/>
          </a:xfrm>
          <a:prstGeom prst="rect">
            <a:avLst/>
          </a:prstGeom>
          <a:solidFill>
            <a:srgbClr val="0B4F6C"/>
          </a:solidFill>
          <a:ln>
            <a:noFill/>
          </a:ln>
          <a:effectLst/>
        </p:spPr>
        <p:txBody>
          <a:bodyPr rtlCol="0" anchor="ctr"/>
          <a:lstStyle/>
          <a:p>
            <a:pPr algn="ctr"/>
          </a:p>
        </p:txBody>
      </p:sp>
      <p:sp>
        <p:nvSpPr>
          <p:cNvPr id="26" name="TextBox 25"/>
          <p:cNvSpPr txBox="1"/>
          <p:nvPr/>
        </p:nvSpPr>
        <p:spPr>
          <a:xfrm>
            <a:off x="2898648" y="8119871"/>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CORRIGÉS</a:t>
            </a:r>
          </a:p>
        </p:txBody>
      </p:sp>
      <p:sp>
        <p:nvSpPr>
          <p:cNvPr id="27" name="TextBox 26"/>
          <p:cNvSpPr txBox="1"/>
          <p:nvPr/>
        </p:nvSpPr>
        <p:spPr>
          <a:xfrm>
            <a:off x="2898648" y="8412480"/>
            <a:ext cx="14173200" cy="210311"/>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Les réponses commentées sont page 60. Une réponse n'est pas unique : discutez des cas limites.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1  ·  À RETENIR</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Quatre réflexes, trois pièges</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Si vous ne retenez qu'une slide du jour 1, c'est celle-ci.</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22 / 62</a:t>
            </a:r>
          </a:p>
        </p:txBody>
      </p:sp>
      <p:sp>
        <p:nvSpPr>
          <p:cNvPr id="9" name="Rounded Rectangle 8"/>
          <p:cNvSpPr/>
          <p:nvPr/>
        </p:nvSpPr>
        <p:spPr>
          <a:xfrm>
            <a:off x="2606040" y="3063240"/>
            <a:ext cx="7223760" cy="4160520"/>
          </a:xfrm>
          <a:prstGeom prst="roundRect">
            <a:avLst>
              <a:gd name="adj" fmla="val 8000"/>
            </a:avLst>
          </a:prstGeom>
          <a:solidFill>
            <a:srgbClr val="FFF0F4"/>
          </a:solidFill>
          <a:ln>
            <a:noFill/>
          </a:ln>
          <a:effectLst/>
        </p:spPr>
        <p:txBody>
          <a:bodyPr rtlCol="0" anchor="ctr"/>
          <a:lstStyle/>
          <a:p>
            <a:pPr algn="ctr"/>
          </a:p>
        </p:txBody>
      </p:sp>
      <p:sp>
        <p:nvSpPr>
          <p:cNvPr id="10" name="Rectangle 9"/>
          <p:cNvSpPr/>
          <p:nvPr/>
        </p:nvSpPr>
        <p:spPr>
          <a:xfrm>
            <a:off x="2606040" y="3063240"/>
            <a:ext cx="64008" cy="4160520"/>
          </a:xfrm>
          <a:prstGeom prst="rect">
            <a:avLst/>
          </a:prstGeom>
          <a:solidFill>
            <a:srgbClr val="ED1548"/>
          </a:solidFill>
          <a:ln>
            <a:noFill/>
          </a:ln>
          <a:effectLst/>
        </p:spPr>
        <p:txBody>
          <a:bodyPr rtlCol="0" anchor="ctr"/>
          <a:lstStyle/>
          <a:p>
            <a:pPr algn="ctr"/>
          </a:p>
        </p:txBody>
      </p:sp>
      <p:sp>
        <p:nvSpPr>
          <p:cNvPr id="11" name="TextBox 10"/>
          <p:cNvSpPr txBox="1"/>
          <p:nvPr/>
        </p:nvSpPr>
        <p:spPr>
          <a:xfrm>
            <a:off x="2926080" y="3246120"/>
            <a:ext cx="6583680" cy="320040"/>
          </a:xfrm>
          <a:prstGeom prst="rect">
            <a:avLst/>
          </a:prstGeom>
          <a:noFill/>
        </p:spPr>
        <p:txBody>
          <a:bodyPr wrap="square" lIns="0" rIns="0" tIns="0" bIns="0" anchor="t">
            <a:noAutofit/>
          </a:bodyPr>
          <a:lstStyle/>
          <a:p>
            <a:pPr algn="l">
              <a:lnSpc>
                <a:spcPct val="102000"/>
              </a:lnSpc>
              <a:spcBef>
                <a:spcPts val="0"/>
              </a:spcBef>
              <a:spcAft>
                <a:spcPts val="0"/>
              </a:spcAft>
            </a:pPr>
            <a:r>
              <a:rPr b="1" sz="1300" i="0">
                <a:solidFill>
                  <a:srgbClr val="ED1548"/>
                </a:solidFill>
                <a:latin typeface="Arial"/>
              </a:rPr>
              <a:t>À RETENIR</a:t>
            </a:r>
          </a:p>
        </p:txBody>
      </p:sp>
      <p:sp>
        <p:nvSpPr>
          <p:cNvPr id="12" name="TextBox 11"/>
          <p:cNvSpPr txBox="1"/>
          <p:nvPr/>
        </p:nvSpPr>
        <p:spPr>
          <a:xfrm>
            <a:off x="2926080" y="3703320"/>
            <a:ext cx="6537960" cy="3383280"/>
          </a:xfrm>
          <a:prstGeom prst="rect">
            <a:avLst/>
          </a:prstGeom>
          <a:noFill/>
        </p:spPr>
        <p:txBody>
          <a:bodyPr wrap="square" lIns="0" rIns="0" tIns="0" bIns="0">
            <a:noAutofit/>
          </a:bodyPr>
          <a:lstStyle/>
          <a:p>
            <a:pPr marL="274320" indent="-274320">
              <a:lnSpc>
                <a:spcPct val="102000"/>
              </a:lnSpc>
              <a:spcBef>
                <a:spcPts val="0"/>
              </a:spcBef>
              <a:spcAft>
                <a:spcPts val="720"/>
              </a:spcAft>
              <a:buClr>
                <a:srgbClr val="ED1548"/>
              </a:buClr>
              <a:buFont typeface="Arial"/>
              <a:buChar char="•"/>
            </a:pPr>
            <a:r>
              <a:rPr b="0" sz="1700" i="0">
                <a:solidFill>
                  <a:srgbClr val="093544"/>
                </a:solidFill>
                <a:latin typeface="Arial"/>
              </a:rPr>
              <a:t>Un composant standalone </a:t>
            </a:r>
            <a:r>
              <a:rPr b="1" sz="1700" i="0">
                <a:solidFill>
                  <a:srgbClr val="093544"/>
                </a:solidFill>
                <a:latin typeface="Arial"/>
              </a:rPr>
              <a:t>importe</a:t>
            </a:r>
            <a:r>
              <a:rPr b="0" sz="1700" i="0">
                <a:solidFill>
                  <a:srgbClr val="093544"/>
                </a:solidFill>
                <a:latin typeface="Arial"/>
              </a:rPr>
              <a:t> ce qu'il utilise.</a:t>
            </a:r>
          </a:p>
          <a:p>
            <a:pPr marL="274320" indent="-274320">
              <a:lnSpc>
                <a:spcPct val="102000"/>
              </a:lnSpc>
              <a:spcBef>
                <a:spcPts val="0"/>
              </a:spcBef>
              <a:spcAft>
                <a:spcPts val="720"/>
              </a:spcAft>
              <a:buClr>
                <a:srgbClr val="ED1548"/>
              </a:buClr>
              <a:buFont typeface="Arial"/>
              <a:buChar char="•"/>
            </a:pPr>
            <a:r>
              <a:rPr sz="1530" b="0" i="0">
                <a:solidFill>
                  <a:srgbClr val="ED1548"/>
                </a:solidFill>
                <a:latin typeface="Consolas"/>
              </a:rPr>
              <a:t>@for</a:t>
            </a:r>
            <a:r>
              <a:rPr b="0" sz="1700" i="0">
                <a:solidFill>
                  <a:srgbClr val="093544"/>
                </a:solidFill>
                <a:latin typeface="Arial"/>
              </a:rPr>
              <a:t> exige un </a:t>
            </a:r>
            <a:r>
              <a:rPr sz="1530" b="0" i="0">
                <a:solidFill>
                  <a:srgbClr val="ED1548"/>
                </a:solidFill>
                <a:latin typeface="Consolas"/>
              </a:rPr>
              <a:t>track</a:t>
            </a:r>
            <a:r>
              <a:rPr b="0" sz="1700" i="0">
                <a:solidFill>
                  <a:srgbClr val="093544"/>
                </a:solidFill>
                <a:latin typeface="Arial"/>
              </a:rPr>
              <a:t> stable (souvent </a:t>
            </a:r>
            <a:r>
              <a:rPr sz="1530" b="0" i="0">
                <a:solidFill>
                  <a:srgbClr val="ED1548"/>
                </a:solidFill>
                <a:latin typeface="Consolas"/>
              </a:rPr>
              <a:t>id</a:t>
            </a:r>
            <a:r>
              <a:rPr b="0" sz="1700" i="0">
                <a:solidFill>
                  <a:srgbClr val="093544"/>
                </a:solidFill>
                <a:latin typeface="Arial"/>
              </a:rPr>
              <a:t>).</a:t>
            </a:r>
          </a:p>
          <a:p>
            <a:pPr marL="274320" indent="-274320">
              <a:lnSpc>
                <a:spcPct val="102000"/>
              </a:lnSpc>
              <a:spcBef>
                <a:spcPts val="0"/>
              </a:spcBef>
              <a:spcAft>
                <a:spcPts val="720"/>
              </a:spcAft>
              <a:buClr>
                <a:srgbClr val="ED1548"/>
              </a:buClr>
              <a:buFont typeface="Arial"/>
              <a:buChar char="•"/>
            </a:pPr>
            <a:r>
              <a:rPr sz="1530" b="0" i="0">
                <a:solidFill>
                  <a:srgbClr val="ED1548"/>
                </a:solidFill>
                <a:latin typeface="Consolas"/>
              </a:rPr>
              <a:t>computed</a:t>
            </a:r>
            <a:r>
              <a:rPr b="0" sz="1700" i="0">
                <a:solidFill>
                  <a:srgbClr val="093544"/>
                </a:solidFill>
                <a:latin typeface="Arial"/>
              </a:rPr>
              <a:t> dérive un état ; </a:t>
            </a:r>
            <a:r>
              <a:rPr sz="1530" b="0" i="0">
                <a:solidFill>
                  <a:srgbClr val="ED1548"/>
                </a:solidFill>
                <a:latin typeface="Consolas"/>
              </a:rPr>
              <a:t>effect</a:t>
            </a:r>
            <a:r>
              <a:rPr b="0" sz="1700" i="0">
                <a:solidFill>
                  <a:srgbClr val="093544"/>
                </a:solidFill>
                <a:latin typeface="Arial"/>
              </a:rPr>
              <a:t> agit sur le monde.</a:t>
            </a:r>
          </a:p>
          <a:p>
            <a:pPr marL="274320" indent="-274320">
              <a:lnSpc>
                <a:spcPct val="102000"/>
              </a:lnSpc>
              <a:spcBef>
                <a:spcPts val="0"/>
              </a:spcBef>
              <a:spcAft>
                <a:spcPts val="720"/>
              </a:spcAft>
              <a:buClr>
                <a:srgbClr val="ED1548"/>
              </a:buClr>
              <a:buFont typeface="Arial"/>
              <a:buChar char="•"/>
            </a:pPr>
            <a:r>
              <a:rPr b="0" sz="1700" i="0">
                <a:solidFill>
                  <a:srgbClr val="093544"/>
                </a:solidFill>
                <a:latin typeface="Arial"/>
              </a:rPr>
              <a:t>Un pipe formate, une directive décore.</a:t>
            </a:r>
          </a:p>
        </p:txBody>
      </p:sp>
      <p:sp>
        <p:nvSpPr>
          <p:cNvPr id="13" name="Rounded Rectangle 12"/>
          <p:cNvSpPr/>
          <p:nvPr/>
        </p:nvSpPr>
        <p:spPr>
          <a:xfrm>
            <a:off x="10058400" y="3063240"/>
            <a:ext cx="7132320" cy="4160520"/>
          </a:xfrm>
          <a:prstGeom prst="roundRect">
            <a:avLst>
              <a:gd name="adj" fmla="val 8000"/>
            </a:avLst>
          </a:prstGeom>
          <a:solidFill>
            <a:srgbClr val="FFF6E5"/>
          </a:solidFill>
          <a:ln>
            <a:noFill/>
          </a:ln>
          <a:effectLst/>
        </p:spPr>
        <p:txBody>
          <a:bodyPr rtlCol="0" anchor="ctr"/>
          <a:lstStyle/>
          <a:p>
            <a:pPr algn="ctr"/>
          </a:p>
        </p:txBody>
      </p:sp>
      <p:sp>
        <p:nvSpPr>
          <p:cNvPr id="14" name="Rectangle 13"/>
          <p:cNvSpPr/>
          <p:nvPr/>
        </p:nvSpPr>
        <p:spPr>
          <a:xfrm>
            <a:off x="10058400" y="3063240"/>
            <a:ext cx="64008" cy="4160520"/>
          </a:xfrm>
          <a:prstGeom prst="rect">
            <a:avLst/>
          </a:prstGeom>
          <a:solidFill>
            <a:srgbClr val="B26A00"/>
          </a:solidFill>
          <a:ln>
            <a:noFill/>
          </a:ln>
          <a:effectLst/>
        </p:spPr>
        <p:txBody>
          <a:bodyPr rtlCol="0" anchor="ctr"/>
          <a:lstStyle/>
          <a:p>
            <a:pPr algn="ctr"/>
          </a:p>
        </p:txBody>
      </p:sp>
      <p:sp>
        <p:nvSpPr>
          <p:cNvPr id="15" name="TextBox 14"/>
          <p:cNvSpPr txBox="1"/>
          <p:nvPr/>
        </p:nvSpPr>
        <p:spPr>
          <a:xfrm>
            <a:off x="10378440" y="3246120"/>
            <a:ext cx="6583680" cy="320040"/>
          </a:xfrm>
          <a:prstGeom prst="rect">
            <a:avLst/>
          </a:prstGeom>
          <a:noFill/>
        </p:spPr>
        <p:txBody>
          <a:bodyPr wrap="square" lIns="0" rIns="0" tIns="0" bIns="0" anchor="t">
            <a:noAutofit/>
          </a:bodyPr>
          <a:lstStyle/>
          <a:p>
            <a:pPr algn="l">
              <a:lnSpc>
                <a:spcPct val="102000"/>
              </a:lnSpc>
              <a:spcBef>
                <a:spcPts val="0"/>
              </a:spcBef>
              <a:spcAft>
                <a:spcPts val="0"/>
              </a:spcAft>
            </a:pPr>
            <a:r>
              <a:rPr b="1" sz="1300" i="0">
                <a:solidFill>
                  <a:srgbClr val="B26A00"/>
                </a:solidFill>
                <a:latin typeface="Arial"/>
              </a:rPr>
              <a:t>PIÈGES</a:t>
            </a:r>
          </a:p>
        </p:txBody>
      </p:sp>
      <p:sp>
        <p:nvSpPr>
          <p:cNvPr id="16" name="TextBox 15"/>
          <p:cNvSpPr txBox="1"/>
          <p:nvPr/>
        </p:nvSpPr>
        <p:spPr>
          <a:xfrm>
            <a:off x="10378440" y="3703320"/>
            <a:ext cx="6537960" cy="3383280"/>
          </a:xfrm>
          <a:prstGeom prst="rect">
            <a:avLst/>
          </a:prstGeom>
          <a:noFill/>
        </p:spPr>
        <p:txBody>
          <a:bodyPr wrap="square" lIns="0" rIns="0" tIns="0" bIns="0">
            <a:noAutofit/>
          </a:bodyPr>
          <a:lstStyle/>
          <a:p>
            <a:pPr marL="274320" indent="-274320">
              <a:lnSpc>
                <a:spcPct val="102000"/>
              </a:lnSpc>
              <a:spcBef>
                <a:spcPts val="0"/>
              </a:spcBef>
              <a:spcAft>
                <a:spcPts val="720"/>
              </a:spcAft>
              <a:buClr>
                <a:srgbClr val="B26A00"/>
              </a:buClr>
              <a:buFont typeface="Arial"/>
              <a:buChar char="•"/>
            </a:pPr>
            <a:r>
              <a:rPr b="0" sz="1700" i="0">
                <a:solidFill>
                  <a:srgbClr val="093544"/>
                </a:solidFill>
                <a:latin typeface="Arial"/>
              </a:rPr>
              <a:t>Appeler </a:t>
            </a:r>
            <a:r>
              <a:rPr sz="1530" b="0" i="0">
                <a:solidFill>
                  <a:srgbClr val="ED1548"/>
                </a:solidFill>
                <a:latin typeface="Consolas"/>
              </a:rPr>
              <a:t>getTotal()</a:t>
            </a:r>
            <a:r>
              <a:rPr b="0" sz="1700" i="0">
                <a:solidFill>
                  <a:srgbClr val="093544"/>
                </a:solidFill>
                <a:latin typeface="Arial"/>
              </a:rPr>
              <a:t> dans le template à chaque cycle.</a:t>
            </a:r>
          </a:p>
          <a:p>
            <a:pPr marL="274320" indent="-274320">
              <a:lnSpc>
                <a:spcPct val="102000"/>
              </a:lnSpc>
              <a:spcBef>
                <a:spcPts val="0"/>
              </a:spcBef>
              <a:spcAft>
                <a:spcPts val="720"/>
              </a:spcAft>
              <a:buClr>
                <a:srgbClr val="B26A00"/>
              </a:buClr>
              <a:buFont typeface="Arial"/>
              <a:buChar char="•"/>
            </a:pPr>
            <a:r>
              <a:rPr b="0" sz="1700" i="0">
                <a:solidFill>
                  <a:srgbClr val="093544"/>
                </a:solidFill>
                <a:latin typeface="Arial"/>
              </a:rPr>
              <a:t>Oublier </a:t>
            </a:r>
            <a:r>
              <a:rPr sz="1530" b="0" i="0">
                <a:solidFill>
                  <a:srgbClr val="ED1548"/>
                </a:solidFill>
                <a:latin typeface="Consolas"/>
              </a:rPr>
              <a:t>track</a:t>
            </a:r>
            <a:r>
              <a:rPr b="0" sz="1700" i="0">
                <a:solidFill>
                  <a:srgbClr val="093544"/>
                </a:solidFill>
                <a:latin typeface="Arial"/>
              </a:rPr>
              <a:t> ou utiliser l'index comme identité.</a:t>
            </a:r>
          </a:p>
          <a:p>
            <a:pPr marL="274320" indent="-274320">
              <a:lnSpc>
                <a:spcPct val="102000"/>
              </a:lnSpc>
              <a:spcBef>
                <a:spcPts val="0"/>
              </a:spcBef>
              <a:spcAft>
                <a:spcPts val="720"/>
              </a:spcAft>
              <a:buClr>
                <a:srgbClr val="B26A00"/>
              </a:buClr>
              <a:buFont typeface="Arial"/>
              <a:buChar char="•"/>
            </a:pPr>
            <a:r>
              <a:rPr b="0" sz="1700" i="0">
                <a:solidFill>
                  <a:srgbClr val="093544"/>
                </a:solidFill>
                <a:latin typeface="Arial"/>
              </a:rPr>
              <a:t>Écrire un signal dans un </a:t>
            </a:r>
            <a:r>
              <a:rPr sz="1530" b="0" i="0">
                <a:solidFill>
                  <a:srgbClr val="ED1548"/>
                </a:solidFill>
                <a:latin typeface="Consolas"/>
              </a:rPr>
              <a:t>effect()</a:t>
            </a:r>
            <a:r>
              <a:rPr b="0" sz="1700" i="0">
                <a:solidFill>
                  <a:srgbClr val="093544"/>
                </a:solidFill>
                <a:latin typeface="Arial"/>
              </a:rPr>
              <a:t> pour recalculer.</a:t>
            </a:r>
          </a:p>
          <a:p>
            <a:pPr marL="274320" indent="-274320">
              <a:lnSpc>
                <a:spcPct val="102000"/>
              </a:lnSpc>
              <a:spcBef>
                <a:spcPts val="0"/>
              </a:spcBef>
              <a:spcAft>
                <a:spcPts val="720"/>
              </a:spcAft>
              <a:buClr>
                <a:srgbClr val="B26A00"/>
              </a:buClr>
              <a:buFont typeface="Arial"/>
              <a:buChar char="•"/>
            </a:pPr>
            <a:r>
              <a:rPr b="0" sz="1700" i="0">
                <a:solidFill>
                  <a:srgbClr val="093544"/>
                </a:solidFill>
                <a:latin typeface="Arial"/>
              </a:rPr>
              <a:t>Muter un tableau avec </a:t>
            </a:r>
            <a:r>
              <a:rPr sz="1530" b="0" i="0">
                <a:solidFill>
                  <a:srgbClr val="ED1548"/>
                </a:solidFill>
                <a:latin typeface="Consolas"/>
              </a:rPr>
              <a:t>push()</a:t>
            </a:r>
            <a:r>
              <a:rPr b="0" sz="1700" i="0">
                <a:solidFill>
                  <a:srgbClr val="093544"/>
                </a:solidFill>
                <a:latin typeface="Arial"/>
              </a:rPr>
              <a:t> au lieu de </a:t>
            </a:r>
            <a:r>
              <a:rPr sz="1530" b="0" i="0">
                <a:solidFill>
                  <a:srgbClr val="ED1548"/>
                </a:solidFill>
                <a:latin typeface="Consolas"/>
              </a:rPr>
              <a:t>update()</a:t>
            </a:r>
            <a:r>
              <a:rPr b="0" sz="1700" i="0">
                <a:solidFill>
                  <a:srgbClr val="093544"/>
                </a:solidFill>
                <a:latin typeface="Arial"/>
              </a:rPr>
              <a:t>.</a:t>
            </a:r>
          </a:p>
        </p:txBody>
      </p:sp>
      <p:sp>
        <p:nvSpPr>
          <p:cNvPr id="17" name="Rounded Rectangle 16"/>
          <p:cNvSpPr/>
          <p:nvPr/>
        </p:nvSpPr>
        <p:spPr>
          <a:xfrm>
            <a:off x="2606040" y="7498079"/>
            <a:ext cx="14584680" cy="128016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8" name="Oval 17"/>
          <p:cNvSpPr/>
          <p:nvPr/>
        </p:nvSpPr>
        <p:spPr>
          <a:xfrm>
            <a:off x="2825496" y="7671815"/>
            <a:ext cx="82296" cy="82296"/>
          </a:xfrm>
          <a:prstGeom prst="ellipse">
            <a:avLst/>
          </a:prstGeom>
          <a:solidFill>
            <a:srgbClr val="ED1548"/>
          </a:solidFill>
          <a:ln>
            <a:noFill/>
          </a:ln>
          <a:effectLst/>
        </p:spPr>
        <p:txBody>
          <a:bodyPr rtlCol="0" anchor="ctr"/>
          <a:lstStyle/>
          <a:p>
            <a:pPr algn="ctr"/>
          </a:p>
        </p:txBody>
      </p:sp>
      <p:sp>
        <p:nvSpPr>
          <p:cNvPr id="19" name="TextBox 18"/>
          <p:cNvSpPr txBox="1"/>
          <p:nvPr/>
        </p:nvSpPr>
        <p:spPr>
          <a:xfrm>
            <a:off x="2990088" y="7607807"/>
            <a:ext cx="1408176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les commandes du jour</a:t>
            </a:r>
          </a:p>
        </p:txBody>
      </p:sp>
      <p:sp>
        <p:nvSpPr>
          <p:cNvPr id="20" name="TextBox 19"/>
          <p:cNvSpPr txBox="1"/>
          <p:nvPr/>
        </p:nvSpPr>
        <p:spPr>
          <a:xfrm>
            <a:off x="2852928" y="7973567"/>
            <a:ext cx="14264640" cy="640080"/>
          </a:xfrm>
          <a:prstGeom prst="rect">
            <a:avLst/>
          </a:prstGeom>
          <a:noFill/>
        </p:spPr>
        <p:txBody>
          <a:bodyPr wrap="none" lIns="0" rIns="0" tIns="0" bIns="0">
            <a:noAutofit/>
          </a:bodyPr>
          <a:lstStyle/>
          <a:p>
            <a:pPr>
              <a:lnSpc>
                <a:spcPct val="100000"/>
              </a:lnSpc>
              <a:spcBef>
                <a:spcPts val="0"/>
              </a:spcBef>
              <a:spcAft>
                <a:spcPts val="0"/>
              </a:spcAft>
            </a:pPr>
            <a:r>
              <a:rPr sz="1300">
                <a:solidFill>
                  <a:srgbClr val="EAF2F4"/>
                </a:solidFill>
                <a:latin typeface="Consolas"/>
              </a:rPr>
              <a:t>ng g c features/factures/facture-list   </a:t>
            </a:r>
            <a:r>
              <a:rPr sz="1300" i="1">
                <a:solidFill>
                  <a:srgbClr val="7FA6B2"/>
                </a:solidFill>
                <a:latin typeface="Consolas"/>
              </a:rPr>
              <a:t># classe + template + styles + spec</a:t>
            </a:r>
          </a:p>
          <a:p>
            <a:pPr>
              <a:lnSpc>
                <a:spcPct val="100000"/>
              </a:lnSpc>
              <a:spcBef>
                <a:spcPts val="0"/>
              </a:spcBef>
              <a:spcAft>
                <a:spcPts val="0"/>
              </a:spcAft>
            </a:pPr>
            <a:r>
              <a:rPr sz="1300">
                <a:solidFill>
                  <a:srgbClr val="EAF2F4"/>
                </a:solidFill>
                <a:latin typeface="Consolas"/>
              </a:rPr>
              <a:t>ng test                                  </a:t>
            </a:r>
            <a:r>
              <a:rPr sz="1300" i="1">
                <a:solidFill>
                  <a:srgbClr val="7FA6B2"/>
                </a:solidFill>
                <a:latin typeface="Consolas"/>
              </a:rPr>
              <a:t># Vitest, pas Karma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a:xfrm>
            <a:off x="9966960" y="3383280"/>
            <a:ext cx="8046720" cy="2651760"/>
          </a:xfrm>
        </p:spPr>
        <p:txBody>
          <a:bodyPr wrap="square" anchor="b"/>
          <a:lstStyle/>
          <a:p>
            <a:pPr algn="l"/>
            <a:r>
              <a:rPr sz="8400" b="1">
                <a:solidFill>
                  <a:srgbClr val="FFFFFF"/>
                </a:solidFill>
                <a:latin typeface="Arial"/>
              </a:rPr>
              <a:t>Architecture &amp; HTTP</a:t>
            </a:r>
          </a:p>
        </p:txBody>
      </p:sp>
      <p:sp>
        <p:nvSpPr>
          <p:cNvPr id="3" name="Text Placeholder 2"/>
          <p:cNvSpPr>
            <a:spLocks noGrp="1"/>
          </p:cNvSpPr>
          <p:nvPr>
            <p:ph type="body" idx="11" sz="quarter"/>
          </p:nvPr>
        </p:nvSpPr>
        <p:spPr>
          <a:xfrm>
            <a:off x="9966960" y="6903720"/>
            <a:ext cx="7635240" cy="914400"/>
          </a:xfrm>
        </p:spPr>
        <p:txBody>
          <a:bodyPr wrap="square"/>
          <a:lstStyle/>
          <a:p>
            <a:pPr algn="l"/>
            <a:r>
              <a:rPr sz="2400" b="0">
                <a:solidFill>
                  <a:srgbClr val="F6D7DE"/>
                </a:solidFill>
                <a:latin typeface="Arial"/>
              </a:rPr>
              <a:t>Routeur · DI · RxJS · formulaires · Material</a:t>
            </a:r>
          </a:p>
        </p:txBody>
      </p:sp>
      <p:sp>
        <p:nvSpPr>
          <p:cNvPr id="4" name="TextBox 3"/>
          <p:cNvSpPr txBox="1"/>
          <p:nvPr/>
        </p:nvSpPr>
        <p:spPr>
          <a:xfrm>
            <a:off x="9966960" y="2788920"/>
            <a:ext cx="45720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2 / 3  ·  7 HEURES</a:t>
            </a:r>
          </a:p>
        </p:txBody>
      </p:sp>
      <p:sp>
        <p:nvSpPr>
          <p:cNvPr id="5" name="Rectangle 4"/>
          <p:cNvSpPr/>
          <p:nvPr/>
        </p:nvSpPr>
        <p:spPr>
          <a:xfrm>
            <a:off x="9966960" y="6601968"/>
            <a:ext cx="1828800" cy="41148"/>
          </a:xfrm>
          <a:prstGeom prst="rect">
            <a:avLst/>
          </a:prstGeom>
          <a:solidFill>
            <a:srgbClr val="ED1548"/>
          </a:solidFill>
          <a:ln>
            <a:noFill/>
          </a:ln>
          <a:effectLst/>
        </p:spPr>
        <p:txBody>
          <a:bodyPr rtlCol="0" anchor="ctr"/>
          <a:lstStyle/>
          <a:p>
            <a:pPr algn="ctr"/>
          </a:p>
        </p:txBody>
      </p:sp>
      <p:sp>
        <p:nvSpPr>
          <p:cNvPr id="6" name="Rounded Rectangle 5"/>
          <p:cNvSpPr/>
          <p:nvPr/>
        </p:nvSpPr>
        <p:spPr>
          <a:xfrm>
            <a:off x="9966960" y="8183879"/>
            <a:ext cx="2240280" cy="502920"/>
          </a:xfrm>
          <a:prstGeom prst="roundRect">
            <a:avLst>
              <a:gd name="adj" fmla="val 50000"/>
            </a:avLst>
          </a:prstGeom>
          <a:noFill/>
          <a:ln w="11430">
            <a:solidFill>
              <a:srgbClr val="FFFFFF"/>
            </a:solidFill>
          </a:ln>
          <a:effectLst/>
        </p:spPr>
        <p:txBody>
          <a:bodyPr rtlCol="0" anchor="ctr" lIns="0" rIns="0" tIns="0" bIns="0"/>
          <a:lstStyle/>
          <a:p>
            <a:pPr algn="ctr"/>
            <a:r>
              <a:rPr sz="1400" b="1">
                <a:solidFill>
                  <a:srgbClr val="FFFFFF"/>
                </a:solidFill>
                <a:latin typeface="Arial"/>
              </a:rPr>
              <a:t>Router</a:t>
            </a:r>
          </a:p>
        </p:txBody>
      </p:sp>
      <p:sp>
        <p:nvSpPr>
          <p:cNvPr id="7" name="Rounded Rectangle 6"/>
          <p:cNvSpPr/>
          <p:nvPr/>
        </p:nvSpPr>
        <p:spPr>
          <a:xfrm>
            <a:off x="12371832" y="8183879"/>
            <a:ext cx="2240280" cy="502920"/>
          </a:xfrm>
          <a:prstGeom prst="roundRect">
            <a:avLst>
              <a:gd name="adj" fmla="val 50000"/>
            </a:avLst>
          </a:prstGeom>
          <a:noFill/>
          <a:ln w="11430">
            <a:solidFill>
              <a:srgbClr val="FFFFFF"/>
            </a:solidFill>
          </a:ln>
          <a:effectLst/>
        </p:spPr>
        <p:txBody>
          <a:bodyPr rtlCol="0" anchor="ctr" lIns="0" rIns="0" tIns="0" bIns="0"/>
          <a:lstStyle/>
          <a:p>
            <a:pPr algn="ctr"/>
            <a:r>
              <a:rPr sz="1400" b="1">
                <a:solidFill>
                  <a:srgbClr val="FFFFFF"/>
                </a:solidFill>
                <a:latin typeface="Arial"/>
              </a:rPr>
              <a:t>HttpClient</a:t>
            </a:r>
          </a:p>
        </p:txBody>
      </p:sp>
      <p:sp>
        <p:nvSpPr>
          <p:cNvPr id="8" name="Rounded Rectangle 7"/>
          <p:cNvSpPr/>
          <p:nvPr/>
        </p:nvSpPr>
        <p:spPr>
          <a:xfrm>
            <a:off x="14776704" y="8183879"/>
            <a:ext cx="2240280" cy="502920"/>
          </a:xfrm>
          <a:prstGeom prst="roundRect">
            <a:avLst>
              <a:gd name="adj" fmla="val 50000"/>
            </a:avLst>
          </a:prstGeom>
          <a:noFill/>
          <a:ln w="11430">
            <a:solidFill>
              <a:srgbClr val="FFFFFF"/>
            </a:solidFill>
          </a:ln>
          <a:effectLst/>
        </p:spPr>
        <p:txBody>
          <a:bodyPr rtlCol="0" anchor="ctr" lIns="0" rIns="0" tIns="0" bIns="0"/>
          <a:lstStyle/>
          <a:p>
            <a:pPr algn="ctr"/>
            <a:r>
              <a:rPr sz="1400" b="1">
                <a:solidFill>
                  <a:srgbClr val="FFFFFF"/>
                </a:solidFill>
                <a:latin typeface="Arial"/>
              </a:rPr>
              <a:t>Forms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2  ·  OBJECTIFS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Naviguer, créer, modifier</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Application multi-écrans, HttpClient, Reactive Forms et Material.</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24 / 62</a:t>
            </a:r>
          </a:p>
        </p:txBody>
      </p:sp>
      <p:sp>
        <p:nvSpPr>
          <p:cNvPr id="9" name="Rounded Rectangle 8"/>
          <p:cNvSpPr/>
          <p:nvPr/>
        </p:nvSpPr>
        <p:spPr>
          <a:xfrm>
            <a:off x="2606040" y="3108960"/>
            <a:ext cx="6720840" cy="1920240"/>
          </a:xfrm>
          <a:prstGeom prst="roundRect">
            <a:avLst>
              <a:gd name="adj" fmla="val 8000"/>
            </a:avLst>
          </a:prstGeom>
          <a:solidFill>
            <a:srgbClr val="FFF0F4"/>
          </a:solidFill>
          <a:ln>
            <a:noFill/>
          </a:ln>
          <a:effectLst/>
        </p:spPr>
        <p:txBody>
          <a:bodyPr rtlCol="0" anchor="ctr"/>
          <a:lstStyle/>
          <a:p>
            <a:pPr algn="ctr"/>
          </a:p>
        </p:txBody>
      </p:sp>
      <p:sp>
        <p:nvSpPr>
          <p:cNvPr id="10" name="Rectangle 9"/>
          <p:cNvSpPr/>
          <p:nvPr/>
        </p:nvSpPr>
        <p:spPr>
          <a:xfrm>
            <a:off x="2606040" y="3108960"/>
            <a:ext cx="64008" cy="1920240"/>
          </a:xfrm>
          <a:prstGeom prst="rect">
            <a:avLst/>
          </a:prstGeom>
          <a:solidFill>
            <a:srgbClr val="ED1548"/>
          </a:solidFill>
          <a:ln>
            <a:noFill/>
          </a:ln>
          <a:effectLst/>
        </p:spPr>
        <p:txBody>
          <a:bodyPr rtlCol="0" anchor="ctr"/>
          <a:lstStyle/>
          <a:p>
            <a:pPr algn="ctr"/>
          </a:p>
        </p:txBody>
      </p:sp>
      <p:sp>
        <p:nvSpPr>
          <p:cNvPr id="11" name="TextBox 10"/>
          <p:cNvSpPr txBox="1"/>
          <p:nvPr/>
        </p:nvSpPr>
        <p:spPr>
          <a:xfrm>
            <a:off x="2898648" y="3273552"/>
            <a:ext cx="6217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OBJECTIF DE FIN DE JOURNÉE</a:t>
            </a:r>
          </a:p>
        </p:txBody>
      </p:sp>
      <p:sp>
        <p:nvSpPr>
          <p:cNvPr id="12" name="TextBox 11"/>
          <p:cNvSpPr txBox="1"/>
          <p:nvPr/>
        </p:nvSpPr>
        <p:spPr>
          <a:xfrm>
            <a:off x="2898648" y="3566160"/>
            <a:ext cx="6172200" cy="1353312"/>
          </a:xfrm>
          <a:prstGeom prst="rect">
            <a:avLst/>
          </a:prstGeom>
          <a:noFill/>
        </p:spPr>
        <p:txBody>
          <a:bodyPr wrap="square" lIns="0" rIns="0" tIns="0" bIns="0" anchor="t">
            <a:noAutofit/>
          </a:bodyPr>
          <a:lstStyle/>
          <a:p>
            <a:pPr algn="l">
              <a:lnSpc>
                <a:spcPct val="106000"/>
              </a:lnSpc>
              <a:spcBef>
                <a:spcPts val="0"/>
              </a:spcBef>
              <a:spcAft>
                <a:spcPts val="0"/>
              </a:spcAft>
            </a:pPr>
            <a:r>
              <a:rPr b="0" sz="1600" i="0">
                <a:solidFill>
                  <a:srgbClr val="1B3B47"/>
                </a:solidFill>
                <a:latin typeface="Arial"/>
              </a:rPr>
              <a:t>Une application qui navigue entre liste, détail et formulaire, lit et écrit via HttpClient, et affiche des erreurs lisibles.</a:t>
            </a:r>
          </a:p>
        </p:txBody>
      </p:sp>
      <p:sp>
        <p:nvSpPr>
          <p:cNvPr id="13" name="Rounded Rectangle 12"/>
          <p:cNvSpPr/>
          <p:nvPr/>
        </p:nvSpPr>
        <p:spPr>
          <a:xfrm>
            <a:off x="2606040" y="537667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14" name="TextBox 13"/>
          <p:cNvSpPr txBox="1"/>
          <p:nvPr/>
        </p:nvSpPr>
        <p:spPr>
          <a:xfrm>
            <a:off x="2971800" y="5349240"/>
            <a:ext cx="6355079" cy="251968"/>
          </a:xfrm>
          <a:prstGeom prst="rect">
            <a:avLst/>
          </a:prstGeom>
          <a:noFill/>
        </p:spPr>
        <p:txBody>
          <a:bodyPr wrap="square" lIns="0" rIns="0" tIns="0" bIns="0" anchor="t">
            <a:noAutofit/>
          </a:bodyPr>
          <a:lstStyle/>
          <a:p>
            <a:pPr algn="l">
              <a:lnSpc>
                <a:spcPct val="105000"/>
              </a:lnSpc>
              <a:spcBef>
                <a:spcPts val="0"/>
              </a:spcBef>
              <a:spcAft>
                <a:spcPts val="0"/>
              </a:spcAft>
            </a:pPr>
            <a:r>
              <a:rPr b="0" sz="1600" i="0">
                <a:solidFill>
                  <a:srgbClr val="1B3B47"/>
                </a:solidFill>
                <a:latin typeface="Arial"/>
              </a:rPr>
              <a:t>Les routes </a:t>
            </a:r>
            <a:r>
              <a:rPr sz="1440" b="0" i="0">
                <a:solidFill>
                  <a:srgbClr val="ED1548"/>
                </a:solidFill>
                <a:latin typeface="Consolas"/>
              </a:rPr>
              <a:t>/factures</a:t>
            </a:r>
            <a:r>
              <a:rPr b="0" sz="1600" i="0">
                <a:solidFill>
                  <a:srgbClr val="1B3B47"/>
                </a:solidFill>
                <a:latin typeface="Arial"/>
              </a:rPr>
              <a:t>, </a:t>
            </a:r>
            <a:r>
              <a:rPr sz="1440" b="0" i="0">
                <a:solidFill>
                  <a:srgbClr val="ED1548"/>
                </a:solidFill>
                <a:latin typeface="Consolas"/>
              </a:rPr>
              <a:t>/:id</a:t>
            </a:r>
            <a:r>
              <a:rPr b="0" sz="1600" i="0">
                <a:solidFill>
                  <a:srgbClr val="1B3B47"/>
                </a:solidFill>
                <a:latin typeface="Arial"/>
              </a:rPr>
              <a:t>, </a:t>
            </a:r>
            <a:r>
              <a:rPr sz="1440" b="0" i="0">
                <a:solidFill>
                  <a:srgbClr val="ED1548"/>
                </a:solidFill>
                <a:latin typeface="Consolas"/>
              </a:rPr>
              <a:t>/nouvelle</a:t>
            </a:r>
            <a:r>
              <a:rPr b="0" sz="1600" i="0">
                <a:solidFill>
                  <a:srgbClr val="1B3B47"/>
                </a:solidFill>
                <a:latin typeface="Arial"/>
              </a:rPr>
              <a:t> fonctionnent.</a:t>
            </a:r>
          </a:p>
        </p:txBody>
      </p:sp>
      <p:sp>
        <p:nvSpPr>
          <p:cNvPr id="15" name="Rounded Rectangle 14"/>
          <p:cNvSpPr/>
          <p:nvPr/>
        </p:nvSpPr>
        <p:spPr>
          <a:xfrm>
            <a:off x="2606040" y="570179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16" name="TextBox 15"/>
          <p:cNvSpPr txBox="1"/>
          <p:nvPr/>
        </p:nvSpPr>
        <p:spPr>
          <a:xfrm>
            <a:off x="2971800" y="5674359"/>
            <a:ext cx="6355079" cy="251968"/>
          </a:xfrm>
          <a:prstGeom prst="rect">
            <a:avLst/>
          </a:prstGeom>
          <a:noFill/>
        </p:spPr>
        <p:txBody>
          <a:bodyPr wrap="square" lIns="0" rIns="0" tIns="0" bIns="0" anchor="t">
            <a:noAutofit/>
          </a:bodyPr>
          <a:lstStyle/>
          <a:p>
            <a:pPr algn="l">
              <a:lnSpc>
                <a:spcPct val="105000"/>
              </a:lnSpc>
              <a:spcBef>
                <a:spcPts val="0"/>
              </a:spcBef>
              <a:spcAft>
                <a:spcPts val="0"/>
              </a:spcAft>
            </a:pPr>
            <a:r>
              <a:rPr b="0" sz="1600" i="0">
                <a:solidFill>
                  <a:srgbClr val="1B3B47"/>
                </a:solidFill>
                <a:latin typeface="Arial"/>
              </a:rPr>
              <a:t>Le chunk </a:t>
            </a:r>
            <a:r>
              <a:rPr sz="1440" b="0" i="0">
                <a:solidFill>
                  <a:srgbClr val="ED1548"/>
                </a:solidFill>
                <a:latin typeface="Consolas"/>
              </a:rPr>
              <a:t>factures</a:t>
            </a:r>
            <a:r>
              <a:rPr b="0" sz="1600" i="0">
                <a:solidFill>
                  <a:srgbClr val="1B3B47"/>
                </a:solidFill>
                <a:latin typeface="Arial"/>
              </a:rPr>
              <a:t> est chargé à la demande.</a:t>
            </a:r>
          </a:p>
        </p:txBody>
      </p:sp>
      <p:sp>
        <p:nvSpPr>
          <p:cNvPr id="17" name="Rounded Rectangle 16"/>
          <p:cNvSpPr/>
          <p:nvPr/>
        </p:nvSpPr>
        <p:spPr>
          <a:xfrm>
            <a:off x="2606040" y="6026911"/>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18" name="TextBox 17"/>
          <p:cNvSpPr txBox="1"/>
          <p:nvPr/>
        </p:nvSpPr>
        <p:spPr>
          <a:xfrm>
            <a:off x="2971800" y="5999479"/>
            <a:ext cx="6355079" cy="251968"/>
          </a:xfrm>
          <a:prstGeom prst="rect">
            <a:avLst/>
          </a:prstGeom>
          <a:noFill/>
        </p:spPr>
        <p:txBody>
          <a:bodyPr wrap="square" lIns="0" rIns="0" tIns="0" bIns="0" anchor="t">
            <a:noAutofit/>
          </a:bodyPr>
          <a:lstStyle/>
          <a:p>
            <a:pPr algn="l">
              <a:lnSpc>
                <a:spcPct val="105000"/>
              </a:lnSpc>
              <a:spcBef>
                <a:spcPts val="0"/>
              </a:spcBef>
              <a:spcAft>
                <a:spcPts val="0"/>
              </a:spcAft>
            </a:pPr>
            <a:r>
              <a:rPr sz="1440" b="0" i="0">
                <a:solidFill>
                  <a:srgbClr val="ED1548"/>
                </a:solidFill>
                <a:latin typeface="Consolas"/>
              </a:rPr>
              <a:t>FactureService</a:t>
            </a:r>
            <a:r>
              <a:rPr b="0" sz="1600" i="0">
                <a:solidFill>
                  <a:srgbClr val="1B3B47"/>
                </a:solidFill>
                <a:latin typeface="Arial"/>
              </a:rPr>
              <a:t> expose list/get/create/update/delete.</a:t>
            </a:r>
          </a:p>
        </p:txBody>
      </p:sp>
      <p:sp>
        <p:nvSpPr>
          <p:cNvPr id="19" name="Rounded Rectangle 18"/>
          <p:cNvSpPr/>
          <p:nvPr/>
        </p:nvSpPr>
        <p:spPr>
          <a:xfrm>
            <a:off x="2606040" y="6352031"/>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0" name="TextBox 19"/>
          <p:cNvSpPr txBox="1"/>
          <p:nvPr/>
        </p:nvSpPr>
        <p:spPr>
          <a:xfrm>
            <a:off x="2971800" y="6324599"/>
            <a:ext cx="6355079" cy="251968"/>
          </a:xfrm>
          <a:prstGeom prst="rect">
            <a:avLst/>
          </a:prstGeom>
          <a:noFill/>
        </p:spPr>
        <p:txBody>
          <a:bodyPr wrap="square" lIns="0" rIns="0" tIns="0" bIns="0" anchor="t">
            <a:noAutofit/>
          </a:bodyPr>
          <a:lstStyle/>
          <a:p>
            <a:pPr algn="l">
              <a:lnSpc>
                <a:spcPct val="105000"/>
              </a:lnSpc>
              <a:spcBef>
                <a:spcPts val="0"/>
              </a:spcBef>
              <a:spcAft>
                <a:spcPts val="0"/>
              </a:spcAft>
            </a:pPr>
            <a:r>
              <a:rPr b="0" sz="1600" i="0">
                <a:solidFill>
                  <a:srgbClr val="1B3B47"/>
                </a:solidFill>
                <a:latin typeface="Arial"/>
              </a:rPr>
              <a:t>Le formulaire valide et calcule le TTC.</a:t>
            </a:r>
          </a:p>
        </p:txBody>
      </p:sp>
      <p:sp>
        <p:nvSpPr>
          <p:cNvPr id="21" name="Rounded Rectangle 20"/>
          <p:cNvSpPr/>
          <p:nvPr/>
        </p:nvSpPr>
        <p:spPr>
          <a:xfrm>
            <a:off x="2606040" y="6677151"/>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2" name="TextBox 21"/>
          <p:cNvSpPr txBox="1"/>
          <p:nvPr/>
        </p:nvSpPr>
        <p:spPr>
          <a:xfrm>
            <a:off x="2971800" y="6649719"/>
            <a:ext cx="6355079" cy="251968"/>
          </a:xfrm>
          <a:prstGeom prst="rect">
            <a:avLst/>
          </a:prstGeom>
          <a:noFill/>
        </p:spPr>
        <p:txBody>
          <a:bodyPr wrap="square" lIns="0" rIns="0" tIns="0" bIns="0" anchor="t">
            <a:noAutofit/>
          </a:bodyPr>
          <a:lstStyle/>
          <a:p>
            <a:pPr algn="l">
              <a:lnSpc>
                <a:spcPct val="105000"/>
              </a:lnSpc>
              <a:spcBef>
                <a:spcPts val="0"/>
              </a:spcBef>
              <a:spcAft>
                <a:spcPts val="0"/>
              </a:spcAft>
            </a:pPr>
            <a:r>
              <a:rPr b="0" sz="1600" i="0">
                <a:solidFill>
                  <a:srgbClr val="1B3B47"/>
                </a:solidFill>
                <a:latin typeface="Arial"/>
              </a:rPr>
              <a:t>Material remplace le tableau brut.</a:t>
            </a:r>
          </a:p>
        </p:txBody>
      </p:sp>
      <p:sp>
        <p:nvSpPr>
          <p:cNvPr id="23" name="TextBox 22"/>
          <p:cNvSpPr txBox="1"/>
          <p:nvPr/>
        </p:nvSpPr>
        <p:spPr>
          <a:xfrm>
            <a:off x="9829800" y="3108960"/>
            <a:ext cx="722376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ED1548"/>
                </a:solidFill>
                <a:latin typeface="Arial"/>
              </a:rPr>
              <a:t>PLANNING INDICATIF</a:t>
            </a:r>
          </a:p>
        </p:txBody>
      </p:sp>
      <p:graphicFrame>
        <p:nvGraphicFramePr>
          <p:cNvPr id="24" name="Table 23"/>
          <p:cNvGraphicFramePr>
            <a:graphicFrameLocks noGrp="1"/>
          </p:cNvGraphicFramePr>
          <p:nvPr/>
        </p:nvGraphicFramePr>
        <p:xfrm>
          <a:off x="9829800" y="3493008"/>
          <a:ext cx="7269479" cy="4023360"/>
        </p:xfrm>
        <a:graphic>
          <a:graphicData uri="http://schemas.openxmlformats.org/drawingml/2006/table">
            <a:tbl>
              <a:tblPr>
                <a:tableStyleId>{5C22544A-7EE6-4342-B048-85BDC9FD1C3A}</a:tableStyleId>
              </a:tblPr>
              <a:tblGrid>
                <a:gridCol w="2357669"/>
                <a:gridCol w="4911810"/>
              </a:tblGrid>
              <a:tr h="457200">
                <a:tc>
                  <a:txBody>
                    <a:bodyPr wrap="square"/>
                    <a:lstStyle/>
                    <a:p>
                      <a:pPr algn="l">
                        <a:lnSpc>
                          <a:spcPct val="100000"/>
                        </a:lnSpc>
                      </a:pPr>
                      <a:r>
                        <a:rPr b="1" sz="1400" i="0">
                          <a:solidFill>
                            <a:srgbClr val="FFFFFF"/>
                          </a:solidFill>
                          <a:latin typeface="Arial"/>
                        </a:rPr>
                        <a:t>Horaire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400" i="0">
                          <a:solidFill>
                            <a:srgbClr val="FFFFFF"/>
                          </a:solidFill>
                          <a:latin typeface="Arial"/>
                        </a:rPr>
                        <a:t>Contenu</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r>
              <a:tr h="713232">
                <a:tc>
                  <a:txBody>
                    <a:bodyPr wrap="square"/>
                    <a:lstStyle/>
                    <a:p>
                      <a:pPr algn="l">
                        <a:lnSpc>
                          <a:spcPct val="100000"/>
                        </a:lnSpc>
                      </a:pPr>
                      <a:r>
                        <a:rPr b="0" sz="1500" i="0">
                          <a:solidFill>
                            <a:srgbClr val="1B3B47"/>
                          </a:solidFill>
                          <a:latin typeface="Arial"/>
                        </a:rPr>
                        <a:t>09:00 – 10:30</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500" i="0">
                          <a:solidFill>
                            <a:srgbClr val="1B3B47"/>
                          </a:solidFill>
                          <a:latin typeface="Arial"/>
                        </a:rPr>
                        <a:t>Routeur, lazy, standalone vs NgModule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713232">
                <a:tc>
                  <a:txBody>
                    <a:bodyPr wrap="square"/>
                    <a:lstStyle/>
                    <a:p>
                      <a:pPr algn="l">
                        <a:lnSpc>
                          <a:spcPct val="100000"/>
                        </a:lnSpc>
                      </a:pPr>
                      <a:r>
                        <a:rPr b="0" sz="1500" i="0">
                          <a:solidFill>
                            <a:srgbClr val="1B3B47"/>
                          </a:solidFill>
                          <a:latin typeface="Arial"/>
                        </a:rPr>
                        <a:t>10:45 – 12:30</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500" i="0">
                          <a:solidFill>
                            <a:srgbClr val="1B3B47"/>
                          </a:solidFill>
                          <a:latin typeface="Arial"/>
                        </a:rPr>
                        <a:t>DI, HttpClient, RxJS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713232">
                <a:tc>
                  <a:txBody>
                    <a:bodyPr wrap="square"/>
                    <a:lstStyle/>
                    <a:p>
                      <a:pPr algn="l">
                        <a:lnSpc>
                          <a:spcPct val="100000"/>
                        </a:lnSpc>
                      </a:pPr>
                      <a:r>
                        <a:rPr b="0" sz="1500" i="0">
                          <a:solidFill>
                            <a:srgbClr val="1B3B47"/>
                          </a:solidFill>
                          <a:latin typeface="Arial"/>
                        </a:rPr>
                        <a:t>13:30 – 15:30</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500" i="0">
                          <a:solidFill>
                            <a:srgbClr val="1B3B47"/>
                          </a:solidFill>
                          <a:latin typeface="Arial"/>
                        </a:rPr>
                        <a:t>Reactive Forms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713232">
                <a:tc>
                  <a:txBody>
                    <a:bodyPr wrap="square"/>
                    <a:lstStyle/>
                    <a:p>
                      <a:pPr algn="l">
                        <a:lnSpc>
                          <a:spcPct val="100000"/>
                        </a:lnSpc>
                      </a:pPr>
                      <a:r>
                        <a:rPr b="0" sz="1500" i="0">
                          <a:solidFill>
                            <a:srgbClr val="1B3B47"/>
                          </a:solidFill>
                          <a:latin typeface="Arial"/>
                        </a:rPr>
                        <a:t>15:45 – 16:45</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500" i="0">
                          <a:solidFill>
                            <a:srgbClr val="1B3B47"/>
                          </a:solidFill>
                          <a:latin typeface="Arial"/>
                        </a:rPr>
                        <a:t>Communication, Shared</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713232">
                <a:tc>
                  <a:txBody>
                    <a:bodyPr wrap="square"/>
                    <a:lstStyle/>
                    <a:p>
                      <a:pPr algn="l">
                        <a:lnSpc>
                          <a:spcPct val="100000"/>
                        </a:lnSpc>
                      </a:pPr>
                      <a:r>
                        <a:rPr b="0" sz="1500" i="0">
                          <a:solidFill>
                            <a:srgbClr val="1B3B47"/>
                          </a:solidFill>
                          <a:latin typeface="Arial"/>
                        </a:rPr>
                        <a:t>16:45 – 18:00</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500" i="0">
                          <a:solidFill>
                            <a:srgbClr val="1B3B47"/>
                          </a:solidFill>
                          <a:latin typeface="Arial"/>
                        </a:rPr>
                        <a:t>Angular Material + synthèse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bl>
          </a:graphicData>
        </a:graphic>
      </p:graphicFrame>
      <p:sp>
        <p:nvSpPr>
          <p:cNvPr id="25" name="Rounded Rectangle 24"/>
          <p:cNvSpPr/>
          <p:nvPr/>
        </p:nvSpPr>
        <p:spPr>
          <a:xfrm>
            <a:off x="9829800" y="7818120"/>
            <a:ext cx="7269480" cy="1417320"/>
          </a:xfrm>
          <a:prstGeom prst="roundRect">
            <a:avLst>
              <a:gd name="adj" fmla="val 8000"/>
            </a:avLst>
          </a:prstGeom>
          <a:solidFill>
            <a:srgbClr val="EBF6F8"/>
          </a:solidFill>
          <a:ln>
            <a:noFill/>
          </a:ln>
          <a:effectLst/>
        </p:spPr>
        <p:txBody>
          <a:bodyPr rtlCol="0" anchor="ctr"/>
          <a:lstStyle/>
          <a:p>
            <a:pPr algn="ctr"/>
          </a:p>
        </p:txBody>
      </p:sp>
      <p:sp>
        <p:nvSpPr>
          <p:cNvPr id="26" name="Rectangle 25"/>
          <p:cNvSpPr/>
          <p:nvPr/>
        </p:nvSpPr>
        <p:spPr>
          <a:xfrm>
            <a:off x="9829800" y="7818120"/>
            <a:ext cx="64008" cy="1417320"/>
          </a:xfrm>
          <a:prstGeom prst="rect">
            <a:avLst/>
          </a:prstGeom>
          <a:solidFill>
            <a:srgbClr val="0B4F6C"/>
          </a:solidFill>
          <a:ln>
            <a:noFill/>
          </a:ln>
          <a:effectLst/>
        </p:spPr>
        <p:txBody>
          <a:bodyPr rtlCol="0" anchor="ctr"/>
          <a:lstStyle/>
          <a:p>
            <a:pPr algn="ctr"/>
          </a:p>
        </p:txBody>
      </p:sp>
      <p:sp>
        <p:nvSpPr>
          <p:cNvPr id="27" name="TextBox 26"/>
          <p:cNvSpPr txBox="1"/>
          <p:nvPr/>
        </p:nvSpPr>
        <p:spPr>
          <a:xfrm>
            <a:off x="10122408" y="7982712"/>
            <a:ext cx="676656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LIVRABLE</a:t>
            </a:r>
          </a:p>
        </p:txBody>
      </p:sp>
      <p:sp>
        <p:nvSpPr>
          <p:cNvPr id="28" name="TextBox 27"/>
          <p:cNvSpPr txBox="1"/>
          <p:nvPr/>
        </p:nvSpPr>
        <p:spPr>
          <a:xfrm>
            <a:off x="10122408" y="8275320"/>
            <a:ext cx="6720840" cy="850392"/>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Le parcours complet liste → détail → création → édition, avec messages d'erreur et suppression confirmée.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2  ·  ROUTEUR</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Le routeur découpe l'application en URLs</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Une URL = un écran ; le lazy loading garde le bundle initial léger.</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25 / 62</a:t>
            </a:r>
          </a:p>
        </p:txBody>
      </p:sp>
      <p:sp>
        <p:nvSpPr>
          <p:cNvPr id="9" name="Rounded Rectangle 8"/>
          <p:cNvSpPr/>
          <p:nvPr/>
        </p:nvSpPr>
        <p:spPr>
          <a:xfrm>
            <a:off x="2606040" y="3063240"/>
            <a:ext cx="8092440" cy="443484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p>
        </p:txBody>
      </p:sp>
      <p:sp>
        <p:nvSpPr>
          <p:cNvPr id="11" name="TextBox 10"/>
          <p:cNvSpPr txBox="1"/>
          <p:nvPr/>
        </p:nvSpPr>
        <p:spPr>
          <a:xfrm>
            <a:off x="2990088" y="3172968"/>
            <a:ext cx="745236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app.routes.ts</a:t>
            </a:r>
          </a:p>
        </p:txBody>
      </p:sp>
      <p:sp>
        <p:nvSpPr>
          <p:cNvPr id="12" name="TextBox 11"/>
          <p:cNvSpPr txBox="1"/>
          <p:nvPr/>
        </p:nvSpPr>
        <p:spPr>
          <a:xfrm>
            <a:off x="2852928" y="3538728"/>
            <a:ext cx="7635240" cy="3794760"/>
          </a:xfrm>
          <a:prstGeom prst="rect">
            <a:avLst/>
          </a:prstGeom>
          <a:noFill/>
        </p:spPr>
        <p:txBody>
          <a:bodyPr wrap="none" lIns="0" rIns="0" tIns="0" bIns="0">
            <a:noAutofit/>
          </a:bodyPr>
          <a:lstStyle/>
          <a:p>
            <a:pPr>
              <a:lnSpc>
                <a:spcPct val="100000"/>
              </a:lnSpc>
              <a:spcBef>
                <a:spcPts val="0"/>
              </a:spcBef>
              <a:spcAft>
                <a:spcPts val="0"/>
              </a:spcAft>
            </a:pPr>
            <a:r>
              <a:rPr sz="1350">
                <a:solidFill>
                  <a:srgbClr val="7FD1E0"/>
                </a:solidFill>
                <a:latin typeface="Consolas"/>
              </a:rPr>
              <a:t>export</a:t>
            </a:r>
            <a:r>
              <a:rPr sz="1350">
                <a:solidFill>
                  <a:srgbClr val="EAF2F4"/>
                </a:solidFill>
                <a:latin typeface="Consolas"/>
              </a:rPr>
              <a:t> </a:t>
            </a:r>
            <a:r>
              <a:rPr sz="1350">
                <a:solidFill>
                  <a:srgbClr val="7FD1E0"/>
                </a:solidFill>
                <a:latin typeface="Consolas"/>
              </a:rPr>
              <a:t>const</a:t>
            </a:r>
            <a:r>
              <a:rPr sz="1350">
                <a:solidFill>
                  <a:srgbClr val="EAF2F4"/>
                </a:solidFill>
                <a:latin typeface="Consolas"/>
              </a:rPr>
              <a:t> routes: Routes = [</a:t>
            </a:r>
          </a:p>
          <a:p>
            <a:pPr>
              <a:lnSpc>
                <a:spcPct val="100000"/>
              </a:lnSpc>
              <a:spcBef>
                <a:spcPts val="0"/>
              </a:spcBef>
              <a:spcAft>
                <a:spcPts val="0"/>
              </a:spcAft>
            </a:pPr>
            <a:r>
              <a:rPr sz="1350">
                <a:solidFill>
                  <a:srgbClr val="EAF2F4"/>
                </a:solidFill>
                <a:latin typeface="Consolas"/>
              </a:rPr>
              <a:t>  { path: </a:t>
            </a:r>
            <a:r>
              <a:rPr sz="1350">
                <a:solidFill>
                  <a:srgbClr val="FFB3C1"/>
                </a:solidFill>
                <a:latin typeface="Consolas"/>
              </a:rPr>
              <a:t>''</a:t>
            </a:r>
            <a:r>
              <a:rPr sz="1350">
                <a:solidFill>
                  <a:srgbClr val="EAF2F4"/>
                </a:solidFill>
                <a:latin typeface="Consolas"/>
              </a:rPr>
              <a:t>, redirectTo: </a:t>
            </a:r>
            <a:r>
              <a:rPr sz="1350">
                <a:solidFill>
                  <a:srgbClr val="FFB3C1"/>
                </a:solidFill>
                <a:latin typeface="Consolas"/>
              </a:rPr>
              <a:t>'factures'</a:t>
            </a:r>
            <a:r>
              <a:rPr sz="1350">
                <a:solidFill>
                  <a:srgbClr val="EAF2F4"/>
                </a:solidFill>
                <a:latin typeface="Consolas"/>
              </a:rPr>
              <a:t>, pathMatch: </a:t>
            </a:r>
            <a:r>
              <a:rPr sz="1350">
                <a:solidFill>
                  <a:srgbClr val="FFB3C1"/>
                </a:solidFill>
                <a:latin typeface="Consolas"/>
              </a:rPr>
              <a:t>'full'</a:t>
            </a: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path: </a:t>
            </a:r>
            <a:r>
              <a:rPr sz="1350">
                <a:solidFill>
                  <a:srgbClr val="FFB3C1"/>
                </a:solidFill>
                <a:latin typeface="Consolas"/>
              </a:rPr>
              <a:t>'factures'</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    loadChildren: () =&gt; </a:t>
            </a:r>
            <a:r>
              <a:rPr sz="1350">
                <a:solidFill>
                  <a:srgbClr val="7FD1E0"/>
                </a:solidFill>
                <a:latin typeface="Consolas"/>
              </a:rPr>
              <a:t>import</a:t>
            </a:r>
            <a:r>
              <a:rPr sz="1350">
                <a:solidFill>
                  <a:srgbClr val="EAF2F4"/>
                </a:solidFill>
                <a:latin typeface="Consolas"/>
              </a:rPr>
              <a:t>(</a:t>
            </a:r>
            <a:r>
              <a:rPr sz="1350">
                <a:solidFill>
                  <a:srgbClr val="FFB3C1"/>
                </a:solidFill>
                <a:latin typeface="Consolas"/>
              </a:rPr>
              <a:t>'./features/factures/factures.routes'</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      .then(m =&gt; m.FACTURES_ROUTES),</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path: </a:t>
            </a:r>
            <a:r>
              <a:rPr sz="1350">
                <a:solidFill>
                  <a:srgbClr val="FFB3C1"/>
                </a:solidFill>
                <a:latin typeface="Consolas"/>
              </a:rPr>
              <a:t>'rapprochement'</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    loadComponent: () =&gt; </a:t>
            </a:r>
            <a:r>
              <a:rPr sz="1350">
                <a:solidFill>
                  <a:srgbClr val="7FD1E0"/>
                </a:solidFill>
                <a:latin typeface="Consolas"/>
              </a:rPr>
              <a:t>import</a:t>
            </a:r>
            <a:r>
              <a:rPr sz="1350">
                <a:solidFill>
                  <a:srgbClr val="EAF2F4"/>
                </a:solidFill>
                <a:latin typeface="Consolas"/>
              </a:rPr>
              <a:t>(</a:t>
            </a:r>
            <a:r>
              <a:rPr sz="1350">
                <a:solidFill>
                  <a:srgbClr val="FFB3C1"/>
                </a:solidFill>
                <a:latin typeface="Consolas"/>
              </a:rPr>
              <a:t>'./features/rapprochement/rapprochement'</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      .then(m =&gt; m.RapprochementComponent),</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 path: </a:t>
            </a:r>
            <a:r>
              <a:rPr sz="1350">
                <a:solidFill>
                  <a:srgbClr val="FFB3C1"/>
                </a:solidFill>
                <a:latin typeface="Consolas"/>
              </a:rPr>
              <a:t>'**'</a:t>
            </a:r>
            <a:r>
              <a:rPr sz="1350">
                <a:solidFill>
                  <a:srgbClr val="EAF2F4"/>
                </a:solidFill>
                <a:latin typeface="Consolas"/>
              </a:rPr>
              <a:t>, component: NotFoundComponent },</a:t>
            </a:r>
          </a:p>
          <a:p>
            <a:pPr>
              <a:lnSpc>
                <a:spcPct val="100000"/>
              </a:lnSpc>
              <a:spcBef>
                <a:spcPts val="0"/>
              </a:spcBef>
              <a:spcAft>
                <a:spcPts val="0"/>
              </a:spcAft>
            </a:pPr>
            <a:r>
              <a:rPr sz="1350">
                <a:solidFill>
                  <a:srgbClr val="EAF2F4"/>
                </a:solidFill>
                <a:latin typeface="Consolas"/>
              </a:rPr>
              <a:t>];</a:t>
            </a:r>
          </a:p>
        </p:txBody>
      </p:sp>
      <p:sp>
        <p:nvSpPr>
          <p:cNvPr id="13" name="Rounded Rectangle 12"/>
          <p:cNvSpPr/>
          <p:nvPr/>
        </p:nvSpPr>
        <p:spPr>
          <a:xfrm>
            <a:off x="10972800" y="3063240"/>
            <a:ext cx="6217920" cy="1298448"/>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4" name="Rectangle 13"/>
          <p:cNvSpPr/>
          <p:nvPr/>
        </p:nvSpPr>
        <p:spPr>
          <a:xfrm>
            <a:off x="10972800" y="3063240"/>
            <a:ext cx="6217920" cy="50292"/>
          </a:xfrm>
          <a:prstGeom prst="rect">
            <a:avLst/>
          </a:prstGeom>
          <a:solidFill>
            <a:srgbClr val="0B4F6C"/>
          </a:solidFill>
          <a:ln>
            <a:noFill/>
          </a:ln>
          <a:effectLst/>
        </p:spPr>
        <p:txBody>
          <a:bodyPr rtlCol="0" anchor="ctr"/>
          <a:lstStyle/>
          <a:p>
            <a:pPr algn="ctr"/>
          </a:p>
        </p:txBody>
      </p:sp>
      <p:sp>
        <p:nvSpPr>
          <p:cNvPr id="15" name="TextBox 14"/>
          <p:cNvSpPr txBox="1"/>
          <p:nvPr/>
        </p:nvSpPr>
        <p:spPr>
          <a:xfrm>
            <a:off x="11247120" y="3319272"/>
            <a:ext cx="5806440" cy="411480"/>
          </a:xfrm>
          <a:prstGeom prst="rect">
            <a:avLst/>
          </a:prstGeom>
          <a:noFill/>
        </p:spPr>
        <p:txBody>
          <a:bodyPr wrap="square" lIns="0" rIns="0" tIns="0" bIns="0" anchor="t">
            <a:noAutofit/>
          </a:bodyPr>
          <a:lstStyle/>
          <a:p>
            <a:pPr algn="l">
              <a:lnSpc>
                <a:spcPct val="102000"/>
              </a:lnSpc>
              <a:spcBef>
                <a:spcPts val="0"/>
              </a:spcBef>
              <a:spcAft>
                <a:spcPts val="0"/>
              </a:spcAft>
            </a:pPr>
            <a:r>
              <a:rPr b="1" sz="1550" i="0">
                <a:solidFill>
                  <a:srgbClr val="0B4F6C"/>
                </a:solidFill>
                <a:latin typeface="Arial"/>
              </a:rPr>
              <a:t>Bundle initial léger</a:t>
            </a:r>
          </a:p>
        </p:txBody>
      </p:sp>
      <p:sp>
        <p:nvSpPr>
          <p:cNvPr id="16" name="TextBox 15"/>
          <p:cNvSpPr txBox="1"/>
          <p:nvPr/>
        </p:nvSpPr>
        <p:spPr>
          <a:xfrm>
            <a:off x="11247120" y="3758183"/>
            <a:ext cx="5806440" cy="429768"/>
          </a:xfrm>
          <a:prstGeom prst="rect">
            <a:avLst/>
          </a:prstGeom>
          <a:noFill/>
        </p:spPr>
        <p:txBody>
          <a:bodyPr wrap="square" lIns="0" rIns="0" tIns="0" bIns="0" anchor="t">
            <a:noAutofit/>
          </a:bodyPr>
          <a:lstStyle/>
          <a:p>
            <a:pPr algn="l">
              <a:lnSpc>
                <a:spcPct val="108000"/>
              </a:lnSpc>
              <a:spcBef>
                <a:spcPts val="0"/>
              </a:spcBef>
              <a:spcAft>
                <a:spcPts val="0"/>
              </a:spcAft>
            </a:pPr>
            <a:r>
              <a:rPr b="0" sz="1350" i="0">
                <a:solidFill>
                  <a:srgbClr val="1B3B47"/>
                </a:solidFill>
                <a:latin typeface="Arial"/>
              </a:rPr>
              <a:t>Le dashboard et ses graphiques ne sont pas téléchargés au démarrage.</a:t>
            </a:r>
          </a:p>
        </p:txBody>
      </p:sp>
      <p:sp>
        <p:nvSpPr>
          <p:cNvPr id="17" name="Rounded Rectangle 16"/>
          <p:cNvSpPr/>
          <p:nvPr/>
        </p:nvSpPr>
        <p:spPr>
          <a:xfrm>
            <a:off x="10972800" y="4526280"/>
            <a:ext cx="6217920" cy="1298448"/>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8" name="Rectangle 17"/>
          <p:cNvSpPr/>
          <p:nvPr/>
        </p:nvSpPr>
        <p:spPr>
          <a:xfrm>
            <a:off x="10972800" y="4526280"/>
            <a:ext cx="6217920" cy="50292"/>
          </a:xfrm>
          <a:prstGeom prst="rect">
            <a:avLst/>
          </a:prstGeom>
          <a:solidFill>
            <a:srgbClr val="0B4F6C"/>
          </a:solidFill>
          <a:ln>
            <a:noFill/>
          </a:ln>
          <a:effectLst/>
        </p:spPr>
        <p:txBody>
          <a:bodyPr rtlCol="0" anchor="ctr"/>
          <a:lstStyle/>
          <a:p>
            <a:pPr algn="ctr"/>
          </a:p>
        </p:txBody>
      </p:sp>
      <p:sp>
        <p:nvSpPr>
          <p:cNvPr id="19" name="TextBox 18"/>
          <p:cNvSpPr txBox="1"/>
          <p:nvPr/>
        </p:nvSpPr>
        <p:spPr>
          <a:xfrm>
            <a:off x="11247120" y="4782312"/>
            <a:ext cx="5806440" cy="411480"/>
          </a:xfrm>
          <a:prstGeom prst="rect">
            <a:avLst/>
          </a:prstGeom>
          <a:noFill/>
        </p:spPr>
        <p:txBody>
          <a:bodyPr wrap="square" lIns="0" rIns="0" tIns="0" bIns="0" anchor="t">
            <a:noAutofit/>
          </a:bodyPr>
          <a:lstStyle/>
          <a:p>
            <a:pPr algn="l">
              <a:lnSpc>
                <a:spcPct val="102000"/>
              </a:lnSpc>
              <a:spcBef>
                <a:spcPts val="0"/>
              </a:spcBef>
              <a:spcAft>
                <a:spcPts val="0"/>
              </a:spcAft>
            </a:pPr>
            <a:r>
              <a:rPr b="1" sz="1550" i="0">
                <a:solidFill>
                  <a:srgbClr val="0B4F6C"/>
                </a:solidFill>
                <a:latin typeface="Arial"/>
              </a:rPr>
              <a:t>URL partageable</a:t>
            </a:r>
          </a:p>
        </p:txBody>
      </p:sp>
      <p:sp>
        <p:nvSpPr>
          <p:cNvPr id="20" name="TextBox 19"/>
          <p:cNvSpPr txBox="1"/>
          <p:nvPr/>
        </p:nvSpPr>
        <p:spPr>
          <a:xfrm>
            <a:off x="11247120" y="5221224"/>
            <a:ext cx="5806440" cy="429768"/>
          </a:xfrm>
          <a:prstGeom prst="rect">
            <a:avLst/>
          </a:prstGeom>
          <a:noFill/>
        </p:spPr>
        <p:txBody>
          <a:bodyPr wrap="square" lIns="0" rIns="0" tIns="0" bIns="0" anchor="t">
            <a:noAutofit/>
          </a:bodyPr>
          <a:lstStyle/>
          <a:p>
            <a:pPr algn="l">
              <a:lnSpc>
                <a:spcPct val="108000"/>
              </a:lnSpc>
              <a:spcBef>
                <a:spcPts val="0"/>
              </a:spcBef>
              <a:spcAft>
                <a:spcPts val="0"/>
              </a:spcAft>
            </a:pPr>
            <a:r>
              <a:rPr b="0" sz="1350" i="0">
                <a:solidFill>
                  <a:srgbClr val="1B3B47"/>
                </a:solidFill>
                <a:latin typeface="Arial"/>
              </a:rPr>
              <a:t>Chaque écran a une adresse ; le bouton retour fonctionne.</a:t>
            </a:r>
          </a:p>
        </p:txBody>
      </p:sp>
      <p:sp>
        <p:nvSpPr>
          <p:cNvPr id="21" name="Rounded Rectangle 20"/>
          <p:cNvSpPr/>
          <p:nvPr/>
        </p:nvSpPr>
        <p:spPr>
          <a:xfrm>
            <a:off x="10972800" y="5989320"/>
            <a:ext cx="6217920" cy="1298448"/>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2" name="Rectangle 21"/>
          <p:cNvSpPr/>
          <p:nvPr/>
        </p:nvSpPr>
        <p:spPr>
          <a:xfrm>
            <a:off x="10972800" y="5989320"/>
            <a:ext cx="6217920" cy="50292"/>
          </a:xfrm>
          <a:prstGeom prst="rect">
            <a:avLst/>
          </a:prstGeom>
          <a:solidFill>
            <a:srgbClr val="0B4F6C"/>
          </a:solidFill>
          <a:ln>
            <a:noFill/>
          </a:ln>
          <a:effectLst/>
        </p:spPr>
        <p:txBody>
          <a:bodyPr rtlCol="0" anchor="ctr"/>
          <a:lstStyle/>
          <a:p>
            <a:pPr algn="ctr"/>
          </a:p>
        </p:txBody>
      </p:sp>
      <p:sp>
        <p:nvSpPr>
          <p:cNvPr id="23" name="TextBox 22"/>
          <p:cNvSpPr txBox="1"/>
          <p:nvPr/>
        </p:nvSpPr>
        <p:spPr>
          <a:xfrm>
            <a:off x="11247120" y="6245352"/>
            <a:ext cx="5806440" cy="411480"/>
          </a:xfrm>
          <a:prstGeom prst="rect">
            <a:avLst/>
          </a:prstGeom>
          <a:noFill/>
        </p:spPr>
        <p:txBody>
          <a:bodyPr wrap="square" lIns="0" rIns="0" tIns="0" bIns="0" anchor="t">
            <a:noAutofit/>
          </a:bodyPr>
          <a:lstStyle/>
          <a:p>
            <a:pPr algn="l">
              <a:lnSpc>
                <a:spcPct val="102000"/>
              </a:lnSpc>
              <a:spcBef>
                <a:spcPts val="0"/>
              </a:spcBef>
              <a:spcAft>
                <a:spcPts val="0"/>
              </a:spcAft>
            </a:pPr>
            <a:r>
              <a:rPr b="1" sz="1550" i="0">
                <a:solidFill>
                  <a:srgbClr val="0B4F6C"/>
                </a:solidFill>
                <a:latin typeface="Arial"/>
              </a:rPr>
              <a:t>Guards</a:t>
            </a:r>
          </a:p>
        </p:txBody>
      </p:sp>
      <p:sp>
        <p:nvSpPr>
          <p:cNvPr id="24" name="TextBox 23"/>
          <p:cNvSpPr txBox="1"/>
          <p:nvPr/>
        </p:nvSpPr>
        <p:spPr>
          <a:xfrm>
            <a:off x="11247120" y="6684264"/>
            <a:ext cx="5806440" cy="429768"/>
          </a:xfrm>
          <a:prstGeom prst="rect">
            <a:avLst/>
          </a:prstGeom>
          <a:noFill/>
        </p:spPr>
        <p:txBody>
          <a:bodyPr wrap="square" lIns="0" rIns="0" tIns="0" bIns="0" anchor="t">
            <a:noAutofit/>
          </a:bodyPr>
          <a:lstStyle/>
          <a:p>
            <a:pPr algn="l">
              <a:lnSpc>
                <a:spcPct val="108000"/>
              </a:lnSpc>
              <a:spcBef>
                <a:spcPts val="0"/>
              </a:spcBef>
              <a:spcAft>
                <a:spcPts val="0"/>
              </a:spcAft>
            </a:pPr>
            <a:r>
              <a:rPr b="0" sz="1350" i="0">
                <a:solidFill>
                  <a:srgbClr val="1B3B47"/>
                </a:solidFill>
                <a:latin typeface="Arial"/>
              </a:rPr>
              <a:t>On peut bloquer une route avant chargement (auth, droits).</a:t>
            </a:r>
          </a:p>
        </p:txBody>
      </p:sp>
      <p:sp>
        <p:nvSpPr>
          <p:cNvPr id="25" name="Rounded Rectangle 24"/>
          <p:cNvSpPr/>
          <p:nvPr/>
        </p:nvSpPr>
        <p:spPr>
          <a:xfrm>
            <a:off x="2606040" y="7772400"/>
            <a:ext cx="14584680" cy="1417320"/>
          </a:xfrm>
          <a:prstGeom prst="roundRect">
            <a:avLst>
              <a:gd name="adj" fmla="val 8000"/>
            </a:avLst>
          </a:prstGeom>
          <a:solidFill>
            <a:srgbClr val="FFF0F4"/>
          </a:solidFill>
          <a:ln>
            <a:noFill/>
          </a:ln>
          <a:effectLst/>
        </p:spPr>
        <p:txBody>
          <a:bodyPr rtlCol="0" anchor="ctr"/>
          <a:lstStyle/>
          <a:p>
            <a:pPr algn="ctr"/>
          </a:p>
        </p:txBody>
      </p:sp>
      <p:sp>
        <p:nvSpPr>
          <p:cNvPr id="26" name="Rectangle 25"/>
          <p:cNvSpPr/>
          <p:nvPr/>
        </p:nvSpPr>
        <p:spPr>
          <a:xfrm>
            <a:off x="2606040" y="7772400"/>
            <a:ext cx="64008" cy="1417320"/>
          </a:xfrm>
          <a:prstGeom prst="rect">
            <a:avLst/>
          </a:prstGeom>
          <a:solidFill>
            <a:srgbClr val="ED1548"/>
          </a:solidFill>
          <a:ln>
            <a:noFill/>
          </a:ln>
          <a:effectLst/>
        </p:spPr>
        <p:txBody>
          <a:bodyPr rtlCol="0" anchor="ctr"/>
          <a:lstStyle/>
          <a:p>
            <a:pPr algn="ctr"/>
          </a:p>
        </p:txBody>
      </p:sp>
      <p:sp>
        <p:nvSpPr>
          <p:cNvPr id="27" name="TextBox 26"/>
          <p:cNvSpPr txBox="1"/>
          <p:nvPr/>
        </p:nvSpPr>
        <p:spPr>
          <a:xfrm>
            <a:off x="2898648" y="7936992"/>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LOADCOMPONENT OU LOADCHILDREN ?</a:t>
            </a:r>
          </a:p>
        </p:txBody>
      </p:sp>
      <p:sp>
        <p:nvSpPr>
          <p:cNvPr id="28" name="TextBox 27"/>
          <p:cNvSpPr txBox="1"/>
          <p:nvPr/>
        </p:nvSpPr>
        <p:spPr>
          <a:xfrm>
            <a:off x="2898648" y="8229600"/>
            <a:ext cx="14173200" cy="850392"/>
          </a:xfrm>
          <a:prstGeom prst="rect">
            <a:avLst/>
          </a:prstGeom>
          <a:noFill/>
        </p:spPr>
        <p:txBody>
          <a:bodyPr wrap="square" lIns="0" rIns="0" tIns="0" bIns="0" anchor="t">
            <a:noAutofit/>
          </a:bodyPr>
          <a:lstStyle/>
          <a:p>
            <a:pPr algn="l">
              <a:lnSpc>
                <a:spcPct val="106000"/>
              </a:lnSpc>
              <a:spcBef>
                <a:spcPts val="0"/>
              </a:spcBef>
              <a:spcAft>
                <a:spcPts val="0"/>
              </a:spcAft>
            </a:pPr>
            <a:r>
              <a:rPr sz="1260" b="0" i="0">
                <a:solidFill>
                  <a:srgbClr val="ED1548"/>
                </a:solidFill>
                <a:latin typeface="Consolas"/>
              </a:rPr>
              <a:t>loadComponent</a:t>
            </a:r>
            <a:r>
              <a:rPr b="0" sz="1400" i="0">
                <a:solidFill>
                  <a:srgbClr val="1B3B47"/>
                </a:solidFill>
                <a:latin typeface="Arial"/>
              </a:rPr>
              <a:t> pour un écran isolé ; </a:t>
            </a:r>
            <a:r>
              <a:rPr sz="1260" b="0" i="0">
                <a:solidFill>
                  <a:srgbClr val="ED1548"/>
                </a:solidFill>
                <a:latin typeface="Consolas"/>
              </a:rPr>
              <a:t>loadChildren</a:t>
            </a:r>
            <a:r>
              <a:rPr b="0" sz="1400" i="0">
                <a:solidFill>
                  <a:srgbClr val="1B3B47"/>
                </a:solidFill>
                <a:latin typeface="Arial"/>
              </a:rPr>
              <a:t> pour une feature avec ses propres routes. Les deux créent un chunk séparé.</a:t>
            </a:r>
          </a:p>
        </p:txBody>
      </p:sp>
      <p:sp>
        <p:nvSpPr>
          <p:cNvPr id="29" name="TextBox 28"/>
          <p:cNvSpPr txBox="1"/>
          <p:nvPr/>
        </p:nvSpPr>
        <p:spPr>
          <a:xfrm>
            <a:off x="2606040" y="9372600"/>
            <a:ext cx="14584680" cy="274320"/>
          </a:xfrm>
          <a:prstGeom prst="rect">
            <a:avLst/>
          </a:prstGeom>
          <a:noFill/>
        </p:spPr>
        <p:txBody>
          <a:bodyPr wrap="square" lIns="0" rIns="0" tIns="0" bIns="0" anchor="t">
            <a:noAutofit/>
          </a:bodyPr>
          <a:lstStyle/>
          <a:p>
            <a:pPr algn="l">
              <a:lnSpc>
                <a:spcPct val="102000"/>
              </a:lnSpc>
              <a:spcBef>
                <a:spcPts val="0"/>
              </a:spcBef>
              <a:spcAft>
                <a:spcPts val="0"/>
              </a:spcAft>
            </a:pPr>
            <a:r>
              <a:rPr b="1" sz="1300" i="0">
                <a:solidFill>
                  <a:srgbClr val="8A9AA1"/>
                </a:solidFill>
                <a:latin typeface="Consolas"/>
              </a:rPr>
              <a:t>/factures   ·   /factures/:id   ·   /factures/nouvelle   ·   /rapprochement   ·   /dashboard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2  ·  NAVIGATION</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Naviguer sans recharger la page</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sz="1800" b="0" i="0">
                <a:solidFill>
                  <a:srgbClr val="ED1548"/>
                </a:solidFill>
                <a:latin typeface="Consolas"/>
              </a:rPr>
              <a:t>routerLink</a:t>
            </a:r>
            <a:r>
              <a:rPr b="0" sz="2000" i="0">
                <a:solidFill>
                  <a:srgbClr val="5C6E76"/>
                </a:solidFill>
                <a:latin typeface="Arial"/>
              </a:rPr>
              <a:t> change l'URL ; le routeur affiche le composant dans </a:t>
            </a:r>
            <a:r>
              <a:rPr sz="1800" b="0" i="0">
                <a:solidFill>
                  <a:srgbClr val="ED1548"/>
                </a:solidFill>
                <a:latin typeface="Consolas"/>
              </a:rPr>
              <a:t>&lt;router-outlet&gt;</a:t>
            </a:r>
            <a:r>
              <a:rPr b="0" sz="2000" i="0">
                <a:solidFill>
                  <a:srgbClr val="5C6E76"/>
                </a:solidFill>
                <a:latin typeface="Arial"/>
              </a:rPr>
              <a: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26 / 62</a:t>
            </a:r>
          </a:p>
        </p:txBody>
      </p:sp>
      <p:sp>
        <p:nvSpPr>
          <p:cNvPr id="9" name="Rounded Rectangle 8"/>
          <p:cNvSpPr/>
          <p:nvPr/>
        </p:nvSpPr>
        <p:spPr>
          <a:xfrm>
            <a:off x="2606040" y="3063240"/>
            <a:ext cx="7223760" cy="457200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p>
        </p:txBody>
      </p:sp>
      <p:sp>
        <p:nvSpPr>
          <p:cNvPr id="11" name="TextBox 10"/>
          <p:cNvSpPr txBox="1"/>
          <p:nvPr/>
        </p:nvSpPr>
        <p:spPr>
          <a:xfrm>
            <a:off x="2990088" y="3172968"/>
            <a:ext cx="658368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navigation + paramètres</a:t>
            </a:r>
          </a:p>
        </p:txBody>
      </p:sp>
      <p:sp>
        <p:nvSpPr>
          <p:cNvPr id="12" name="TextBox 11"/>
          <p:cNvSpPr txBox="1"/>
          <p:nvPr/>
        </p:nvSpPr>
        <p:spPr>
          <a:xfrm>
            <a:off x="2852928" y="3538728"/>
            <a:ext cx="6766560" cy="3931920"/>
          </a:xfrm>
          <a:prstGeom prst="rect">
            <a:avLst/>
          </a:prstGeom>
          <a:noFill/>
        </p:spPr>
        <p:txBody>
          <a:bodyPr wrap="none" lIns="0" rIns="0" tIns="0" bIns="0">
            <a:noAutofit/>
          </a:bodyPr>
          <a:lstStyle/>
          <a:p>
            <a:pPr>
              <a:lnSpc>
                <a:spcPct val="100000"/>
              </a:lnSpc>
              <a:spcBef>
                <a:spcPts val="0"/>
              </a:spcBef>
              <a:spcAft>
                <a:spcPts val="0"/>
              </a:spcAft>
            </a:pPr>
            <a:r>
              <a:rPr sz="1300">
                <a:solidFill>
                  <a:srgbClr val="EAF2F4"/>
                </a:solidFill>
                <a:latin typeface="Consolas"/>
              </a:rPr>
              <a:t>&lt;!-- navigation --&gt;</a:t>
            </a:r>
          </a:p>
          <a:p>
            <a:pPr>
              <a:lnSpc>
                <a:spcPct val="100000"/>
              </a:lnSpc>
              <a:spcBef>
                <a:spcPts val="0"/>
              </a:spcBef>
              <a:spcAft>
                <a:spcPts val="0"/>
              </a:spcAft>
            </a:pPr>
            <a:r>
              <a:rPr sz="1300">
                <a:solidFill>
                  <a:srgbClr val="EAF2F4"/>
                </a:solidFill>
                <a:latin typeface="Consolas"/>
              </a:rPr>
              <a:t>&lt;a routerLink=</a:t>
            </a:r>
            <a:r>
              <a:rPr sz="1300">
                <a:solidFill>
                  <a:srgbClr val="FFB3C1"/>
                </a:solidFill>
                <a:latin typeface="Consolas"/>
              </a:rPr>
              <a:t>"/factures"</a:t>
            </a:r>
            <a:r>
              <a:rPr sz="1300">
                <a:solidFill>
                  <a:srgbClr val="EAF2F4"/>
                </a:solidFill>
                <a:latin typeface="Consolas"/>
              </a:rPr>
              <a:t> routerLinkActive=</a:t>
            </a:r>
            <a:r>
              <a:rPr sz="1300">
                <a:solidFill>
                  <a:srgbClr val="FFB3C1"/>
                </a:solidFill>
                <a:latin typeface="Consolas"/>
              </a:rPr>
              <a:t>"actif"</a:t>
            </a:r>
            <a:r>
              <a:rPr sz="1300">
                <a:solidFill>
                  <a:srgbClr val="EAF2F4"/>
                </a:solidFill>
                <a:latin typeface="Consolas"/>
              </a:rPr>
              <a:t>&gt;Factures&lt;/a&gt;</a:t>
            </a:r>
          </a:p>
          <a:p>
            <a:pPr>
              <a:lnSpc>
                <a:spcPct val="100000"/>
              </a:lnSpc>
              <a:spcBef>
                <a:spcPts val="0"/>
              </a:spcBef>
              <a:spcAft>
                <a:spcPts val="0"/>
              </a:spcAft>
            </a:pPr>
            <a:r>
              <a:rPr sz="1300">
                <a:solidFill>
                  <a:srgbClr val="EAF2F4"/>
                </a:solidFill>
                <a:latin typeface="Consolas"/>
              </a:rPr>
              <a:t>&lt;a [routerLink]=</a:t>
            </a:r>
            <a:r>
              <a:rPr sz="1300">
                <a:solidFill>
                  <a:srgbClr val="FFB3C1"/>
                </a:solidFill>
                <a:latin typeface="Consolas"/>
              </a:rPr>
              <a:t>"['/factures', f.id]"</a:t>
            </a:r>
            <a:r>
              <a:rPr sz="1300">
                <a:solidFill>
                  <a:srgbClr val="EAF2F4"/>
                </a:solidFill>
                <a:latin typeface="Consolas"/>
              </a:rPr>
              <a:t>&gt;Détail&lt;/a&gt;</a:t>
            </a:r>
          </a:p>
          <a:p>
            <a:pPr>
              <a:lnSpc>
                <a:spcPct val="100000"/>
              </a:lnSpc>
              <a:spcBef>
                <a:spcPts val="0"/>
              </a:spcBef>
              <a:spcAft>
                <a:spcPts val="0"/>
              </a:spcAft>
            </a:pPr>
            <a:r>
              <a:rPr sz="1300">
                <a:solidFill>
                  <a:srgbClr val="EAF2F4"/>
                </a:solidFill>
                <a:latin typeface="Consolas"/>
              </a:rPr>
              <a:t>&lt;router-outlet /&gt;</a:t>
            </a:r>
          </a:p>
          <a:p>
            <a:pPr>
              <a:lnSpc>
                <a:spcPct val="100000"/>
              </a:lnSpc>
              <a:spcBef>
                <a:spcPts val="0"/>
              </a:spcBef>
              <a:spcAft>
                <a:spcPts val="0"/>
              </a:spcAft>
            </a:pPr>
          </a:p>
          <a:p>
            <a:pPr>
              <a:lnSpc>
                <a:spcPct val="100000"/>
              </a:lnSpc>
              <a:spcBef>
                <a:spcPts val="0"/>
              </a:spcBef>
              <a:spcAft>
                <a:spcPts val="0"/>
              </a:spcAft>
            </a:pPr>
            <a:r>
              <a:rPr sz="1300" i="1">
                <a:solidFill>
                  <a:srgbClr val="7FA6B2"/>
                </a:solidFill>
                <a:latin typeface="Consolas"/>
              </a:rPr>
              <a:t>// app.config.ts</a:t>
            </a:r>
          </a:p>
          <a:p>
            <a:pPr>
              <a:lnSpc>
                <a:spcPct val="100000"/>
              </a:lnSpc>
              <a:spcBef>
                <a:spcPts val="0"/>
              </a:spcBef>
              <a:spcAft>
                <a:spcPts val="0"/>
              </a:spcAft>
            </a:pPr>
            <a:r>
              <a:rPr sz="1300">
                <a:solidFill>
                  <a:srgbClr val="EAF2F4"/>
                </a:solidFill>
                <a:latin typeface="Consolas"/>
              </a:rPr>
              <a:t>provideRouter(routes, withComponentInputBinding())</a:t>
            </a:r>
          </a:p>
          <a:p>
            <a:pPr>
              <a:lnSpc>
                <a:spcPct val="100000"/>
              </a:lnSpc>
              <a:spcBef>
                <a:spcPts val="0"/>
              </a:spcBef>
              <a:spcAft>
                <a:spcPts val="0"/>
              </a:spcAft>
            </a:pPr>
          </a:p>
          <a:p>
            <a:pPr>
              <a:lnSpc>
                <a:spcPct val="100000"/>
              </a:lnSpc>
              <a:spcBef>
                <a:spcPts val="0"/>
              </a:spcBef>
              <a:spcAft>
                <a:spcPts val="0"/>
              </a:spcAft>
            </a:pPr>
            <a:r>
              <a:rPr sz="1300" i="1">
                <a:solidFill>
                  <a:srgbClr val="7FA6B2"/>
                </a:solidFill>
                <a:latin typeface="Consolas"/>
              </a:rPr>
              <a:t>// facture-detail.ts</a:t>
            </a:r>
          </a:p>
          <a:p>
            <a:pPr>
              <a:lnSpc>
                <a:spcPct val="100000"/>
              </a:lnSpc>
              <a:spcBef>
                <a:spcPts val="0"/>
              </a:spcBef>
              <a:spcAft>
                <a:spcPts val="0"/>
              </a:spcAft>
            </a:pPr>
            <a:r>
              <a:rPr sz="1300">
                <a:solidFill>
                  <a:srgbClr val="EAF2F4"/>
                </a:solidFill>
                <a:latin typeface="Consolas"/>
              </a:rPr>
              <a:t>id = input.required&lt;string&gt;();</a:t>
            </a:r>
          </a:p>
          <a:p>
            <a:pPr>
              <a:lnSpc>
                <a:spcPct val="100000"/>
              </a:lnSpc>
              <a:spcBef>
                <a:spcPts val="0"/>
              </a:spcBef>
              <a:spcAft>
                <a:spcPts val="0"/>
              </a:spcAft>
            </a:pPr>
          </a:p>
          <a:p>
            <a:pPr>
              <a:lnSpc>
                <a:spcPct val="100000"/>
              </a:lnSpc>
              <a:spcBef>
                <a:spcPts val="0"/>
              </a:spcBef>
              <a:spcAft>
                <a:spcPts val="0"/>
              </a:spcAft>
            </a:pPr>
            <a:r>
              <a:rPr sz="1300" i="1">
                <a:solidFill>
                  <a:srgbClr val="7FA6B2"/>
                </a:solidFill>
                <a:latin typeface="Consolas"/>
              </a:rPr>
              <a:t>// facture.routes.ts</a:t>
            </a:r>
          </a:p>
          <a:p>
            <a:pPr>
              <a:lnSpc>
                <a:spcPct val="100000"/>
              </a:lnSpc>
              <a:spcBef>
                <a:spcPts val="0"/>
              </a:spcBef>
              <a:spcAft>
                <a:spcPts val="0"/>
              </a:spcAft>
            </a:pPr>
            <a:r>
              <a:rPr sz="1300">
                <a:solidFill>
                  <a:srgbClr val="EAF2F4"/>
                </a:solidFill>
                <a:latin typeface="Consolas"/>
              </a:rPr>
              <a:t>{ path: </a:t>
            </a:r>
            <a:r>
              <a:rPr sz="1300">
                <a:solidFill>
                  <a:srgbClr val="FFB3C1"/>
                </a:solidFill>
                <a:latin typeface="Consolas"/>
              </a:rPr>
              <a:t>':id'</a:t>
            </a:r>
            <a:r>
              <a:rPr sz="1300">
                <a:solidFill>
                  <a:srgbClr val="EAF2F4"/>
                </a:solidFill>
                <a:latin typeface="Consolas"/>
              </a:rPr>
              <a:t>, loadComponent: () =&gt; </a:t>
            </a:r>
            <a:r>
              <a:rPr sz="1300">
                <a:solidFill>
                  <a:srgbClr val="7FD1E0"/>
                </a:solidFill>
                <a:latin typeface="Consolas"/>
              </a:rPr>
              <a:t>import</a:t>
            </a:r>
            <a:r>
              <a:rPr sz="1300">
                <a:solidFill>
                  <a:srgbClr val="EAF2F4"/>
                </a:solidFill>
                <a:latin typeface="Consolas"/>
              </a:rPr>
              <a:t>(</a:t>
            </a:r>
            <a:r>
              <a:rPr sz="1300">
                <a:solidFill>
                  <a:srgbClr val="FFB3C1"/>
                </a:solidFill>
                <a:latin typeface="Consolas"/>
              </a:rPr>
              <a:t>'./facture-detail'</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.then(m =&gt; m.FactureDetailComponent) }</a:t>
            </a:r>
          </a:p>
        </p:txBody>
      </p:sp>
      <p:sp>
        <p:nvSpPr>
          <p:cNvPr id="13" name="Rounded Rectangle 12"/>
          <p:cNvSpPr/>
          <p:nvPr/>
        </p:nvSpPr>
        <p:spPr>
          <a:xfrm>
            <a:off x="10104120" y="3063240"/>
            <a:ext cx="7086600" cy="132588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4" name="Rectangle 13"/>
          <p:cNvSpPr/>
          <p:nvPr/>
        </p:nvSpPr>
        <p:spPr>
          <a:xfrm>
            <a:off x="10104120" y="3063240"/>
            <a:ext cx="7086600" cy="50292"/>
          </a:xfrm>
          <a:prstGeom prst="rect">
            <a:avLst/>
          </a:prstGeom>
          <a:solidFill>
            <a:srgbClr val="0B4F6C"/>
          </a:solidFill>
          <a:ln>
            <a:noFill/>
          </a:ln>
          <a:effectLst/>
        </p:spPr>
        <p:txBody>
          <a:bodyPr rtlCol="0" anchor="ctr"/>
          <a:lstStyle/>
          <a:p>
            <a:pPr algn="ctr"/>
          </a:p>
        </p:txBody>
      </p:sp>
      <p:sp>
        <p:nvSpPr>
          <p:cNvPr id="15" name="TextBox 14"/>
          <p:cNvSpPr txBox="1"/>
          <p:nvPr/>
        </p:nvSpPr>
        <p:spPr>
          <a:xfrm>
            <a:off x="10378440" y="3319272"/>
            <a:ext cx="6675120" cy="411480"/>
          </a:xfrm>
          <a:prstGeom prst="rect">
            <a:avLst/>
          </a:prstGeom>
          <a:noFill/>
        </p:spPr>
        <p:txBody>
          <a:bodyPr wrap="square" lIns="0" rIns="0" tIns="0" bIns="0" anchor="t">
            <a:noAutofit/>
          </a:bodyPr>
          <a:lstStyle/>
          <a:p>
            <a:pPr algn="l">
              <a:lnSpc>
                <a:spcPct val="102000"/>
              </a:lnSpc>
              <a:spcBef>
                <a:spcPts val="0"/>
              </a:spcBef>
              <a:spcAft>
                <a:spcPts val="0"/>
              </a:spcAft>
            </a:pPr>
            <a:r>
              <a:rPr b="1" sz="1550" i="0">
                <a:solidFill>
                  <a:srgbClr val="0B4F6C"/>
                </a:solidFill>
                <a:latin typeface="Arial"/>
              </a:rPr>
              <a:t>URL = état</a:t>
            </a:r>
          </a:p>
        </p:txBody>
      </p:sp>
      <p:sp>
        <p:nvSpPr>
          <p:cNvPr id="16" name="TextBox 15"/>
          <p:cNvSpPr txBox="1"/>
          <p:nvPr/>
        </p:nvSpPr>
        <p:spPr>
          <a:xfrm>
            <a:off x="10378440" y="3758183"/>
            <a:ext cx="6675120" cy="457200"/>
          </a:xfrm>
          <a:prstGeom prst="rect">
            <a:avLst/>
          </a:prstGeom>
          <a:noFill/>
        </p:spPr>
        <p:txBody>
          <a:bodyPr wrap="square" lIns="0" rIns="0" tIns="0" bIns="0" anchor="t">
            <a:noAutofit/>
          </a:bodyPr>
          <a:lstStyle/>
          <a:p>
            <a:pPr algn="l">
              <a:lnSpc>
                <a:spcPct val="108000"/>
              </a:lnSpc>
              <a:spcBef>
                <a:spcPts val="0"/>
              </a:spcBef>
              <a:spcAft>
                <a:spcPts val="0"/>
              </a:spcAft>
            </a:pPr>
            <a:r>
              <a:rPr b="0" sz="1350" i="0">
                <a:solidFill>
                  <a:srgbClr val="1B3B47"/>
                </a:solidFill>
                <a:latin typeface="Arial"/>
              </a:rPr>
              <a:t>On peut recharger, partager, revenir en arrière.</a:t>
            </a:r>
          </a:p>
        </p:txBody>
      </p:sp>
      <p:sp>
        <p:nvSpPr>
          <p:cNvPr id="17" name="Rounded Rectangle 16"/>
          <p:cNvSpPr/>
          <p:nvPr/>
        </p:nvSpPr>
        <p:spPr>
          <a:xfrm>
            <a:off x="10104120" y="4572000"/>
            <a:ext cx="7086600" cy="132588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8" name="Rectangle 17"/>
          <p:cNvSpPr/>
          <p:nvPr/>
        </p:nvSpPr>
        <p:spPr>
          <a:xfrm>
            <a:off x="10104120" y="4572000"/>
            <a:ext cx="7086600" cy="50292"/>
          </a:xfrm>
          <a:prstGeom prst="rect">
            <a:avLst/>
          </a:prstGeom>
          <a:solidFill>
            <a:srgbClr val="0B4F6C"/>
          </a:solidFill>
          <a:ln>
            <a:noFill/>
          </a:ln>
          <a:effectLst/>
        </p:spPr>
        <p:txBody>
          <a:bodyPr rtlCol="0" anchor="ctr"/>
          <a:lstStyle/>
          <a:p>
            <a:pPr algn="ctr"/>
          </a:p>
        </p:txBody>
      </p:sp>
      <p:sp>
        <p:nvSpPr>
          <p:cNvPr id="19" name="TextBox 18"/>
          <p:cNvSpPr txBox="1"/>
          <p:nvPr/>
        </p:nvSpPr>
        <p:spPr>
          <a:xfrm>
            <a:off x="10378440" y="4828032"/>
            <a:ext cx="6675120" cy="411480"/>
          </a:xfrm>
          <a:prstGeom prst="rect">
            <a:avLst/>
          </a:prstGeom>
          <a:noFill/>
        </p:spPr>
        <p:txBody>
          <a:bodyPr wrap="square" lIns="0" rIns="0" tIns="0" bIns="0" anchor="t">
            <a:noAutofit/>
          </a:bodyPr>
          <a:lstStyle/>
          <a:p>
            <a:pPr algn="l">
              <a:lnSpc>
                <a:spcPct val="102000"/>
              </a:lnSpc>
              <a:spcBef>
                <a:spcPts val="0"/>
              </a:spcBef>
              <a:spcAft>
                <a:spcPts val="0"/>
              </a:spcAft>
            </a:pPr>
            <a:r>
              <a:rPr sz="1395" b="1" i="0">
                <a:solidFill>
                  <a:srgbClr val="0B4F6C"/>
                </a:solidFill>
                <a:latin typeface="Consolas"/>
              </a:rPr>
              <a:t>routerLinkActive</a:t>
            </a:r>
          </a:p>
        </p:txBody>
      </p:sp>
      <p:sp>
        <p:nvSpPr>
          <p:cNvPr id="20" name="TextBox 19"/>
          <p:cNvSpPr txBox="1"/>
          <p:nvPr/>
        </p:nvSpPr>
        <p:spPr>
          <a:xfrm>
            <a:off x="10378440" y="5266944"/>
            <a:ext cx="6675120" cy="457200"/>
          </a:xfrm>
          <a:prstGeom prst="rect">
            <a:avLst/>
          </a:prstGeom>
          <a:noFill/>
        </p:spPr>
        <p:txBody>
          <a:bodyPr wrap="square" lIns="0" rIns="0" tIns="0" bIns="0" anchor="t">
            <a:noAutofit/>
          </a:bodyPr>
          <a:lstStyle/>
          <a:p>
            <a:pPr algn="l">
              <a:lnSpc>
                <a:spcPct val="108000"/>
              </a:lnSpc>
              <a:spcBef>
                <a:spcPts val="0"/>
              </a:spcBef>
              <a:spcAft>
                <a:spcPts val="0"/>
              </a:spcAft>
            </a:pPr>
            <a:r>
              <a:rPr b="0" sz="1350" i="0">
                <a:solidFill>
                  <a:srgbClr val="1B3B47"/>
                </a:solidFill>
                <a:latin typeface="Arial"/>
              </a:rPr>
              <a:t>Style automatique de l'onglet courant.</a:t>
            </a:r>
          </a:p>
        </p:txBody>
      </p:sp>
      <p:sp>
        <p:nvSpPr>
          <p:cNvPr id="21" name="Rounded Rectangle 20"/>
          <p:cNvSpPr/>
          <p:nvPr/>
        </p:nvSpPr>
        <p:spPr>
          <a:xfrm>
            <a:off x="10104120" y="6080760"/>
            <a:ext cx="7086600" cy="132588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2" name="Rectangle 21"/>
          <p:cNvSpPr/>
          <p:nvPr/>
        </p:nvSpPr>
        <p:spPr>
          <a:xfrm>
            <a:off x="10104120" y="6080760"/>
            <a:ext cx="7086600" cy="50292"/>
          </a:xfrm>
          <a:prstGeom prst="rect">
            <a:avLst/>
          </a:prstGeom>
          <a:solidFill>
            <a:srgbClr val="0B4F6C"/>
          </a:solidFill>
          <a:ln>
            <a:noFill/>
          </a:ln>
          <a:effectLst/>
        </p:spPr>
        <p:txBody>
          <a:bodyPr rtlCol="0" anchor="ctr"/>
          <a:lstStyle/>
          <a:p>
            <a:pPr algn="ctr"/>
          </a:p>
        </p:txBody>
      </p:sp>
      <p:sp>
        <p:nvSpPr>
          <p:cNvPr id="23" name="TextBox 22"/>
          <p:cNvSpPr txBox="1"/>
          <p:nvPr/>
        </p:nvSpPr>
        <p:spPr>
          <a:xfrm>
            <a:off x="10378440" y="6336792"/>
            <a:ext cx="6675120" cy="411480"/>
          </a:xfrm>
          <a:prstGeom prst="rect">
            <a:avLst/>
          </a:prstGeom>
          <a:noFill/>
        </p:spPr>
        <p:txBody>
          <a:bodyPr wrap="square" lIns="0" rIns="0" tIns="0" bIns="0" anchor="t">
            <a:noAutofit/>
          </a:bodyPr>
          <a:lstStyle/>
          <a:p>
            <a:pPr algn="l">
              <a:lnSpc>
                <a:spcPct val="102000"/>
              </a:lnSpc>
              <a:spcBef>
                <a:spcPts val="0"/>
              </a:spcBef>
              <a:spcAft>
                <a:spcPts val="0"/>
              </a:spcAft>
            </a:pPr>
            <a:r>
              <a:rPr b="1" sz="1550" i="0">
                <a:solidFill>
                  <a:srgbClr val="0B4F6C"/>
                </a:solidFill>
                <a:latin typeface="Arial"/>
              </a:rPr>
              <a:t>Params en </a:t>
            </a:r>
            <a:r>
              <a:rPr sz="1395" b="1" i="0">
                <a:solidFill>
                  <a:srgbClr val="0B4F6C"/>
                </a:solidFill>
                <a:latin typeface="Consolas"/>
              </a:rPr>
              <a:t>input()</a:t>
            </a:r>
          </a:p>
        </p:txBody>
      </p:sp>
      <p:sp>
        <p:nvSpPr>
          <p:cNvPr id="24" name="TextBox 23"/>
          <p:cNvSpPr txBox="1"/>
          <p:nvPr/>
        </p:nvSpPr>
        <p:spPr>
          <a:xfrm>
            <a:off x="10378440" y="6775704"/>
            <a:ext cx="6675120" cy="457200"/>
          </a:xfrm>
          <a:prstGeom prst="rect">
            <a:avLst/>
          </a:prstGeom>
          <a:noFill/>
        </p:spPr>
        <p:txBody>
          <a:bodyPr wrap="square" lIns="0" rIns="0" tIns="0" bIns="0" anchor="t">
            <a:noAutofit/>
          </a:bodyPr>
          <a:lstStyle/>
          <a:p>
            <a:pPr algn="l">
              <a:lnSpc>
                <a:spcPct val="108000"/>
              </a:lnSpc>
              <a:spcBef>
                <a:spcPts val="0"/>
              </a:spcBef>
              <a:spcAft>
                <a:spcPts val="0"/>
              </a:spcAft>
            </a:pPr>
            <a:r>
              <a:rPr b="0" sz="1350" i="0">
                <a:solidFill>
                  <a:srgbClr val="1B3B47"/>
                </a:solidFill>
                <a:latin typeface="Arial"/>
              </a:rPr>
              <a:t>Plus de snapshot à lire dans le composant.</a:t>
            </a:r>
          </a:p>
        </p:txBody>
      </p:sp>
      <p:sp>
        <p:nvSpPr>
          <p:cNvPr id="25" name="Rounded Rectangle 24"/>
          <p:cNvSpPr/>
          <p:nvPr/>
        </p:nvSpPr>
        <p:spPr>
          <a:xfrm>
            <a:off x="10104120" y="7818120"/>
            <a:ext cx="7086600" cy="1234440"/>
          </a:xfrm>
          <a:prstGeom prst="roundRect">
            <a:avLst>
              <a:gd name="adj" fmla="val 8000"/>
            </a:avLst>
          </a:prstGeom>
          <a:solidFill>
            <a:srgbClr val="FFF0F4"/>
          </a:solidFill>
          <a:ln>
            <a:noFill/>
          </a:ln>
          <a:effectLst/>
        </p:spPr>
        <p:txBody>
          <a:bodyPr rtlCol="0" anchor="ctr"/>
          <a:lstStyle/>
          <a:p>
            <a:pPr algn="ctr"/>
          </a:p>
        </p:txBody>
      </p:sp>
      <p:sp>
        <p:nvSpPr>
          <p:cNvPr id="26" name="Rectangle 25"/>
          <p:cNvSpPr/>
          <p:nvPr/>
        </p:nvSpPr>
        <p:spPr>
          <a:xfrm>
            <a:off x="10104120" y="7818120"/>
            <a:ext cx="64008" cy="1234440"/>
          </a:xfrm>
          <a:prstGeom prst="rect">
            <a:avLst/>
          </a:prstGeom>
          <a:solidFill>
            <a:srgbClr val="ED1548"/>
          </a:solidFill>
          <a:ln>
            <a:noFill/>
          </a:ln>
          <a:effectLst/>
        </p:spPr>
        <p:txBody>
          <a:bodyPr rtlCol="0" anchor="ctr"/>
          <a:lstStyle/>
          <a:p>
            <a:pPr algn="ctr"/>
          </a:p>
        </p:txBody>
      </p:sp>
      <p:sp>
        <p:nvSpPr>
          <p:cNvPr id="27" name="TextBox 26"/>
          <p:cNvSpPr txBox="1"/>
          <p:nvPr/>
        </p:nvSpPr>
        <p:spPr>
          <a:xfrm>
            <a:off x="10396728" y="7982712"/>
            <a:ext cx="672084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À RETENIR</a:t>
            </a:r>
          </a:p>
        </p:txBody>
      </p:sp>
      <p:sp>
        <p:nvSpPr>
          <p:cNvPr id="28" name="TextBox 27"/>
          <p:cNvSpPr txBox="1"/>
          <p:nvPr/>
        </p:nvSpPr>
        <p:spPr>
          <a:xfrm>
            <a:off x="10396728" y="8275320"/>
            <a:ext cx="6675120" cy="667512"/>
          </a:xfrm>
          <a:prstGeom prst="rect">
            <a:avLst/>
          </a:prstGeom>
          <a:noFill/>
        </p:spPr>
        <p:txBody>
          <a:bodyPr wrap="square" lIns="0" rIns="0" tIns="0" bIns="0" anchor="t">
            <a:noAutofit/>
          </a:bodyPr>
          <a:lstStyle/>
          <a:p>
            <a:pPr algn="l">
              <a:lnSpc>
                <a:spcPct val="106000"/>
              </a:lnSpc>
              <a:spcBef>
                <a:spcPts val="0"/>
              </a:spcBef>
              <a:spcAft>
                <a:spcPts val="0"/>
              </a:spcAft>
            </a:pPr>
            <a:r>
              <a:rPr sz="1215" b="0" i="0">
                <a:solidFill>
                  <a:srgbClr val="ED1548"/>
                </a:solidFill>
                <a:latin typeface="Consolas"/>
              </a:rPr>
              <a:t>withComponentInputBinding()</a:t>
            </a:r>
            <a:r>
              <a:rPr b="0" sz="1350" i="0">
                <a:solidFill>
                  <a:srgbClr val="1B3B47"/>
                </a:solidFill>
                <a:latin typeface="Arial"/>
              </a:rPr>
              <a:t> doit être passé à </a:t>
            </a:r>
            <a:r>
              <a:rPr sz="1215" b="0" i="0">
                <a:solidFill>
                  <a:srgbClr val="ED1548"/>
                </a:solidFill>
                <a:latin typeface="Consolas"/>
              </a:rPr>
              <a:t>provideRouter</a:t>
            </a:r>
            <a:r>
              <a:rPr b="0" sz="1350" i="0">
                <a:solidFill>
                  <a:srgbClr val="1B3B47"/>
                </a:solidFill>
                <a:latin typeface="Arial"/>
              </a:rPr>
              <a:t> : c'est lui qui relie </a:t>
            </a:r>
            <a:r>
              <a:rPr sz="1215" b="0" i="0">
                <a:solidFill>
                  <a:srgbClr val="ED1548"/>
                </a:solidFill>
                <a:latin typeface="Consolas"/>
              </a:rPr>
              <a:t>:id</a:t>
            </a:r>
            <a:r>
              <a:rPr b="0" sz="1350" i="0">
                <a:solidFill>
                  <a:srgbClr val="1B3B47"/>
                </a:solidFill>
                <a:latin typeface="Arial"/>
              </a:rPr>
              <a:t> à </a:t>
            </a:r>
            <a:r>
              <a:rPr sz="1215" b="0" i="0">
                <a:solidFill>
                  <a:srgbClr val="ED1548"/>
                </a:solidFill>
                <a:latin typeface="Consolas"/>
              </a:rPr>
              <a:t>input.required&lt;string&gt;()</a:t>
            </a:r>
            <a:r>
              <a:rPr b="0" sz="1350" i="0">
                <a:solidFill>
                  <a:srgbClr val="1B3B47"/>
                </a:solidFill>
                <a:latin typeface="Arial"/>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2  ·  TP 1</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Routes et navigation</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Objectif : trois routes factures, une route lazy, et un chunk visible dans Network.</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27 / 62</a:t>
            </a:r>
          </a:p>
        </p:txBody>
      </p:sp>
      <p:sp>
        <p:nvSpPr>
          <p:cNvPr id="9" name="Oval 8"/>
          <p:cNvSpPr/>
          <p:nvPr/>
        </p:nvSpPr>
        <p:spPr>
          <a:xfrm>
            <a:off x="2606040" y="3081528"/>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1</a:t>
            </a:r>
          </a:p>
        </p:txBody>
      </p:sp>
      <p:sp>
        <p:nvSpPr>
          <p:cNvPr id="10" name="TextBox 9"/>
          <p:cNvSpPr txBox="1"/>
          <p:nvPr/>
        </p:nvSpPr>
        <p:spPr>
          <a:xfrm>
            <a:off x="3108960" y="3081528"/>
            <a:ext cx="8001000" cy="907084"/>
          </a:xfrm>
          <a:prstGeom prst="rect">
            <a:avLst/>
          </a:prstGeom>
          <a:noFill/>
        </p:spPr>
        <p:txBody>
          <a:bodyPr wrap="square" lIns="0" rIns="0" tIns="0" bIns="0" anchor="t">
            <a:noAutofit/>
          </a:bodyPr>
          <a:lstStyle/>
          <a:p>
            <a:pPr algn="l">
              <a:lnSpc>
                <a:spcPct val="106000"/>
              </a:lnSpc>
              <a:spcBef>
                <a:spcPts val="0"/>
              </a:spcBef>
              <a:spcAft>
                <a:spcPts val="0"/>
              </a:spcAft>
            </a:pPr>
            <a:r>
              <a:rPr b="0" sz="1700" i="0">
                <a:solidFill>
                  <a:srgbClr val="1B3B47"/>
                </a:solidFill>
                <a:latin typeface="Arial"/>
              </a:rPr>
              <a:t>Créer </a:t>
            </a:r>
            <a:r>
              <a:rPr sz="1530" b="0" i="0">
                <a:solidFill>
                  <a:srgbClr val="ED1548"/>
                </a:solidFill>
                <a:latin typeface="Consolas"/>
              </a:rPr>
              <a:t>features/factures/factures.routes.ts</a:t>
            </a:r>
            <a:r>
              <a:rPr b="0" sz="1700" i="0">
                <a:solidFill>
                  <a:srgbClr val="1B3B47"/>
                </a:solidFill>
                <a:latin typeface="Arial"/>
              </a:rPr>
              <a:t> : </a:t>
            </a:r>
            <a:r>
              <a:rPr sz="1530" b="0" i="0">
                <a:solidFill>
                  <a:srgbClr val="ED1548"/>
                </a:solidFill>
                <a:latin typeface="Consolas"/>
              </a:rPr>
              <a:t>''</a:t>
            </a:r>
            <a:r>
              <a:rPr b="0" sz="1700" i="0">
                <a:solidFill>
                  <a:srgbClr val="1B3B47"/>
                </a:solidFill>
                <a:latin typeface="Arial"/>
              </a:rPr>
              <a:t>, </a:t>
            </a:r>
            <a:r>
              <a:rPr sz="1530" b="0" i="0">
                <a:solidFill>
                  <a:srgbClr val="ED1548"/>
                </a:solidFill>
                <a:latin typeface="Consolas"/>
              </a:rPr>
              <a:t>'nouvelle'</a:t>
            </a:r>
            <a:r>
              <a:rPr b="0" sz="1700" i="0">
                <a:solidFill>
                  <a:srgbClr val="1B3B47"/>
                </a:solidFill>
                <a:latin typeface="Arial"/>
              </a:rPr>
              <a:t>, </a:t>
            </a:r>
            <a:r>
              <a:rPr sz="1530" b="0" i="0">
                <a:solidFill>
                  <a:srgbClr val="ED1548"/>
                </a:solidFill>
                <a:latin typeface="Consolas"/>
              </a:rPr>
              <a:t>':id'</a:t>
            </a:r>
            <a:r>
              <a:rPr b="0" sz="1700" i="0">
                <a:solidFill>
                  <a:srgbClr val="1B3B47"/>
                </a:solidFill>
                <a:latin typeface="Arial"/>
              </a:rPr>
              <a:t>.</a:t>
            </a:r>
          </a:p>
        </p:txBody>
      </p:sp>
      <p:sp>
        <p:nvSpPr>
          <p:cNvPr id="11" name="Oval 10"/>
          <p:cNvSpPr/>
          <p:nvPr/>
        </p:nvSpPr>
        <p:spPr>
          <a:xfrm>
            <a:off x="2606040" y="4153204"/>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2</a:t>
            </a:r>
          </a:p>
        </p:txBody>
      </p:sp>
      <p:sp>
        <p:nvSpPr>
          <p:cNvPr id="12" name="TextBox 11"/>
          <p:cNvSpPr txBox="1"/>
          <p:nvPr/>
        </p:nvSpPr>
        <p:spPr>
          <a:xfrm>
            <a:off x="3108960" y="4153204"/>
            <a:ext cx="8001000" cy="907084"/>
          </a:xfrm>
          <a:prstGeom prst="rect">
            <a:avLst/>
          </a:prstGeom>
          <a:noFill/>
        </p:spPr>
        <p:txBody>
          <a:bodyPr wrap="square" lIns="0" rIns="0" tIns="0" bIns="0" anchor="t">
            <a:noAutofit/>
          </a:bodyPr>
          <a:lstStyle/>
          <a:p>
            <a:pPr algn="l">
              <a:lnSpc>
                <a:spcPct val="106000"/>
              </a:lnSpc>
              <a:spcBef>
                <a:spcPts val="0"/>
              </a:spcBef>
              <a:spcAft>
                <a:spcPts val="0"/>
              </a:spcAft>
            </a:pPr>
            <a:r>
              <a:rPr b="0" sz="1700" i="0">
                <a:solidFill>
                  <a:srgbClr val="1B3B47"/>
                </a:solidFill>
                <a:latin typeface="Arial"/>
              </a:rPr>
              <a:t>Brancher </a:t>
            </a:r>
            <a:r>
              <a:rPr sz="1530" b="0" i="0">
                <a:solidFill>
                  <a:srgbClr val="ED1548"/>
                </a:solidFill>
                <a:latin typeface="Consolas"/>
              </a:rPr>
              <a:t>loadChildren</a:t>
            </a:r>
            <a:r>
              <a:rPr b="0" sz="1700" i="0">
                <a:solidFill>
                  <a:srgbClr val="1B3B47"/>
                </a:solidFill>
                <a:latin typeface="Arial"/>
              </a:rPr>
              <a:t> dans </a:t>
            </a:r>
            <a:r>
              <a:rPr sz="1530" b="0" i="0">
                <a:solidFill>
                  <a:srgbClr val="ED1548"/>
                </a:solidFill>
                <a:latin typeface="Consolas"/>
              </a:rPr>
              <a:t>app.routes.ts</a:t>
            </a:r>
            <a:r>
              <a:rPr b="0" sz="1700" i="0">
                <a:solidFill>
                  <a:srgbClr val="1B3B47"/>
                </a:solidFill>
                <a:latin typeface="Arial"/>
              </a:rPr>
              <a:t>, avec </a:t>
            </a:r>
            <a:r>
              <a:rPr sz="1530" b="0" i="0">
                <a:solidFill>
                  <a:srgbClr val="ED1548"/>
                </a:solidFill>
                <a:latin typeface="Consolas"/>
              </a:rPr>
              <a:t>''</a:t>
            </a:r>
            <a:r>
              <a:rPr b="0" sz="1700" i="0">
                <a:solidFill>
                  <a:srgbClr val="1B3B47"/>
                </a:solidFill>
                <a:latin typeface="Arial"/>
              </a:rPr>
              <a:t> et </a:t>
            </a:r>
            <a:r>
              <a:rPr sz="1530" b="0" i="0">
                <a:solidFill>
                  <a:srgbClr val="ED1548"/>
                </a:solidFill>
                <a:latin typeface="Consolas"/>
              </a:rPr>
              <a:t>'**'</a:t>
            </a:r>
            <a:r>
              <a:rPr b="0" sz="1700" i="0">
                <a:solidFill>
                  <a:srgbClr val="1B3B47"/>
                </a:solidFill>
                <a:latin typeface="Arial"/>
              </a:rPr>
              <a:t>.</a:t>
            </a:r>
          </a:p>
        </p:txBody>
      </p:sp>
      <p:sp>
        <p:nvSpPr>
          <p:cNvPr id="13" name="Oval 12"/>
          <p:cNvSpPr/>
          <p:nvPr/>
        </p:nvSpPr>
        <p:spPr>
          <a:xfrm>
            <a:off x="2606040" y="5224881"/>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3</a:t>
            </a:r>
          </a:p>
        </p:txBody>
      </p:sp>
      <p:sp>
        <p:nvSpPr>
          <p:cNvPr id="14" name="TextBox 13"/>
          <p:cNvSpPr txBox="1"/>
          <p:nvPr/>
        </p:nvSpPr>
        <p:spPr>
          <a:xfrm>
            <a:off x="3108960" y="5224881"/>
            <a:ext cx="8001000" cy="907084"/>
          </a:xfrm>
          <a:prstGeom prst="rect">
            <a:avLst/>
          </a:prstGeom>
          <a:noFill/>
        </p:spPr>
        <p:txBody>
          <a:bodyPr wrap="square" lIns="0" rIns="0" tIns="0" bIns="0" anchor="t">
            <a:noAutofit/>
          </a:bodyPr>
          <a:lstStyle/>
          <a:p>
            <a:pPr algn="l">
              <a:lnSpc>
                <a:spcPct val="106000"/>
              </a:lnSpc>
              <a:spcBef>
                <a:spcPts val="0"/>
              </a:spcBef>
              <a:spcAft>
                <a:spcPts val="0"/>
              </a:spcAft>
            </a:pPr>
            <a:r>
              <a:rPr sz="1530" b="0" i="0">
                <a:solidFill>
                  <a:srgbClr val="ED1548"/>
                </a:solidFill>
                <a:latin typeface="Consolas"/>
              </a:rPr>
              <a:t>ng g c features/factures/facture-detail</a:t>
            </a:r>
            <a:r>
              <a:rPr b="0" sz="1700" i="0">
                <a:solidFill>
                  <a:srgbClr val="1B3B47"/>
                </a:solidFill>
                <a:latin typeface="Arial"/>
              </a:rPr>
              <a:t> et </a:t>
            </a:r>
            <a:r>
              <a:rPr sz="1530" b="0" i="0">
                <a:solidFill>
                  <a:srgbClr val="ED1548"/>
                </a:solidFill>
                <a:latin typeface="Consolas"/>
              </a:rPr>
              <a:t>id = input.required&lt;string&gt;()</a:t>
            </a:r>
            <a:r>
              <a:rPr b="0" sz="1700" i="0">
                <a:solidFill>
                  <a:srgbClr val="1B3B47"/>
                </a:solidFill>
                <a:latin typeface="Arial"/>
              </a:rPr>
              <a:t>.</a:t>
            </a:r>
          </a:p>
        </p:txBody>
      </p:sp>
      <p:sp>
        <p:nvSpPr>
          <p:cNvPr id="15" name="Oval 14"/>
          <p:cNvSpPr/>
          <p:nvPr/>
        </p:nvSpPr>
        <p:spPr>
          <a:xfrm>
            <a:off x="2606040" y="6296558"/>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4</a:t>
            </a:r>
          </a:p>
        </p:txBody>
      </p:sp>
      <p:sp>
        <p:nvSpPr>
          <p:cNvPr id="16" name="TextBox 15"/>
          <p:cNvSpPr txBox="1"/>
          <p:nvPr/>
        </p:nvSpPr>
        <p:spPr>
          <a:xfrm>
            <a:off x="3108960" y="6296558"/>
            <a:ext cx="8001000" cy="907084"/>
          </a:xfrm>
          <a:prstGeom prst="rect">
            <a:avLst/>
          </a:prstGeom>
          <a:noFill/>
        </p:spPr>
        <p:txBody>
          <a:bodyPr wrap="square" lIns="0" rIns="0" tIns="0" bIns="0" anchor="t">
            <a:noAutofit/>
          </a:bodyPr>
          <a:lstStyle/>
          <a:p>
            <a:pPr algn="l">
              <a:lnSpc>
                <a:spcPct val="106000"/>
              </a:lnSpc>
              <a:spcBef>
                <a:spcPts val="0"/>
              </a:spcBef>
              <a:spcAft>
                <a:spcPts val="0"/>
              </a:spcAft>
            </a:pPr>
            <a:r>
              <a:rPr b="0" sz="1700" i="0">
                <a:solidFill>
                  <a:srgbClr val="1B3B47"/>
                </a:solidFill>
                <a:latin typeface="Arial"/>
              </a:rPr>
              <a:t>Barre de navigation avec </a:t>
            </a:r>
            <a:r>
              <a:rPr sz="1530" b="0" i="0">
                <a:solidFill>
                  <a:srgbClr val="ED1548"/>
                </a:solidFill>
                <a:latin typeface="Consolas"/>
              </a:rPr>
              <a:t>routerLink</a:t>
            </a:r>
            <a:r>
              <a:rPr b="0" sz="1700" i="0">
                <a:solidFill>
                  <a:srgbClr val="1B3B47"/>
                </a:solidFill>
                <a:latin typeface="Arial"/>
              </a:rPr>
              <a:t> et </a:t>
            </a:r>
            <a:r>
              <a:rPr sz="1530" b="0" i="0">
                <a:solidFill>
                  <a:srgbClr val="ED1548"/>
                </a:solidFill>
                <a:latin typeface="Consolas"/>
              </a:rPr>
              <a:t>routerLinkActive</a:t>
            </a:r>
            <a:r>
              <a:rPr b="0" sz="1700" i="0">
                <a:solidFill>
                  <a:srgbClr val="1B3B47"/>
                </a:solidFill>
                <a:latin typeface="Arial"/>
              </a:rPr>
              <a:t>.</a:t>
            </a:r>
          </a:p>
        </p:txBody>
      </p:sp>
      <p:sp>
        <p:nvSpPr>
          <p:cNvPr id="17" name="Oval 16"/>
          <p:cNvSpPr/>
          <p:nvPr/>
        </p:nvSpPr>
        <p:spPr>
          <a:xfrm>
            <a:off x="2606040" y="7368235"/>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5</a:t>
            </a:r>
          </a:p>
        </p:txBody>
      </p:sp>
      <p:sp>
        <p:nvSpPr>
          <p:cNvPr id="18" name="TextBox 17"/>
          <p:cNvSpPr txBox="1"/>
          <p:nvPr/>
        </p:nvSpPr>
        <p:spPr>
          <a:xfrm>
            <a:off x="3108960" y="7368235"/>
            <a:ext cx="8001000" cy="907084"/>
          </a:xfrm>
          <a:prstGeom prst="rect">
            <a:avLst/>
          </a:prstGeom>
          <a:noFill/>
        </p:spPr>
        <p:txBody>
          <a:bodyPr wrap="square" lIns="0" rIns="0" tIns="0" bIns="0" anchor="t">
            <a:noAutofit/>
          </a:bodyPr>
          <a:lstStyle/>
          <a:p>
            <a:pPr algn="l">
              <a:lnSpc>
                <a:spcPct val="106000"/>
              </a:lnSpc>
              <a:spcBef>
                <a:spcPts val="0"/>
              </a:spcBef>
              <a:spcAft>
                <a:spcPts val="0"/>
              </a:spcAft>
            </a:pPr>
            <a:r>
              <a:rPr b="0" sz="1700" i="0">
                <a:solidFill>
                  <a:srgbClr val="1B3B47"/>
                </a:solidFill>
                <a:latin typeface="Arial"/>
              </a:rPr>
              <a:t>Ouvrir Network : le chunk </a:t>
            </a:r>
            <a:r>
              <a:rPr sz="1530" b="0" i="0">
                <a:solidFill>
                  <a:srgbClr val="ED1548"/>
                </a:solidFill>
                <a:latin typeface="Consolas"/>
              </a:rPr>
              <a:t>factures</a:t>
            </a:r>
            <a:r>
              <a:rPr b="0" sz="1700" i="0">
                <a:solidFill>
                  <a:srgbClr val="1B3B47"/>
                </a:solidFill>
                <a:latin typeface="Arial"/>
              </a:rPr>
              <a:t> arrive à la demande.</a:t>
            </a:r>
          </a:p>
        </p:txBody>
      </p:sp>
      <p:sp>
        <p:nvSpPr>
          <p:cNvPr id="19" name="Rounded Rectangle 18"/>
          <p:cNvSpPr/>
          <p:nvPr/>
        </p:nvSpPr>
        <p:spPr>
          <a:xfrm>
            <a:off x="11475720" y="3063240"/>
            <a:ext cx="5715000" cy="356616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0" name="TextBox 19"/>
          <p:cNvSpPr txBox="1"/>
          <p:nvPr/>
        </p:nvSpPr>
        <p:spPr>
          <a:xfrm>
            <a:off x="11750040" y="3264408"/>
            <a:ext cx="53035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ED1548"/>
                </a:solidFill>
                <a:latin typeface="Arial"/>
              </a:rPr>
              <a:t>VÉRIFICATION</a:t>
            </a:r>
          </a:p>
        </p:txBody>
      </p:sp>
      <p:sp>
        <p:nvSpPr>
          <p:cNvPr id="21" name="Rounded Rectangle 20"/>
          <p:cNvSpPr/>
          <p:nvPr/>
        </p:nvSpPr>
        <p:spPr>
          <a:xfrm>
            <a:off x="11750040" y="3712464"/>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2" name="TextBox 21"/>
          <p:cNvSpPr txBox="1"/>
          <p:nvPr/>
        </p:nvSpPr>
        <p:spPr>
          <a:xfrm>
            <a:off x="12115800" y="3685032"/>
            <a:ext cx="4937759" cy="222757"/>
          </a:xfrm>
          <a:prstGeom prst="rect">
            <a:avLst/>
          </a:prstGeom>
          <a:noFill/>
        </p:spPr>
        <p:txBody>
          <a:bodyPr wrap="square" lIns="0" rIns="0" tIns="0" bIns="0" anchor="t">
            <a:noAutofit/>
          </a:bodyPr>
          <a:lstStyle/>
          <a:p>
            <a:pPr algn="l">
              <a:lnSpc>
                <a:spcPct val="105000"/>
              </a:lnSpc>
              <a:spcBef>
                <a:spcPts val="0"/>
              </a:spcBef>
              <a:spcAft>
                <a:spcPts val="0"/>
              </a:spcAft>
            </a:pPr>
            <a:r>
              <a:rPr sz="1260" b="0" i="0">
                <a:solidFill>
                  <a:srgbClr val="ED1548"/>
                </a:solidFill>
                <a:latin typeface="Consolas"/>
              </a:rPr>
              <a:t>/factures</a:t>
            </a:r>
            <a:r>
              <a:rPr b="0" sz="1400" i="0">
                <a:solidFill>
                  <a:srgbClr val="1B3B47"/>
                </a:solidFill>
                <a:latin typeface="Arial"/>
              </a:rPr>
              <a:t> affiche la liste.</a:t>
            </a:r>
          </a:p>
        </p:txBody>
      </p:sp>
      <p:sp>
        <p:nvSpPr>
          <p:cNvPr id="23" name="Rounded Rectangle 22"/>
          <p:cNvSpPr/>
          <p:nvPr/>
        </p:nvSpPr>
        <p:spPr>
          <a:xfrm>
            <a:off x="11750040" y="4008374"/>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4" name="TextBox 23"/>
          <p:cNvSpPr txBox="1"/>
          <p:nvPr/>
        </p:nvSpPr>
        <p:spPr>
          <a:xfrm>
            <a:off x="12115800" y="3980942"/>
            <a:ext cx="4937759" cy="222757"/>
          </a:xfrm>
          <a:prstGeom prst="rect">
            <a:avLst/>
          </a:prstGeom>
          <a:noFill/>
        </p:spPr>
        <p:txBody>
          <a:bodyPr wrap="square" lIns="0" rIns="0" tIns="0" bIns="0" anchor="t">
            <a:noAutofit/>
          </a:bodyPr>
          <a:lstStyle/>
          <a:p>
            <a:pPr algn="l">
              <a:lnSpc>
                <a:spcPct val="105000"/>
              </a:lnSpc>
              <a:spcBef>
                <a:spcPts val="0"/>
              </a:spcBef>
              <a:spcAft>
                <a:spcPts val="0"/>
              </a:spcAft>
            </a:pPr>
            <a:r>
              <a:rPr sz="1260" b="0" i="0">
                <a:solidFill>
                  <a:srgbClr val="ED1548"/>
                </a:solidFill>
                <a:latin typeface="Consolas"/>
              </a:rPr>
              <a:t>/factures/42</a:t>
            </a:r>
            <a:r>
              <a:rPr b="0" sz="1400" i="0">
                <a:solidFill>
                  <a:srgbClr val="1B3B47"/>
                </a:solidFill>
                <a:latin typeface="Arial"/>
              </a:rPr>
              <a:t> affiche le détail.</a:t>
            </a:r>
          </a:p>
        </p:txBody>
      </p:sp>
      <p:sp>
        <p:nvSpPr>
          <p:cNvPr id="25" name="Rounded Rectangle 24"/>
          <p:cNvSpPr/>
          <p:nvPr/>
        </p:nvSpPr>
        <p:spPr>
          <a:xfrm>
            <a:off x="11750040" y="4304284"/>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6" name="TextBox 25"/>
          <p:cNvSpPr txBox="1"/>
          <p:nvPr/>
        </p:nvSpPr>
        <p:spPr>
          <a:xfrm>
            <a:off x="12115800" y="4276852"/>
            <a:ext cx="4937759" cy="222757"/>
          </a:xfrm>
          <a:prstGeom prst="rect">
            <a:avLst/>
          </a:prstGeom>
          <a:noFill/>
        </p:spPr>
        <p:txBody>
          <a:bodyPr wrap="square" lIns="0" rIns="0" tIns="0" bIns="0" anchor="t">
            <a:noAutofit/>
          </a:bodyPr>
          <a:lstStyle/>
          <a:p>
            <a:pPr algn="l">
              <a:lnSpc>
                <a:spcPct val="105000"/>
              </a:lnSpc>
              <a:spcBef>
                <a:spcPts val="0"/>
              </a:spcBef>
              <a:spcAft>
                <a:spcPts val="0"/>
              </a:spcAft>
            </a:pPr>
            <a:r>
              <a:rPr b="0" sz="1400" i="0">
                <a:solidFill>
                  <a:srgbClr val="1B3B47"/>
                </a:solidFill>
                <a:latin typeface="Arial"/>
              </a:rPr>
              <a:t>Le retour navigateur fonctionne.</a:t>
            </a:r>
          </a:p>
        </p:txBody>
      </p:sp>
      <p:sp>
        <p:nvSpPr>
          <p:cNvPr id="27" name="Rounded Rectangle 26"/>
          <p:cNvSpPr/>
          <p:nvPr/>
        </p:nvSpPr>
        <p:spPr>
          <a:xfrm>
            <a:off x="11750040" y="4600194"/>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8" name="TextBox 27"/>
          <p:cNvSpPr txBox="1"/>
          <p:nvPr/>
        </p:nvSpPr>
        <p:spPr>
          <a:xfrm>
            <a:off x="12115800" y="4572762"/>
            <a:ext cx="4937759" cy="222757"/>
          </a:xfrm>
          <a:prstGeom prst="rect">
            <a:avLst/>
          </a:prstGeom>
          <a:noFill/>
        </p:spPr>
        <p:txBody>
          <a:bodyPr wrap="square" lIns="0" rIns="0" tIns="0" bIns="0" anchor="t">
            <a:noAutofit/>
          </a:bodyPr>
          <a:lstStyle/>
          <a:p>
            <a:pPr algn="l">
              <a:lnSpc>
                <a:spcPct val="105000"/>
              </a:lnSpc>
              <a:spcBef>
                <a:spcPts val="0"/>
              </a:spcBef>
              <a:spcAft>
                <a:spcPts val="0"/>
              </a:spcAft>
            </a:pPr>
            <a:r>
              <a:rPr b="0" sz="1400" i="0">
                <a:solidFill>
                  <a:srgbClr val="1B3B47"/>
                </a:solidFill>
                <a:latin typeface="Arial"/>
              </a:rPr>
              <a:t>Le chunk n'est pas dans le bundle initial.</a:t>
            </a:r>
          </a:p>
        </p:txBody>
      </p:sp>
      <p:sp>
        <p:nvSpPr>
          <p:cNvPr id="29" name="Rounded Rectangle 28"/>
          <p:cNvSpPr/>
          <p:nvPr/>
        </p:nvSpPr>
        <p:spPr>
          <a:xfrm>
            <a:off x="11475720" y="6903720"/>
            <a:ext cx="5715000" cy="1737360"/>
          </a:xfrm>
          <a:prstGeom prst="roundRect">
            <a:avLst>
              <a:gd name="adj" fmla="val 8000"/>
            </a:avLst>
          </a:prstGeom>
          <a:solidFill>
            <a:srgbClr val="FFF6E5"/>
          </a:solidFill>
          <a:ln>
            <a:noFill/>
          </a:ln>
          <a:effectLst/>
        </p:spPr>
        <p:txBody>
          <a:bodyPr rtlCol="0" anchor="ctr"/>
          <a:lstStyle/>
          <a:p>
            <a:pPr algn="ctr"/>
          </a:p>
        </p:txBody>
      </p:sp>
      <p:sp>
        <p:nvSpPr>
          <p:cNvPr id="30" name="Rectangle 29"/>
          <p:cNvSpPr/>
          <p:nvPr/>
        </p:nvSpPr>
        <p:spPr>
          <a:xfrm>
            <a:off x="11475720" y="6903720"/>
            <a:ext cx="64008" cy="1737360"/>
          </a:xfrm>
          <a:prstGeom prst="rect">
            <a:avLst/>
          </a:prstGeom>
          <a:solidFill>
            <a:srgbClr val="B26A00"/>
          </a:solidFill>
          <a:ln>
            <a:noFill/>
          </a:ln>
          <a:effectLst/>
        </p:spPr>
        <p:txBody>
          <a:bodyPr rtlCol="0" anchor="ctr"/>
          <a:lstStyle/>
          <a:p>
            <a:pPr algn="ctr"/>
          </a:p>
        </p:txBody>
      </p:sp>
      <p:sp>
        <p:nvSpPr>
          <p:cNvPr id="31" name="TextBox 30"/>
          <p:cNvSpPr txBox="1"/>
          <p:nvPr/>
        </p:nvSpPr>
        <p:spPr>
          <a:xfrm>
            <a:off x="11768328" y="7068312"/>
            <a:ext cx="534924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B26A00"/>
                </a:solidFill>
                <a:latin typeface="Arial"/>
              </a:rPr>
              <a:t>PIÈGE</a:t>
            </a:r>
          </a:p>
        </p:txBody>
      </p:sp>
      <p:sp>
        <p:nvSpPr>
          <p:cNvPr id="32" name="TextBox 31"/>
          <p:cNvSpPr txBox="1"/>
          <p:nvPr/>
        </p:nvSpPr>
        <p:spPr>
          <a:xfrm>
            <a:off x="11768328" y="7360920"/>
            <a:ext cx="5303520" cy="1170431"/>
          </a:xfrm>
          <a:prstGeom prst="rect">
            <a:avLst/>
          </a:prstGeom>
          <a:noFill/>
        </p:spPr>
        <p:txBody>
          <a:bodyPr wrap="square" lIns="0" rIns="0" tIns="0" bIns="0" anchor="t">
            <a:noAutofit/>
          </a:bodyPr>
          <a:lstStyle/>
          <a:p>
            <a:pPr algn="l">
              <a:lnSpc>
                <a:spcPct val="106000"/>
              </a:lnSpc>
              <a:spcBef>
                <a:spcPts val="0"/>
              </a:spcBef>
              <a:spcAft>
                <a:spcPts val="0"/>
              </a:spcAft>
            </a:pPr>
            <a:r>
              <a:rPr sz="1260" b="0" i="0">
                <a:solidFill>
                  <a:srgbClr val="B26A00"/>
                </a:solidFill>
                <a:latin typeface="Consolas"/>
              </a:rPr>
              <a:t>{ path: '**' }</a:t>
            </a:r>
            <a:r>
              <a:rPr b="0" sz="1400" i="0">
                <a:solidFill>
                  <a:srgbClr val="1B3B47"/>
                </a:solidFill>
                <a:latin typeface="Arial"/>
              </a:rPr>
              <a:t> doit rester en dernier. Sinon, toutes les URL tombent sur la page 404 avant d'atteindre les routes lazy.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2  ·  DI</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Un service, une instance, injectée partout</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sz="1800" b="0" i="0">
                <a:solidFill>
                  <a:srgbClr val="ED1548"/>
                </a:solidFill>
                <a:latin typeface="Consolas"/>
              </a:rPr>
              <a:t>@Service()</a:t>
            </a:r>
            <a:r>
              <a:rPr b="0" sz="2000" i="0">
                <a:solidFill>
                  <a:srgbClr val="5C6E76"/>
                </a:solidFill>
                <a:latin typeface="Arial"/>
              </a:rPr>
              <a:t> crée un singleton à la racine ; </a:t>
            </a:r>
            <a:r>
              <a:rPr sz="1800" b="0" i="0">
                <a:solidFill>
                  <a:srgbClr val="ED1548"/>
                </a:solidFill>
                <a:latin typeface="Consolas"/>
              </a:rPr>
              <a:t>inject()</a:t>
            </a:r>
            <a:r>
              <a:rPr b="0" sz="2000" i="0">
                <a:solidFill>
                  <a:srgbClr val="5C6E76"/>
                </a:solidFill>
                <a:latin typeface="Arial"/>
              </a:rPr>
              <a:t> le récupère.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28 / 62</a:t>
            </a:r>
          </a:p>
        </p:txBody>
      </p:sp>
      <p:sp>
        <p:nvSpPr>
          <p:cNvPr id="9" name="Rounded Rectangle 8"/>
          <p:cNvSpPr/>
          <p:nvPr/>
        </p:nvSpPr>
        <p:spPr>
          <a:xfrm>
            <a:off x="2606040" y="3063240"/>
            <a:ext cx="6903720" cy="352044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p>
        </p:txBody>
      </p:sp>
      <p:sp>
        <p:nvSpPr>
          <p:cNvPr id="11" name="TextBox 10"/>
          <p:cNvSpPr txBox="1"/>
          <p:nvPr/>
        </p:nvSpPr>
        <p:spPr>
          <a:xfrm>
            <a:off x="2990088" y="3172968"/>
            <a:ext cx="626364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facture.service.ts + composant</a:t>
            </a:r>
          </a:p>
        </p:txBody>
      </p:sp>
      <p:sp>
        <p:nvSpPr>
          <p:cNvPr id="12" name="TextBox 11"/>
          <p:cNvSpPr txBox="1"/>
          <p:nvPr/>
        </p:nvSpPr>
        <p:spPr>
          <a:xfrm>
            <a:off x="2852928" y="3538728"/>
            <a:ext cx="6446520" cy="2880360"/>
          </a:xfrm>
          <a:prstGeom prst="rect">
            <a:avLst/>
          </a:prstGeom>
          <a:noFill/>
        </p:spPr>
        <p:txBody>
          <a:bodyPr wrap="none" lIns="0" rIns="0" tIns="0" bIns="0">
            <a:noAutofit/>
          </a:bodyPr>
          <a:lstStyle/>
          <a:p>
            <a:pPr>
              <a:lnSpc>
                <a:spcPct val="100000"/>
              </a:lnSpc>
              <a:spcBef>
                <a:spcPts val="0"/>
              </a:spcBef>
              <a:spcAft>
                <a:spcPts val="0"/>
              </a:spcAft>
            </a:pPr>
            <a:r>
              <a:rPr sz="1400">
                <a:solidFill>
                  <a:srgbClr val="FFD166"/>
                </a:solidFill>
                <a:latin typeface="Consolas"/>
              </a:rPr>
              <a:t>@Service</a:t>
            </a:r>
            <a:r>
              <a:rPr sz="1400">
                <a:solidFill>
                  <a:srgbClr val="EAF2F4"/>
                </a:solidFill>
                <a:latin typeface="Consolas"/>
              </a:rPr>
              <a:t>()</a:t>
            </a:r>
          </a:p>
          <a:p>
            <a:pPr>
              <a:lnSpc>
                <a:spcPct val="100000"/>
              </a:lnSpc>
              <a:spcBef>
                <a:spcPts val="0"/>
              </a:spcBef>
              <a:spcAft>
                <a:spcPts val="0"/>
              </a:spcAft>
            </a:pPr>
            <a:r>
              <a:rPr sz="1400">
                <a:solidFill>
                  <a:srgbClr val="7FD1E0"/>
                </a:solidFill>
                <a:latin typeface="Consolas"/>
              </a:rPr>
              <a:t>export</a:t>
            </a:r>
            <a:r>
              <a:rPr sz="1400">
                <a:solidFill>
                  <a:srgbClr val="EAF2F4"/>
                </a:solidFill>
                <a:latin typeface="Consolas"/>
              </a:rPr>
              <a:t> </a:t>
            </a:r>
            <a:r>
              <a:rPr sz="1400">
                <a:solidFill>
                  <a:srgbClr val="7FD1E0"/>
                </a:solidFill>
                <a:latin typeface="Consolas"/>
              </a:rPr>
              <a:t>class</a:t>
            </a:r>
            <a:r>
              <a:rPr sz="1400">
                <a:solidFill>
                  <a:srgbClr val="EAF2F4"/>
                </a:solidFill>
                <a:latin typeface="Consolas"/>
              </a:rPr>
              <a:t> FactureService {</a:t>
            </a:r>
          </a:p>
          <a:p>
            <a:pPr>
              <a:lnSpc>
                <a:spcPct val="100000"/>
              </a:lnSpc>
              <a:spcBef>
                <a:spcPts val="0"/>
              </a:spcBef>
              <a:spcAft>
                <a:spcPts val="0"/>
              </a:spcAft>
            </a:pPr>
            <a:r>
              <a:rPr sz="1400">
                <a:solidFill>
                  <a:srgbClr val="EAF2F4"/>
                </a:solidFill>
                <a:latin typeface="Consolas"/>
              </a:rPr>
              <a:t>  </a:t>
            </a:r>
            <a:r>
              <a:rPr sz="1400">
                <a:solidFill>
                  <a:srgbClr val="7FD1E0"/>
                </a:solidFill>
                <a:latin typeface="Consolas"/>
              </a:rPr>
              <a:t>private</a:t>
            </a:r>
            <a:r>
              <a:rPr sz="1400">
                <a:solidFill>
                  <a:srgbClr val="EAF2F4"/>
                </a:solidFill>
                <a:latin typeface="Consolas"/>
              </a:rPr>
              <a:t> http = inject(HttpClient);</a:t>
            </a:r>
          </a:p>
          <a:p>
            <a:pPr>
              <a:lnSpc>
                <a:spcPct val="100000"/>
              </a:lnSpc>
              <a:spcBef>
                <a:spcPts val="0"/>
              </a:spcBef>
              <a:spcAft>
                <a:spcPts val="0"/>
              </a:spcAft>
            </a:pPr>
            <a:r>
              <a:rPr sz="1400">
                <a:solidFill>
                  <a:srgbClr val="EAF2F4"/>
                </a:solidFill>
                <a:latin typeface="Consolas"/>
              </a:rPr>
              <a:t>  </a:t>
            </a:r>
            <a:r>
              <a:rPr sz="1400">
                <a:solidFill>
                  <a:srgbClr val="7FD1E0"/>
                </a:solidFill>
                <a:latin typeface="Consolas"/>
              </a:rPr>
              <a:t>private</a:t>
            </a:r>
            <a:r>
              <a:rPr sz="1400">
                <a:solidFill>
                  <a:srgbClr val="EAF2F4"/>
                </a:solidFill>
                <a:latin typeface="Consolas"/>
              </a:rPr>
              <a:t> api = </a:t>
            </a:r>
            <a:r>
              <a:rPr sz="1400">
                <a:solidFill>
                  <a:srgbClr val="FFB3C1"/>
                </a:solidFill>
                <a:latin typeface="Consolas"/>
              </a:rPr>
              <a:t>'http://localhost:3000'</a:t>
            </a:r>
            <a:r>
              <a:rPr sz="1400">
                <a:solidFill>
                  <a:srgbClr val="EAF2F4"/>
                </a:solidFill>
                <a:latin typeface="Consolas"/>
              </a:rPr>
              <a:t>;</a:t>
            </a:r>
          </a:p>
          <a:p>
            <a:pPr>
              <a:lnSpc>
                <a:spcPct val="100000"/>
              </a:lnSpc>
              <a:spcBef>
                <a:spcPts val="0"/>
              </a:spcBef>
              <a:spcAft>
                <a:spcPts val="0"/>
              </a:spcAft>
            </a:pPr>
            <a:r>
              <a:rPr sz="1400">
                <a:solidFill>
                  <a:srgbClr val="EAF2F4"/>
                </a:solidFill>
                <a:latin typeface="Consolas"/>
              </a:rPr>
              <a:t>}</a:t>
            </a:r>
          </a:p>
          <a:p>
            <a:pPr>
              <a:lnSpc>
                <a:spcPct val="100000"/>
              </a:lnSpc>
              <a:spcBef>
                <a:spcPts val="0"/>
              </a:spcBef>
              <a:spcAft>
                <a:spcPts val="0"/>
              </a:spcAft>
            </a:pPr>
          </a:p>
          <a:p>
            <a:pPr>
              <a:lnSpc>
                <a:spcPct val="100000"/>
              </a:lnSpc>
              <a:spcBef>
                <a:spcPts val="0"/>
              </a:spcBef>
              <a:spcAft>
                <a:spcPts val="0"/>
              </a:spcAft>
            </a:pPr>
            <a:r>
              <a:rPr sz="1400" i="1">
                <a:solidFill>
                  <a:srgbClr val="7FA6B2"/>
                </a:solidFill>
                <a:latin typeface="Consolas"/>
              </a:rPr>
              <a:t>// dans un composant</a:t>
            </a:r>
          </a:p>
          <a:p>
            <a:pPr>
              <a:lnSpc>
                <a:spcPct val="100000"/>
              </a:lnSpc>
              <a:spcBef>
                <a:spcPts val="0"/>
              </a:spcBef>
              <a:spcAft>
                <a:spcPts val="0"/>
              </a:spcAft>
            </a:pPr>
            <a:r>
              <a:rPr sz="1400">
                <a:solidFill>
                  <a:srgbClr val="7FD1E0"/>
                </a:solidFill>
                <a:latin typeface="Consolas"/>
              </a:rPr>
              <a:t>export</a:t>
            </a:r>
            <a:r>
              <a:rPr sz="1400">
                <a:solidFill>
                  <a:srgbClr val="EAF2F4"/>
                </a:solidFill>
                <a:latin typeface="Consolas"/>
              </a:rPr>
              <a:t> </a:t>
            </a:r>
            <a:r>
              <a:rPr sz="1400">
                <a:solidFill>
                  <a:srgbClr val="7FD1E0"/>
                </a:solidFill>
                <a:latin typeface="Consolas"/>
              </a:rPr>
              <a:t>class</a:t>
            </a:r>
            <a:r>
              <a:rPr sz="1400">
                <a:solidFill>
                  <a:srgbClr val="EAF2F4"/>
                </a:solidFill>
                <a:latin typeface="Consolas"/>
              </a:rPr>
              <a:t> FactureListComponent {</a:t>
            </a:r>
          </a:p>
          <a:p>
            <a:pPr>
              <a:lnSpc>
                <a:spcPct val="100000"/>
              </a:lnSpc>
              <a:spcBef>
                <a:spcPts val="0"/>
              </a:spcBef>
              <a:spcAft>
                <a:spcPts val="0"/>
              </a:spcAft>
            </a:pPr>
            <a:r>
              <a:rPr sz="1400">
                <a:solidFill>
                  <a:srgbClr val="EAF2F4"/>
                </a:solidFill>
                <a:latin typeface="Consolas"/>
              </a:rPr>
              <a:t>  </a:t>
            </a:r>
            <a:r>
              <a:rPr sz="1400">
                <a:solidFill>
                  <a:srgbClr val="7FD1E0"/>
                </a:solidFill>
                <a:latin typeface="Consolas"/>
              </a:rPr>
              <a:t>private</a:t>
            </a:r>
            <a:r>
              <a:rPr sz="1400">
                <a:solidFill>
                  <a:srgbClr val="EAF2F4"/>
                </a:solidFill>
                <a:latin typeface="Consolas"/>
              </a:rPr>
              <a:t> service = inject(FactureService);</a:t>
            </a:r>
          </a:p>
          <a:p>
            <a:pPr>
              <a:lnSpc>
                <a:spcPct val="100000"/>
              </a:lnSpc>
              <a:spcBef>
                <a:spcPts val="0"/>
              </a:spcBef>
              <a:spcAft>
                <a:spcPts val="0"/>
              </a:spcAft>
            </a:pPr>
            <a:r>
              <a:rPr sz="1400">
                <a:solidFill>
                  <a:srgbClr val="EAF2F4"/>
                </a:solidFill>
                <a:latin typeface="Consolas"/>
              </a:rPr>
              <a:t>}</a:t>
            </a:r>
          </a:p>
        </p:txBody>
      </p:sp>
      <p:sp>
        <p:nvSpPr>
          <p:cNvPr id="13" name="Rounded Rectangle 12"/>
          <p:cNvSpPr/>
          <p:nvPr/>
        </p:nvSpPr>
        <p:spPr>
          <a:xfrm>
            <a:off x="2606040" y="6903720"/>
            <a:ext cx="6903720" cy="2194560"/>
          </a:xfrm>
          <a:prstGeom prst="roundRect">
            <a:avLst>
              <a:gd name="adj" fmla="val 8000"/>
            </a:avLst>
          </a:prstGeom>
          <a:solidFill>
            <a:srgbClr val="FFF0F4"/>
          </a:solidFill>
          <a:ln>
            <a:noFill/>
          </a:ln>
          <a:effectLst/>
        </p:spPr>
        <p:txBody>
          <a:bodyPr rtlCol="0" anchor="ctr"/>
          <a:lstStyle/>
          <a:p>
            <a:pPr algn="ctr"/>
          </a:p>
        </p:txBody>
      </p:sp>
      <p:sp>
        <p:nvSpPr>
          <p:cNvPr id="14" name="Rectangle 13"/>
          <p:cNvSpPr/>
          <p:nvPr/>
        </p:nvSpPr>
        <p:spPr>
          <a:xfrm>
            <a:off x="2606040" y="6903720"/>
            <a:ext cx="64008" cy="2194560"/>
          </a:xfrm>
          <a:prstGeom prst="rect">
            <a:avLst/>
          </a:prstGeom>
          <a:solidFill>
            <a:srgbClr val="ED1548"/>
          </a:solidFill>
          <a:ln>
            <a:noFill/>
          </a:ln>
          <a:effectLst/>
        </p:spPr>
        <p:txBody>
          <a:bodyPr rtlCol="0" anchor="ctr"/>
          <a:lstStyle/>
          <a:p>
            <a:pPr algn="ctr"/>
          </a:p>
        </p:txBody>
      </p:sp>
      <p:sp>
        <p:nvSpPr>
          <p:cNvPr id="15" name="TextBox 14"/>
          <p:cNvSpPr txBox="1"/>
          <p:nvPr/>
        </p:nvSpPr>
        <p:spPr>
          <a:xfrm>
            <a:off x="2898648" y="7068312"/>
            <a:ext cx="64008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POURQUOI UN SERVICE</a:t>
            </a:r>
          </a:p>
        </p:txBody>
      </p:sp>
      <p:sp>
        <p:nvSpPr>
          <p:cNvPr id="16" name="TextBox 15"/>
          <p:cNvSpPr txBox="1"/>
          <p:nvPr/>
        </p:nvSpPr>
        <p:spPr>
          <a:xfrm>
            <a:off x="2898648" y="7360920"/>
            <a:ext cx="6355080" cy="1627631"/>
          </a:xfrm>
          <a:prstGeom prst="rect">
            <a:avLst/>
          </a:prstGeom>
          <a:noFill/>
        </p:spPr>
        <p:txBody>
          <a:bodyPr wrap="square" lIns="0" rIns="0" tIns="0" bIns="0" anchor="t">
            <a:noAutofit/>
          </a:bodyPr>
          <a:lstStyle/>
          <a:p>
            <a:pPr algn="l">
              <a:lnSpc>
                <a:spcPct val="106000"/>
              </a:lnSpc>
              <a:spcBef>
                <a:spcPts val="0"/>
              </a:spcBef>
              <a:spcAft>
                <a:spcPts val="0"/>
              </a:spcAft>
            </a:pPr>
            <a:r>
              <a:rPr b="0" sz="1450" i="0">
                <a:solidFill>
                  <a:srgbClr val="1B3B47"/>
                </a:solidFill>
                <a:latin typeface="Arial"/>
              </a:rPr>
              <a:t>Séparer l'affichage de l'accès aux données, mutualiser la logique, mocker facilement en test. Le composant ne connaît ni l'URL ni le format de l'API.</a:t>
            </a:r>
          </a:p>
        </p:txBody>
      </p:sp>
      <p:graphicFrame>
        <p:nvGraphicFramePr>
          <p:cNvPr id="17" name="Table 16"/>
          <p:cNvGraphicFramePr>
            <a:graphicFrameLocks noGrp="1"/>
          </p:cNvGraphicFramePr>
          <p:nvPr/>
        </p:nvGraphicFramePr>
        <p:xfrm>
          <a:off x="9875520" y="3063240"/>
          <a:ext cx="7315199" cy="2331720"/>
        </p:xfrm>
        <a:graphic>
          <a:graphicData uri="http://schemas.openxmlformats.org/drawingml/2006/table">
            <a:tbl>
              <a:tblPr>
                <a:tableStyleId>{5C22544A-7EE6-4342-B048-85BDC9FD1C3A}</a:tableStyleId>
              </a:tblPr>
              <a:tblGrid>
                <a:gridCol w="3612444"/>
                <a:gridCol w="3702755"/>
              </a:tblGrid>
              <a:tr h="411480">
                <a:tc>
                  <a:txBody>
                    <a:bodyPr wrap="square"/>
                    <a:lstStyle/>
                    <a:p>
                      <a:pPr algn="l">
                        <a:lnSpc>
                          <a:spcPct val="100000"/>
                        </a:lnSpc>
                      </a:pPr>
                      <a:r>
                        <a:rPr b="1" sz="1300" i="0">
                          <a:solidFill>
                            <a:srgbClr val="FFFFFF"/>
                          </a:solidFill>
                          <a:latin typeface="Arial"/>
                        </a:rPr>
                        <a:t>Portée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300" i="0">
                          <a:solidFill>
                            <a:srgbClr val="FFFFFF"/>
                          </a:solidFill>
                          <a:latin typeface="Arial"/>
                        </a:rPr>
                        <a:t>Durée de vie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r>
              <a:tr h="640080">
                <a:tc>
                  <a:txBody>
                    <a:bodyPr wrap="square"/>
                    <a:lstStyle/>
                    <a:p>
                      <a:pPr algn="l">
                        <a:lnSpc>
                          <a:spcPct val="100000"/>
                        </a:lnSpc>
                      </a:pPr>
                      <a:r>
                        <a:rPr sz="1260" b="0" i="0">
                          <a:solidFill>
                            <a:srgbClr val="ED1548"/>
                          </a:solidFill>
                          <a:latin typeface="Consolas"/>
                        </a:rPr>
                        <a:t>providedIn: 'root'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400" i="0">
                          <a:solidFill>
                            <a:srgbClr val="1B3B47"/>
                          </a:solidFill>
                          <a:latin typeface="Arial"/>
                        </a:rPr>
                        <a:t>Toute l'application</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640080">
                <a:tc>
                  <a:txBody>
                    <a:bodyPr wrap="square"/>
                    <a:lstStyle/>
                    <a:p>
                      <a:pPr algn="l">
                        <a:lnSpc>
                          <a:spcPct val="100000"/>
                        </a:lnSpc>
                      </a:pPr>
                      <a:r>
                        <a:rPr b="0" sz="1400" i="0">
                          <a:solidFill>
                            <a:srgbClr val="1B3B47"/>
                          </a:solidFill>
                          <a:latin typeface="Arial"/>
                        </a:rPr>
                        <a:t>Composant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400" i="0">
                          <a:solidFill>
                            <a:srgbClr val="1B3B47"/>
                          </a:solidFill>
                          <a:latin typeface="Arial"/>
                        </a:rPr>
                        <a:t>Une instance par composant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640080">
                <a:tc>
                  <a:txBody>
                    <a:bodyPr wrap="square"/>
                    <a:lstStyle/>
                    <a:p>
                      <a:pPr algn="l">
                        <a:lnSpc>
                          <a:spcPct val="100000"/>
                        </a:lnSpc>
                      </a:pPr>
                      <a:r>
                        <a:rPr b="0" sz="1400" i="0">
                          <a:solidFill>
                            <a:srgbClr val="1B3B47"/>
                          </a:solidFill>
                          <a:latin typeface="Arial"/>
                        </a:rPr>
                        <a:t>Route lazy</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400" i="0">
                          <a:solidFill>
                            <a:srgbClr val="1B3B47"/>
                          </a:solidFill>
                          <a:latin typeface="Arial"/>
                        </a:rPr>
                        <a:t>Détruite avec la route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bl>
          </a:graphicData>
        </a:graphic>
      </p:graphicFrame>
      <p:sp>
        <p:nvSpPr>
          <p:cNvPr id="18" name="Rounded Rectangle 17"/>
          <p:cNvSpPr/>
          <p:nvPr/>
        </p:nvSpPr>
        <p:spPr>
          <a:xfrm>
            <a:off x="9875520" y="5897880"/>
            <a:ext cx="7315200" cy="3200400"/>
          </a:xfrm>
          <a:prstGeom prst="roundRect">
            <a:avLst>
              <a:gd name="adj" fmla="val 8000"/>
            </a:avLst>
          </a:prstGeom>
          <a:solidFill>
            <a:srgbClr val="EBF6F8"/>
          </a:solidFill>
          <a:ln>
            <a:noFill/>
          </a:ln>
          <a:effectLst/>
        </p:spPr>
        <p:txBody>
          <a:bodyPr rtlCol="0" anchor="ctr"/>
          <a:lstStyle/>
          <a:p>
            <a:pPr algn="ctr"/>
          </a:p>
        </p:txBody>
      </p:sp>
      <p:sp>
        <p:nvSpPr>
          <p:cNvPr id="19" name="Rectangle 18"/>
          <p:cNvSpPr/>
          <p:nvPr/>
        </p:nvSpPr>
        <p:spPr>
          <a:xfrm>
            <a:off x="9875520" y="5897880"/>
            <a:ext cx="64008" cy="3200400"/>
          </a:xfrm>
          <a:prstGeom prst="rect">
            <a:avLst/>
          </a:prstGeom>
          <a:solidFill>
            <a:srgbClr val="0B4F6C"/>
          </a:solidFill>
          <a:ln>
            <a:noFill/>
          </a:ln>
          <a:effectLst/>
        </p:spPr>
        <p:txBody>
          <a:bodyPr rtlCol="0" anchor="ctr"/>
          <a:lstStyle/>
          <a:p>
            <a:pPr algn="ctr"/>
          </a:p>
        </p:txBody>
      </p:sp>
      <p:sp>
        <p:nvSpPr>
          <p:cNvPr id="20" name="TextBox 19"/>
          <p:cNvSpPr txBox="1"/>
          <p:nvPr/>
        </p:nvSpPr>
        <p:spPr>
          <a:xfrm>
            <a:off x="10168128" y="6062472"/>
            <a:ext cx="69037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GÉNÉRATION</a:t>
            </a:r>
          </a:p>
        </p:txBody>
      </p:sp>
      <p:sp>
        <p:nvSpPr>
          <p:cNvPr id="21" name="TextBox 20"/>
          <p:cNvSpPr txBox="1"/>
          <p:nvPr/>
        </p:nvSpPr>
        <p:spPr>
          <a:xfrm>
            <a:off x="10168128" y="6355080"/>
            <a:ext cx="6858000" cy="2633472"/>
          </a:xfrm>
          <a:prstGeom prst="rect">
            <a:avLst/>
          </a:prstGeom>
          <a:noFill/>
        </p:spPr>
        <p:txBody>
          <a:bodyPr wrap="square" lIns="0" rIns="0" tIns="0" bIns="0" anchor="t">
            <a:noAutofit/>
          </a:bodyPr>
          <a:lstStyle/>
          <a:p>
            <a:pPr algn="l">
              <a:lnSpc>
                <a:spcPct val="106000"/>
              </a:lnSpc>
              <a:spcBef>
                <a:spcPts val="0"/>
              </a:spcBef>
              <a:spcAft>
                <a:spcPts val="0"/>
              </a:spcAft>
            </a:pPr>
            <a:r>
              <a:rPr sz="1260" b="0" i="0">
                <a:solidFill>
                  <a:srgbClr val="0B4F6C"/>
                </a:solidFill>
                <a:latin typeface="Consolas"/>
              </a:rPr>
              <a:t>ng g s core/services/facture</a:t>
            </a:r>
            <a:r>
              <a:rPr b="0" sz="1400" i="0">
                <a:solidFill>
                  <a:srgbClr val="1B3B47"/>
                </a:solidFill>
                <a:latin typeface="Arial"/>
              </a:rPr>
              <a:t> produit un </a:t>
            </a:r>
            <a:r>
              <a:rPr sz="1260" b="0" i="0">
                <a:solidFill>
                  <a:srgbClr val="0B4F6C"/>
                </a:solidFill>
                <a:latin typeface="Consolas"/>
              </a:rPr>
              <a:t>@Service()</a:t>
            </a:r>
            <a:r>
              <a:rPr b="0" sz="1400" i="0">
                <a:solidFill>
                  <a:srgbClr val="1B3B47"/>
                </a:solidFill>
                <a:latin typeface="Arial"/>
              </a:rPr>
              <a:t>. Pour l'ancien style : </a:t>
            </a:r>
            <a:r>
              <a:rPr sz="1260" b="0" i="0">
                <a:solidFill>
                  <a:srgbClr val="0B4F6C"/>
                </a:solidFill>
                <a:latin typeface="Consolas"/>
              </a:rPr>
              <a:t>ng g s core/services/facture --injectable</a:t>
            </a:r>
            <a:r>
              <a:rPr b="0" sz="1400" i="0">
                <a:solidFill>
                  <a:srgbClr val="1B3B47"/>
                </a:solidFill>
                <a:latin typeface="Arial"/>
              </a:rP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2  ·  HTTP</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HttpClient : des Observables froids</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La requête ne part qu'à l'abonnement ; les opérateurs composent le flux.</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29 / 62</a:t>
            </a:r>
          </a:p>
        </p:txBody>
      </p:sp>
      <p:sp>
        <p:nvSpPr>
          <p:cNvPr id="9" name="Rounded Rectangle 8"/>
          <p:cNvSpPr/>
          <p:nvPr/>
        </p:nvSpPr>
        <p:spPr>
          <a:xfrm>
            <a:off x="2606040" y="3017520"/>
            <a:ext cx="2606040" cy="1051560"/>
          </a:xfrm>
          <a:prstGeom prst="roundRect">
            <a:avLst>
              <a:gd name="adj" fmla="val 12000"/>
            </a:avLst>
          </a:prstGeom>
          <a:solidFill>
            <a:srgbClr val="FFFFFF"/>
          </a:solidFill>
          <a:ln w="9525">
            <a:solidFill>
              <a:srgbClr val="E0E6E8"/>
            </a:solidFill>
          </a:ln>
          <a:effectLst/>
        </p:spPr>
        <p:txBody>
          <a:bodyPr rtlCol="0" anchor="ctr"/>
          <a:lstStyle/>
          <a:p>
            <a:pPr algn="ctr"/>
          </a:p>
        </p:txBody>
      </p:sp>
      <p:sp>
        <p:nvSpPr>
          <p:cNvPr id="10" name="TextBox 9"/>
          <p:cNvSpPr txBox="1"/>
          <p:nvPr/>
        </p:nvSpPr>
        <p:spPr>
          <a:xfrm>
            <a:off x="2752344" y="3163824"/>
            <a:ext cx="22860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0B4F6C"/>
                </a:solidFill>
                <a:latin typeface="Consolas"/>
              </a:rPr>
              <a:t>term$</a:t>
            </a:r>
          </a:p>
        </p:txBody>
      </p:sp>
      <p:sp>
        <p:nvSpPr>
          <p:cNvPr id="11" name="TextBox 10"/>
          <p:cNvSpPr txBox="1"/>
          <p:nvPr/>
        </p:nvSpPr>
        <p:spPr>
          <a:xfrm>
            <a:off x="2752344" y="3474720"/>
            <a:ext cx="2286000" cy="457200"/>
          </a:xfrm>
          <a:prstGeom prst="rect">
            <a:avLst/>
          </a:prstGeom>
          <a:noFill/>
        </p:spPr>
        <p:txBody>
          <a:bodyPr wrap="square" lIns="0" rIns="0" tIns="0" bIns="0" anchor="t">
            <a:noAutofit/>
          </a:bodyPr>
          <a:lstStyle/>
          <a:p>
            <a:pPr algn="l">
              <a:lnSpc>
                <a:spcPct val="102000"/>
              </a:lnSpc>
              <a:spcBef>
                <a:spcPts val="0"/>
              </a:spcBef>
              <a:spcAft>
                <a:spcPts val="0"/>
              </a:spcAft>
            </a:pPr>
            <a:r>
              <a:rPr b="0" sz="1100" i="0">
                <a:solidFill>
                  <a:srgbClr val="5C6E76"/>
                </a:solidFill>
                <a:latin typeface="Consolas"/>
              </a:rPr>
              <a:t>valeur du champ</a:t>
            </a:r>
          </a:p>
        </p:txBody>
      </p:sp>
      <p:cxnSp>
        <p:nvCxnSpPr>
          <p:cNvPr id="12" name="Connector 11"/>
          <p:cNvCxnSpPr/>
          <p:nvPr/>
        </p:nvCxnSpPr>
        <p:spPr>
          <a:xfrm>
            <a:off x="5257800" y="3547872"/>
            <a:ext cx="256032" cy="0"/>
          </a:xfrm>
          <a:prstGeom prst="line">
            <a:avLst/>
          </a:prstGeom>
          <a:ln w="17780">
            <a:solidFill>
              <a:srgbClr val="ED1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50408" y="3017520"/>
            <a:ext cx="2606040" cy="1051560"/>
          </a:xfrm>
          <a:prstGeom prst="roundRect">
            <a:avLst>
              <a:gd name="adj" fmla="val 12000"/>
            </a:avLst>
          </a:prstGeom>
          <a:solidFill>
            <a:srgbClr val="FFFFFF"/>
          </a:solidFill>
          <a:ln w="9525">
            <a:solidFill>
              <a:srgbClr val="E0E6E8"/>
            </a:solidFill>
          </a:ln>
          <a:effectLst/>
        </p:spPr>
        <p:txBody>
          <a:bodyPr rtlCol="0" anchor="ctr"/>
          <a:lstStyle/>
          <a:p>
            <a:pPr algn="ctr"/>
          </a:p>
        </p:txBody>
      </p:sp>
      <p:sp>
        <p:nvSpPr>
          <p:cNvPr id="14" name="TextBox 13"/>
          <p:cNvSpPr txBox="1"/>
          <p:nvPr/>
        </p:nvSpPr>
        <p:spPr>
          <a:xfrm>
            <a:off x="5696712" y="3163824"/>
            <a:ext cx="22860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0B4F6C"/>
                </a:solidFill>
                <a:latin typeface="Consolas"/>
              </a:rPr>
              <a:t>debounceTime</a:t>
            </a:r>
          </a:p>
        </p:txBody>
      </p:sp>
      <p:sp>
        <p:nvSpPr>
          <p:cNvPr id="15" name="TextBox 14"/>
          <p:cNvSpPr txBox="1"/>
          <p:nvPr/>
        </p:nvSpPr>
        <p:spPr>
          <a:xfrm>
            <a:off x="5696712" y="3474720"/>
            <a:ext cx="2286000" cy="457200"/>
          </a:xfrm>
          <a:prstGeom prst="rect">
            <a:avLst/>
          </a:prstGeom>
          <a:noFill/>
        </p:spPr>
        <p:txBody>
          <a:bodyPr wrap="square" lIns="0" rIns="0" tIns="0" bIns="0" anchor="t">
            <a:noAutofit/>
          </a:bodyPr>
          <a:lstStyle/>
          <a:p>
            <a:pPr algn="l">
              <a:lnSpc>
                <a:spcPct val="102000"/>
              </a:lnSpc>
              <a:spcBef>
                <a:spcPts val="0"/>
              </a:spcBef>
              <a:spcAft>
                <a:spcPts val="0"/>
              </a:spcAft>
            </a:pPr>
            <a:r>
              <a:rPr b="0" sz="1100" i="0">
                <a:solidFill>
                  <a:srgbClr val="5C6E76"/>
                </a:solidFill>
                <a:latin typeface="Consolas"/>
              </a:rPr>
              <a:t>300 ms</a:t>
            </a:r>
          </a:p>
        </p:txBody>
      </p:sp>
      <p:cxnSp>
        <p:nvCxnSpPr>
          <p:cNvPr id="16" name="Connector 15"/>
          <p:cNvCxnSpPr/>
          <p:nvPr/>
        </p:nvCxnSpPr>
        <p:spPr>
          <a:xfrm>
            <a:off x="8202168" y="3547872"/>
            <a:ext cx="256032" cy="0"/>
          </a:xfrm>
          <a:prstGeom prst="line">
            <a:avLst/>
          </a:prstGeom>
          <a:ln w="17780">
            <a:solidFill>
              <a:srgbClr val="ED1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494776" y="3017520"/>
            <a:ext cx="2606040" cy="1051560"/>
          </a:xfrm>
          <a:prstGeom prst="roundRect">
            <a:avLst>
              <a:gd name="adj" fmla="val 12000"/>
            </a:avLst>
          </a:prstGeom>
          <a:solidFill>
            <a:srgbClr val="FFFFFF"/>
          </a:solidFill>
          <a:ln w="9525">
            <a:solidFill>
              <a:srgbClr val="E0E6E8"/>
            </a:solidFill>
          </a:ln>
          <a:effectLst/>
        </p:spPr>
        <p:txBody>
          <a:bodyPr rtlCol="0" anchor="ctr"/>
          <a:lstStyle/>
          <a:p>
            <a:pPr algn="ctr"/>
          </a:p>
        </p:txBody>
      </p:sp>
      <p:sp>
        <p:nvSpPr>
          <p:cNvPr id="18" name="TextBox 17"/>
          <p:cNvSpPr txBox="1"/>
          <p:nvPr/>
        </p:nvSpPr>
        <p:spPr>
          <a:xfrm>
            <a:off x="8641080" y="3163824"/>
            <a:ext cx="22860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0B4F6C"/>
                </a:solidFill>
                <a:latin typeface="Consolas"/>
              </a:rPr>
              <a:t>switchMap</a:t>
            </a:r>
          </a:p>
        </p:txBody>
      </p:sp>
      <p:sp>
        <p:nvSpPr>
          <p:cNvPr id="19" name="TextBox 18"/>
          <p:cNvSpPr txBox="1"/>
          <p:nvPr/>
        </p:nvSpPr>
        <p:spPr>
          <a:xfrm>
            <a:off x="8641080" y="3474720"/>
            <a:ext cx="2286000" cy="457200"/>
          </a:xfrm>
          <a:prstGeom prst="rect">
            <a:avLst/>
          </a:prstGeom>
          <a:noFill/>
        </p:spPr>
        <p:txBody>
          <a:bodyPr wrap="square" lIns="0" rIns="0" tIns="0" bIns="0" anchor="t">
            <a:noAutofit/>
          </a:bodyPr>
          <a:lstStyle/>
          <a:p>
            <a:pPr algn="l">
              <a:lnSpc>
                <a:spcPct val="102000"/>
              </a:lnSpc>
              <a:spcBef>
                <a:spcPts val="0"/>
              </a:spcBef>
              <a:spcAft>
                <a:spcPts val="0"/>
              </a:spcAft>
            </a:pPr>
            <a:r>
              <a:rPr b="0" sz="1100" i="0">
                <a:solidFill>
                  <a:srgbClr val="5C6E76"/>
                </a:solidFill>
                <a:latin typeface="Consolas"/>
              </a:rPr>
              <a:t>annule l'ancienne</a:t>
            </a:r>
          </a:p>
        </p:txBody>
      </p:sp>
      <p:cxnSp>
        <p:nvCxnSpPr>
          <p:cNvPr id="20" name="Connector 19"/>
          <p:cNvCxnSpPr/>
          <p:nvPr/>
        </p:nvCxnSpPr>
        <p:spPr>
          <a:xfrm>
            <a:off x="11146536" y="3547872"/>
            <a:ext cx="256032" cy="0"/>
          </a:xfrm>
          <a:prstGeom prst="line">
            <a:avLst/>
          </a:prstGeom>
          <a:ln w="17780">
            <a:solidFill>
              <a:srgbClr val="ED1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1439144" y="3017520"/>
            <a:ext cx="2606040" cy="1051560"/>
          </a:xfrm>
          <a:prstGeom prst="roundRect">
            <a:avLst>
              <a:gd name="adj" fmla="val 12000"/>
            </a:avLst>
          </a:prstGeom>
          <a:solidFill>
            <a:srgbClr val="FFFFFF"/>
          </a:solidFill>
          <a:ln w="9525">
            <a:solidFill>
              <a:srgbClr val="E0E6E8"/>
            </a:solidFill>
          </a:ln>
          <a:effectLst/>
        </p:spPr>
        <p:txBody>
          <a:bodyPr rtlCol="0" anchor="ctr"/>
          <a:lstStyle/>
          <a:p>
            <a:pPr algn="ctr"/>
          </a:p>
        </p:txBody>
      </p:sp>
      <p:sp>
        <p:nvSpPr>
          <p:cNvPr id="22" name="TextBox 21"/>
          <p:cNvSpPr txBox="1"/>
          <p:nvPr/>
        </p:nvSpPr>
        <p:spPr>
          <a:xfrm>
            <a:off x="11585448" y="3163824"/>
            <a:ext cx="22860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0B4F6C"/>
                </a:solidFill>
                <a:latin typeface="Consolas"/>
              </a:rPr>
              <a:t>http.get</a:t>
            </a:r>
          </a:p>
        </p:txBody>
      </p:sp>
      <p:sp>
        <p:nvSpPr>
          <p:cNvPr id="23" name="TextBox 22"/>
          <p:cNvSpPr txBox="1"/>
          <p:nvPr/>
        </p:nvSpPr>
        <p:spPr>
          <a:xfrm>
            <a:off x="11585448" y="3474720"/>
            <a:ext cx="2286000" cy="457200"/>
          </a:xfrm>
          <a:prstGeom prst="rect">
            <a:avLst/>
          </a:prstGeom>
          <a:noFill/>
        </p:spPr>
        <p:txBody>
          <a:bodyPr wrap="square" lIns="0" rIns="0" tIns="0" bIns="0" anchor="t">
            <a:noAutofit/>
          </a:bodyPr>
          <a:lstStyle/>
          <a:p>
            <a:pPr algn="l">
              <a:lnSpc>
                <a:spcPct val="102000"/>
              </a:lnSpc>
              <a:spcBef>
                <a:spcPts val="0"/>
              </a:spcBef>
              <a:spcAft>
                <a:spcPts val="0"/>
              </a:spcAft>
            </a:pPr>
            <a:r>
              <a:rPr b="0" sz="1100" i="0">
                <a:solidFill>
                  <a:srgbClr val="5C6E76"/>
                </a:solidFill>
                <a:latin typeface="Consolas"/>
              </a:rPr>
              <a:t>GET /factures</a:t>
            </a:r>
          </a:p>
        </p:txBody>
      </p:sp>
      <p:cxnSp>
        <p:nvCxnSpPr>
          <p:cNvPr id="24" name="Connector 23"/>
          <p:cNvCxnSpPr/>
          <p:nvPr/>
        </p:nvCxnSpPr>
        <p:spPr>
          <a:xfrm>
            <a:off x="14090904" y="3547872"/>
            <a:ext cx="256032" cy="0"/>
          </a:xfrm>
          <a:prstGeom prst="line">
            <a:avLst/>
          </a:prstGeom>
          <a:ln w="17780">
            <a:solidFill>
              <a:srgbClr val="ED1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4383512" y="3017520"/>
            <a:ext cx="2606040" cy="1051560"/>
          </a:xfrm>
          <a:prstGeom prst="roundRect">
            <a:avLst>
              <a:gd name="adj" fmla="val 12000"/>
            </a:avLst>
          </a:prstGeom>
          <a:solidFill>
            <a:srgbClr val="EBF6F8"/>
          </a:solidFill>
          <a:ln w="9525">
            <a:solidFill>
              <a:srgbClr val="E0E6E8"/>
            </a:solidFill>
          </a:ln>
          <a:effectLst/>
        </p:spPr>
        <p:txBody>
          <a:bodyPr rtlCol="0" anchor="ctr"/>
          <a:lstStyle/>
          <a:p>
            <a:pPr algn="ctr"/>
          </a:p>
        </p:txBody>
      </p:sp>
      <p:sp>
        <p:nvSpPr>
          <p:cNvPr id="26" name="TextBox 25"/>
          <p:cNvSpPr txBox="1"/>
          <p:nvPr/>
        </p:nvSpPr>
        <p:spPr>
          <a:xfrm>
            <a:off x="14529816" y="3163824"/>
            <a:ext cx="22860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0B4F6C"/>
                </a:solidFill>
                <a:latin typeface="Consolas"/>
              </a:rPr>
              <a:t>toSignal</a:t>
            </a:r>
          </a:p>
        </p:txBody>
      </p:sp>
      <p:sp>
        <p:nvSpPr>
          <p:cNvPr id="27" name="TextBox 26"/>
          <p:cNvSpPr txBox="1"/>
          <p:nvPr/>
        </p:nvSpPr>
        <p:spPr>
          <a:xfrm>
            <a:off x="14529816" y="3474720"/>
            <a:ext cx="2286000" cy="457200"/>
          </a:xfrm>
          <a:prstGeom prst="rect">
            <a:avLst/>
          </a:prstGeom>
          <a:noFill/>
        </p:spPr>
        <p:txBody>
          <a:bodyPr wrap="square" lIns="0" rIns="0" tIns="0" bIns="0" anchor="t">
            <a:noAutofit/>
          </a:bodyPr>
          <a:lstStyle/>
          <a:p>
            <a:pPr algn="l">
              <a:lnSpc>
                <a:spcPct val="102000"/>
              </a:lnSpc>
              <a:spcBef>
                <a:spcPts val="0"/>
              </a:spcBef>
              <a:spcAft>
                <a:spcPts val="0"/>
              </a:spcAft>
            </a:pPr>
            <a:r>
              <a:rPr b="0" sz="1100" i="0">
                <a:solidFill>
                  <a:srgbClr val="5C6E76"/>
                </a:solidFill>
                <a:latin typeface="Consolas"/>
              </a:rPr>
              <a:t>lit dans le template</a:t>
            </a:r>
          </a:p>
        </p:txBody>
      </p:sp>
      <p:sp>
        <p:nvSpPr>
          <p:cNvPr id="28" name="Rounded Rectangle 27"/>
          <p:cNvSpPr/>
          <p:nvPr/>
        </p:nvSpPr>
        <p:spPr>
          <a:xfrm>
            <a:off x="2606040" y="4480560"/>
            <a:ext cx="7863840" cy="315468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29" name="Oval 28"/>
          <p:cNvSpPr/>
          <p:nvPr/>
        </p:nvSpPr>
        <p:spPr>
          <a:xfrm>
            <a:off x="2825496" y="4654296"/>
            <a:ext cx="82296" cy="82296"/>
          </a:xfrm>
          <a:prstGeom prst="ellipse">
            <a:avLst/>
          </a:prstGeom>
          <a:solidFill>
            <a:srgbClr val="ED1548"/>
          </a:solidFill>
          <a:ln>
            <a:noFill/>
          </a:ln>
          <a:effectLst/>
        </p:spPr>
        <p:txBody>
          <a:bodyPr rtlCol="0" anchor="ctr"/>
          <a:lstStyle/>
          <a:p>
            <a:pPr algn="ctr"/>
          </a:p>
        </p:txBody>
      </p:sp>
      <p:sp>
        <p:nvSpPr>
          <p:cNvPr id="30" name="TextBox 29"/>
          <p:cNvSpPr txBox="1"/>
          <p:nvPr/>
        </p:nvSpPr>
        <p:spPr>
          <a:xfrm>
            <a:off x="2990088" y="4590288"/>
            <a:ext cx="7223759"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recherche réactive</a:t>
            </a:r>
          </a:p>
        </p:txBody>
      </p:sp>
      <p:sp>
        <p:nvSpPr>
          <p:cNvPr id="31" name="TextBox 30"/>
          <p:cNvSpPr txBox="1"/>
          <p:nvPr/>
        </p:nvSpPr>
        <p:spPr>
          <a:xfrm>
            <a:off x="2852928" y="4956048"/>
            <a:ext cx="7406640" cy="2514600"/>
          </a:xfrm>
          <a:prstGeom prst="rect">
            <a:avLst/>
          </a:prstGeom>
          <a:noFill/>
        </p:spPr>
        <p:txBody>
          <a:bodyPr wrap="none" lIns="0" rIns="0" tIns="0" bIns="0">
            <a:noAutofit/>
          </a:bodyPr>
          <a:lstStyle/>
          <a:p>
            <a:pPr>
              <a:lnSpc>
                <a:spcPct val="100000"/>
              </a:lnSpc>
              <a:spcBef>
                <a:spcPts val="0"/>
              </a:spcBef>
              <a:spcAft>
                <a:spcPts val="0"/>
              </a:spcAft>
            </a:pPr>
            <a:r>
              <a:rPr sz="1350">
                <a:solidFill>
                  <a:srgbClr val="EAF2F4"/>
                </a:solidFill>
                <a:latin typeface="Consolas"/>
              </a:rPr>
              <a:t>results = toSignal(</a:t>
            </a:r>
          </a:p>
          <a:p>
            <a:pPr>
              <a:lnSpc>
                <a:spcPct val="100000"/>
              </a:lnSpc>
              <a:spcBef>
                <a:spcPts val="0"/>
              </a:spcBef>
              <a:spcAft>
                <a:spcPts val="0"/>
              </a:spcAft>
            </a:pPr>
            <a:r>
              <a:rPr sz="1350">
                <a:solidFill>
                  <a:srgbClr val="EAF2F4"/>
                </a:solidFill>
                <a:latin typeface="Consolas"/>
              </a:rPr>
              <a:t>  </a:t>
            </a:r>
            <a:r>
              <a:rPr sz="1350">
                <a:solidFill>
                  <a:srgbClr val="7FD1E0"/>
                </a:solidFill>
                <a:latin typeface="Consolas"/>
              </a:rPr>
              <a:t>this</a:t>
            </a:r>
            <a:r>
              <a:rPr sz="1350">
                <a:solidFill>
                  <a:srgbClr val="EAF2F4"/>
                </a:solidFill>
                <a:latin typeface="Consolas"/>
              </a:rPr>
              <a:t>.term$.pipe(</a:t>
            </a:r>
          </a:p>
          <a:p>
            <a:pPr>
              <a:lnSpc>
                <a:spcPct val="100000"/>
              </a:lnSpc>
              <a:spcBef>
                <a:spcPts val="0"/>
              </a:spcBef>
              <a:spcAft>
                <a:spcPts val="0"/>
              </a:spcAft>
            </a:pPr>
            <a:r>
              <a:rPr sz="1350">
                <a:solidFill>
                  <a:srgbClr val="EAF2F4"/>
                </a:solidFill>
                <a:latin typeface="Consolas"/>
              </a:rPr>
              <a:t>    debounceTime(</a:t>
            </a:r>
            <a:r>
              <a:rPr sz="1350">
                <a:solidFill>
                  <a:srgbClr val="FFD166"/>
                </a:solidFill>
                <a:latin typeface="Consolas"/>
              </a:rPr>
              <a:t>300</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    distinctUntilChanged(),</a:t>
            </a:r>
          </a:p>
          <a:p>
            <a:pPr>
              <a:lnSpc>
                <a:spcPct val="100000"/>
              </a:lnSpc>
              <a:spcBef>
                <a:spcPts val="0"/>
              </a:spcBef>
              <a:spcAft>
                <a:spcPts val="0"/>
              </a:spcAft>
            </a:pPr>
            <a:r>
              <a:rPr sz="1350">
                <a:solidFill>
                  <a:srgbClr val="EAF2F4"/>
                </a:solidFill>
                <a:latin typeface="Consolas"/>
              </a:rPr>
              <a:t>    switchMap(q =&gt; </a:t>
            </a:r>
            <a:r>
              <a:rPr sz="1350">
                <a:solidFill>
                  <a:srgbClr val="7FD1E0"/>
                </a:solidFill>
                <a:latin typeface="Consolas"/>
              </a:rPr>
              <a:t>this</a:t>
            </a:r>
            <a:r>
              <a:rPr sz="1350">
                <a:solidFill>
                  <a:srgbClr val="EAF2F4"/>
                </a:solidFill>
                <a:latin typeface="Consolas"/>
              </a:rPr>
              <a:t>.http.get&lt;Facture[]&gt;(</a:t>
            </a:r>
          </a:p>
          <a:p>
            <a:pPr>
              <a:lnSpc>
                <a:spcPct val="100000"/>
              </a:lnSpc>
              <a:spcBef>
                <a:spcPts val="0"/>
              </a:spcBef>
              <a:spcAft>
                <a:spcPts val="0"/>
              </a:spcAft>
            </a:pPr>
            <a:r>
              <a:rPr sz="1350">
                <a:solidFill>
                  <a:srgbClr val="EAF2F4"/>
                </a:solidFill>
                <a:latin typeface="Consolas"/>
              </a:rPr>
              <a:t>      </a:t>
            </a:r>
            <a:r>
              <a:rPr sz="1350">
                <a:solidFill>
                  <a:srgbClr val="FFB3C1"/>
                </a:solidFill>
                <a:latin typeface="Consolas"/>
              </a:rPr>
              <a:t>`${this.api}/factures`</a:t>
            </a:r>
            <a:r>
              <a:rPr sz="1350">
                <a:solidFill>
                  <a:srgbClr val="EAF2F4"/>
                </a:solidFill>
                <a:latin typeface="Consolas"/>
              </a:rPr>
              <a:t>, { params: { q } })),</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 initialValue: [] },</a:t>
            </a:r>
          </a:p>
          <a:p>
            <a:pPr>
              <a:lnSpc>
                <a:spcPct val="100000"/>
              </a:lnSpc>
              <a:spcBef>
                <a:spcPts val="0"/>
              </a:spcBef>
              <a:spcAft>
                <a:spcPts val="0"/>
              </a:spcAft>
            </a:pPr>
            <a:r>
              <a:rPr sz="1350">
                <a:solidFill>
                  <a:srgbClr val="EAF2F4"/>
                </a:solidFill>
                <a:latin typeface="Consolas"/>
              </a:rPr>
              <a:t>);</a:t>
            </a:r>
          </a:p>
        </p:txBody>
      </p:sp>
      <p:graphicFrame>
        <p:nvGraphicFramePr>
          <p:cNvPr id="32" name="Table 31"/>
          <p:cNvGraphicFramePr>
            <a:graphicFrameLocks noGrp="1"/>
          </p:cNvGraphicFramePr>
          <p:nvPr/>
        </p:nvGraphicFramePr>
        <p:xfrm>
          <a:off x="10881360" y="4480560"/>
          <a:ext cx="6309359" cy="3355848"/>
        </p:xfrm>
        <a:graphic>
          <a:graphicData uri="http://schemas.openxmlformats.org/drawingml/2006/table">
            <a:tbl>
              <a:tblPr>
                <a:tableStyleId>{5C22544A-7EE6-4342-B048-85BDC9FD1C3A}</a:tableStyleId>
              </a:tblPr>
              <a:tblGrid>
                <a:gridCol w="2058372"/>
                <a:gridCol w="4250987"/>
              </a:tblGrid>
              <a:tr h="384048">
                <a:tc>
                  <a:txBody>
                    <a:bodyPr wrap="square"/>
                    <a:lstStyle/>
                    <a:p>
                      <a:pPr algn="l">
                        <a:lnSpc>
                          <a:spcPct val="100000"/>
                        </a:lnSpc>
                      </a:pPr>
                      <a:r>
                        <a:rPr b="1" sz="1250" i="0">
                          <a:solidFill>
                            <a:srgbClr val="FFFFFF"/>
                          </a:solidFill>
                          <a:latin typeface="Arial"/>
                        </a:rPr>
                        <a:t>Opérateur</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250" i="0">
                          <a:solidFill>
                            <a:srgbClr val="FFFFFF"/>
                          </a:solidFill>
                          <a:latin typeface="Arial"/>
                        </a:rPr>
                        <a:t>Usage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r>
              <a:tr h="502920">
                <a:tc>
                  <a:txBody>
                    <a:bodyPr wrap="square"/>
                    <a:lstStyle/>
                    <a:p>
                      <a:pPr algn="l">
                        <a:lnSpc>
                          <a:spcPct val="100000"/>
                        </a:lnSpc>
                      </a:pPr>
                      <a:r>
                        <a:rPr sz="1170" b="0" i="0">
                          <a:solidFill>
                            <a:srgbClr val="ED1548"/>
                          </a:solidFill>
                          <a:latin typeface="Consolas"/>
                        </a:rPr>
                        <a:t>map</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300" i="0">
                          <a:solidFill>
                            <a:srgbClr val="1B3B47"/>
                          </a:solidFill>
                          <a:latin typeface="Arial"/>
                        </a:rPr>
                        <a:t>transformer</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640080">
                <a:tc>
                  <a:txBody>
                    <a:bodyPr wrap="square"/>
                    <a:lstStyle/>
                    <a:p>
                      <a:pPr algn="l">
                        <a:lnSpc>
                          <a:spcPct val="100000"/>
                        </a:lnSpc>
                      </a:pPr>
                      <a:r>
                        <a:rPr sz="1170" b="0" i="0">
                          <a:solidFill>
                            <a:srgbClr val="ED1548"/>
                          </a:solidFill>
                          <a:latin typeface="Consolas"/>
                        </a:rPr>
                        <a:t>switchMap</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300" i="0">
                          <a:solidFill>
                            <a:srgbClr val="1B3B47"/>
                          </a:solidFill>
                          <a:latin typeface="Arial"/>
                        </a:rPr>
                        <a:t>annuler la requête précédente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502920">
                <a:tc>
                  <a:txBody>
                    <a:bodyPr wrap="square"/>
                    <a:lstStyle/>
                    <a:p>
                      <a:pPr algn="l">
                        <a:lnSpc>
                          <a:spcPct val="100000"/>
                        </a:lnSpc>
                      </a:pPr>
                      <a:r>
                        <a:rPr sz="1170" b="0" i="0">
                          <a:solidFill>
                            <a:srgbClr val="ED1548"/>
                          </a:solidFill>
                          <a:latin typeface="Consolas"/>
                        </a:rPr>
                        <a:t>catchError</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300" i="0">
                          <a:solidFill>
                            <a:srgbClr val="1B3B47"/>
                          </a:solidFill>
                          <a:latin typeface="Arial"/>
                        </a:rPr>
                        <a:t>gérer l'erreur</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640080">
                <a:tc>
                  <a:txBody>
                    <a:bodyPr wrap="square"/>
                    <a:lstStyle/>
                    <a:p>
                      <a:pPr algn="l">
                        <a:lnSpc>
                          <a:spcPct val="100000"/>
                        </a:lnSpc>
                      </a:pPr>
                      <a:r>
                        <a:rPr sz="1170" b="0" i="0">
                          <a:solidFill>
                            <a:srgbClr val="ED1548"/>
                          </a:solidFill>
                          <a:latin typeface="Consolas"/>
                        </a:rPr>
                        <a:t>debounceTime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300" i="0">
                          <a:solidFill>
                            <a:srgbClr val="1B3B47"/>
                          </a:solidFill>
                          <a:latin typeface="Arial"/>
                        </a:rPr>
                        <a:t>attendre la fin de saisie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685800">
                <a:tc>
                  <a:txBody>
                    <a:bodyPr wrap="square"/>
                    <a:lstStyle/>
                    <a:p>
                      <a:pPr algn="l">
                        <a:lnSpc>
                          <a:spcPct val="100000"/>
                        </a:lnSpc>
                      </a:pPr>
                      <a:r>
                        <a:rPr sz="1170" b="0" i="0">
                          <a:solidFill>
                            <a:srgbClr val="ED1548"/>
                          </a:solidFill>
                          <a:latin typeface="Consolas"/>
                        </a:rPr>
                        <a:t>takeUntilDestroyed</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300" i="0">
                          <a:solidFill>
                            <a:srgbClr val="1B3B47"/>
                          </a:solidFill>
                          <a:latin typeface="Arial"/>
                        </a:rPr>
                        <a:t>nettoyer à la destruction</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bl>
          </a:graphicData>
        </a:graphic>
      </p:graphicFrame>
      <p:sp>
        <p:nvSpPr>
          <p:cNvPr id="33" name="Rounded Rectangle 32"/>
          <p:cNvSpPr/>
          <p:nvPr/>
        </p:nvSpPr>
        <p:spPr>
          <a:xfrm>
            <a:off x="2606040" y="8229600"/>
            <a:ext cx="14584680" cy="1097280"/>
          </a:xfrm>
          <a:prstGeom prst="roundRect">
            <a:avLst>
              <a:gd name="adj" fmla="val 8000"/>
            </a:avLst>
          </a:prstGeom>
          <a:solidFill>
            <a:srgbClr val="FFF6E5"/>
          </a:solidFill>
          <a:ln>
            <a:noFill/>
          </a:ln>
          <a:effectLst/>
        </p:spPr>
        <p:txBody>
          <a:bodyPr rtlCol="0" anchor="ctr"/>
          <a:lstStyle/>
          <a:p>
            <a:pPr algn="ctr"/>
          </a:p>
        </p:txBody>
      </p:sp>
      <p:sp>
        <p:nvSpPr>
          <p:cNvPr id="34" name="Rectangle 33"/>
          <p:cNvSpPr/>
          <p:nvPr/>
        </p:nvSpPr>
        <p:spPr>
          <a:xfrm>
            <a:off x="2606040" y="8229600"/>
            <a:ext cx="64008" cy="1097280"/>
          </a:xfrm>
          <a:prstGeom prst="rect">
            <a:avLst/>
          </a:prstGeom>
          <a:solidFill>
            <a:srgbClr val="B26A00"/>
          </a:solidFill>
          <a:ln>
            <a:noFill/>
          </a:ln>
          <a:effectLst/>
        </p:spPr>
        <p:txBody>
          <a:bodyPr rtlCol="0" anchor="ctr"/>
          <a:lstStyle/>
          <a:p>
            <a:pPr algn="ctr"/>
          </a:p>
        </p:txBody>
      </p:sp>
      <p:sp>
        <p:nvSpPr>
          <p:cNvPr id="35" name="TextBox 34"/>
          <p:cNvSpPr txBox="1"/>
          <p:nvPr/>
        </p:nvSpPr>
        <p:spPr>
          <a:xfrm>
            <a:off x="2898648" y="8394192"/>
            <a:ext cx="14081759"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B26A00"/>
                </a:solidFill>
                <a:latin typeface="Arial"/>
              </a:rPr>
              <a:t>LE RÉFLEXE</a:t>
            </a:r>
          </a:p>
        </p:txBody>
      </p:sp>
      <p:sp>
        <p:nvSpPr>
          <p:cNvPr id="36" name="TextBox 35"/>
          <p:cNvSpPr txBox="1"/>
          <p:nvPr/>
        </p:nvSpPr>
        <p:spPr>
          <a:xfrm>
            <a:off x="2898648" y="8686800"/>
            <a:ext cx="14036040" cy="530352"/>
          </a:xfrm>
          <a:prstGeom prst="rect">
            <a:avLst/>
          </a:prstGeom>
          <a:noFill/>
        </p:spPr>
        <p:txBody>
          <a:bodyPr wrap="square" lIns="0" rIns="0" tIns="0" bIns="0" anchor="t">
            <a:noAutofit/>
          </a:bodyPr>
          <a:lstStyle/>
          <a:p>
            <a:pPr algn="l">
              <a:lnSpc>
                <a:spcPct val="106000"/>
              </a:lnSpc>
              <a:spcBef>
                <a:spcPts val="0"/>
              </a:spcBef>
              <a:spcAft>
                <a:spcPts val="0"/>
              </a:spcAft>
            </a:pPr>
            <a:r>
              <a:rPr b="0" sz="1450" i="0">
                <a:solidFill>
                  <a:srgbClr val="1B3B47"/>
                </a:solidFill>
                <a:latin typeface="Arial"/>
              </a:rPr>
              <a:t>Sans </a:t>
            </a:r>
            <a:r>
              <a:rPr sz="1305" b="0" i="0">
                <a:solidFill>
                  <a:srgbClr val="B26A00"/>
                </a:solidFill>
                <a:latin typeface="Consolas"/>
              </a:rPr>
              <a:t>subscribe</a:t>
            </a:r>
            <a:r>
              <a:rPr b="0" sz="1450" i="0">
                <a:solidFill>
                  <a:srgbClr val="1B3B47"/>
                </a:solidFill>
                <a:latin typeface="Arial"/>
              </a:rPr>
              <a:t> (ou </a:t>
            </a:r>
            <a:r>
              <a:rPr sz="1305" b="0" i="0">
                <a:solidFill>
                  <a:srgbClr val="B26A00"/>
                </a:solidFill>
                <a:latin typeface="Consolas"/>
              </a:rPr>
              <a:t>toSignal</a:t>
            </a:r>
            <a:r>
              <a:rPr b="0" sz="1450" i="0">
                <a:solidFill>
                  <a:srgbClr val="1B3B47"/>
                </a:solidFill>
                <a:latin typeface="Arial"/>
              </a:rPr>
              <a:t>/</a:t>
            </a:r>
            <a:r>
              <a:rPr sz="1305" b="0" i="0">
                <a:solidFill>
                  <a:srgbClr val="B26A00"/>
                </a:solidFill>
                <a:latin typeface="Consolas"/>
              </a:rPr>
              <a:t>async</a:t>
            </a:r>
            <a:r>
              <a:rPr b="0" sz="1450" i="0">
                <a:solidFill>
                  <a:srgbClr val="1B3B47"/>
                </a:solidFill>
                <a:latin typeface="Arial"/>
              </a:rPr>
              <a:t>), la requête ne part jamais. Un Observable froid n'est pas une Promise.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2  ·  RXJS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Une recherche réactive, sans course</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sz="1800" b="0" i="0">
                <a:solidFill>
                  <a:srgbClr val="ED1548"/>
                </a:solidFill>
                <a:latin typeface="Consolas"/>
              </a:rPr>
              <a:t>switchMap</a:t>
            </a:r>
            <a:r>
              <a:rPr b="0" sz="2000" i="0">
                <a:solidFill>
                  <a:srgbClr val="5C6E76"/>
                </a:solidFill>
                <a:latin typeface="Arial"/>
              </a:rPr>
              <a:t> annule la requête précédente quand la saisie change.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30 / 62</a:t>
            </a:r>
          </a:p>
        </p:txBody>
      </p:sp>
      <p:sp>
        <p:nvSpPr>
          <p:cNvPr id="9" name="Rounded Rectangle 8"/>
          <p:cNvSpPr/>
          <p:nvPr/>
        </p:nvSpPr>
        <p:spPr>
          <a:xfrm>
            <a:off x="2606040" y="3063240"/>
            <a:ext cx="8549640" cy="502920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p>
        </p:txBody>
      </p:sp>
      <p:sp>
        <p:nvSpPr>
          <p:cNvPr id="11" name="TextBox 10"/>
          <p:cNvSpPr txBox="1"/>
          <p:nvPr/>
        </p:nvSpPr>
        <p:spPr>
          <a:xfrm>
            <a:off x="2990088" y="3172968"/>
            <a:ext cx="790956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facture-search.ts</a:t>
            </a:r>
          </a:p>
        </p:txBody>
      </p:sp>
      <p:sp>
        <p:nvSpPr>
          <p:cNvPr id="12" name="TextBox 11"/>
          <p:cNvSpPr txBox="1"/>
          <p:nvPr/>
        </p:nvSpPr>
        <p:spPr>
          <a:xfrm>
            <a:off x="2852928" y="3538728"/>
            <a:ext cx="8092440" cy="4389120"/>
          </a:xfrm>
          <a:prstGeom prst="rect">
            <a:avLst/>
          </a:prstGeom>
          <a:noFill/>
        </p:spPr>
        <p:txBody>
          <a:bodyPr wrap="none" lIns="0" rIns="0" tIns="0" bIns="0">
            <a:noAutofit/>
          </a:bodyPr>
          <a:lstStyle/>
          <a:p>
            <a:pPr>
              <a:lnSpc>
                <a:spcPct val="100000"/>
              </a:lnSpc>
              <a:spcBef>
                <a:spcPts val="0"/>
              </a:spcBef>
              <a:spcAft>
                <a:spcPts val="0"/>
              </a:spcAft>
            </a:pPr>
            <a:r>
              <a:rPr sz="1350">
                <a:solidFill>
                  <a:srgbClr val="EAF2F4"/>
                </a:solidFill>
                <a:latin typeface="Consolas"/>
              </a:rPr>
              <a:t>query = signal(</a:t>
            </a:r>
            <a:r>
              <a:rPr sz="1350">
                <a:solidFill>
                  <a:srgbClr val="FFB3C1"/>
                </a:solidFill>
                <a:latin typeface="Consolas"/>
              </a:rPr>
              <a:t>''</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resultats = toSignal(</a:t>
            </a:r>
          </a:p>
          <a:p>
            <a:pPr>
              <a:lnSpc>
                <a:spcPct val="100000"/>
              </a:lnSpc>
              <a:spcBef>
                <a:spcPts val="0"/>
              </a:spcBef>
              <a:spcAft>
                <a:spcPts val="0"/>
              </a:spcAft>
            </a:pPr>
            <a:r>
              <a:rPr sz="1350">
                <a:solidFill>
                  <a:srgbClr val="EAF2F4"/>
                </a:solidFill>
                <a:latin typeface="Consolas"/>
              </a:rPr>
              <a:t>  toObservable(</a:t>
            </a:r>
            <a:r>
              <a:rPr sz="1350">
                <a:solidFill>
                  <a:srgbClr val="7FD1E0"/>
                </a:solidFill>
                <a:latin typeface="Consolas"/>
              </a:rPr>
              <a:t>this</a:t>
            </a:r>
            <a:r>
              <a:rPr sz="1350">
                <a:solidFill>
                  <a:srgbClr val="EAF2F4"/>
                </a:solidFill>
                <a:latin typeface="Consolas"/>
              </a:rPr>
              <a:t>.query).pipe(</a:t>
            </a:r>
          </a:p>
          <a:p>
            <a:pPr>
              <a:lnSpc>
                <a:spcPct val="100000"/>
              </a:lnSpc>
              <a:spcBef>
                <a:spcPts val="0"/>
              </a:spcBef>
              <a:spcAft>
                <a:spcPts val="0"/>
              </a:spcAft>
            </a:pPr>
            <a:r>
              <a:rPr sz="1350">
                <a:solidFill>
                  <a:srgbClr val="EAF2F4"/>
                </a:solidFill>
                <a:latin typeface="Consolas"/>
              </a:rPr>
              <a:t>    debounceTime(</a:t>
            </a:r>
            <a:r>
              <a:rPr sz="1350">
                <a:solidFill>
                  <a:srgbClr val="FFD166"/>
                </a:solidFill>
                <a:latin typeface="Consolas"/>
              </a:rPr>
              <a:t>300</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    distinctUntilChanged(),</a:t>
            </a:r>
          </a:p>
          <a:p>
            <a:pPr>
              <a:lnSpc>
                <a:spcPct val="100000"/>
              </a:lnSpc>
              <a:spcBef>
                <a:spcPts val="0"/>
              </a:spcBef>
              <a:spcAft>
                <a:spcPts val="0"/>
              </a:spcAft>
            </a:pPr>
            <a:r>
              <a:rPr sz="1350">
                <a:solidFill>
                  <a:srgbClr val="EAF2F4"/>
                </a:solidFill>
                <a:latin typeface="Consolas"/>
              </a:rPr>
              <a:t>    switchMap(q =&gt;</a:t>
            </a:r>
          </a:p>
          <a:p>
            <a:pPr>
              <a:lnSpc>
                <a:spcPct val="100000"/>
              </a:lnSpc>
              <a:spcBef>
                <a:spcPts val="0"/>
              </a:spcBef>
              <a:spcAft>
                <a:spcPts val="0"/>
              </a:spcAft>
            </a:pPr>
            <a:r>
              <a:rPr sz="1350">
                <a:solidFill>
                  <a:srgbClr val="EAF2F4"/>
                </a:solidFill>
                <a:latin typeface="Consolas"/>
              </a:rPr>
              <a:t>      q.length &lt; </a:t>
            </a:r>
            <a:r>
              <a:rPr sz="1350">
                <a:solidFill>
                  <a:srgbClr val="FFD166"/>
                </a:solidFill>
                <a:latin typeface="Consolas"/>
              </a:rPr>
              <a:t>2</a:t>
            </a:r>
          </a:p>
          <a:p>
            <a:pPr>
              <a:lnSpc>
                <a:spcPct val="100000"/>
              </a:lnSpc>
              <a:spcBef>
                <a:spcPts val="0"/>
              </a:spcBef>
              <a:spcAft>
                <a:spcPts val="0"/>
              </a:spcAft>
            </a:pPr>
            <a:r>
              <a:rPr sz="1350">
                <a:solidFill>
                  <a:srgbClr val="EAF2F4"/>
                </a:solidFill>
                <a:latin typeface="Consolas"/>
              </a:rPr>
              <a:t>        ? </a:t>
            </a:r>
            <a:r>
              <a:rPr sz="1350">
                <a:solidFill>
                  <a:srgbClr val="7FD1E0"/>
                </a:solidFill>
                <a:latin typeface="Consolas"/>
              </a:rPr>
              <a:t>of</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        : </a:t>
            </a:r>
            <a:r>
              <a:rPr sz="1350">
                <a:solidFill>
                  <a:srgbClr val="7FD1E0"/>
                </a:solidFill>
                <a:latin typeface="Consolas"/>
              </a:rPr>
              <a:t>this</a:t>
            </a:r>
            <a:r>
              <a:rPr sz="1350">
                <a:solidFill>
                  <a:srgbClr val="EAF2F4"/>
                </a:solidFill>
                <a:latin typeface="Consolas"/>
              </a:rPr>
              <a:t>.http.get&lt;Facture[]&gt;(</a:t>
            </a:r>
            <a:r>
              <a:rPr sz="1350">
                <a:solidFill>
                  <a:srgbClr val="FFB3C1"/>
                </a:solidFill>
                <a:latin typeface="Consolas"/>
              </a:rPr>
              <a:t>`${this.api}/factures`</a:t>
            </a: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params: { q },</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catchError(() =&gt; </a:t>
            </a:r>
            <a:r>
              <a:rPr sz="1350">
                <a:solidFill>
                  <a:srgbClr val="7FD1E0"/>
                </a:solidFill>
                <a:latin typeface="Consolas"/>
              </a:rPr>
              <a:t>of</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 initialValue: [] },</a:t>
            </a:r>
          </a:p>
          <a:p>
            <a:pPr>
              <a:lnSpc>
                <a:spcPct val="100000"/>
              </a:lnSpc>
              <a:spcBef>
                <a:spcPts val="0"/>
              </a:spcBef>
              <a:spcAft>
                <a:spcPts val="0"/>
              </a:spcAft>
            </a:pPr>
            <a:r>
              <a:rPr sz="1350">
                <a:solidFill>
                  <a:srgbClr val="EAF2F4"/>
                </a:solidFill>
                <a:latin typeface="Consolas"/>
              </a:rPr>
              <a:t>);</a:t>
            </a:r>
          </a:p>
        </p:txBody>
      </p:sp>
      <p:sp>
        <p:nvSpPr>
          <p:cNvPr id="13" name="Rounded Rectangle 12"/>
          <p:cNvSpPr/>
          <p:nvPr/>
        </p:nvSpPr>
        <p:spPr>
          <a:xfrm>
            <a:off x="11475720" y="3063240"/>
            <a:ext cx="5715000" cy="160020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4" name="Rectangle 13"/>
          <p:cNvSpPr/>
          <p:nvPr/>
        </p:nvSpPr>
        <p:spPr>
          <a:xfrm>
            <a:off x="11475720" y="3063240"/>
            <a:ext cx="5715000" cy="50292"/>
          </a:xfrm>
          <a:prstGeom prst="rect">
            <a:avLst/>
          </a:prstGeom>
          <a:solidFill>
            <a:srgbClr val="B26A00"/>
          </a:solidFill>
          <a:ln>
            <a:noFill/>
          </a:ln>
          <a:effectLst/>
        </p:spPr>
        <p:txBody>
          <a:bodyPr rtlCol="0" anchor="ctr"/>
          <a:lstStyle/>
          <a:p>
            <a:pPr algn="ctr"/>
          </a:p>
        </p:txBody>
      </p:sp>
      <p:sp>
        <p:nvSpPr>
          <p:cNvPr id="15" name="TextBox 14"/>
          <p:cNvSpPr txBox="1"/>
          <p:nvPr/>
        </p:nvSpPr>
        <p:spPr>
          <a:xfrm>
            <a:off x="11750040" y="3319272"/>
            <a:ext cx="5303520" cy="411480"/>
          </a:xfrm>
          <a:prstGeom prst="rect">
            <a:avLst/>
          </a:prstGeom>
          <a:noFill/>
        </p:spPr>
        <p:txBody>
          <a:bodyPr wrap="square" lIns="0" rIns="0" tIns="0" bIns="0" anchor="t">
            <a:noAutofit/>
          </a:bodyPr>
          <a:lstStyle/>
          <a:p>
            <a:pPr algn="l">
              <a:lnSpc>
                <a:spcPct val="102000"/>
              </a:lnSpc>
              <a:spcBef>
                <a:spcPts val="0"/>
              </a:spcBef>
              <a:spcAft>
                <a:spcPts val="0"/>
              </a:spcAft>
            </a:pPr>
            <a:r>
              <a:rPr sz="1395" b="1" i="0">
                <a:solidFill>
                  <a:srgbClr val="B26A00"/>
                </a:solidFill>
                <a:latin typeface="Consolas"/>
              </a:rPr>
              <a:t>mergeMap</a:t>
            </a:r>
          </a:p>
        </p:txBody>
      </p:sp>
      <p:sp>
        <p:nvSpPr>
          <p:cNvPr id="16" name="TextBox 15"/>
          <p:cNvSpPr txBox="1"/>
          <p:nvPr/>
        </p:nvSpPr>
        <p:spPr>
          <a:xfrm>
            <a:off x="11750040" y="3758183"/>
            <a:ext cx="5303520" cy="731520"/>
          </a:xfrm>
          <a:prstGeom prst="rect">
            <a:avLst/>
          </a:prstGeom>
          <a:noFill/>
        </p:spPr>
        <p:txBody>
          <a:bodyPr wrap="square" lIns="0" rIns="0" tIns="0" bIns="0" anchor="t">
            <a:noAutofit/>
          </a:bodyPr>
          <a:lstStyle/>
          <a:p>
            <a:pPr algn="l">
              <a:lnSpc>
                <a:spcPct val="108000"/>
              </a:lnSpc>
              <a:spcBef>
                <a:spcPts val="0"/>
              </a:spcBef>
              <a:spcAft>
                <a:spcPts val="0"/>
              </a:spcAft>
            </a:pPr>
            <a:r>
              <a:rPr b="0" sz="1350" i="0">
                <a:solidFill>
                  <a:srgbClr val="1B3B47"/>
                </a:solidFill>
                <a:latin typeface="Arial"/>
              </a:rPr>
              <a:t>Laisse les réponses arriver dans le désordre : la plus lente peut écraser la plus récente.</a:t>
            </a:r>
          </a:p>
        </p:txBody>
      </p:sp>
      <p:sp>
        <p:nvSpPr>
          <p:cNvPr id="17" name="Rounded Rectangle 16"/>
          <p:cNvSpPr/>
          <p:nvPr/>
        </p:nvSpPr>
        <p:spPr>
          <a:xfrm>
            <a:off x="11475720" y="4846320"/>
            <a:ext cx="5715000" cy="160020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8" name="Rectangle 17"/>
          <p:cNvSpPr/>
          <p:nvPr/>
        </p:nvSpPr>
        <p:spPr>
          <a:xfrm>
            <a:off x="11475720" y="4846320"/>
            <a:ext cx="5715000" cy="50292"/>
          </a:xfrm>
          <a:prstGeom prst="rect">
            <a:avLst/>
          </a:prstGeom>
          <a:solidFill>
            <a:srgbClr val="B26A00"/>
          </a:solidFill>
          <a:ln>
            <a:noFill/>
          </a:ln>
          <a:effectLst/>
        </p:spPr>
        <p:txBody>
          <a:bodyPr rtlCol="0" anchor="ctr"/>
          <a:lstStyle/>
          <a:p>
            <a:pPr algn="ctr"/>
          </a:p>
        </p:txBody>
      </p:sp>
      <p:sp>
        <p:nvSpPr>
          <p:cNvPr id="19" name="TextBox 18"/>
          <p:cNvSpPr txBox="1"/>
          <p:nvPr/>
        </p:nvSpPr>
        <p:spPr>
          <a:xfrm>
            <a:off x="11750040" y="5102352"/>
            <a:ext cx="5303520" cy="411480"/>
          </a:xfrm>
          <a:prstGeom prst="rect">
            <a:avLst/>
          </a:prstGeom>
          <a:noFill/>
        </p:spPr>
        <p:txBody>
          <a:bodyPr wrap="square" lIns="0" rIns="0" tIns="0" bIns="0" anchor="t">
            <a:noAutofit/>
          </a:bodyPr>
          <a:lstStyle/>
          <a:p>
            <a:pPr algn="l">
              <a:lnSpc>
                <a:spcPct val="102000"/>
              </a:lnSpc>
              <a:spcBef>
                <a:spcPts val="0"/>
              </a:spcBef>
              <a:spcAft>
                <a:spcPts val="0"/>
              </a:spcAft>
            </a:pPr>
            <a:r>
              <a:rPr b="1" sz="1550" i="0">
                <a:solidFill>
                  <a:srgbClr val="B26A00"/>
                </a:solidFill>
                <a:latin typeface="Arial"/>
              </a:rPr>
              <a:t>Pas de </a:t>
            </a:r>
            <a:r>
              <a:rPr sz="1395" b="1" i="0">
                <a:solidFill>
                  <a:srgbClr val="B26A00"/>
                </a:solidFill>
                <a:latin typeface="Consolas"/>
              </a:rPr>
              <a:t>debounceTime</a:t>
            </a:r>
          </a:p>
        </p:txBody>
      </p:sp>
      <p:sp>
        <p:nvSpPr>
          <p:cNvPr id="20" name="TextBox 19"/>
          <p:cNvSpPr txBox="1"/>
          <p:nvPr/>
        </p:nvSpPr>
        <p:spPr>
          <a:xfrm>
            <a:off x="11750040" y="5541264"/>
            <a:ext cx="5303520" cy="731520"/>
          </a:xfrm>
          <a:prstGeom prst="rect">
            <a:avLst/>
          </a:prstGeom>
          <a:noFill/>
        </p:spPr>
        <p:txBody>
          <a:bodyPr wrap="square" lIns="0" rIns="0" tIns="0" bIns="0" anchor="t">
            <a:noAutofit/>
          </a:bodyPr>
          <a:lstStyle/>
          <a:p>
            <a:pPr algn="l">
              <a:lnSpc>
                <a:spcPct val="108000"/>
              </a:lnSpc>
              <a:spcBef>
                <a:spcPts val="0"/>
              </a:spcBef>
              <a:spcAft>
                <a:spcPts val="0"/>
              </a:spcAft>
            </a:pPr>
            <a:r>
              <a:rPr b="0" sz="1350" i="0">
                <a:solidFill>
                  <a:srgbClr val="1B3B47"/>
                </a:solidFill>
                <a:latin typeface="Arial"/>
              </a:rPr>
              <a:t>Une requête par frappe : inutile et coûteux.</a:t>
            </a:r>
          </a:p>
        </p:txBody>
      </p:sp>
      <p:sp>
        <p:nvSpPr>
          <p:cNvPr id="21" name="Rounded Rectangle 20"/>
          <p:cNvSpPr/>
          <p:nvPr/>
        </p:nvSpPr>
        <p:spPr>
          <a:xfrm>
            <a:off x="11475720" y="6629400"/>
            <a:ext cx="5715000" cy="160020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2" name="Rectangle 21"/>
          <p:cNvSpPr/>
          <p:nvPr/>
        </p:nvSpPr>
        <p:spPr>
          <a:xfrm>
            <a:off x="11475720" y="6629400"/>
            <a:ext cx="5715000" cy="50292"/>
          </a:xfrm>
          <a:prstGeom prst="rect">
            <a:avLst/>
          </a:prstGeom>
          <a:solidFill>
            <a:srgbClr val="ED1548"/>
          </a:solidFill>
          <a:ln>
            <a:noFill/>
          </a:ln>
          <a:effectLst/>
        </p:spPr>
        <p:txBody>
          <a:bodyPr rtlCol="0" anchor="ctr"/>
          <a:lstStyle/>
          <a:p>
            <a:pPr algn="ctr"/>
          </a:p>
        </p:txBody>
      </p:sp>
      <p:sp>
        <p:nvSpPr>
          <p:cNvPr id="23" name="TextBox 22"/>
          <p:cNvSpPr txBox="1"/>
          <p:nvPr/>
        </p:nvSpPr>
        <p:spPr>
          <a:xfrm>
            <a:off x="11750040" y="6885432"/>
            <a:ext cx="5303520" cy="411480"/>
          </a:xfrm>
          <a:prstGeom prst="rect">
            <a:avLst/>
          </a:prstGeom>
          <a:noFill/>
        </p:spPr>
        <p:txBody>
          <a:bodyPr wrap="square" lIns="0" rIns="0" tIns="0" bIns="0" anchor="t">
            <a:noAutofit/>
          </a:bodyPr>
          <a:lstStyle/>
          <a:p>
            <a:pPr algn="l">
              <a:lnSpc>
                <a:spcPct val="102000"/>
              </a:lnSpc>
              <a:spcBef>
                <a:spcPts val="0"/>
              </a:spcBef>
              <a:spcAft>
                <a:spcPts val="0"/>
              </a:spcAft>
            </a:pPr>
            <a:r>
              <a:rPr sz="1395" b="1" i="0">
                <a:solidFill>
                  <a:srgbClr val="ED1548"/>
                </a:solidFill>
                <a:latin typeface="Consolas"/>
              </a:rPr>
              <a:t>subscribe</a:t>
            </a:r>
            <a:r>
              <a:rPr b="1" sz="1550" i="0">
                <a:solidFill>
                  <a:srgbClr val="ED1548"/>
                </a:solidFill>
                <a:latin typeface="Arial"/>
              </a:rPr>
              <a:t> manuel</a:t>
            </a:r>
          </a:p>
        </p:txBody>
      </p:sp>
      <p:sp>
        <p:nvSpPr>
          <p:cNvPr id="24" name="TextBox 23"/>
          <p:cNvSpPr txBox="1"/>
          <p:nvPr/>
        </p:nvSpPr>
        <p:spPr>
          <a:xfrm>
            <a:off x="11750040" y="7324344"/>
            <a:ext cx="5303520" cy="731520"/>
          </a:xfrm>
          <a:prstGeom prst="rect">
            <a:avLst/>
          </a:prstGeom>
          <a:noFill/>
        </p:spPr>
        <p:txBody>
          <a:bodyPr wrap="square" lIns="0" rIns="0" tIns="0" bIns="0" anchor="t">
            <a:noAutofit/>
          </a:bodyPr>
          <a:lstStyle/>
          <a:p>
            <a:pPr algn="l">
              <a:lnSpc>
                <a:spcPct val="108000"/>
              </a:lnSpc>
              <a:spcBef>
                <a:spcPts val="0"/>
              </a:spcBef>
              <a:spcAft>
                <a:spcPts val="0"/>
              </a:spcAft>
            </a:pPr>
            <a:r>
              <a:rPr b="0" sz="1350" i="0">
                <a:solidFill>
                  <a:srgbClr val="1B3B47"/>
                </a:solidFill>
                <a:latin typeface="Arial"/>
              </a:rPr>
              <a:t>Fuite si l'on oublie de se désabonner. Préférer </a:t>
            </a:r>
            <a:r>
              <a:rPr sz="1215" b="0" i="0">
                <a:solidFill>
                  <a:srgbClr val="ED1548"/>
                </a:solidFill>
                <a:latin typeface="Consolas"/>
              </a:rPr>
              <a:t>toSignal</a:t>
            </a:r>
            <a:r>
              <a:rPr b="0" sz="1350" i="0">
                <a:solidFill>
                  <a:srgbClr val="1B3B47"/>
                </a:solidFill>
                <a:latin typeface="Arial"/>
              </a:rPr>
              <a:t> ou </a:t>
            </a:r>
            <a:r>
              <a:rPr sz="1215" b="0" i="0">
                <a:solidFill>
                  <a:srgbClr val="ED1548"/>
                </a:solidFill>
                <a:latin typeface="Consolas"/>
              </a:rPr>
              <a:t>takeUntilDestroyed</a:t>
            </a:r>
            <a:r>
              <a:rPr b="0" sz="1350" i="0">
                <a:solidFill>
                  <a:srgbClr val="1B3B47"/>
                </a:solidFill>
                <a:latin typeface="Arial"/>
              </a:rPr>
              <a:t>.</a:t>
            </a:r>
          </a:p>
        </p:txBody>
      </p:sp>
      <p:sp>
        <p:nvSpPr>
          <p:cNvPr id="25" name="Rounded Rectangle 24"/>
          <p:cNvSpPr/>
          <p:nvPr/>
        </p:nvSpPr>
        <p:spPr>
          <a:xfrm>
            <a:off x="2606040" y="8366760"/>
            <a:ext cx="8549640" cy="777240"/>
          </a:xfrm>
          <a:prstGeom prst="roundRect">
            <a:avLst>
              <a:gd name="adj" fmla="val 8000"/>
            </a:avLst>
          </a:prstGeom>
          <a:solidFill>
            <a:srgbClr val="EBF6F8"/>
          </a:solidFill>
          <a:ln>
            <a:noFill/>
          </a:ln>
          <a:effectLst/>
        </p:spPr>
        <p:txBody>
          <a:bodyPr rtlCol="0" anchor="ctr"/>
          <a:lstStyle/>
          <a:p>
            <a:pPr algn="ctr"/>
          </a:p>
        </p:txBody>
      </p:sp>
      <p:sp>
        <p:nvSpPr>
          <p:cNvPr id="26" name="Rectangle 25"/>
          <p:cNvSpPr/>
          <p:nvPr/>
        </p:nvSpPr>
        <p:spPr>
          <a:xfrm>
            <a:off x="2606040" y="8366760"/>
            <a:ext cx="64008" cy="777240"/>
          </a:xfrm>
          <a:prstGeom prst="rect">
            <a:avLst/>
          </a:prstGeom>
          <a:solidFill>
            <a:srgbClr val="0B4F6C"/>
          </a:solidFill>
          <a:ln>
            <a:noFill/>
          </a:ln>
          <a:effectLst/>
        </p:spPr>
        <p:txBody>
          <a:bodyPr rtlCol="0" anchor="ctr"/>
          <a:lstStyle/>
          <a:p>
            <a:pPr algn="ctr"/>
          </a:p>
        </p:txBody>
      </p:sp>
      <p:sp>
        <p:nvSpPr>
          <p:cNvPr id="27" name="TextBox 26"/>
          <p:cNvSpPr txBox="1"/>
          <p:nvPr/>
        </p:nvSpPr>
        <p:spPr>
          <a:xfrm>
            <a:off x="2898648" y="8531352"/>
            <a:ext cx="8046719"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LE BON RÉFLEXE</a:t>
            </a:r>
          </a:p>
        </p:txBody>
      </p:sp>
      <p:sp>
        <p:nvSpPr>
          <p:cNvPr id="28" name="TextBox 27"/>
          <p:cNvSpPr txBox="1"/>
          <p:nvPr/>
        </p:nvSpPr>
        <p:spPr>
          <a:xfrm>
            <a:off x="2898648" y="8823960"/>
            <a:ext cx="8001000" cy="210311"/>
          </a:xfrm>
          <a:prstGeom prst="rect">
            <a:avLst/>
          </a:prstGeom>
          <a:noFill/>
        </p:spPr>
        <p:txBody>
          <a:bodyPr wrap="square" lIns="0" rIns="0" tIns="0" bIns="0" anchor="t">
            <a:noAutofit/>
          </a:bodyPr>
          <a:lstStyle/>
          <a:p>
            <a:pPr algn="l">
              <a:lnSpc>
                <a:spcPct val="106000"/>
              </a:lnSpc>
              <a:spcBef>
                <a:spcPts val="0"/>
              </a:spcBef>
              <a:spcAft>
                <a:spcPts val="0"/>
              </a:spcAft>
            </a:pPr>
            <a:r>
              <a:rPr sz="1260" b="0" i="0">
                <a:solidFill>
                  <a:srgbClr val="0B4F6C"/>
                </a:solidFill>
                <a:latin typeface="Consolas"/>
              </a:rPr>
              <a:t>switchMap</a:t>
            </a:r>
            <a:r>
              <a:rPr b="0" sz="1400" i="0">
                <a:solidFill>
                  <a:srgbClr val="1B3B47"/>
                </a:solidFill>
                <a:latin typeface="Arial"/>
              </a:rPr>
              <a:t> + </a:t>
            </a:r>
            <a:r>
              <a:rPr sz="1260" b="0" i="0">
                <a:solidFill>
                  <a:srgbClr val="0B4F6C"/>
                </a:solidFill>
                <a:latin typeface="Consolas"/>
              </a:rPr>
              <a:t>debounceTime</a:t>
            </a:r>
            <a:r>
              <a:rPr b="0" sz="1400" i="0">
                <a:solidFill>
                  <a:srgbClr val="1B3B47"/>
                </a:solidFill>
                <a:latin typeface="Arial"/>
              </a:rPr>
              <a:t> + </a:t>
            </a:r>
            <a:r>
              <a:rPr sz="1260" b="0" i="0">
                <a:solidFill>
                  <a:srgbClr val="0B4F6C"/>
                </a:solidFill>
                <a:latin typeface="Consolas"/>
              </a:rPr>
              <a:t>distinctUntilChanged</a:t>
            </a:r>
            <a:r>
              <a:rPr b="0" sz="1400" i="0">
                <a:solidFill>
                  <a:srgbClr val="1B3B47"/>
                </a:solidFill>
                <a:latin typeface="Arial"/>
              </a:rPr>
              <a:t> : le trio de toute recherche.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2  ·  TP 2</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FactureService en HttpClient</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Objectif : lister, lire, créer, modifier, supprimer — avec loading et erreur.</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31 / 62</a:t>
            </a:r>
          </a:p>
        </p:txBody>
      </p:sp>
      <p:sp>
        <p:nvSpPr>
          <p:cNvPr id="9" name="Oval 8"/>
          <p:cNvSpPr/>
          <p:nvPr/>
        </p:nvSpPr>
        <p:spPr>
          <a:xfrm>
            <a:off x="2606040" y="3081528"/>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1</a:t>
            </a:r>
          </a:p>
        </p:txBody>
      </p:sp>
      <p:sp>
        <p:nvSpPr>
          <p:cNvPr id="10" name="TextBox 9"/>
          <p:cNvSpPr txBox="1"/>
          <p:nvPr/>
        </p:nvSpPr>
        <p:spPr>
          <a:xfrm>
            <a:off x="3108960" y="3081528"/>
            <a:ext cx="8001000" cy="835151"/>
          </a:xfrm>
          <a:prstGeom prst="rect">
            <a:avLst/>
          </a:prstGeom>
          <a:noFill/>
        </p:spPr>
        <p:txBody>
          <a:bodyPr wrap="square" lIns="0" rIns="0" tIns="0" bIns="0" anchor="t">
            <a:noAutofit/>
          </a:bodyPr>
          <a:lstStyle/>
          <a:p>
            <a:pPr algn="l">
              <a:lnSpc>
                <a:spcPct val="106000"/>
              </a:lnSpc>
              <a:spcBef>
                <a:spcPts val="0"/>
              </a:spcBef>
              <a:spcAft>
                <a:spcPts val="0"/>
              </a:spcAft>
            </a:pPr>
            <a:r>
              <a:rPr b="0" sz="1700" i="0">
                <a:solidFill>
                  <a:srgbClr val="1B3B47"/>
                </a:solidFill>
                <a:latin typeface="Arial"/>
              </a:rPr>
              <a:t>Centraliser </a:t>
            </a:r>
            <a:r>
              <a:rPr sz="1530" b="0" i="0">
                <a:solidFill>
                  <a:srgbClr val="ED1548"/>
                </a:solidFill>
                <a:latin typeface="Consolas"/>
              </a:rPr>
              <a:t>apiUrl</a:t>
            </a:r>
            <a:r>
              <a:rPr b="0" sz="1700" i="0">
                <a:solidFill>
                  <a:srgbClr val="1B3B47"/>
                </a:solidFill>
                <a:latin typeface="Arial"/>
              </a:rPr>
              <a:t> (</a:t>
            </a:r>
            <a:r>
              <a:rPr sz="1530" b="0" i="0">
                <a:solidFill>
                  <a:srgbClr val="ED1548"/>
                </a:solidFill>
                <a:latin typeface="Consolas"/>
              </a:rPr>
              <a:t>http://localhost:3000</a:t>
            </a:r>
            <a:r>
              <a:rPr b="0" sz="1700" i="0">
                <a:solidFill>
                  <a:srgbClr val="1B3B47"/>
                </a:solidFill>
                <a:latin typeface="Arial"/>
              </a:rPr>
              <a:t>) ; HttpClient est déjà fourni.</a:t>
            </a:r>
          </a:p>
        </p:txBody>
      </p:sp>
      <p:sp>
        <p:nvSpPr>
          <p:cNvPr id="11" name="Oval 10"/>
          <p:cNvSpPr/>
          <p:nvPr/>
        </p:nvSpPr>
        <p:spPr>
          <a:xfrm>
            <a:off x="2606040" y="4062984"/>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2</a:t>
            </a:r>
          </a:p>
        </p:txBody>
      </p:sp>
      <p:sp>
        <p:nvSpPr>
          <p:cNvPr id="12" name="TextBox 11"/>
          <p:cNvSpPr txBox="1"/>
          <p:nvPr/>
        </p:nvSpPr>
        <p:spPr>
          <a:xfrm>
            <a:off x="3108960" y="4062984"/>
            <a:ext cx="8001000" cy="835151"/>
          </a:xfrm>
          <a:prstGeom prst="rect">
            <a:avLst/>
          </a:prstGeom>
          <a:noFill/>
        </p:spPr>
        <p:txBody>
          <a:bodyPr wrap="square" lIns="0" rIns="0" tIns="0" bIns="0" anchor="t">
            <a:noAutofit/>
          </a:bodyPr>
          <a:lstStyle/>
          <a:p>
            <a:pPr algn="l">
              <a:lnSpc>
                <a:spcPct val="106000"/>
              </a:lnSpc>
              <a:spcBef>
                <a:spcPts val="0"/>
              </a:spcBef>
              <a:spcAft>
                <a:spcPts val="0"/>
              </a:spcAft>
            </a:pPr>
            <a:r>
              <a:rPr sz="1530" b="0" i="0">
                <a:solidFill>
                  <a:srgbClr val="ED1548"/>
                </a:solidFill>
                <a:latin typeface="Consolas"/>
              </a:rPr>
              <a:t>list(params)</a:t>
            </a:r>
            <a:r>
              <a:rPr b="0" sz="1700" i="0">
                <a:solidFill>
                  <a:srgbClr val="1B3B47"/>
                </a:solidFill>
                <a:latin typeface="Arial"/>
              </a:rPr>
              <a:t>, </a:t>
            </a:r>
            <a:r>
              <a:rPr sz="1530" b="0" i="0">
                <a:solidFill>
                  <a:srgbClr val="ED1548"/>
                </a:solidFill>
                <a:latin typeface="Consolas"/>
              </a:rPr>
              <a:t>get(id)</a:t>
            </a:r>
            <a:r>
              <a:rPr b="0" sz="1700" i="0">
                <a:solidFill>
                  <a:srgbClr val="1B3B47"/>
                </a:solidFill>
                <a:latin typeface="Arial"/>
              </a:rPr>
              <a:t>, </a:t>
            </a:r>
            <a:r>
              <a:rPr sz="1530" b="0" i="0">
                <a:solidFill>
                  <a:srgbClr val="ED1548"/>
                </a:solidFill>
                <a:latin typeface="Consolas"/>
              </a:rPr>
              <a:t>create(f)</a:t>
            </a:r>
            <a:r>
              <a:rPr b="0" sz="1700" i="0">
                <a:solidFill>
                  <a:srgbClr val="1B3B47"/>
                </a:solidFill>
                <a:latin typeface="Arial"/>
              </a:rPr>
              <a:t>, </a:t>
            </a:r>
            <a:r>
              <a:rPr sz="1530" b="0" i="0">
                <a:solidFill>
                  <a:srgbClr val="ED1548"/>
                </a:solidFill>
                <a:latin typeface="Consolas"/>
              </a:rPr>
              <a:t>update(id, f)</a:t>
            </a:r>
            <a:r>
              <a:rPr b="0" sz="1700" i="0">
                <a:solidFill>
                  <a:srgbClr val="1B3B47"/>
                </a:solidFill>
                <a:latin typeface="Arial"/>
              </a:rPr>
              <a:t>, </a:t>
            </a:r>
            <a:r>
              <a:rPr sz="1530" b="0" i="0">
                <a:solidFill>
                  <a:srgbClr val="ED1548"/>
                </a:solidFill>
                <a:latin typeface="Consolas"/>
              </a:rPr>
              <a:t>delete(id)</a:t>
            </a:r>
            <a:r>
              <a:rPr b="0" sz="1700" i="0">
                <a:solidFill>
                  <a:srgbClr val="1B3B47"/>
                </a:solidFill>
                <a:latin typeface="Arial"/>
              </a:rPr>
              <a:t>.</a:t>
            </a:r>
          </a:p>
        </p:txBody>
      </p:sp>
      <p:sp>
        <p:nvSpPr>
          <p:cNvPr id="13" name="Oval 12"/>
          <p:cNvSpPr/>
          <p:nvPr/>
        </p:nvSpPr>
        <p:spPr>
          <a:xfrm>
            <a:off x="2606040" y="5044439"/>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3</a:t>
            </a:r>
          </a:p>
        </p:txBody>
      </p:sp>
      <p:sp>
        <p:nvSpPr>
          <p:cNvPr id="14" name="TextBox 13"/>
          <p:cNvSpPr txBox="1"/>
          <p:nvPr/>
        </p:nvSpPr>
        <p:spPr>
          <a:xfrm>
            <a:off x="3108960" y="5044439"/>
            <a:ext cx="8001000" cy="835151"/>
          </a:xfrm>
          <a:prstGeom prst="rect">
            <a:avLst/>
          </a:prstGeom>
          <a:noFill/>
        </p:spPr>
        <p:txBody>
          <a:bodyPr wrap="square" lIns="0" rIns="0" tIns="0" bIns="0" anchor="t">
            <a:noAutofit/>
          </a:bodyPr>
          <a:lstStyle/>
          <a:p>
            <a:pPr algn="l">
              <a:lnSpc>
                <a:spcPct val="106000"/>
              </a:lnSpc>
              <a:spcBef>
                <a:spcPts val="0"/>
              </a:spcBef>
              <a:spcAft>
                <a:spcPts val="0"/>
              </a:spcAft>
            </a:pPr>
            <a:r>
              <a:rPr b="0" sz="1700" i="0">
                <a:solidFill>
                  <a:srgbClr val="1B3B47"/>
                </a:solidFill>
                <a:latin typeface="Arial"/>
              </a:rPr>
              <a:t>Exposer la liste via </a:t>
            </a:r>
            <a:r>
              <a:rPr sz="1530" b="0" i="0">
                <a:solidFill>
                  <a:srgbClr val="ED1548"/>
                </a:solidFill>
                <a:latin typeface="Consolas"/>
              </a:rPr>
              <a:t>toSignal</a:t>
            </a:r>
            <a:r>
              <a:rPr b="0" sz="1700" i="0">
                <a:solidFill>
                  <a:srgbClr val="1B3B47"/>
                </a:solidFill>
                <a:latin typeface="Arial"/>
              </a:rPr>
              <a:t> ; ajouter </a:t>
            </a:r>
            <a:r>
              <a:rPr sz="1530" b="0" i="0">
                <a:solidFill>
                  <a:srgbClr val="ED1548"/>
                </a:solidFill>
                <a:latin typeface="Consolas"/>
              </a:rPr>
              <a:t>loading</a:t>
            </a:r>
            <a:r>
              <a:rPr b="0" sz="1700" i="0">
                <a:solidFill>
                  <a:srgbClr val="1B3B47"/>
                </a:solidFill>
                <a:latin typeface="Arial"/>
              </a:rPr>
              <a:t> et </a:t>
            </a:r>
            <a:r>
              <a:rPr sz="1530" b="0" i="0">
                <a:solidFill>
                  <a:srgbClr val="ED1548"/>
                </a:solidFill>
                <a:latin typeface="Consolas"/>
              </a:rPr>
              <a:t>error</a:t>
            </a:r>
            <a:r>
              <a:rPr b="0" sz="1700" i="0">
                <a:solidFill>
                  <a:srgbClr val="1B3B47"/>
                </a:solidFill>
                <a:latin typeface="Arial"/>
              </a:rPr>
              <a:t>.</a:t>
            </a:r>
          </a:p>
        </p:txBody>
      </p:sp>
      <p:sp>
        <p:nvSpPr>
          <p:cNvPr id="15" name="Oval 14"/>
          <p:cNvSpPr/>
          <p:nvPr/>
        </p:nvSpPr>
        <p:spPr>
          <a:xfrm>
            <a:off x="2606040" y="6025896"/>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4</a:t>
            </a:r>
          </a:p>
        </p:txBody>
      </p:sp>
      <p:sp>
        <p:nvSpPr>
          <p:cNvPr id="16" name="TextBox 15"/>
          <p:cNvSpPr txBox="1"/>
          <p:nvPr/>
        </p:nvSpPr>
        <p:spPr>
          <a:xfrm>
            <a:off x="3108960" y="6025896"/>
            <a:ext cx="8001000" cy="835151"/>
          </a:xfrm>
          <a:prstGeom prst="rect">
            <a:avLst/>
          </a:prstGeom>
          <a:noFill/>
        </p:spPr>
        <p:txBody>
          <a:bodyPr wrap="square" lIns="0" rIns="0" tIns="0" bIns="0" anchor="t">
            <a:noAutofit/>
          </a:bodyPr>
          <a:lstStyle/>
          <a:p>
            <a:pPr algn="l">
              <a:lnSpc>
                <a:spcPct val="106000"/>
              </a:lnSpc>
              <a:spcBef>
                <a:spcPts val="0"/>
              </a:spcBef>
              <a:spcAft>
                <a:spcPts val="0"/>
              </a:spcAft>
            </a:pPr>
            <a:r>
              <a:rPr b="0" sz="1700" i="0">
                <a:solidFill>
                  <a:srgbClr val="1B3B47"/>
                </a:solidFill>
                <a:latin typeface="Arial"/>
              </a:rPr>
              <a:t>Requêtes : </a:t>
            </a:r>
            <a:r>
              <a:rPr sz="1530" b="0" i="0">
                <a:solidFill>
                  <a:srgbClr val="ED1548"/>
                </a:solidFill>
                <a:latin typeface="Consolas"/>
              </a:rPr>
              <a:t>?_sort=dateEcheance&amp;_order=asc&amp;statut=…&amp;q=…</a:t>
            </a:r>
            <a:r>
              <a:rPr b="0" sz="1700" i="0">
                <a:solidFill>
                  <a:srgbClr val="1B3B47"/>
                </a:solidFill>
                <a:latin typeface="Arial"/>
              </a:rPr>
              <a:t>.</a:t>
            </a:r>
          </a:p>
        </p:txBody>
      </p:sp>
      <p:sp>
        <p:nvSpPr>
          <p:cNvPr id="17" name="Oval 16"/>
          <p:cNvSpPr/>
          <p:nvPr/>
        </p:nvSpPr>
        <p:spPr>
          <a:xfrm>
            <a:off x="2606040" y="7007351"/>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5</a:t>
            </a:r>
          </a:p>
        </p:txBody>
      </p:sp>
      <p:sp>
        <p:nvSpPr>
          <p:cNvPr id="18" name="TextBox 17"/>
          <p:cNvSpPr txBox="1"/>
          <p:nvPr/>
        </p:nvSpPr>
        <p:spPr>
          <a:xfrm>
            <a:off x="3108960" y="7007351"/>
            <a:ext cx="8001000" cy="835151"/>
          </a:xfrm>
          <a:prstGeom prst="rect">
            <a:avLst/>
          </a:prstGeom>
          <a:noFill/>
        </p:spPr>
        <p:txBody>
          <a:bodyPr wrap="square" lIns="0" rIns="0" tIns="0" bIns="0" anchor="t">
            <a:noAutofit/>
          </a:bodyPr>
          <a:lstStyle/>
          <a:p>
            <a:pPr algn="l">
              <a:lnSpc>
                <a:spcPct val="106000"/>
              </a:lnSpc>
              <a:spcBef>
                <a:spcPts val="0"/>
              </a:spcBef>
              <a:spcAft>
                <a:spcPts val="0"/>
              </a:spcAft>
            </a:pPr>
            <a:r>
              <a:rPr sz="1530" b="0" i="0">
                <a:solidFill>
                  <a:srgbClr val="ED1548"/>
                </a:solidFill>
                <a:latin typeface="Consolas"/>
              </a:rPr>
              <a:t>FournisseurService</a:t>
            </a:r>
            <a:r>
              <a:rPr b="0" sz="1700" i="0">
                <a:solidFill>
                  <a:srgbClr val="1B3B47"/>
                </a:solidFill>
                <a:latin typeface="Arial"/>
              </a:rPr>
              <a:t> : </a:t>
            </a:r>
            <a:r>
              <a:rPr sz="1530" b="0" i="0">
                <a:solidFill>
                  <a:srgbClr val="ED1548"/>
                </a:solidFill>
                <a:latin typeface="Consolas"/>
              </a:rPr>
              <a:t>forkJoin</a:t>
            </a:r>
            <a:r>
              <a:rPr b="0" sz="1700" i="0">
                <a:solidFill>
                  <a:srgbClr val="1B3B47"/>
                </a:solidFill>
                <a:latin typeface="Arial"/>
              </a:rPr>
              <a:t> ou </a:t>
            </a:r>
            <a:r>
              <a:rPr sz="1530" b="0" i="0">
                <a:solidFill>
                  <a:srgbClr val="ED1548"/>
                </a:solidFill>
                <a:latin typeface="Consolas"/>
              </a:rPr>
              <a:t>_expand=fournisseur</a:t>
            </a:r>
            <a:r>
              <a:rPr b="0" sz="1700" i="0">
                <a:solidFill>
                  <a:srgbClr val="1B3B47"/>
                </a:solidFill>
                <a:latin typeface="Arial"/>
              </a:rPr>
              <a:t>.</a:t>
            </a:r>
          </a:p>
        </p:txBody>
      </p:sp>
      <p:sp>
        <p:nvSpPr>
          <p:cNvPr id="19" name="Oval 18"/>
          <p:cNvSpPr/>
          <p:nvPr/>
        </p:nvSpPr>
        <p:spPr>
          <a:xfrm>
            <a:off x="2606040" y="7988808"/>
            <a:ext cx="329184" cy="329184"/>
          </a:xfrm>
          <a:prstGeom prst="ellipse">
            <a:avLst/>
          </a:prstGeom>
          <a:solidFill>
            <a:srgbClr val="ED1548"/>
          </a:solidFill>
          <a:ln>
            <a:noFill/>
          </a:ln>
          <a:effectLst/>
        </p:spPr>
        <p:txBody>
          <a:bodyPr rtlCol="0" anchor="ctr" lIns="0" rIns="0" tIns="0" bIns="0"/>
          <a:lstStyle/>
          <a:p>
            <a:pPr algn="ctr"/>
            <a:r>
              <a:rPr sz="1445" b="1">
                <a:solidFill>
                  <a:srgbClr val="FFFFFF"/>
                </a:solidFill>
                <a:latin typeface="Arial"/>
              </a:rPr>
              <a:t>6</a:t>
            </a:r>
          </a:p>
        </p:txBody>
      </p:sp>
      <p:sp>
        <p:nvSpPr>
          <p:cNvPr id="20" name="TextBox 19"/>
          <p:cNvSpPr txBox="1"/>
          <p:nvPr/>
        </p:nvSpPr>
        <p:spPr>
          <a:xfrm>
            <a:off x="3108960" y="7988808"/>
            <a:ext cx="8001000" cy="835151"/>
          </a:xfrm>
          <a:prstGeom prst="rect">
            <a:avLst/>
          </a:prstGeom>
          <a:noFill/>
        </p:spPr>
        <p:txBody>
          <a:bodyPr wrap="square" lIns="0" rIns="0" tIns="0" bIns="0" anchor="t">
            <a:noAutofit/>
          </a:bodyPr>
          <a:lstStyle/>
          <a:p>
            <a:pPr algn="l">
              <a:lnSpc>
                <a:spcPct val="106000"/>
              </a:lnSpc>
              <a:spcBef>
                <a:spcPts val="0"/>
              </a:spcBef>
              <a:spcAft>
                <a:spcPts val="0"/>
              </a:spcAft>
            </a:pPr>
            <a:r>
              <a:rPr b="0" sz="1700" i="0">
                <a:solidFill>
                  <a:srgbClr val="1B3B47"/>
                </a:solidFill>
                <a:latin typeface="Arial"/>
              </a:rPr>
              <a:t>Afficher un message si l'API est arrêtée (</a:t>
            </a:r>
            <a:r>
              <a:rPr sz="1530" b="0" i="0">
                <a:solidFill>
                  <a:srgbClr val="ED1548"/>
                </a:solidFill>
                <a:latin typeface="Consolas"/>
              </a:rPr>
              <a:t>@if (error())</a:t>
            </a:r>
            <a:r>
              <a:rPr b="0" sz="1700" i="0">
                <a:solidFill>
                  <a:srgbClr val="1B3B47"/>
                </a:solidFill>
                <a:latin typeface="Arial"/>
              </a:rPr>
              <a:t>).</a:t>
            </a:r>
          </a:p>
        </p:txBody>
      </p:sp>
      <p:sp>
        <p:nvSpPr>
          <p:cNvPr id="21" name="Rounded Rectangle 20"/>
          <p:cNvSpPr/>
          <p:nvPr/>
        </p:nvSpPr>
        <p:spPr>
          <a:xfrm>
            <a:off x="11475720" y="3063240"/>
            <a:ext cx="5715000" cy="329184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2" name="TextBox 21"/>
          <p:cNvSpPr txBox="1"/>
          <p:nvPr/>
        </p:nvSpPr>
        <p:spPr>
          <a:xfrm>
            <a:off x="11750040" y="3264408"/>
            <a:ext cx="53035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ED1548"/>
                </a:solidFill>
                <a:latin typeface="Arial"/>
              </a:rPr>
              <a:t>CRITÈRES</a:t>
            </a:r>
          </a:p>
        </p:txBody>
      </p:sp>
      <p:sp>
        <p:nvSpPr>
          <p:cNvPr id="23" name="Rounded Rectangle 22"/>
          <p:cNvSpPr/>
          <p:nvPr/>
        </p:nvSpPr>
        <p:spPr>
          <a:xfrm>
            <a:off x="11750040" y="3712464"/>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4" name="TextBox 23"/>
          <p:cNvSpPr txBox="1"/>
          <p:nvPr/>
        </p:nvSpPr>
        <p:spPr>
          <a:xfrm>
            <a:off x="12115800" y="3685032"/>
            <a:ext cx="4937759" cy="222757"/>
          </a:xfrm>
          <a:prstGeom prst="rect">
            <a:avLst/>
          </a:prstGeom>
          <a:noFill/>
        </p:spPr>
        <p:txBody>
          <a:bodyPr wrap="square" lIns="0" rIns="0" tIns="0" bIns="0" anchor="t">
            <a:noAutofit/>
          </a:bodyPr>
          <a:lstStyle/>
          <a:p>
            <a:pPr algn="l">
              <a:lnSpc>
                <a:spcPct val="105000"/>
              </a:lnSpc>
              <a:spcBef>
                <a:spcPts val="0"/>
              </a:spcBef>
              <a:spcAft>
                <a:spcPts val="0"/>
              </a:spcAft>
            </a:pPr>
            <a:r>
              <a:rPr b="0" sz="1400" i="0">
                <a:solidFill>
                  <a:srgbClr val="1B3B47"/>
                </a:solidFill>
                <a:latin typeface="Arial"/>
              </a:rPr>
              <a:t>La liste vient de l'API, plus du tableau en dur.</a:t>
            </a:r>
          </a:p>
        </p:txBody>
      </p:sp>
      <p:sp>
        <p:nvSpPr>
          <p:cNvPr id="25" name="Rounded Rectangle 24"/>
          <p:cNvSpPr/>
          <p:nvPr/>
        </p:nvSpPr>
        <p:spPr>
          <a:xfrm>
            <a:off x="11750040" y="4008374"/>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6" name="TextBox 25"/>
          <p:cNvSpPr txBox="1"/>
          <p:nvPr/>
        </p:nvSpPr>
        <p:spPr>
          <a:xfrm>
            <a:off x="12115800" y="3980942"/>
            <a:ext cx="4937759" cy="222757"/>
          </a:xfrm>
          <a:prstGeom prst="rect">
            <a:avLst/>
          </a:prstGeom>
          <a:noFill/>
        </p:spPr>
        <p:txBody>
          <a:bodyPr wrap="square" lIns="0" rIns="0" tIns="0" bIns="0" anchor="t">
            <a:noAutofit/>
          </a:bodyPr>
          <a:lstStyle/>
          <a:p>
            <a:pPr algn="l">
              <a:lnSpc>
                <a:spcPct val="105000"/>
              </a:lnSpc>
              <a:spcBef>
                <a:spcPts val="0"/>
              </a:spcBef>
              <a:spcAft>
                <a:spcPts val="0"/>
              </a:spcAft>
            </a:pPr>
            <a:r>
              <a:rPr b="0" sz="1400" i="0">
                <a:solidFill>
                  <a:srgbClr val="1B3B47"/>
                </a:solidFill>
                <a:latin typeface="Arial"/>
              </a:rPr>
              <a:t>Les filtres passent par les query params.</a:t>
            </a:r>
          </a:p>
        </p:txBody>
      </p:sp>
      <p:sp>
        <p:nvSpPr>
          <p:cNvPr id="27" name="Rounded Rectangle 26"/>
          <p:cNvSpPr/>
          <p:nvPr/>
        </p:nvSpPr>
        <p:spPr>
          <a:xfrm>
            <a:off x="11750040" y="4304284"/>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8" name="TextBox 27"/>
          <p:cNvSpPr txBox="1"/>
          <p:nvPr/>
        </p:nvSpPr>
        <p:spPr>
          <a:xfrm>
            <a:off x="12115800" y="4276852"/>
            <a:ext cx="4937759" cy="222757"/>
          </a:xfrm>
          <a:prstGeom prst="rect">
            <a:avLst/>
          </a:prstGeom>
          <a:noFill/>
        </p:spPr>
        <p:txBody>
          <a:bodyPr wrap="square" lIns="0" rIns="0" tIns="0" bIns="0" anchor="t">
            <a:noAutofit/>
          </a:bodyPr>
          <a:lstStyle/>
          <a:p>
            <a:pPr algn="l">
              <a:lnSpc>
                <a:spcPct val="105000"/>
              </a:lnSpc>
              <a:spcBef>
                <a:spcPts val="0"/>
              </a:spcBef>
              <a:spcAft>
                <a:spcPts val="0"/>
              </a:spcAft>
            </a:pPr>
            <a:r>
              <a:rPr b="0" sz="1400" i="0">
                <a:solidFill>
                  <a:srgbClr val="1B3B47"/>
                </a:solidFill>
                <a:latin typeface="Arial"/>
              </a:rPr>
              <a:t>L'erreur API est visible et compréhensible.</a:t>
            </a:r>
          </a:p>
        </p:txBody>
      </p:sp>
      <p:sp>
        <p:nvSpPr>
          <p:cNvPr id="29" name="Rounded Rectangle 28"/>
          <p:cNvSpPr/>
          <p:nvPr/>
        </p:nvSpPr>
        <p:spPr>
          <a:xfrm>
            <a:off x="11750040" y="4600194"/>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30" name="TextBox 29"/>
          <p:cNvSpPr txBox="1"/>
          <p:nvPr/>
        </p:nvSpPr>
        <p:spPr>
          <a:xfrm>
            <a:off x="12115800" y="4572762"/>
            <a:ext cx="4937759" cy="222757"/>
          </a:xfrm>
          <a:prstGeom prst="rect">
            <a:avLst/>
          </a:prstGeom>
          <a:noFill/>
        </p:spPr>
        <p:txBody>
          <a:bodyPr wrap="square" lIns="0" rIns="0" tIns="0" bIns="0" anchor="t">
            <a:noAutofit/>
          </a:bodyPr>
          <a:lstStyle/>
          <a:p>
            <a:pPr algn="l">
              <a:lnSpc>
                <a:spcPct val="105000"/>
              </a:lnSpc>
              <a:spcBef>
                <a:spcPts val="0"/>
              </a:spcBef>
              <a:spcAft>
                <a:spcPts val="0"/>
              </a:spcAft>
            </a:pPr>
            <a:r>
              <a:rPr b="0" sz="1400" i="0">
                <a:solidFill>
                  <a:srgbClr val="1B3B47"/>
                </a:solidFill>
                <a:latin typeface="Arial"/>
              </a:rPr>
              <a:t>Le nom du fournisseur s'affiche.</a:t>
            </a:r>
          </a:p>
        </p:txBody>
      </p:sp>
      <p:sp>
        <p:nvSpPr>
          <p:cNvPr id="31" name="Rounded Rectangle 30"/>
          <p:cNvSpPr/>
          <p:nvPr/>
        </p:nvSpPr>
        <p:spPr>
          <a:xfrm>
            <a:off x="11475720" y="6629400"/>
            <a:ext cx="5715000" cy="1691640"/>
          </a:xfrm>
          <a:prstGeom prst="roundRect">
            <a:avLst>
              <a:gd name="adj" fmla="val 8000"/>
            </a:avLst>
          </a:prstGeom>
          <a:solidFill>
            <a:srgbClr val="EBF6F8"/>
          </a:solidFill>
          <a:ln>
            <a:noFill/>
          </a:ln>
          <a:effectLst/>
        </p:spPr>
        <p:txBody>
          <a:bodyPr rtlCol="0" anchor="ctr"/>
          <a:lstStyle/>
          <a:p>
            <a:pPr algn="ctr"/>
          </a:p>
        </p:txBody>
      </p:sp>
      <p:sp>
        <p:nvSpPr>
          <p:cNvPr id="32" name="Rectangle 31"/>
          <p:cNvSpPr/>
          <p:nvPr/>
        </p:nvSpPr>
        <p:spPr>
          <a:xfrm>
            <a:off x="11475720" y="6629400"/>
            <a:ext cx="64008" cy="1691640"/>
          </a:xfrm>
          <a:prstGeom prst="rect">
            <a:avLst/>
          </a:prstGeom>
          <a:solidFill>
            <a:srgbClr val="0B4F6C"/>
          </a:solidFill>
          <a:ln>
            <a:noFill/>
          </a:ln>
          <a:effectLst/>
        </p:spPr>
        <p:txBody>
          <a:bodyPr rtlCol="0" anchor="ctr"/>
          <a:lstStyle/>
          <a:p>
            <a:pPr algn="ctr"/>
          </a:p>
        </p:txBody>
      </p:sp>
      <p:sp>
        <p:nvSpPr>
          <p:cNvPr id="33" name="TextBox 32"/>
          <p:cNvSpPr txBox="1"/>
          <p:nvPr/>
        </p:nvSpPr>
        <p:spPr>
          <a:xfrm>
            <a:off x="11768328" y="6793992"/>
            <a:ext cx="534924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POUR LE J3</a:t>
            </a:r>
          </a:p>
        </p:txBody>
      </p:sp>
      <p:sp>
        <p:nvSpPr>
          <p:cNvPr id="34" name="TextBox 33"/>
          <p:cNvSpPr txBox="1"/>
          <p:nvPr/>
        </p:nvSpPr>
        <p:spPr>
          <a:xfrm>
            <a:off x="11768328" y="7086600"/>
            <a:ext cx="5303520" cy="1124712"/>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Les interceptors ajouteront le loader et la snackbar sans modifier ce service.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2  ·  FORMULAIRES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Reactive Forms : le modèle TypeScript fait foi</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Le formulaire est un objet typé ; le template s'y abonne.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32 / 62</a:t>
            </a:r>
          </a:p>
        </p:txBody>
      </p:sp>
      <p:sp>
        <p:nvSpPr>
          <p:cNvPr id="9" name="Rounded Rectangle 8"/>
          <p:cNvSpPr/>
          <p:nvPr/>
        </p:nvSpPr>
        <p:spPr>
          <a:xfrm>
            <a:off x="2606040" y="3017520"/>
            <a:ext cx="2971800" cy="960120"/>
          </a:xfrm>
          <a:prstGeom prst="roundRect">
            <a:avLst>
              <a:gd name="adj" fmla="val 8000"/>
            </a:avLst>
          </a:prstGeom>
          <a:solidFill>
            <a:srgbClr val="FFFFFF"/>
          </a:solidFill>
          <a:ln w="9525">
            <a:solidFill>
              <a:srgbClr val="E0E6E8"/>
            </a:solidFill>
          </a:ln>
          <a:effectLst/>
        </p:spPr>
        <p:txBody>
          <a:bodyPr rtlCol="0" anchor="ctr"/>
          <a:lstStyle/>
          <a:p>
            <a:pPr algn="ctr"/>
          </a:p>
        </p:txBody>
      </p:sp>
      <p:sp>
        <p:nvSpPr>
          <p:cNvPr id="10" name="Rectangle 9"/>
          <p:cNvSpPr/>
          <p:nvPr/>
        </p:nvSpPr>
        <p:spPr>
          <a:xfrm>
            <a:off x="2606040" y="3017520"/>
            <a:ext cx="54864" cy="960120"/>
          </a:xfrm>
          <a:prstGeom prst="rect">
            <a:avLst/>
          </a:prstGeom>
          <a:solidFill>
            <a:srgbClr val="0B4F6C"/>
          </a:solidFill>
          <a:ln>
            <a:noFill/>
          </a:ln>
          <a:effectLst/>
        </p:spPr>
        <p:txBody>
          <a:bodyPr rtlCol="0" anchor="ctr"/>
          <a:lstStyle/>
          <a:p>
            <a:pPr algn="ctr"/>
          </a:p>
        </p:txBody>
      </p:sp>
      <p:sp>
        <p:nvSpPr>
          <p:cNvPr id="11" name="TextBox 10"/>
          <p:cNvSpPr txBox="1"/>
          <p:nvPr/>
        </p:nvSpPr>
        <p:spPr>
          <a:xfrm>
            <a:off x="2788920" y="3163824"/>
            <a:ext cx="2560320" cy="274320"/>
          </a:xfrm>
          <a:prstGeom prst="rect">
            <a:avLst/>
          </a:prstGeom>
          <a:noFill/>
        </p:spPr>
        <p:txBody>
          <a:bodyPr wrap="square" lIns="0" rIns="0" tIns="0" bIns="0" anchor="t">
            <a:noAutofit/>
          </a:bodyPr>
          <a:lstStyle/>
          <a:p>
            <a:pPr algn="l">
              <a:lnSpc>
                <a:spcPct val="102000"/>
              </a:lnSpc>
              <a:spcBef>
                <a:spcPts val="0"/>
              </a:spcBef>
              <a:spcAft>
                <a:spcPts val="0"/>
              </a:spcAft>
            </a:pPr>
            <a:r>
              <a:rPr b="1" sz="1400" i="0">
                <a:solidFill>
                  <a:srgbClr val="0B4F6C"/>
                </a:solidFill>
                <a:latin typeface="Arial"/>
              </a:rPr>
              <a:t>FormGroup</a:t>
            </a:r>
          </a:p>
        </p:txBody>
      </p:sp>
      <p:sp>
        <p:nvSpPr>
          <p:cNvPr id="12" name="TextBox 11"/>
          <p:cNvSpPr txBox="1"/>
          <p:nvPr/>
        </p:nvSpPr>
        <p:spPr>
          <a:xfrm>
            <a:off x="2788920" y="3456432"/>
            <a:ext cx="2560320" cy="274320"/>
          </a:xfrm>
          <a:prstGeom prst="rect">
            <a:avLst/>
          </a:prstGeom>
          <a:noFill/>
        </p:spPr>
        <p:txBody>
          <a:bodyPr wrap="square" lIns="0" rIns="0" tIns="0" bIns="0" anchor="t">
            <a:noAutofit/>
          </a:bodyPr>
          <a:lstStyle/>
          <a:p>
            <a:pPr algn="l">
              <a:lnSpc>
                <a:spcPct val="102000"/>
              </a:lnSpc>
              <a:spcBef>
                <a:spcPts val="0"/>
              </a:spcBef>
              <a:spcAft>
                <a:spcPts val="0"/>
              </a:spcAft>
            </a:pPr>
            <a:r>
              <a:rPr b="0" sz="1150" i="0">
                <a:solidFill>
                  <a:srgbClr val="5C6E76"/>
                </a:solidFill>
                <a:latin typeface="Arial"/>
              </a:rPr>
              <a:t>le formulaire</a:t>
            </a:r>
          </a:p>
        </p:txBody>
      </p:sp>
      <p:sp>
        <p:nvSpPr>
          <p:cNvPr id="13" name="Rounded Rectangle 12"/>
          <p:cNvSpPr/>
          <p:nvPr/>
        </p:nvSpPr>
        <p:spPr>
          <a:xfrm>
            <a:off x="5852160" y="3017520"/>
            <a:ext cx="2971800" cy="960120"/>
          </a:xfrm>
          <a:prstGeom prst="roundRect">
            <a:avLst>
              <a:gd name="adj" fmla="val 8000"/>
            </a:avLst>
          </a:prstGeom>
          <a:solidFill>
            <a:srgbClr val="FFFFFF"/>
          </a:solidFill>
          <a:ln w="9525">
            <a:solidFill>
              <a:srgbClr val="E0E6E8"/>
            </a:solidFill>
          </a:ln>
          <a:effectLst/>
        </p:spPr>
        <p:txBody>
          <a:bodyPr rtlCol="0" anchor="ctr"/>
          <a:lstStyle/>
          <a:p>
            <a:pPr algn="ctr"/>
          </a:p>
        </p:txBody>
      </p:sp>
      <p:sp>
        <p:nvSpPr>
          <p:cNvPr id="14" name="Rectangle 13"/>
          <p:cNvSpPr/>
          <p:nvPr/>
        </p:nvSpPr>
        <p:spPr>
          <a:xfrm>
            <a:off x="5852160" y="3017520"/>
            <a:ext cx="54864" cy="960120"/>
          </a:xfrm>
          <a:prstGeom prst="rect">
            <a:avLst/>
          </a:prstGeom>
          <a:solidFill>
            <a:srgbClr val="ED1548"/>
          </a:solidFill>
          <a:ln>
            <a:noFill/>
          </a:ln>
          <a:effectLst/>
        </p:spPr>
        <p:txBody>
          <a:bodyPr rtlCol="0" anchor="ctr"/>
          <a:lstStyle/>
          <a:p>
            <a:pPr algn="ctr"/>
          </a:p>
        </p:txBody>
      </p:sp>
      <p:sp>
        <p:nvSpPr>
          <p:cNvPr id="15" name="TextBox 14"/>
          <p:cNvSpPr txBox="1"/>
          <p:nvPr/>
        </p:nvSpPr>
        <p:spPr>
          <a:xfrm>
            <a:off x="6035040" y="3163824"/>
            <a:ext cx="2560320" cy="274320"/>
          </a:xfrm>
          <a:prstGeom prst="rect">
            <a:avLst/>
          </a:prstGeom>
          <a:noFill/>
        </p:spPr>
        <p:txBody>
          <a:bodyPr wrap="square" lIns="0" rIns="0" tIns="0" bIns="0" anchor="t">
            <a:noAutofit/>
          </a:bodyPr>
          <a:lstStyle/>
          <a:p>
            <a:pPr algn="l">
              <a:lnSpc>
                <a:spcPct val="102000"/>
              </a:lnSpc>
              <a:spcBef>
                <a:spcPts val="0"/>
              </a:spcBef>
              <a:spcAft>
                <a:spcPts val="0"/>
              </a:spcAft>
            </a:pPr>
            <a:r>
              <a:rPr b="1" sz="1400" i="0">
                <a:solidFill>
                  <a:srgbClr val="ED1548"/>
                </a:solidFill>
                <a:latin typeface="Arial"/>
              </a:rPr>
              <a:t>FormControl</a:t>
            </a:r>
          </a:p>
        </p:txBody>
      </p:sp>
      <p:sp>
        <p:nvSpPr>
          <p:cNvPr id="16" name="TextBox 15"/>
          <p:cNvSpPr txBox="1"/>
          <p:nvPr/>
        </p:nvSpPr>
        <p:spPr>
          <a:xfrm>
            <a:off x="6035040" y="3456432"/>
            <a:ext cx="2560320" cy="274320"/>
          </a:xfrm>
          <a:prstGeom prst="rect">
            <a:avLst/>
          </a:prstGeom>
          <a:noFill/>
        </p:spPr>
        <p:txBody>
          <a:bodyPr wrap="square" lIns="0" rIns="0" tIns="0" bIns="0" anchor="t">
            <a:noAutofit/>
          </a:bodyPr>
          <a:lstStyle/>
          <a:p>
            <a:pPr algn="l">
              <a:lnSpc>
                <a:spcPct val="102000"/>
              </a:lnSpc>
              <a:spcBef>
                <a:spcPts val="0"/>
              </a:spcBef>
              <a:spcAft>
                <a:spcPts val="0"/>
              </a:spcAft>
            </a:pPr>
            <a:r>
              <a:rPr b="0" sz="1150" i="0">
                <a:solidFill>
                  <a:srgbClr val="5C6E76"/>
                </a:solidFill>
                <a:latin typeface="Arial"/>
              </a:rPr>
              <a:t>un champ</a:t>
            </a:r>
          </a:p>
        </p:txBody>
      </p:sp>
      <p:sp>
        <p:nvSpPr>
          <p:cNvPr id="17" name="Rounded Rectangle 16"/>
          <p:cNvSpPr/>
          <p:nvPr/>
        </p:nvSpPr>
        <p:spPr>
          <a:xfrm>
            <a:off x="9098280" y="3017520"/>
            <a:ext cx="2971800" cy="960120"/>
          </a:xfrm>
          <a:prstGeom prst="roundRect">
            <a:avLst>
              <a:gd name="adj" fmla="val 8000"/>
            </a:avLst>
          </a:prstGeom>
          <a:solidFill>
            <a:srgbClr val="FFFFFF"/>
          </a:solidFill>
          <a:ln w="9525">
            <a:solidFill>
              <a:srgbClr val="E0E6E8"/>
            </a:solidFill>
          </a:ln>
          <a:effectLst/>
        </p:spPr>
        <p:txBody>
          <a:bodyPr rtlCol="0" anchor="ctr"/>
          <a:lstStyle/>
          <a:p>
            <a:pPr algn="ctr"/>
          </a:p>
        </p:txBody>
      </p:sp>
      <p:sp>
        <p:nvSpPr>
          <p:cNvPr id="18" name="Rectangle 17"/>
          <p:cNvSpPr/>
          <p:nvPr/>
        </p:nvSpPr>
        <p:spPr>
          <a:xfrm>
            <a:off x="9098280" y="3017520"/>
            <a:ext cx="54864" cy="960120"/>
          </a:xfrm>
          <a:prstGeom prst="rect">
            <a:avLst/>
          </a:prstGeom>
          <a:solidFill>
            <a:srgbClr val="B26A00"/>
          </a:solidFill>
          <a:ln>
            <a:noFill/>
          </a:ln>
          <a:effectLst/>
        </p:spPr>
        <p:txBody>
          <a:bodyPr rtlCol="0" anchor="ctr"/>
          <a:lstStyle/>
          <a:p>
            <a:pPr algn="ctr"/>
          </a:p>
        </p:txBody>
      </p:sp>
      <p:sp>
        <p:nvSpPr>
          <p:cNvPr id="19" name="TextBox 18"/>
          <p:cNvSpPr txBox="1"/>
          <p:nvPr/>
        </p:nvSpPr>
        <p:spPr>
          <a:xfrm>
            <a:off x="9281159" y="3163824"/>
            <a:ext cx="2560320" cy="274320"/>
          </a:xfrm>
          <a:prstGeom prst="rect">
            <a:avLst/>
          </a:prstGeom>
          <a:noFill/>
        </p:spPr>
        <p:txBody>
          <a:bodyPr wrap="square" lIns="0" rIns="0" tIns="0" bIns="0" anchor="t">
            <a:noAutofit/>
          </a:bodyPr>
          <a:lstStyle/>
          <a:p>
            <a:pPr algn="l">
              <a:lnSpc>
                <a:spcPct val="102000"/>
              </a:lnSpc>
              <a:spcBef>
                <a:spcPts val="0"/>
              </a:spcBef>
              <a:spcAft>
                <a:spcPts val="0"/>
              </a:spcAft>
            </a:pPr>
            <a:r>
              <a:rPr b="1" sz="1400" i="0">
                <a:solidFill>
                  <a:srgbClr val="B26A00"/>
                </a:solidFill>
                <a:latin typeface="Arial"/>
              </a:rPr>
              <a:t>FormArray</a:t>
            </a:r>
          </a:p>
        </p:txBody>
      </p:sp>
      <p:sp>
        <p:nvSpPr>
          <p:cNvPr id="20" name="TextBox 19"/>
          <p:cNvSpPr txBox="1"/>
          <p:nvPr/>
        </p:nvSpPr>
        <p:spPr>
          <a:xfrm>
            <a:off x="9281159" y="3456432"/>
            <a:ext cx="2560320" cy="274320"/>
          </a:xfrm>
          <a:prstGeom prst="rect">
            <a:avLst/>
          </a:prstGeom>
          <a:noFill/>
        </p:spPr>
        <p:txBody>
          <a:bodyPr wrap="square" lIns="0" rIns="0" tIns="0" bIns="0" anchor="t">
            <a:noAutofit/>
          </a:bodyPr>
          <a:lstStyle/>
          <a:p>
            <a:pPr algn="l">
              <a:lnSpc>
                <a:spcPct val="102000"/>
              </a:lnSpc>
              <a:spcBef>
                <a:spcPts val="0"/>
              </a:spcBef>
              <a:spcAft>
                <a:spcPts val="0"/>
              </a:spcAft>
            </a:pPr>
            <a:r>
              <a:rPr b="0" sz="1150" i="0">
                <a:solidFill>
                  <a:srgbClr val="5C6E76"/>
                </a:solidFill>
                <a:latin typeface="Arial"/>
              </a:rPr>
              <a:t>une liste de champs</a:t>
            </a:r>
          </a:p>
        </p:txBody>
      </p:sp>
      <p:cxnSp>
        <p:nvCxnSpPr>
          <p:cNvPr id="21" name="Connector 20"/>
          <p:cNvCxnSpPr/>
          <p:nvPr/>
        </p:nvCxnSpPr>
        <p:spPr>
          <a:xfrm>
            <a:off x="5577840" y="3493008"/>
            <a:ext cx="274320" cy="0"/>
          </a:xfrm>
          <a:prstGeom prst="line">
            <a:avLst/>
          </a:prstGeom>
          <a:ln w="15240">
            <a:solidFill>
              <a:srgbClr val="8A9A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869680" y="3493008"/>
            <a:ext cx="274320" cy="0"/>
          </a:xfrm>
          <a:prstGeom prst="line">
            <a:avLst/>
          </a:prstGeom>
          <a:ln w="15240">
            <a:solidFill>
              <a:srgbClr val="8A9A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3441680" y="3154679"/>
            <a:ext cx="3749040" cy="731520"/>
          </a:xfrm>
          <a:prstGeom prst="rect">
            <a:avLst/>
          </a:prstGeom>
          <a:noFill/>
        </p:spPr>
        <p:txBody>
          <a:bodyPr wrap="square" lIns="0" rIns="0" tIns="0" bIns="0" anchor="t">
            <a:noAutofit/>
          </a:bodyPr>
          <a:lstStyle/>
          <a:p>
            <a:pPr algn="l">
              <a:lnSpc>
                <a:spcPct val="102000"/>
              </a:lnSpc>
              <a:spcBef>
                <a:spcPts val="0"/>
              </a:spcBef>
              <a:spcAft>
                <a:spcPts val="0"/>
              </a:spcAft>
            </a:pPr>
            <a:r>
              <a:rPr b="0" sz="1250" i="0">
                <a:solidFill>
                  <a:srgbClr val="5C6E76"/>
                </a:solidFill>
                <a:latin typeface="Arial"/>
              </a:rPr>
              <a:t>États : </a:t>
            </a:r>
            <a:r>
              <a:rPr sz="1125" b="0" i="0">
                <a:solidFill>
                  <a:srgbClr val="ED1548"/>
                </a:solidFill>
                <a:latin typeface="Consolas"/>
              </a:rPr>
              <a:t>touched</a:t>
            </a:r>
            <a:r>
              <a:rPr b="0" sz="1250" i="0">
                <a:solidFill>
                  <a:srgbClr val="5C6E76"/>
                </a:solidFill>
                <a:latin typeface="Arial"/>
              </a:rPr>
              <a:t> · </a:t>
            </a:r>
            <a:r>
              <a:rPr sz="1125" b="0" i="0">
                <a:solidFill>
                  <a:srgbClr val="ED1548"/>
                </a:solidFill>
                <a:latin typeface="Consolas"/>
              </a:rPr>
              <a:t>dirty</a:t>
            </a:r>
            <a:r>
              <a:rPr b="0" sz="1250" i="0">
                <a:solidFill>
                  <a:srgbClr val="5C6E76"/>
                </a:solidFill>
                <a:latin typeface="Arial"/>
              </a:rPr>
              <a:t> · </a:t>
            </a:r>
            <a:r>
              <a:rPr sz="1125" b="0" i="0">
                <a:solidFill>
                  <a:srgbClr val="ED1548"/>
                </a:solidFill>
                <a:latin typeface="Consolas"/>
              </a:rPr>
              <a:t>invalid</a:t>
            </a:r>
          </a:p>
          <a:p>
            <a:pPr algn="l">
              <a:lnSpc>
                <a:spcPct val="102000"/>
              </a:lnSpc>
              <a:spcBef>
                <a:spcPts val="0"/>
              </a:spcBef>
              <a:spcAft>
                <a:spcPts val="0"/>
              </a:spcAft>
            </a:pPr>
            <a:r>
              <a:rPr b="0" sz="1250" i="0">
                <a:solidFill>
                  <a:srgbClr val="5C6E76"/>
                </a:solidFill>
                <a:latin typeface="Arial"/>
              </a:rPr>
              <a:t>Valeurs : </a:t>
            </a:r>
            <a:r>
              <a:rPr sz="1125" b="0" i="0">
                <a:solidFill>
                  <a:srgbClr val="ED1548"/>
                </a:solidFill>
                <a:latin typeface="Consolas"/>
              </a:rPr>
              <a:t>valueChanges</a:t>
            </a:r>
          </a:p>
        </p:txBody>
      </p:sp>
      <p:sp>
        <p:nvSpPr>
          <p:cNvPr id="24" name="Rounded Rectangle 23"/>
          <p:cNvSpPr/>
          <p:nvPr/>
        </p:nvSpPr>
        <p:spPr>
          <a:xfrm>
            <a:off x="2606040" y="4297679"/>
            <a:ext cx="8595360" cy="3977639"/>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25" name="Oval 24"/>
          <p:cNvSpPr/>
          <p:nvPr/>
        </p:nvSpPr>
        <p:spPr>
          <a:xfrm>
            <a:off x="2825496" y="4471416"/>
            <a:ext cx="82296" cy="82296"/>
          </a:xfrm>
          <a:prstGeom prst="ellipse">
            <a:avLst/>
          </a:prstGeom>
          <a:solidFill>
            <a:srgbClr val="ED1548"/>
          </a:solidFill>
          <a:ln>
            <a:noFill/>
          </a:ln>
          <a:effectLst/>
        </p:spPr>
        <p:txBody>
          <a:bodyPr rtlCol="0" anchor="ctr"/>
          <a:lstStyle/>
          <a:p>
            <a:pPr algn="ctr"/>
          </a:p>
        </p:txBody>
      </p:sp>
      <p:sp>
        <p:nvSpPr>
          <p:cNvPr id="26" name="TextBox 25"/>
          <p:cNvSpPr txBox="1"/>
          <p:nvPr/>
        </p:nvSpPr>
        <p:spPr>
          <a:xfrm>
            <a:off x="2990088" y="4407407"/>
            <a:ext cx="795528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facture-form.ts</a:t>
            </a:r>
          </a:p>
        </p:txBody>
      </p:sp>
      <p:sp>
        <p:nvSpPr>
          <p:cNvPr id="27" name="TextBox 26"/>
          <p:cNvSpPr txBox="1"/>
          <p:nvPr/>
        </p:nvSpPr>
        <p:spPr>
          <a:xfrm>
            <a:off x="2852928" y="4773167"/>
            <a:ext cx="8138160" cy="3337560"/>
          </a:xfrm>
          <a:prstGeom prst="rect">
            <a:avLst/>
          </a:prstGeom>
          <a:noFill/>
        </p:spPr>
        <p:txBody>
          <a:bodyPr wrap="none" lIns="0" rIns="0" tIns="0" bIns="0">
            <a:noAutofit/>
          </a:bodyPr>
          <a:lstStyle/>
          <a:p>
            <a:pPr>
              <a:lnSpc>
                <a:spcPct val="100000"/>
              </a:lnSpc>
              <a:spcBef>
                <a:spcPts val="0"/>
              </a:spcBef>
              <a:spcAft>
                <a:spcPts val="0"/>
              </a:spcAft>
            </a:pPr>
            <a:r>
              <a:rPr sz="1300">
                <a:solidFill>
                  <a:srgbClr val="EAF2F4"/>
                </a:solidFill>
                <a:latin typeface="Consolas"/>
              </a:rPr>
              <a:t>form = inject(NonNullableFormBuilder).group({</a:t>
            </a:r>
          </a:p>
          <a:p>
            <a:pPr>
              <a:lnSpc>
                <a:spcPct val="100000"/>
              </a:lnSpc>
              <a:spcBef>
                <a:spcPts val="0"/>
              </a:spcBef>
              <a:spcAft>
                <a:spcPts val="0"/>
              </a:spcAft>
            </a:pPr>
            <a:r>
              <a:rPr sz="1300">
                <a:solidFill>
                  <a:srgbClr val="EAF2F4"/>
                </a:solidFill>
                <a:latin typeface="Consolas"/>
              </a:rPr>
              <a:t>  numero: [</a:t>
            </a:r>
            <a:r>
              <a:rPr sz="1300">
                <a:solidFill>
                  <a:srgbClr val="FFB3C1"/>
                </a:solidFill>
                <a:latin typeface="Consolas"/>
              </a:rPr>
              <a:t>''</a:t>
            </a:r>
            <a:r>
              <a:rPr sz="1300">
                <a:solidFill>
                  <a:srgbClr val="EAF2F4"/>
                </a:solidFill>
                <a:latin typeface="Consolas"/>
              </a:rPr>
              <a:t>, [Validators.required,</a:t>
            </a:r>
          </a:p>
          <a:p>
            <a:pPr>
              <a:lnSpc>
                <a:spcPct val="100000"/>
              </a:lnSpc>
              <a:spcBef>
                <a:spcPts val="0"/>
              </a:spcBef>
              <a:spcAft>
                <a:spcPts val="0"/>
              </a:spcAft>
            </a:pPr>
            <a:r>
              <a:rPr sz="1300">
                <a:solidFill>
                  <a:srgbClr val="EAF2F4"/>
                </a:solidFill>
                <a:latin typeface="Consolas"/>
              </a:rPr>
              <a:t>                 Validators.pattern(/FA-\d{</a:t>
            </a:r>
            <a:r>
              <a:rPr sz="1300">
                <a:solidFill>
                  <a:srgbClr val="FFD166"/>
                </a:solidFill>
                <a:latin typeface="Consolas"/>
              </a:rPr>
              <a:t>4</a:t>
            </a:r>
            <a:r>
              <a:rPr sz="1300">
                <a:solidFill>
                  <a:srgbClr val="EAF2F4"/>
                </a:solidFill>
                <a:latin typeface="Consolas"/>
              </a:rPr>
              <a:t>}-\d{</a:t>
            </a:r>
            <a:r>
              <a:rPr sz="1300">
                <a:solidFill>
                  <a:srgbClr val="FFD166"/>
                </a:solidFill>
                <a:latin typeface="Consolas"/>
              </a:rPr>
              <a:t>4</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fournisseurId: [</a:t>
            </a:r>
            <a:r>
              <a:rPr sz="1300">
                <a:solidFill>
                  <a:srgbClr val="FFD166"/>
                </a:solidFill>
                <a:latin typeface="Consolas"/>
              </a:rPr>
              <a:t>0</a:t>
            </a:r>
            <a:r>
              <a:rPr sz="1300">
                <a:solidFill>
                  <a:srgbClr val="EAF2F4"/>
                </a:solidFill>
                <a:latin typeface="Consolas"/>
              </a:rPr>
              <a:t>, Validators.min(</a:t>
            </a:r>
            <a:r>
              <a:rPr sz="1300">
                <a:solidFill>
                  <a:srgbClr val="FFD166"/>
                </a:solidFill>
                <a:latin typeface="Consolas"/>
              </a:rPr>
              <a:t>1</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dateEmission: [</a:t>
            </a:r>
            <a:r>
              <a:rPr sz="1300">
                <a:solidFill>
                  <a:srgbClr val="FFB3C1"/>
                </a:solidFill>
                <a:latin typeface="Consolas"/>
              </a:rPr>
              <a:t>''</a:t>
            </a:r>
            <a:r>
              <a:rPr sz="1300">
                <a:solidFill>
                  <a:srgbClr val="EAF2F4"/>
                </a:solidFill>
                <a:latin typeface="Consolas"/>
              </a:rPr>
              <a:t>, Validators.required],</a:t>
            </a:r>
          </a:p>
          <a:p>
            <a:pPr>
              <a:lnSpc>
                <a:spcPct val="100000"/>
              </a:lnSpc>
              <a:spcBef>
                <a:spcPts val="0"/>
              </a:spcBef>
              <a:spcAft>
                <a:spcPts val="0"/>
              </a:spcAft>
            </a:pPr>
            <a:r>
              <a:rPr sz="1300">
                <a:solidFill>
                  <a:srgbClr val="EAF2F4"/>
                </a:solidFill>
                <a:latin typeface="Consolas"/>
              </a:rPr>
              <a:t>  dateEcheance: [</a:t>
            </a:r>
            <a:r>
              <a:rPr sz="1300">
                <a:solidFill>
                  <a:srgbClr val="FFB3C1"/>
                </a:solidFill>
                <a:latin typeface="Consolas"/>
              </a:rPr>
              <a:t>''</a:t>
            </a:r>
            <a:r>
              <a:rPr sz="1300">
                <a:solidFill>
                  <a:srgbClr val="EAF2F4"/>
                </a:solidFill>
                <a:latin typeface="Consolas"/>
              </a:rPr>
              <a:t>, Validators.required],</a:t>
            </a:r>
          </a:p>
          <a:p>
            <a:pPr>
              <a:lnSpc>
                <a:spcPct val="100000"/>
              </a:lnSpc>
              <a:spcBef>
                <a:spcPts val="0"/>
              </a:spcBef>
              <a:spcAft>
                <a:spcPts val="0"/>
              </a:spcAft>
            </a:pPr>
            <a:r>
              <a:rPr sz="1300">
                <a:solidFill>
                  <a:srgbClr val="EAF2F4"/>
                </a:solidFill>
                <a:latin typeface="Consolas"/>
              </a:rPr>
              <a:t>  montantHT: [</a:t>
            </a:r>
            <a:r>
              <a:rPr sz="1300">
                <a:solidFill>
                  <a:srgbClr val="FFD166"/>
                </a:solidFill>
                <a:latin typeface="Consolas"/>
              </a:rPr>
              <a:t>0</a:t>
            </a:r>
            <a:r>
              <a:rPr sz="1300">
                <a:solidFill>
                  <a:srgbClr val="EAF2F4"/>
                </a:solidFill>
                <a:latin typeface="Consolas"/>
              </a:rPr>
              <a:t>, [Validators.required, Validators.min(</a:t>
            </a:r>
            <a:r>
              <a:rPr sz="1300">
                <a:solidFill>
                  <a:srgbClr val="FFD166"/>
                </a:solidFill>
                <a:latin typeface="Consolas"/>
              </a:rPr>
              <a:t>0.01</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tva: [</a:t>
            </a:r>
            <a:r>
              <a:rPr sz="1300">
                <a:solidFill>
                  <a:srgbClr val="FFD166"/>
                </a:solidFill>
                <a:latin typeface="Consolas"/>
              </a:rPr>
              <a:t>20</a:t>
            </a:r>
            <a:r>
              <a:rPr sz="1300">
                <a:solidFill>
                  <a:srgbClr val="EAF2F4"/>
                </a:solidFill>
                <a:latin typeface="Consolas"/>
              </a:rPr>
              <a:t>, Validators.required],</a:t>
            </a:r>
          </a:p>
          <a:p>
            <a:pPr>
              <a:lnSpc>
                <a:spcPct val="100000"/>
              </a:lnSpc>
              <a:spcBef>
                <a:spcPts val="0"/>
              </a:spcBef>
              <a:spcAft>
                <a:spcPts val="0"/>
              </a:spcAft>
            </a:pPr>
            <a:r>
              <a:rPr sz="1300">
                <a:solidFill>
                  <a:srgbClr val="EAF2F4"/>
                </a:solidFill>
                <a:latin typeface="Consolas"/>
              </a:rPr>
              <a:t>  montantTTC: [{ value: </a:t>
            </a:r>
            <a:r>
              <a:rPr sz="1300">
                <a:solidFill>
                  <a:srgbClr val="FFD166"/>
                </a:solidFill>
                <a:latin typeface="Consolas"/>
              </a:rPr>
              <a:t>0</a:t>
            </a:r>
            <a:r>
              <a:rPr sz="1300">
                <a:solidFill>
                  <a:srgbClr val="EAF2F4"/>
                </a:solidFill>
                <a:latin typeface="Consolas"/>
              </a:rPr>
              <a:t>, disabled: </a:t>
            </a:r>
            <a:r>
              <a:rPr sz="1300">
                <a:solidFill>
                  <a:srgbClr val="7FD1E0"/>
                </a:solidFill>
                <a:latin typeface="Consolas"/>
              </a:rPr>
              <a:t>true</a:t>
            </a: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a:t>
            </a:r>
          </a:p>
        </p:txBody>
      </p:sp>
      <p:sp>
        <p:nvSpPr>
          <p:cNvPr id="28" name="Rounded Rectangle 27"/>
          <p:cNvSpPr/>
          <p:nvPr/>
        </p:nvSpPr>
        <p:spPr>
          <a:xfrm>
            <a:off x="11475720" y="4297679"/>
            <a:ext cx="5715000" cy="1298448"/>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9" name="Rectangle 28"/>
          <p:cNvSpPr/>
          <p:nvPr/>
        </p:nvSpPr>
        <p:spPr>
          <a:xfrm>
            <a:off x="11475720" y="4297679"/>
            <a:ext cx="5715000" cy="50292"/>
          </a:xfrm>
          <a:prstGeom prst="rect">
            <a:avLst/>
          </a:prstGeom>
          <a:solidFill>
            <a:srgbClr val="0B4F6C"/>
          </a:solidFill>
          <a:ln>
            <a:noFill/>
          </a:ln>
          <a:effectLst/>
        </p:spPr>
        <p:txBody>
          <a:bodyPr rtlCol="0" anchor="ctr"/>
          <a:lstStyle/>
          <a:p>
            <a:pPr algn="ctr"/>
          </a:p>
        </p:txBody>
      </p:sp>
      <p:sp>
        <p:nvSpPr>
          <p:cNvPr id="30" name="TextBox 29"/>
          <p:cNvSpPr txBox="1"/>
          <p:nvPr/>
        </p:nvSpPr>
        <p:spPr>
          <a:xfrm>
            <a:off x="11750040" y="4553712"/>
            <a:ext cx="5303520" cy="411480"/>
          </a:xfrm>
          <a:prstGeom prst="rect">
            <a:avLst/>
          </a:prstGeom>
          <a:noFill/>
        </p:spPr>
        <p:txBody>
          <a:bodyPr wrap="square" lIns="0" rIns="0" tIns="0" bIns="0" anchor="t">
            <a:noAutofit/>
          </a:bodyPr>
          <a:lstStyle/>
          <a:p>
            <a:pPr algn="l">
              <a:lnSpc>
                <a:spcPct val="102000"/>
              </a:lnSpc>
              <a:spcBef>
                <a:spcPts val="0"/>
              </a:spcBef>
              <a:spcAft>
                <a:spcPts val="0"/>
              </a:spcAft>
            </a:pPr>
            <a:r>
              <a:rPr sz="1350" b="1" i="0">
                <a:solidFill>
                  <a:srgbClr val="0B4F6C"/>
                </a:solidFill>
                <a:latin typeface="Consolas"/>
              </a:rPr>
              <a:t>touched</a:t>
            </a:r>
            <a:r>
              <a:rPr b="1" sz="1500" i="0">
                <a:solidFill>
                  <a:srgbClr val="0B4F6C"/>
                </a:solidFill>
                <a:latin typeface="Arial"/>
              </a:rPr>
              <a:t> / </a:t>
            </a:r>
            <a:r>
              <a:rPr sz="1350" b="1" i="0">
                <a:solidFill>
                  <a:srgbClr val="0B4F6C"/>
                </a:solidFill>
                <a:latin typeface="Consolas"/>
              </a:rPr>
              <a:t>dirty</a:t>
            </a:r>
          </a:p>
        </p:txBody>
      </p:sp>
      <p:sp>
        <p:nvSpPr>
          <p:cNvPr id="31" name="TextBox 30"/>
          <p:cNvSpPr txBox="1"/>
          <p:nvPr/>
        </p:nvSpPr>
        <p:spPr>
          <a:xfrm>
            <a:off x="11750040" y="4992623"/>
            <a:ext cx="5303520" cy="429768"/>
          </a:xfrm>
          <a:prstGeom prst="rect">
            <a:avLst/>
          </a:prstGeom>
          <a:noFill/>
        </p:spPr>
        <p:txBody>
          <a:bodyPr wrap="square" lIns="0" rIns="0" tIns="0" bIns="0" anchor="t">
            <a:noAutofit/>
          </a:bodyPr>
          <a:lstStyle/>
          <a:p>
            <a:pPr algn="l">
              <a:lnSpc>
                <a:spcPct val="108000"/>
              </a:lnSpc>
              <a:spcBef>
                <a:spcPts val="0"/>
              </a:spcBef>
              <a:spcAft>
                <a:spcPts val="0"/>
              </a:spcAft>
            </a:pPr>
            <a:r>
              <a:rPr b="0" sz="1300" i="0">
                <a:solidFill>
                  <a:srgbClr val="1B3B47"/>
                </a:solidFill>
                <a:latin typeface="Arial"/>
              </a:rPr>
              <a:t>Afficher les erreurs après interaction, pas au chargement.</a:t>
            </a:r>
          </a:p>
        </p:txBody>
      </p:sp>
      <p:sp>
        <p:nvSpPr>
          <p:cNvPr id="32" name="Rounded Rectangle 31"/>
          <p:cNvSpPr/>
          <p:nvPr/>
        </p:nvSpPr>
        <p:spPr>
          <a:xfrm>
            <a:off x="11475720" y="5760719"/>
            <a:ext cx="5715000" cy="1298448"/>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33" name="Rectangle 32"/>
          <p:cNvSpPr/>
          <p:nvPr/>
        </p:nvSpPr>
        <p:spPr>
          <a:xfrm>
            <a:off x="11475720" y="5760719"/>
            <a:ext cx="5715000" cy="50292"/>
          </a:xfrm>
          <a:prstGeom prst="rect">
            <a:avLst/>
          </a:prstGeom>
          <a:solidFill>
            <a:srgbClr val="0B4F6C"/>
          </a:solidFill>
          <a:ln>
            <a:noFill/>
          </a:ln>
          <a:effectLst/>
        </p:spPr>
        <p:txBody>
          <a:bodyPr rtlCol="0" anchor="ctr"/>
          <a:lstStyle/>
          <a:p>
            <a:pPr algn="ctr"/>
          </a:p>
        </p:txBody>
      </p:sp>
      <p:sp>
        <p:nvSpPr>
          <p:cNvPr id="34" name="TextBox 33"/>
          <p:cNvSpPr txBox="1"/>
          <p:nvPr/>
        </p:nvSpPr>
        <p:spPr>
          <a:xfrm>
            <a:off x="11750040" y="6016751"/>
            <a:ext cx="5303520" cy="411480"/>
          </a:xfrm>
          <a:prstGeom prst="rect">
            <a:avLst/>
          </a:prstGeom>
          <a:noFill/>
        </p:spPr>
        <p:txBody>
          <a:bodyPr wrap="square" lIns="0" rIns="0" tIns="0" bIns="0" anchor="t">
            <a:noAutofit/>
          </a:bodyPr>
          <a:lstStyle/>
          <a:p>
            <a:pPr algn="l">
              <a:lnSpc>
                <a:spcPct val="102000"/>
              </a:lnSpc>
              <a:spcBef>
                <a:spcPts val="0"/>
              </a:spcBef>
              <a:spcAft>
                <a:spcPts val="0"/>
              </a:spcAft>
            </a:pPr>
            <a:r>
              <a:rPr sz="1350" b="1" i="0">
                <a:solidFill>
                  <a:srgbClr val="0B4F6C"/>
                </a:solidFill>
                <a:latin typeface="Consolas"/>
              </a:rPr>
              <a:t>valueChanges</a:t>
            </a:r>
          </a:p>
        </p:txBody>
      </p:sp>
      <p:sp>
        <p:nvSpPr>
          <p:cNvPr id="35" name="TextBox 34"/>
          <p:cNvSpPr txBox="1"/>
          <p:nvPr/>
        </p:nvSpPr>
        <p:spPr>
          <a:xfrm>
            <a:off x="11750040" y="6455663"/>
            <a:ext cx="5303520" cy="429768"/>
          </a:xfrm>
          <a:prstGeom prst="rect">
            <a:avLst/>
          </a:prstGeom>
          <a:noFill/>
        </p:spPr>
        <p:txBody>
          <a:bodyPr wrap="square" lIns="0" rIns="0" tIns="0" bIns="0" anchor="t">
            <a:noAutofit/>
          </a:bodyPr>
          <a:lstStyle/>
          <a:p>
            <a:pPr algn="l">
              <a:lnSpc>
                <a:spcPct val="108000"/>
              </a:lnSpc>
              <a:spcBef>
                <a:spcPts val="0"/>
              </a:spcBef>
              <a:spcAft>
                <a:spcPts val="0"/>
              </a:spcAft>
            </a:pPr>
            <a:r>
              <a:rPr b="0" sz="1300" i="0">
                <a:solidFill>
                  <a:srgbClr val="1B3B47"/>
                </a:solidFill>
                <a:latin typeface="Arial"/>
              </a:rPr>
              <a:t>Recalculer le TTC à chaque changement de HT ou TVA.</a:t>
            </a:r>
          </a:p>
        </p:txBody>
      </p:sp>
      <p:sp>
        <p:nvSpPr>
          <p:cNvPr id="36" name="Rounded Rectangle 35"/>
          <p:cNvSpPr/>
          <p:nvPr/>
        </p:nvSpPr>
        <p:spPr>
          <a:xfrm>
            <a:off x="11475720" y="7223759"/>
            <a:ext cx="5715000" cy="1298448"/>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37" name="Rectangle 36"/>
          <p:cNvSpPr/>
          <p:nvPr/>
        </p:nvSpPr>
        <p:spPr>
          <a:xfrm>
            <a:off x="11475720" y="7223759"/>
            <a:ext cx="5715000" cy="50292"/>
          </a:xfrm>
          <a:prstGeom prst="rect">
            <a:avLst/>
          </a:prstGeom>
          <a:solidFill>
            <a:srgbClr val="ED1548"/>
          </a:solidFill>
          <a:ln>
            <a:noFill/>
          </a:ln>
          <a:effectLst/>
        </p:spPr>
        <p:txBody>
          <a:bodyPr rtlCol="0" anchor="ctr"/>
          <a:lstStyle/>
          <a:p>
            <a:pPr algn="ctr"/>
          </a:p>
        </p:txBody>
      </p:sp>
      <p:sp>
        <p:nvSpPr>
          <p:cNvPr id="38" name="TextBox 37"/>
          <p:cNvSpPr txBox="1"/>
          <p:nvPr/>
        </p:nvSpPr>
        <p:spPr>
          <a:xfrm>
            <a:off x="11750040" y="7479792"/>
            <a:ext cx="5303520" cy="411480"/>
          </a:xfrm>
          <a:prstGeom prst="rect">
            <a:avLst/>
          </a:prstGeom>
          <a:noFill/>
        </p:spPr>
        <p:txBody>
          <a:bodyPr wrap="square" lIns="0" rIns="0" tIns="0" bIns="0" anchor="t">
            <a:noAutofit/>
          </a:bodyPr>
          <a:lstStyle/>
          <a:p>
            <a:pPr algn="l">
              <a:lnSpc>
                <a:spcPct val="102000"/>
              </a:lnSpc>
              <a:spcBef>
                <a:spcPts val="0"/>
              </a:spcBef>
              <a:spcAft>
                <a:spcPts val="0"/>
              </a:spcAft>
            </a:pPr>
            <a:r>
              <a:rPr b="1" sz="1500" i="0">
                <a:solidFill>
                  <a:srgbClr val="ED1548"/>
                </a:solidFill>
                <a:latin typeface="Arial"/>
              </a:rPr>
              <a:t>Template</a:t>
            </a:r>
          </a:p>
        </p:txBody>
      </p:sp>
      <p:sp>
        <p:nvSpPr>
          <p:cNvPr id="39" name="TextBox 38"/>
          <p:cNvSpPr txBox="1"/>
          <p:nvPr/>
        </p:nvSpPr>
        <p:spPr>
          <a:xfrm>
            <a:off x="11750040" y="7918704"/>
            <a:ext cx="5303520" cy="429768"/>
          </a:xfrm>
          <a:prstGeom prst="rect">
            <a:avLst/>
          </a:prstGeom>
          <a:noFill/>
        </p:spPr>
        <p:txBody>
          <a:bodyPr wrap="square" lIns="0" rIns="0" tIns="0" bIns="0" anchor="t">
            <a:noAutofit/>
          </a:bodyPr>
          <a:lstStyle/>
          <a:p>
            <a:pPr algn="l">
              <a:lnSpc>
                <a:spcPct val="108000"/>
              </a:lnSpc>
              <a:spcBef>
                <a:spcPts val="0"/>
              </a:spcBef>
              <a:spcAft>
                <a:spcPts val="0"/>
              </a:spcAft>
            </a:pPr>
            <a:r>
              <a:rPr sz="1170" b="0" i="0">
                <a:solidFill>
                  <a:srgbClr val="ED1548"/>
                </a:solidFill>
                <a:latin typeface="Consolas"/>
              </a:rPr>
              <a:t>@if (ctrl.touched &amp;&amp;</a:t>
            </a:r>
          </a:p>
          <a:p>
            <a:pPr algn="l">
              <a:lnSpc>
                <a:spcPct val="108000"/>
              </a:lnSpc>
              <a:spcBef>
                <a:spcPts val="0"/>
              </a:spcBef>
              <a:spcAft>
                <a:spcPts val="0"/>
              </a:spcAft>
            </a:pPr>
            <a:r>
              <a:rPr sz="1170" b="0" i="0">
                <a:solidFill>
                  <a:srgbClr val="ED1548"/>
                </a:solidFill>
                <a:latin typeface="Consolas"/>
              </a:rPr>
              <a:t>ctrl.errors?.['required'])</a:t>
            </a:r>
          </a:p>
        </p:txBody>
      </p:sp>
      <p:sp>
        <p:nvSpPr>
          <p:cNvPr id="40" name="TextBox 39"/>
          <p:cNvSpPr txBox="1"/>
          <p:nvPr/>
        </p:nvSpPr>
        <p:spPr>
          <a:xfrm>
            <a:off x="2606040" y="8732520"/>
            <a:ext cx="14538960" cy="320040"/>
          </a:xfrm>
          <a:prstGeom prst="rect">
            <a:avLst/>
          </a:prstGeom>
          <a:noFill/>
        </p:spPr>
        <p:txBody>
          <a:bodyPr wrap="square" lIns="0" rIns="0" tIns="0" bIns="0" anchor="t">
            <a:noAutofit/>
          </a:bodyPr>
          <a:lstStyle/>
          <a:p>
            <a:pPr algn="l">
              <a:lnSpc>
                <a:spcPct val="102000"/>
              </a:lnSpc>
              <a:spcBef>
                <a:spcPts val="0"/>
              </a:spcBef>
              <a:spcAft>
                <a:spcPts val="0"/>
              </a:spcAft>
            </a:pPr>
            <a:r>
              <a:rPr b="0" sz="1400" i="0">
                <a:solidFill>
                  <a:srgbClr val="5C6E76"/>
                </a:solidFill>
                <a:latin typeface="Arial"/>
              </a:rPr>
              <a:t>Le formulaire est la source de vérité : le template ne fait que refléter son état.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2  ·  VALIDATION</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Trois niveaux de validation</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Champ, groupe, asynchrone : chaque règle a sa place.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33 / 62</a:t>
            </a:r>
          </a:p>
        </p:txBody>
      </p:sp>
      <p:sp>
        <p:nvSpPr>
          <p:cNvPr id="9" name="Rounded Rectangle 8"/>
          <p:cNvSpPr/>
          <p:nvPr/>
        </p:nvSpPr>
        <p:spPr>
          <a:xfrm>
            <a:off x="2606040" y="3063240"/>
            <a:ext cx="6720840" cy="155448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0" name="Rectangle 9"/>
          <p:cNvSpPr/>
          <p:nvPr/>
        </p:nvSpPr>
        <p:spPr>
          <a:xfrm>
            <a:off x="2606040" y="3063240"/>
            <a:ext cx="6720840" cy="50292"/>
          </a:xfrm>
          <a:prstGeom prst="rect">
            <a:avLst/>
          </a:prstGeom>
          <a:solidFill>
            <a:srgbClr val="0B4F6C"/>
          </a:solidFill>
          <a:ln>
            <a:noFill/>
          </a:ln>
          <a:effectLst/>
        </p:spPr>
        <p:txBody>
          <a:bodyPr rtlCol="0" anchor="ctr"/>
          <a:lstStyle/>
          <a:p>
            <a:pPr algn="ctr"/>
          </a:p>
        </p:txBody>
      </p:sp>
      <p:sp>
        <p:nvSpPr>
          <p:cNvPr id="11" name="TextBox 10"/>
          <p:cNvSpPr txBox="1"/>
          <p:nvPr/>
        </p:nvSpPr>
        <p:spPr>
          <a:xfrm>
            <a:off x="2880360" y="3319272"/>
            <a:ext cx="6172200" cy="411480"/>
          </a:xfrm>
          <a:prstGeom prst="rect">
            <a:avLst/>
          </a:prstGeom>
          <a:noFill/>
        </p:spPr>
        <p:txBody>
          <a:bodyPr wrap="square" lIns="0" rIns="0" tIns="0" bIns="0" anchor="t">
            <a:noAutofit/>
          </a:bodyPr>
          <a:lstStyle/>
          <a:p>
            <a:pPr algn="l">
              <a:lnSpc>
                <a:spcPct val="102000"/>
              </a:lnSpc>
              <a:spcBef>
                <a:spcPts val="0"/>
              </a:spcBef>
              <a:spcAft>
                <a:spcPts val="0"/>
              </a:spcAft>
            </a:pPr>
            <a:r>
              <a:rPr b="1" sz="1700" i="0">
                <a:solidFill>
                  <a:srgbClr val="0B4F6C"/>
                </a:solidFill>
                <a:latin typeface="Arial"/>
              </a:rPr>
              <a:t>Natif</a:t>
            </a:r>
          </a:p>
        </p:txBody>
      </p:sp>
      <p:sp>
        <p:nvSpPr>
          <p:cNvPr id="12" name="TextBox 11"/>
          <p:cNvSpPr txBox="1"/>
          <p:nvPr/>
        </p:nvSpPr>
        <p:spPr>
          <a:xfrm>
            <a:off x="2880360" y="3758183"/>
            <a:ext cx="6172200" cy="685800"/>
          </a:xfrm>
          <a:prstGeom prst="rect">
            <a:avLst/>
          </a:prstGeom>
          <a:noFill/>
        </p:spPr>
        <p:txBody>
          <a:bodyPr wrap="square" lIns="0" rIns="0" tIns="0" bIns="0" anchor="t">
            <a:noAutofit/>
          </a:bodyPr>
          <a:lstStyle/>
          <a:p>
            <a:pPr algn="l">
              <a:lnSpc>
                <a:spcPct val="108000"/>
              </a:lnSpc>
              <a:spcBef>
                <a:spcPts val="0"/>
              </a:spcBef>
              <a:spcAft>
                <a:spcPts val="0"/>
              </a:spcAft>
            </a:pPr>
            <a:r>
              <a:rPr sz="1305" b="0" i="0">
                <a:solidFill>
                  <a:srgbClr val="0B4F6C"/>
                </a:solidFill>
                <a:latin typeface="Consolas"/>
              </a:rPr>
              <a:t>required</a:t>
            </a:r>
            <a:r>
              <a:rPr b="0" sz="1450" i="0">
                <a:solidFill>
                  <a:srgbClr val="1B3B47"/>
                </a:solidFill>
                <a:latin typeface="Arial"/>
              </a:rPr>
              <a:t>, </a:t>
            </a:r>
            <a:r>
              <a:rPr sz="1305" b="0" i="0">
                <a:solidFill>
                  <a:srgbClr val="0B4F6C"/>
                </a:solidFill>
                <a:latin typeface="Consolas"/>
              </a:rPr>
              <a:t>min</a:t>
            </a:r>
            <a:r>
              <a:rPr b="0" sz="1450" i="0">
                <a:solidFill>
                  <a:srgbClr val="1B3B47"/>
                </a:solidFill>
                <a:latin typeface="Arial"/>
              </a:rPr>
              <a:t>, </a:t>
            </a:r>
            <a:r>
              <a:rPr sz="1305" b="0" i="0">
                <a:solidFill>
                  <a:srgbClr val="0B4F6C"/>
                </a:solidFill>
                <a:latin typeface="Consolas"/>
              </a:rPr>
              <a:t>pattern</a:t>
            </a:r>
            <a:r>
              <a:rPr b="0" sz="1450" i="0">
                <a:solidFill>
                  <a:srgbClr val="1B3B47"/>
                </a:solidFill>
                <a:latin typeface="Arial"/>
              </a:rPr>
              <a:t>, </a:t>
            </a:r>
            <a:r>
              <a:rPr sz="1305" b="0" i="0">
                <a:solidFill>
                  <a:srgbClr val="0B4F6C"/>
                </a:solidFill>
                <a:latin typeface="Consolas"/>
              </a:rPr>
              <a:t>email</a:t>
            </a:r>
            <a:r>
              <a:rPr b="0" sz="1450" i="0">
                <a:solidFill>
                  <a:srgbClr val="1B3B47"/>
                </a:solidFill>
                <a:latin typeface="Arial"/>
              </a:rPr>
              <a:t>… pour les règles simples.</a:t>
            </a:r>
          </a:p>
        </p:txBody>
      </p:sp>
      <p:sp>
        <p:nvSpPr>
          <p:cNvPr id="13" name="Rounded Rectangle 12"/>
          <p:cNvSpPr/>
          <p:nvPr/>
        </p:nvSpPr>
        <p:spPr>
          <a:xfrm>
            <a:off x="2606040" y="4846320"/>
            <a:ext cx="6720840" cy="155448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4" name="Rectangle 13"/>
          <p:cNvSpPr/>
          <p:nvPr/>
        </p:nvSpPr>
        <p:spPr>
          <a:xfrm>
            <a:off x="2606040" y="4846320"/>
            <a:ext cx="6720840" cy="50292"/>
          </a:xfrm>
          <a:prstGeom prst="rect">
            <a:avLst/>
          </a:prstGeom>
          <a:solidFill>
            <a:srgbClr val="ED1548"/>
          </a:solidFill>
          <a:ln>
            <a:noFill/>
          </a:ln>
          <a:effectLst/>
        </p:spPr>
        <p:txBody>
          <a:bodyPr rtlCol="0" anchor="ctr"/>
          <a:lstStyle/>
          <a:p>
            <a:pPr algn="ctr"/>
          </a:p>
        </p:txBody>
      </p:sp>
      <p:sp>
        <p:nvSpPr>
          <p:cNvPr id="15" name="TextBox 14"/>
          <p:cNvSpPr txBox="1"/>
          <p:nvPr/>
        </p:nvSpPr>
        <p:spPr>
          <a:xfrm>
            <a:off x="2880360" y="5102352"/>
            <a:ext cx="6172200" cy="411480"/>
          </a:xfrm>
          <a:prstGeom prst="rect">
            <a:avLst/>
          </a:prstGeom>
          <a:noFill/>
        </p:spPr>
        <p:txBody>
          <a:bodyPr wrap="square" lIns="0" rIns="0" tIns="0" bIns="0" anchor="t">
            <a:noAutofit/>
          </a:bodyPr>
          <a:lstStyle/>
          <a:p>
            <a:pPr algn="l">
              <a:lnSpc>
                <a:spcPct val="102000"/>
              </a:lnSpc>
              <a:spcBef>
                <a:spcPts val="0"/>
              </a:spcBef>
              <a:spcAft>
                <a:spcPts val="0"/>
              </a:spcAft>
            </a:pPr>
            <a:r>
              <a:rPr b="1" sz="1700" i="0">
                <a:solidFill>
                  <a:srgbClr val="ED1548"/>
                </a:solidFill>
                <a:latin typeface="Arial"/>
              </a:rPr>
              <a:t>Croisé</a:t>
            </a:r>
          </a:p>
        </p:txBody>
      </p:sp>
      <p:sp>
        <p:nvSpPr>
          <p:cNvPr id="16" name="TextBox 15"/>
          <p:cNvSpPr txBox="1"/>
          <p:nvPr/>
        </p:nvSpPr>
        <p:spPr>
          <a:xfrm>
            <a:off x="2880360" y="5541264"/>
            <a:ext cx="6172200" cy="685800"/>
          </a:xfrm>
          <a:prstGeom prst="rect">
            <a:avLst/>
          </a:prstGeom>
          <a:noFill/>
        </p:spPr>
        <p:txBody>
          <a:bodyPr wrap="square" lIns="0" rIns="0" tIns="0" bIns="0" anchor="t">
            <a:noAutofit/>
          </a:bodyPr>
          <a:lstStyle/>
          <a:p>
            <a:pPr algn="l">
              <a:lnSpc>
                <a:spcPct val="108000"/>
              </a:lnSpc>
              <a:spcBef>
                <a:spcPts val="0"/>
              </a:spcBef>
              <a:spcAft>
                <a:spcPts val="0"/>
              </a:spcAft>
            </a:pPr>
            <a:r>
              <a:rPr b="0" sz="1450" i="0">
                <a:solidFill>
                  <a:srgbClr val="1B3B47"/>
                </a:solidFill>
                <a:latin typeface="Arial"/>
              </a:rPr>
              <a:t>Le groupe est invalide si l'échéance précède l'émission.</a:t>
            </a:r>
          </a:p>
        </p:txBody>
      </p:sp>
      <p:sp>
        <p:nvSpPr>
          <p:cNvPr id="17" name="Rounded Rectangle 16"/>
          <p:cNvSpPr/>
          <p:nvPr/>
        </p:nvSpPr>
        <p:spPr>
          <a:xfrm>
            <a:off x="2606040" y="6629400"/>
            <a:ext cx="6720840" cy="155448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8" name="Rectangle 17"/>
          <p:cNvSpPr/>
          <p:nvPr/>
        </p:nvSpPr>
        <p:spPr>
          <a:xfrm>
            <a:off x="2606040" y="6629400"/>
            <a:ext cx="6720840" cy="50292"/>
          </a:xfrm>
          <a:prstGeom prst="rect">
            <a:avLst/>
          </a:prstGeom>
          <a:solidFill>
            <a:srgbClr val="B26A00"/>
          </a:solidFill>
          <a:ln>
            <a:noFill/>
          </a:ln>
          <a:effectLst/>
        </p:spPr>
        <p:txBody>
          <a:bodyPr rtlCol="0" anchor="ctr"/>
          <a:lstStyle/>
          <a:p>
            <a:pPr algn="ctr"/>
          </a:p>
        </p:txBody>
      </p:sp>
      <p:sp>
        <p:nvSpPr>
          <p:cNvPr id="19" name="TextBox 18"/>
          <p:cNvSpPr txBox="1"/>
          <p:nvPr/>
        </p:nvSpPr>
        <p:spPr>
          <a:xfrm>
            <a:off x="2880360" y="6885432"/>
            <a:ext cx="6172200" cy="411480"/>
          </a:xfrm>
          <a:prstGeom prst="rect">
            <a:avLst/>
          </a:prstGeom>
          <a:noFill/>
        </p:spPr>
        <p:txBody>
          <a:bodyPr wrap="square" lIns="0" rIns="0" tIns="0" bIns="0" anchor="t">
            <a:noAutofit/>
          </a:bodyPr>
          <a:lstStyle/>
          <a:p>
            <a:pPr algn="l">
              <a:lnSpc>
                <a:spcPct val="102000"/>
              </a:lnSpc>
              <a:spcBef>
                <a:spcPts val="0"/>
              </a:spcBef>
              <a:spcAft>
                <a:spcPts val="0"/>
              </a:spcAft>
            </a:pPr>
            <a:r>
              <a:rPr b="1" sz="1700" i="0">
                <a:solidFill>
                  <a:srgbClr val="B26A00"/>
                </a:solidFill>
                <a:latin typeface="Arial"/>
              </a:rPr>
              <a:t>Asynchrone</a:t>
            </a:r>
          </a:p>
        </p:txBody>
      </p:sp>
      <p:sp>
        <p:nvSpPr>
          <p:cNvPr id="20" name="TextBox 19"/>
          <p:cNvSpPr txBox="1"/>
          <p:nvPr/>
        </p:nvSpPr>
        <p:spPr>
          <a:xfrm>
            <a:off x="2880360" y="7324344"/>
            <a:ext cx="6172200" cy="685800"/>
          </a:xfrm>
          <a:prstGeom prst="rect">
            <a:avLst/>
          </a:prstGeom>
          <a:noFill/>
        </p:spPr>
        <p:txBody>
          <a:bodyPr wrap="square" lIns="0" rIns="0" tIns="0" bIns="0" anchor="t">
            <a:noAutofit/>
          </a:bodyPr>
          <a:lstStyle/>
          <a:p>
            <a:pPr algn="l">
              <a:lnSpc>
                <a:spcPct val="108000"/>
              </a:lnSpc>
              <a:spcBef>
                <a:spcPts val="0"/>
              </a:spcBef>
              <a:spcAft>
                <a:spcPts val="0"/>
              </a:spcAft>
            </a:pPr>
            <a:r>
              <a:rPr b="0" sz="1450" i="0">
                <a:solidFill>
                  <a:srgbClr val="1B3B47"/>
                </a:solidFill>
                <a:latin typeface="Arial"/>
              </a:rPr>
              <a:t>Vérifie l'unicité du numéro auprès de l'API.</a:t>
            </a:r>
          </a:p>
        </p:txBody>
      </p:sp>
      <p:sp>
        <p:nvSpPr>
          <p:cNvPr id="21" name="Rounded Rectangle 20"/>
          <p:cNvSpPr/>
          <p:nvPr/>
        </p:nvSpPr>
        <p:spPr>
          <a:xfrm>
            <a:off x="9829800" y="3063240"/>
            <a:ext cx="7360920" cy="402336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22" name="Oval 21"/>
          <p:cNvSpPr/>
          <p:nvPr/>
        </p:nvSpPr>
        <p:spPr>
          <a:xfrm>
            <a:off x="10049256" y="3236976"/>
            <a:ext cx="82296" cy="82296"/>
          </a:xfrm>
          <a:prstGeom prst="ellipse">
            <a:avLst/>
          </a:prstGeom>
          <a:solidFill>
            <a:srgbClr val="ED1548"/>
          </a:solidFill>
          <a:ln>
            <a:noFill/>
          </a:ln>
          <a:effectLst/>
        </p:spPr>
        <p:txBody>
          <a:bodyPr rtlCol="0" anchor="ctr"/>
          <a:lstStyle/>
          <a:p>
            <a:pPr algn="ctr"/>
          </a:p>
        </p:txBody>
      </p:sp>
      <p:sp>
        <p:nvSpPr>
          <p:cNvPr id="23" name="TextBox 22"/>
          <p:cNvSpPr txBox="1"/>
          <p:nvPr/>
        </p:nvSpPr>
        <p:spPr>
          <a:xfrm>
            <a:off x="10213848" y="3172968"/>
            <a:ext cx="6857999"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validateurs personnalisés</a:t>
            </a:r>
          </a:p>
        </p:txBody>
      </p:sp>
      <p:sp>
        <p:nvSpPr>
          <p:cNvPr id="24" name="TextBox 23"/>
          <p:cNvSpPr txBox="1"/>
          <p:nvPr/>
        </p:nvSpPr>
        <p:spPr>
          <a:xfrm>
            <a:off x="10076688" y="3538728"/>
            <a:ext cx="7040879" cy="3383280"/>
          </a:xfrm>
          <a:prstGeom prst="rect">
            <a:avLst/>
          </a:prstGeom>
          <a:noFill/>
        </p:spPr>
        <p:txBody>
          <a:bodyPr wrap="none" lIns="0" rIns="0" tIns="0" bIns="0">
            <a:noAutofit/>
          </a:bodyPr>
          <a:lstStyle/>
          <a:p>
            <a:pPr>
              <a:lnSpc>
                <a:spcPct val="100000"/>
              </a:lnSpc>
              <a:spcBef>
                <a:spcPts val="0"/>
              </a:spcBef>
              <a:spcAft>
                <a:spcPts val="0"/>
              </a:spcAft>
            </a:pPr>
            <a:r>
              <a:rPr sz="1250" i="1">
                <a:solidFill>
                  <a:srgbClr val="7FA6B2"/>
                </a:solidFill>
                <a:latin typeface="Consolas"/>
              </a:rPr>
              <a:t>// échéance &gt;= émission</a:t>
            </a:r>
          </a:p>
          <a:p>
            <a:pPr>
              <a:lnSpc>
                <a:spcPct val="100000"/>
              </a:lnSpc>
              <a:spcBef>
                <a:spcPts val="0"/>
              </a:spcBef>
              <a:spcAft>
                <a:spcPts val="0"/>
              </a:spcAft>
            </a:pPr>
            <a:r>
              <a:rPr sz="1250">
                <a:solidFill>
                  <a:srgbClr val="7FD1E0"/>
                </a:solidFill>
                <a:latin typeface="Consolas"/>
              </a:rPr>
              <a:t>const</a:t>
            </a:r>
            <a:r>
              <a:rPr sz="1250">
                <a:solidFill>
                  <a:srgbClr val="EAF2F4"/>
                </a:solidFill>
                <a:latin typeface="Consolas"/>
              </a:rPr>
              <a:t> datesValides: ValidatorFn = (g) =&gt; {</a:t>
            </a:r>
          </a:p>
          <a:p>
            <a:pPr>
              <a:lnSpc>
                <a:spcPct val="100000"/>
              </a:lnSpc>
              <a:spcBef>
                <a:spcPts val="0"/>
              </a:spcBef>
              <a:spcAft>
                <a:spcPts val="0"/>
              </a:spcAft>
            </a:pPr>
            <a:r>
              <a:rPr sz="1250">
                <a:solidFill>
                  <a:srgbClr val="EAF2F4"/>
                </a:solidFill>
                <a:latin typeface="Consolas"/>
              </a:rPr>
              <a:t>  </a:t>
            </a:r>
            <a:r>
              <a:rPr sz="1250">
                <a:solidFill>
                  <a:srgbClr val="7FD1E0"/>
                </a:solidFill>
                <a:latin typeface="Consolas"/>
              </a:rPr>
              <a:t>const</a:t>
            </a:r>
            <a:r>
              <a:rPr sz="1250">
                <a:solidFill>
                  <a:srgbClr val="EAF2F4"/>
                </a:solidFill>
                <a:latin typeface="Consolas"/>
              </a:rPr>
              <a:t> { dateEmission, dateEcheance } = g.value;</a:t>
            </a:r>
          </a:p>
          <a:p>
            <a:pPr>
              <a:lnSpc>
                <a:spcPct val="100000"/>
              </a:lnSpc>
              <a:spcBef>
                <a:spcPts val="0"/>
              </a:spcBef>
              <a:spcAft>
                <a:spcPts val="0"/>
              </a:spcAft>
            </a:pPr>
            <a:r>
              <a:rPr sz="1250">
                <a:solidFill>
                  <a:srgbClr val="EAF2F4"/>
                </a:solidFill>
                <a:latin typeface="Consolas"/>
              </a:rPr>
              <a:t>  </a:t>
            </a:r>
            <a:r>
              <a:rPr sz="1250">
                <a:solidFill>
                  <a:srgbClr val="7FD1E0"/>
                </a:solidFill>
                <a:latin typeface="Consolas"/>
              </a:rPr>
              <a:t>return</a:t>
            </a:r>
            <a:r>
              <a:rPr sz="1250">
                <a:solidFill>
                  <a:srgbClr val="EAF2F4"/>
                </a:solidFill>
                <a:latin typeface="Consolas"/>
              </a:rPr>
              <a:t> dateEcheance &gt;= dateEmission</a:t>
            </a:r>
          </a:p>
          <a:p>
            <a:pPr>
              <a:lnSpc>
                <a:spcPct val="100000"/>
              </a:lnSpc>
              <a:spcBef>
                <a:spcPts val="0"/>
              </a:spcBef>
              <a:spcAft>
                <a:spcPts val="0"/>
              </a:spcAft>
            </a:pPr>
            <a:r>
              <a:rPr sz="1250">
                <a:solidFill>
                  <a:srgbClr val="EAF2F4"/>
                </a:solidFill>
                <a:latin typeface="Consolas"/>
              </a:rPr>
              <a:t>    ? </a:t>
            </a:r>
            <a:r>
              <a:rPr sz="1250">
                <a:solidFill>
                  <a:srgbClr val="7FD1E0"/>
                </a:solidFill>
                <a:latin typeface="Consolas"/>
              </a:rPr>
              <a:t>null</a:t>
            </a:r>
          </a:p>
          <a:p>
            <a:pPr>
              <a:lnSpc>
                <a:spcPct val="100000"/>
              </a:lnSpc>
              <a:spcBef>
                <a:spcPts val="0"/>
              </a:spcBef>
              <a:spcAft>
                <a:spcPts val="0"/>
              </a:spcAft>
            </a:pPr>
            <a:r>
              <a:rPr sz="1250">
                <a:solidFill>
                  <a:srgbClr val="EAF2F4"/>
                </a:solidFill>
                <a:latin typeface="Consolas"/>
              </a:rPr>
              <a:t>    : { datesIncoherentes: </a:t>
            </a:r>
            <a:r>
              <a:rPr sz="1250">
                <a:solidFill>
                  <a:srgbClr val="7FD1E0"/>
                </a:solidFill>
                <a:latin typeface="Consolas"/>
              </a:rPr>
              <a:t>true</a:t>
            </a:r>
            <a:r>
              <a:rPr sz="1250">
                <a:solidFill>
                  <a:srgbClr val="EAF2F4"/>
                </a:solidFill>
                <a:latin typeface="Consolas"/>
              </a:rPr>
              <a:t> };</a:t>
            </a:r>
          </a:p>
          <a:p>
            <a:pPr>
              <a:lnSpc>
                <a:spcPct val="100000"/>
              </a:lnSpc>
              <a:spcBef>
                <a:spcPts val="0"/>
              </a:spcBef>
              <a:spcAft>
                <a:spcPts val="0"/>
              </a:spcAft>
            </a:pPr>
            <a:r>
              <a:rPr sz="1250">
                <a:solidFill>
                  <a:srgbClr val="EAF2F4"/>
                </a:solidFill>
                <a:latin typeface="Consolas"/>
              </a:rPr>
              <a:t>};</a:t>
            </a:r>
          </a:p>
          <a:p>
            <a:pPr>
              <a:lnSpc>
                <a:spcPct val="100000"/>
              </a:lnSpc>
              <a:spcBef>
                <a:spcPts val="0"/>
              </a:spcBef>
              <a:spcAft>
                <a:spcPts val="0"/>
              </a:spcAft>
            </a:pPr>
          </a:p>
          <a:p>
            <a:pPr>
              <a:lnSpc>
                <a:spcPct val="100000"/>
              </a:lnSpc>
              <a:spcBef>
                <a:spcPts val="0"/>
              </a:spcBef>
              <a:spcAft>
                <a:spcPts val="0"/>
              </a:spcAft>
            </a:pPr>
            <a:r>
              <a:rPr sz="1250" i="1">
                <a:solidFill>
                  <a:srgbClr val="7FA6B2"/>
                </a:solidFill>
                <a:latin typeface="Consolas"/>
              </a:rPr>
              <a:t>// unicité du numéro (async)</a:t>
            </a:r>
          </a:p>
          <a:p>
            <a:pPr>
              <a:lnSpc>
                <a:spcPct val="100000"/>
              </a:lnSpc>
              <a:spcBef>
                <a:spcPts val="0"/>
              </a:spcBef>
              <a:spcAft>
                <a:spcPts val="0"/>
              </a:spcAft>
            </a:pPr>
            <a:r>
              <a:rPr sz="1250">
                <a:solidFill>
                  <a:srgbClr val="7FD1E0"/>
                </a:solidFill>
                <a:latin typeface="Consolas"/>
              </a:rPr>
              <a:t>const</a:t>
            </a:r>
            <a:r>
              <a:rPr sz="1250">
                <a:solidFill>
                  <a:srgbClr val="EAF2F4"/>
                </a:solidFill>
                <a:latin typeface="Consolas"/>
              </a:rPr>
              <a:t> numeroUnique = (service: FactureService): AsyncValidatorFn =&gt;</a:t>
            </a:r>
          </a:p>
          <a:p>
            <a:pPr>
              <a:lnSpc>
                <a:spcPct val="100000"/>
              </a:lnSpc>
              <a:spcBef>
                <a:spcPts val="0"/>
              </a:spcBef>
              <a:spcAft>
                <a:spcPts val="0"/>
              </a:spcAft>
            </a:pPr>
            <a:r>
              <a:rPr sz="1250">
                <a:solidFill>
                  <a:srgbClr val="EAF2F4"/>
                </a:solidFill>
                <a:latin typeface="Consolas"/>
              </a:rPr>
              <a:t>  (ctrl) =&gt; service.existe(ctrl.value).pipe(</a:t>
            </a:r>
          </a:p>
          <a:p>
            <a:pPr>
              <a:lnSpc>
                <a:spcPct val="100000"/>
              </a:lnSpc>
              <a:spcBef>
                <a:spcPts val="0"/>
              </a:spcBef>
              <a:spcAft>
                <a:spcPts val="0"/>
              </a:spcAft>
            </a:pPr>
            <a:r>
              <a:rPr sz="1250">
                <a:solidFill>
                  <a:srgbClr val="EAF2F4"/>
                </a:solidFill>
                <a:latin typeface="Consolas"/>
              </a:rPr>
              <a:t>    map(existe =&gt; existe ? { numeroDejaPris: </a:t>
            </a:r>
            <a:r>
              <a:rPr sz="1250">
                <a:solidFill>
                  <a:srgbClr val="7FD1E0"/>
                </a:solidFill>
                <a:latin typeface="Consolas"/>
              </a:rPr>
              <a:t>true</a:t>
            </a:r>
            <a:r>
              <a:rPr sz="1250">
                <a:solidFill>
                  <a:srgbClr val="EAF2F4"/>
                </a:solidFill>
                <a:latin typeface="Consolas"/>
              </a:rPr>
              <a:t> } : </a:t>
            </a:r>
            <a:r>
              <a:rPr sz="1250">
                <a:solidFill>
                  <a:srgbClr val="7FD1E0"/>
                </a:solidFill>
                <a:latin typeface="Consolas"/>
              </a:rPr>
              <a:t>null</a:t>
            </a:r>
            <a:r>
              <a:rPr sz="1250">
                <a:solidFill>
                  <a:srgbClr val="EAF2F4"/>
                </a:solidFill>
                <a:latin typeface="Consolas"/>
              </a:rPr>
              <a:t>),</a:t>
            </a:r>
          </a:p>
          <a:p>
            <a:pPr>
              <a:lnSpc>
                <a:spcPct val="100000"/>
              </a:lnSpc>
              <a:spcBef>
                <a:spcPts val="0"/>
              </a:spcBef>
              <a:spcAft>
                <a:spcPts val="0"/>
              </a:spcAft>
            </a:pPr>
            <a:r>
              <a:rPr sz="1250">
                <a:solidFill>
                  <a:srgbClr val="EAF2F4"/>
                </a:solidFill>
                <a:latin typeface="Consolas"/>
              </a:rPr>
              <a:t>  );</a:t>
            </a:r>
          </a:p>
        </p:txBody>
      </p:sp>
      <p:sp>
        <p:nvSpPr>
          <p:cNvPr id="25" name="Rounded Rectangle 24"/>
          <p:cNvSpPr/>
          <p:nvPr/>
        </p:nvSpPr>
        <p:spPr>
          <a:xfrm>
            <a:off x="9829800" y="7406640"/>
            <a:ext cx="7360920" cy="1828800"/>
          </a:xfrm>
          <a:prstGeom prst="roundRect">
            <a:avLst>
              <a:gd name="adj" fmla="val 8000"/>
            </a:avLst>
          </a:prstGeom>
          <a:solidFill>
            <a:srgbClr val="FFF0F4"/>
          </a:solidFill>
          <a:ln>
            <a:noFill/>
          </a:ln>
          <a:effectLst/>
        </p:spPr>
        <p:txBody>
          <a:bodyPr rtlCol="0" anchor="ctr"/>
          <a:lstStyle/>
          <a:p>
            <a:pPr algn="ctr"/>
          </a:p>
        </p:txBody>
      </p:sp>
      <p:sp>
        <p:nvSpPr>
          <p:cNvPr id="26" name="Rectangle 25"/>
          <p:cNvSpPr/>
          <p:nvPr/>
        </p:nvSpPr>
        <p:spPr>
          <a:xfrm>
            <a:off x="9829800" y="7406640"/>
            <a:ext cx="64008" cy="1828800"/>
          </a:xfrm>
          <a:prstGeom prst="rect">
            <a:avLst/>
          </a:prstGeom>
          <a:solidFill>
            <a:srgbClr val="ED1548"/>
          </a:solidFill>
          <a:ln>
            <a:noFill/>
          </a:ln>
          <a:effectLst/>
        </p:spPr>
        <p:txBody>
          <a:bodyPr rtlCol="0" anchor="ctr"/>
          <a:lstStyle/>
          <a:p>
            <a:pPr algn="ctr"/>
          </a:p>
        </p:txBody>
      </p:sp>
      <p:sp>
        <p:nvSpPr>
          <p:cNvPr id="27" name="TextBox 26"/>
          <p:cNvSpPr txBox="1"/>
          <p:nvPr/>
        </p:nvSpPr>
        <p:spPr>
          <a:xfrm>
            <a:off x="10122408" y="7571231"/>
            <a:ext cx="6995159"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AFFICHAGE</a:t>
            </a:r>
          </a:p>
        </p:txBody>
      </p:sp>
      <p:sp>
        <p:nvSpPr>
          <p:cNvPr id="28" name="TextBox 27"/>
          <p:cNvSpPr txBox="1"/>
          <p:nvPr/>
        </p:nvSpPr>
        <p:spPr>
          <a:xfrm>
            <a:off x="10122408" y="7863840"/>
            <a:ext cx="6949440" cy="1261872"/>
          </a:xfrm>
          <a:prstGeom prst="rect">
            <a:avLst/>
          </a:prstGeom>
          <a:noFill/>
        </p:spPr>
        <p:txBody>
          <a:bodyPr wrap="square" lIns="0" rIns="0" tIns="0" bIns="0" anchor="t">
            <a:noAutofit/>
          </a:bodyPr>
          <a:lstStyle/>
          <a:p>
            <a:pPr algn="l">
              <a:lnSpc>
                <a:spcPct val="106000"/>
              </a:lnSpc>
              <a:spcBef>
                <a:spcPts val="0"/>
              </a:spcBef>
              <a:spcAft>
                <a:spcPts val="0"/>
              </a:spcAft>
            </a:pPr>
            <a:r>
              <a:rPr sz="1260" b="0" i="0">
                <a:solidFill>
                  <a:srgbClr val="ED1548"/>
                </a:solidFill>
                <a:latin typeface="Consolas"/>
              </a:rPr>
              <a:t>@if (ctrl.touched &amp;&amp; ctrl.errors?.['required'])</a:t>
            </a:r>
            <a:r>
              <a:rPr b="0" sz="1400" i="0">
                <a:solidFill>
                  <a:srgbClr val="1B3B47"/>
                </a:solidFill>
                <a:latin typeface="Arial"/>
              </a:rPr>
              <a:t> puis un message par type d'erreur. Ne jamais afficher une erreur avant que l'utilisateur ait touché le champ.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2  ·  TP 3</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Formulaire de facture</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Objectif : créer et éditer une facture, avec TTC calculé et erreurs lisibles.</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34 / 62</a:t>
            </a:r>
          </a:p>
        </p:txBody>
      </p:sp>
      <p:sp>
        <p:nvSpPr>
          <p:cNvPr id="9" name="Oval 8"/>
          <p:cNvSpPr/>
          <p:nvPr/>
        </p:nvSpPr>
        <p:spPr>
          <a:xfrm>
            <a:off x="2606040" y="3081528"/>
            <a:ext cx="329184" cy="329184"/>
          </a:xfrm>
          <a:prstGeom prst="ellipse">
            <a:avLst/>
          </a:prstGeom>
          <a:solidFill>
            <a:srgbClr val="ED1548"/>
          </a:solidFill>
          <a:ln>
            <a:noFill/>
          </a:ln>
          <a:effectLst/>
        </p:spPr>
        <p:txBody>
          <a:bodyPr rtlCol="0" anchor="ctr" lIns="0" rIns="0" tIns="0" bIns="0"/>
          <a:lstStyle/>
          <a:p>
            <a:pPr algn="ctr"/>
            <a:r>
              <a:rPr sz="1360" b="1">
                <a:solidFill>
                  <a:srgbClr val="FFFFFF"/>
                </a:solidFill>
                <a:latin typeface="Arial"/>
              </a:rPr>
              <a:t>1</a:t>
            </a:r>
          </a:p>
        </p:txBody>
      </p:sp>
      <p:sp>
        <p:nvSpPr>
          <p:cNvPr id="10" name="TextBox 9"/>
          <p:cNvSpPr txBox="1"/>
          <p:nvPr/>
        </p:nvSpPr>
        <p:spPr>
          <a:xfrm>
            <a:off x="3108960" y="3081528"/>
            <a:ext cx="7955279" cy="739357"/>
          </a:xfrm>
          <a:prstGeom prst="rect">
            <a:avLst/>
          </a:prstGeom>
          <a:noFill/>
        </p:spPr>
        <p:txBody>
          <a:bodyPr wrap="square" lIns="0" rIns="0" tIns="0" bIns="0" anchor="t">
            <a:noAutofit/>
          </a:bodyPr>
          <a:lstStyle/>
          <a:p>
            <a:pPr algn="l">
              <a:lnSpc>
                <a:spcPct val="106000"/>
              </a:lnSpc>
              <a:spcBef>
                <a:spcPts val="0"/>
              </a:spcBef>
              <a:spcAft>
                <a:spcPts val="0"/>
              </a:spcAft>
            </a:pPr>
            <a:r>
              <a:rPr sz="1440" b="0" i="0">
                <a:solidFill>
                  <a:srgbClr val="ED1548"/>
                </a:solidFill>
                <a:latin typeface="Consolas"/>
              </a:rPr>
              <a:t>ng g c features/factures/facture-form</a:t>
            </a:r>
            <a:r>
              <a:rPr b="0" sz="1600" i="0">
                <a:solidFill>
                  <a:srgbClr val="1B3B47"/>
                </a:solidFill>
                <a:latin typeface="Arial"/>
              </a:rPr>
              <a:t> (création + édition).</a:t>
            </a:r>
          </a:p>
        </p:txBody>
      </p:sp>
      <p:sp>
        <p:nvSpPr>
          <p:cNvPr id="11" name="Oval 10"/>
          <p:cNvSpPr/>
          <p:nvPr/>
        </p:nvSpPr>
        <p:spPr>
          <a:xfrm>
            <a:off x="2606040" y="3930613"/>
            <a:ext cx="329184" cy="329184"/>
          </a:xfrm>
          <a:prstGeom prst="ellipse">
            <a:avLst/>
          </a:prstGeom>
          <a:solidFill>
            <a:srgbClr val="ED1548"/>
          </a:solidFill>
          <a:ln>
            <a:noFill/>
          </a:ln>
          <a:effectLst/>
        </p:spPr>
        <p:txBody>
          <a:bodyPr rtlCol="0" anchor="ctr" lIns="0" rIns="0" tIns="0" bIns="0"/>
          <a:lstStyle/>
          <a:p>
            <a:pPr algn="ctr"/>
            <a:r>
              <a:rPr sz="1360" b="1">
                <a:solidFill>
                  <a:srgbClr val="FFFFFF"/>
                </a:solidFill>
                <a:latin typeface="Arial"/>
              </a:rPr>
              <a:t>2</a:t>
            </a:r>
          </a:p>
        </p:txBody>
      </p:sp>
      <p:sp>
        <p:nvSpPr>
          <p:cNvPr id="12" name="TextBox 11"/>
          <p:cNvSpPr txBox="1"/>
          <p:nvPr/>
        </p:nvSpPr>
        <p:spPr>
          <a:xfrm>
            <a:off x="3108960" y="3930613"/>
            <a:ext cx="7955279" cy="739357"/>
          </a:xfrm>
          <a:prstGeom prst="rect">
            <a:avLst/>
          </a:prstGeom>
          <a:noFill/>
        </p:spPr>
        <p:txBody>
          <a:bodyPr wrap="square" lIns="0" rIns="0" tIns="0" bIns="0" anchor="t">
            <a:noAutofit/>
          </a:bodyPr>
          <a:lstStyle/>
          <a:p>
            <a:pPr algn="l">
              <a:lnSpc>
                <a:spcPct val="106000"/>
              </a:lnSpc>
              <a:spcBef>
                <a:spcPts val="0"/>
              </a:spcBef>
              <a:spcAft>
                <a:spcPts val="0"/>
              </a:spcAft>
            </a:pPr>
            <a:r>
              <a:rPr b="0" sz="1600" i="0">
                <a:solidFill>
                  <a:srgbClr val="1B3B47"/>
                </a:solidFill>
                <a:latin typeface="Arial"/>
              </a:rPr>
              <a:t>Champs : numéro, fournisseur, dates, HT, TVA.</a:t>
            </a:r>
          </a:p>
        </p:txBody>
      </p:sp>
      <p:sp>
        <p:nvSpPr>
          <p:cNvPr id="13" name="Oval 12"/>
          <p:cNvSpPr/>
          <p:nvPr/>
        </p:nvSpPr>
        <p:spPr>
          <a:xfrm>
            <a:off x="2606040" y="4779699"/>
            <a:ext cx="329184" cy="329184"/>
          </a:xfrm>
          <a:prstGeom prst="ellipse">
            <a:avLst/>
          </a:prstGeom>
          <a:solidFill>
            <a:srgbClr val="ED1548"/>
          </a:solidFill>
          <a:ln>
            <a:noFill/>
          </a:ln>
          <a:effectLst/>
        </p:spPr>
        <p:txBody>
          <a:bodyPr rtlCol="0" anchor="ctr" lIns="0" rIns="0" tIns="0" bIns="0"/>
          <a:lstStyle/>
          <a:p>
            <a:pPr algn="ctr"/>
            <a:r>
              <a:rPr sz="1360" b="1">
                <a:solidFill>
                  <a:srgbClr val="FFFFFF"/>
                </a:solidFill>
                <a:latin typeface="Arial"/>
              </a:rPr>
              <a:t>3</a:t>
            </a:r>
          </a:p>
        </p:txBody>
      </p:sp>
      <p:sp>
        <p:nvSpPr>
          <p:cNvPr id="14" name="TextBox 13"/>
          <p:cNvSpPr txBox="1"/>
          <p:nvPr/>
        </p:nvSpPr>
        <p:spPr>
          <a:xfrm>
            <a:off x="3108960" y="4779699"/>
            <a:ext cx="7955279" cy="739357"/>
          </a:xfrm>
          <a:prstGeom prst="rect">
            <a:avLst/>
          </a:prstGeom>
          <a:noFill/>
        </p:spPr>
        <p:txBody>
          <a:bodyPr wrap="square" lIns="0" rIns="0" tIns="0" bIns="0" anchor="t">
            <a:noAutofit/>
          </a:bodyPr>
          <a:lstStyle/>
          <a:p>
            <a:pPr algn="l">
              <a:lnSpc>
                <a:spcPct val="106000"/>
              </a:lnSpc>
              <a:spcBef>
                <a:spcPts val="0"/>
              </a:spcBef>
              <a:spcAft>
                <a:spcPts val="0"/>
              </a:spcAft>
            </a:pPr>
            <a:r>
              <a:rPr sz="1440" b="0" i="0">
                <a:solidFill>
                  <a:srgbClr val="ED1548"/>
                </a:solidFill>
                <a:latin typeface="Consolas"/>
              </a:rPr>
              <a:t>montantTTC</a:t>
            </a:r>
            <a:r>
              <a:rPr b="0" sz="1600" i="0">
                <a:solidFill>
                  <a:srgbClr val="1B3B47"/>
                </a:solidFill>
                <a:latin typeface="Arial"/>
              </a:rPr>
              <a:t> via </a:t>
            </a:r>
            <a:r>
              <a:rPr sz="1440" b="0" i="0">
                <a:solidFill>
                  <a:srgbClr val="ED1548"/>
                </a:solidFill>
                <a:latin typeface="Consolas"/>
              </a:rPr>
              <a:t>valueChanges</a:t>
            </a:r>
            <a:r>
              <a:rPr b="0" sz="1600" i="0">
                <a:solidFill>
                  <a:srgbClr val="1B3B47"/>
                </a:solidFill>
                <a:latin typeface="Arial"/>
              </a:rPr>
              <a:t>, arrondi 2 décimales.</a:t>
            </a:r>
          </a:p>
        </p:txBody>
      </p:sp>
      <p:sp>
        <p:nvSpPr>
          <p:cNvPr id="15" name="Oval 14"/>
          <p:cNvSpPr/>
          <p:nvPr/>
        </p:nvSpPr>
        <p:spPr>
          <a:xfrm>
            <a:off x="2606040" y="5628785"/>
            <a:ext cx="329184" cy="329184"/>
          </a:xfrm>
          <a:prstGeom prst="ellipse">
            <a:avLst/>
          </a:prstGeom>
          <a:solidFill>
            <a:srgbClr val="ED1548"/>
          </a:solidFill>
          <a:ln>
            <a:noFill/>
          </a:ln>
          <a:effectLst/>
        </p:spPr>
        <p:txBody>
          <a:bodyPr rtlCol="0" anchor="ctr" lIns="0" rIns="0" tIns="0" bIns="0"/>
          <a:lstStyle/>
          <a:p>
            <a:pPr algn="ctr"/>
            <a:r>
              <a:rPr sz="1360" b="1">
                <a:solidFill>
                  <a:srgbClr val="FFFFFF"/>
                </a:solidFill>
                <a:latin typeface="Arial"/>
              </a:rPr>
              <a:t>4</a:t>
            </a:r>
          </a:p>
        </p:txBody>
      </p:sp>
      <p:sp>
        <p:nvSpPr>
          <p:cNvPr id="16" name="TextBox 15"/>
          <p:cNvSpPr txBox="1"/>
          <p:nvPr/>
        </p:nvSpPr>
        <p:spPr>
          <a:xfrm>
            <a:off x="3108960" y="5628785"/>
            <a:ext cx="7955279" cy="739357"/>
          </a:xfrm>
          <a:prstGeom prst="rect">
            <a:avLst/>
          </a:prstGeom>
          <a:noFill/>
        </p:spPr>
        <p:txBody>
          <a:bodyPr wrap="square" lIns="0" rIns="0" tIns="0" bIns="0" anchor="t">
            <a:noAutofit/>
          </a:bodyPr>
          <a:lstStyle/>
          <a:p>
            <a:pPr algn="l">
              <a:lnSpc>
                <a:spcPct val="106000"/>
              </a:lnSpc>
              <a:spcBef>
                <a:spcPts val="0"/>
              </a:spcBef>
              <a:spcAft>
                <a:spcPts val="0"/>
              </a:spcAft>
            </a:pPr>
            <a:r>
              <a:rPr b="0" sz="1600" i="0">
                <a:solidFill>
                  <a:srgbClr val="1B3B47"/>
                </a:solidFill>
                <a:latin typeface="Arial"/>
              </a:rPr>
              <a:t>Validateur de groupe : échéance ≥ émission.</a:t>
            </a:r>
          </a:p>
        </p:txBody>
      </p:sp>
      <p:sp>
        <p:nvSpPr>
          <p:cNvPr id="17" name="Oval 16"/>
          <p:cNvSpPr/>
          <p:nvPr/>
        </p:nvSpPr>
        <p:spPr>
          <a:xfrm>
            <a:off x="2606040" y="6477870"/>
            <a:ext cx="329184" cy="329184"/>
          </a:xfrm>
          <a:prstGeom prst="ellipse">
            <a:avLst/>
          </a:prstGeom>
          <a:solidFill>
            <a:srgbClr val="ED1548"/>
          </a:solidFill>
          <a:ln>
            <a:noFill/>
          </a:ln>
          <a:effectLst/>
        </p:spPr>
        <p:txBody>
          <a:bodyPr rtlCol="0" anchor="ctr" lIns="0" rIns="0" tIns="0" bIns="0"/>
          <a:lstStyle/>
          <a:p>
            <a:pPr algn="ctr"/>
            <a:r>
              <a:rPr sz="1360" b="1">
                <a:solidFill>
                  <a:srgbClr val="FFFFFF"/>
                </a:solidFill>
                <a:latin typeface="Arial"/>
              </a:rPr>
              <a:t>5</a:t>
            </a:r>
          </a:p>
        </p:txBody>
      </p:sp>
      <p:sp>
        <p:nvSpPr>
          <p:cNvPr id="18" name="TextBox 17"/>
          <p:cNvSpPr txBox="1"/>
          <p:nvPr/>
        </p:nvSpPr>
        <p:spPr>
          <a:xfrm>
            <a:off x="3108960" y="6477870"/>
            <a:ext cx="7955279" cy="739357"/>
          </a:xfrm>
          <a:prstGeom prst="rect">
            <a:avLst/>
          </a:prstGeom>
          <a:noFill/>
        </p:spPr>
        <p:txBody>
          <a:bodyPr wrap="square" lIns="0" rIns="0" tIns="0" bIns="0" anchor="t">
            <a:noAutofit/>
          </a:bodyPr>
          <a:lstStyle/>
          <a:p>
            <a:pPr algn="l">
              <a:lnSpc>
                <a:spcPct val="106000"/>
              </a:lnSpc>
              <a:spcBef>
                <a:spcPts val="0"/>
              </a:spcBef>
              <a:spcAft>
                <a:spcPts val="0"/>
              </a:spcAft>
            </a:pPr>
            <a:r>
              <a:rPr b="0" sz="1600" i="0">
                <a:solidFill>
                  <a:srgbClr val="1B3B47"/>
                </a:solidFill>
                <a:latin typeface="Arial"/>
              </a:rPr>
              <a:t>Validateur async : unicité du numéro.</a:t>
            </a:r>
          </a:p>
        </p:txBody>
      </p:sp>
      <p:sp>
        <p:nvSpPr>
          <p:cNvPr id="19" name="Oval 18"/>
          <p:cNvSpPr/>
          <p:nvPr/>
        </p:nvSpPr>
        <p:spPr>
          <a:xfrm>
            <a:off x="2606040" y="7326956"/>
            <a:ext cx="329184" cy="329184"/>
          </a:xfrm>
          <a:prstGeom prst="ellipse">
            <a:avLst/>
          </a:prstGeom>
          <a:solidFill>
            <a:srgbClr val="ED1548"/>
          </a:solidFill>
          <a:ln>
            <a:noFill/>
          </a:ln>
          <a:effectLst/>
        </p:spPr>
        <p:txBody>
          <a:bodyPr rtlCol="0" anchor="ctr" lIns="0" rIns="0" tIns="0" bIns="0"/>
          <a:lstStyle/>
          <a:p>
            <a:pPr algn="ctr"/>
            <a:r>
              <a:rPr sz="1360" b="1">
                <a:solidFill>
                  <a:srgbClr val="FFFFFF"/>
                </a:solidFill>
                <a:latin typeface="Arial"/>
              </a:rPr>
              <a:t>6</a:t>
            </a:r>
          </a:p>
        </p:txBody>
      </p:sp>
      <p:sp>
        <p:nvSpPr>
          <p:cNvPr id="20" name="TextBox 19"/>
          <p:cNvSpPr txBox="1"/>
          <p:nvPr/>
        </p:nvSpPr>
        <p:spPr>
          <a:xfrm>
            <a:off x="3108960" y="7326956"/>
            <a:ext cx="7955279" cy="739357"/>
          </a:xfrm>
          <a:prstGeom prst="rect">
            <a:avLst/>
          </a:prstGeom>
          <a:noFill/>
        </p:spPr>
        <p:txBody>
          <a:bodyPr wrap="square" lIns="0" rIns="0" tIns="0" bIns="0" anchor="t">
            <a:noAutofit/>
          </a:bodyPr>
          <a:lstStyle/>
          <a:p>
            <a:pPr algn="l">
              <a:lnSpc>
                <a:spcPct val="106000"/>
              </a:lnSpc>
              <a:spcBef>
                <a:spcPts val="0"/>
              </a:spcBef>
              <a:spcAft>
                <a:spcPts val="0"/>
              </a:spcAft>
            </a:pPr>
            <a:r>
              <a:rPr b="0" sz="1600" i="0">
                <a:solidFill>
                  <a:srgbClr val="1B3B47"/>
                </a:solidFill>
                <a:latin typeface="Arial"/>
              </a:rPr>
              <a:t>Messages d'erreur après </a:t>
            </a:r>
            <a:r>
              <a:rPr sz="1440" b="0" i="0">
                <a:solidFill>
                  <a:srgbClr val="ED1548"/>
                </a:solidFill>
                <a:latin typeface="Consolas"/>
              </a:rPr>
              <a:t>touched</a:t>
            </a:r>
            <a:r>
              <a:rPr b="0" sz="1600" i="0">
                <a:solidFill>
                  <a:srgbClr val="1B3B47"/>
                </a:solidFill>
                <a:latin typeface="Arial"/>
              </a:rPr>
              <a:t> ; submit → create/update.</a:t>
            </a:r>
          </a:p>
        </p:txBody>
      </p:sp>
      <p:sp>
        <p:nvSpPr>
          <p:cNvPr id="21" name="Oval 20"/>
          <p:cNvSpPr/>
          <p:nvPr/>
        </p:nvSpPr>
        <p:spPr>
          <a:xfrm>
            <a:off x="2606040" y="8176042"/>
            <a:ext cx="329184" cy="329184"/>
          </a:xfrm>
          <a:prstGeom prst="ellipse">
            <a:avLst/>
          </a:prstGeom>
          <a:solidFill>
            <a:srgbClr val="ED1548"/>
          </a:solidFill>
          <a:ln>
            <a:noFill/>
          </a:ln>
          <a:effectLst/>
        </p:spPr>
        <p:txBody>
          <a:bodyPr rtlCol="0" anchor="ctr" lIns="0" rIns="0" tIns="0" bIns="0"/>
          <a:lstStyle/>
          <a:p>
            <a:pPr algn="ctr"/>
            <a:r>
              <a:rPr sz="1360" b="1">
                <a:solidFill>
                  <a:srgbClr val="FFFFFF"/>
                </a:solidFill>
                <a:latin typeface="Arial"/>
              </a:rPr>
              <a:t>7</a:t>
            </a:r>
          </a:p>
        </p:txBody>
      </p:sp>
      <p:sp>
        <p:nvSpPr>
          <p:cNvPr id="22" name="TextBox 21"/>
          <p:cNvSpPr txBox="1"/>
          <p:nvPr/>
        </p:nvSpPr>
        <p:spPr>
          <a:xfrm>
            <a:off x="3108960" y="8176042"/>
            <a:ext cx="7955279" cy="739357"/>
          </a:xfrm>
          <a:prstGeom prst="rect">
            <a:avLst/>
          </a:prstGeom>
          <a:noFill/>
        </p:spPr>
        <p:txBody>
          <a:bodyPr wrap="square" lIns="0" rIns="0" tIns="0" bIns="0" anchor="t">
            <a:noAutofit/>
          </a:bodyPr>
          <a:lstStyle/>
          <a:p>
            <a:pPr algn="l">
              <a:lnSpc>
                <a:spcPct val="106000"/>
              </a:lnSpc>
              <a:spcBef>
                <a:spcPts val="0"/>
              </a:spcBef>
              <a:spcAft>
                <a:spcPts val="0"/>
              </a:spcAft>
            </a:pPr>
            <a:r>
              <a:rPr b="0" sz="1600" i="0">
                <a:solidFill>
                  <a:srgbClr val="1B3B47"/>
                </a:solidFill>
                <a:latin typeface="Arial"/>
              </a:rPr>
              <a:t>Édition : </a:t>
            </a:r>
            <a:r>
              <a:rPr sz="1440" b="0" i="0">
                <a:solidFill>
                  <a:srgbClr val="ED1548"/>
                </a:solidFill>
                <a:latin typeface="Consolas"/>
              </a:rPr>
              <a:t>patchValue</a:t>
            </a:r>
            <a:r>
              <a:rPr b="0" sz="1600" i="0">
                <a:solidFill>
                  <a:srgbClr val="1B3B47"/>
                </a:solidFill>
                <a:latin typeface="Arial"/>
              </a:rPr>
              <a:t> depuis </a:t>
            </a:r>
            <a:r>
              <a:rPr sz="1440" b="0" i="0">
                <a:solidFill>
                  <a:srgbClr val="ED1548"/>
                </a:solidFill>
                <a:latin typeface="Consolas"/>
              </a:rPr>
              <a:t>FactureService.get(id)</a:t>
            </a:r>
            <a:r>
              <a:rPr b="0" sz="1600" i="0">
                <a:solidFill>
                  <a:srgbClr val="1B3B47"/>
                </a:solidFill>
                <a:latin typeface="Arial"/>
              </a:rPr>
              <a:t>.</a:t>
            </a:r>
          </a:p>
        </p:txBody>
      </p:sp>
      <p:sp>
        <p:nvSpPr>
          <p:cNvPr id="23" name="Rounded Rectangle 22"/>
          <p:cNvSpPr/>
          <p:nvPr/>
        </p:nvSpPr>
        <p:spPr>
          <a:xfrm>
            <a:off x="11475720" y="3063240"/>
            <a:ext cx="5715000" cy="2148840"/>
          </a:xfrm>
          <a:prstGeom prst="roundRect">
            <a:avLst>
              <a:gd name="adj" fmla="val 8000"/>
            </a:avLst>
          </a:prstGeom>
          <a:solidFill>
            <a:srgbClr val="EBF6F8"/>
          </a:solidFill>
          <a:ln>
            <a:noFill/>
          </a:ln>
          <a:effectLst/>
        </p:spPr>
        <p:txBody>
          <a:bodyPr rtlCol="0" anchor="ctr"/>
          <a:lstStyle/>
          <a:p>
            <a:pPr algn="ctr"/>
          </a:p>
        </p:txBody>
      </p:sp>
      <p:sp>
        <p:nvSpPr>
          <p:cNvPr id="24" name="Rectangle 23"/>
          <p:cNvSpPr/>
          <p:nvPr/>
        </p:nvSpPr>
        <p:spPr>
          <a:xfrm>
            <a:off x="11475720" y="3063240"/>
            <a:ext cx="64008" cy="2148840"/>
          </a:xfrm>
          <a:prstGeom prst="rect">
            <a:avLst/>
          </a:prstGeom>
          <a:solidFill>
            <a:srgbClr val="0B4F6C"/>
          </a:solidFill>
          <a:ln>
            <a:noFill/>
          </a:ln>
          <a:effectLst/>
        </p:spPr>
        <p:txBody>
          <a:bodyPr rtlCol="0" anchor="ctr"/>
          <a:lstStyle/>
          <a:p>
            <a:pPr algn="ctr"/>
          </a:p>
        </p:txBody>
      </p:sp>
      <p:sp>
        <p:nvSpPr>
          <p:cNvPr id="25" name="TextBox 24"/>
          <p:cNvSpPr txBox="1"/>
          <p:nvPr/>
        </p:nvSpPr>
        <p:spPr>
          <a:xfrm>
            <a:off x="11768328" y="3227832"/>
            <a:ext cx="534924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CALCUL DU TTC</a:t>
            </a:r>
          </a:p>
        </p:txBody>
      </p:sp>
      <p:sp>
        <p:nvSpPr>
          <p:cNvPr id="26" name="TextBox 25"/>
          <p:cNvSpPr txBox="1"/>
          <p:nvPr/>
        </p:nvSpPr>
        <p:spPr>
          <a:xfrm>
            <a:off x="11768328" y="3520440"/>
            <a:ext cx="5303520" cy="1581912"/>
          </a:xfrm>
          <a:prstGeom prst="rect">
            <a:avLst/>
          </a:prstGeom>
          <a:noFill/>
        </p:spPr>
        <p:txBody>
          <a:bodyPr wrap="square" lIns="0" rIns="0" tIns="0" bIns="0" anchor="t">
            <a:noAutofit/>
          </a:bodyPr>
          <a:lstStyle/>
          <a:p>
            <a:pPr algn="l">
              <a:lnSpc>
                <a:spcPct val="106000"/>
              </a:lnSpc>
              <a:spcBef>
                <a:spcPts val="0"/>
              </a:spcBef>
              <a:spcAft>
                <a:spcPts val="0"/>
              </a:spcAft>
            </a:pPr>
            <a:r>
              <a:rPr sz="1260" b="0" i="0">
                <a:solidFill>
                  <a:srgbClr val="0B4F6C"/>
                </a:solidFill>
                <a:latin typeface="Consolas"/>
              </a:rPr>
              <a:t>TTC = HT × (1 + TVA / 100)</a:t>
            </a:r>
            <a:r>
              <a:rPr b="0" sz="1400" i="0">
                <a:solidFill>
                  <a:srgbClr val="1B3B47"/>
                </a:solidFill>
                <a:latin typeface="Arial"/>
              </a:rPr>
              <a:t>, arrondi à 2 décimales. Le champ TTC est désactivé mais mis à jour.</a:t>
            </a:r>
          </a:p>
        </p:txBody>
      </p:sp>
      <p:sp>
        <p:nvSpPr>
          <p:cNvPr id="27" name="Rounded Rectangle 26"/>
          <p:cNvSpPr/>
          <p:nvPr/>
        </p:nvSpPr>
        <p:spPr>
          <a:xfrm>
            <a:off x="11475720" y="551383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8" name="TextBox 27"/>
          <p:cNvSpPr txBox="1"/>
          <p:nvPr/>
        </p:nvSpPr>
        <p:spPr>
          <a:xfrm>
            <a:off x="11841480" y="5486400"/>
            <a:ext cx="5349240" cy="222757"/>
          </a:xfrm>
          <a:prstGeom prst="rect">
            <a:avLst/>
          </a:prstGeom>
          <a:noFill/>
        </p:spPr>
        <p:txBody>
          <a:bodyPr wrap="square" lIns="0" rIns="0" tIns="0" bIns="0" anchor="t">
            <a:noAutofit/>
          </a:bodyPr>
          <a:lstStyle/>
          <a:p>
            <a:pPr algn="l">
              <a:lnSpc>
                <a:spcPct val="105000"/>
              </a:lnSpc>
              <a:spcBef>
                <a:spcPts val="0"/>
              </a:spcBef>
              <a:spcAft>
                <a:spcPts val="0"/>
              </a:spcAft>
            </a:pPr>
            <a:r>
              <a:rPr b="0" sz="1400" i="0">
                <a:solidFill>
                  <a:srgbClr val="1B3B47"/>
                </a:solidFill>
                <a:latin typeface="Arial"/>
              </a:rPr>
              <a:t>Échéance &lt; émission → formulaire invalide.</a:t>
            </a:r>
          </a:p>
        </p:txBody>
      </p:sp>
      <p:sp>
        <p:nvSpPr>
          <p:cNvPr id="29" name="Rounded Rectangle 28"/>
          <p:cNvSpPr/>
          <p:nvPr/>
        </p:nvSpPr>
        <p:spPr>
          <a:xfrm>
            <a:off x="11475720" y="580974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30" name="TextBox 29"/>
          <p:cNvSpPr txBox="1"/>
          <p:nvPr/>
        </p:nvSpPr>
        <p:spPr>
          <a:xfrm>
            <a:off x="11841480" y="5782310"/>
            <a:ext cx="5349240" cy="222757"/>
          </a:xfrm>
          <a:prstGeom prst="rect">
            <a:avLst/>
          </a:prstGeom>
          <a:noFill/>
        </p:spPr>
        <p:txBody>
          <a:bodyPr wrap="square" lIns="0" rIns="0" tIns="0" bIns="0" anchor="t">
            <a:noAutofit/>
          </a:bodyPr>
          <a:lstStyle/>
          <a:p>
            <a:pPr algn="l">
              <a:lnSpc>
                <a:spcPct val="105000"/>
              </a:lnSpc>
              <a:spcBef>
                <a:spcPts val="0"/>
              </a:spcBef>
              <a:spcAft>
                <a:spcPts val="0"/>
              </a:spcAft>
            </a:pPr>
            <a:r>
              <a:rPr b="0" sz="1400" i="0">
                <a:solidFill>
                  <a:srgbClr val="1B3B47"/>
                </a:solidFill>
                <a:latin typeface="Arial"/>
              </a:rPr>
              <a:t>Numéro déjà pris → erreur async visible.</a:t>
            </a:r>
          </a:p>
        </p:txBody>
      </p:sp>
      <p:sp>
        <p:nvSpPr>
          <p:cNvPr id="31" name="Rounded Rectangle 30"/>
          <p:cNvSpPr/>
          <p:nvPr/>
        </p:nvSpPr>
        <p:spPr>
          <a:xfrm>
            <a:off x="11475720" y="610565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32" name="TextBox 31"/>
          <p:cNvSpPr txBox="1"/>
          <p:nvPr/>
        </p:nvSpPr>
        <p:spPr>
          <a:xfrm>
            <a:off x="11841480" y="6078220"/>
            <a:ext cx="5349240" cy="222757"/>
          </a:xfrm>
          <a:prstGeom prst="rect">
            <a:avLst/>
          </a:prstGeom>
          <a:noFill/>
        </p:spPr>
        <p:txBody>
          <a:bodyPr wrap="square" lIns="0" rIns="0" tIns="0" bIns="0" anchor="t">
            <a:noAutofit/>
          </a:bodyPr>
          <a:lstStyle/>
          <a:p>
            <a:pPr algn="l">
              <a:lnSpc>
                <a:spcPct val="105000"/>
              </a:lnSpc>
              <a:spcBef>
                <a:spcPts val="0"/>
              </a:spcBef>
              <a:spcAft>
                <a:spcPts val="0"/>
              </a:spcAft>
            </a:pPr>
            <a:r>
              <a:rPr b="0" sz="1400" i="0">
                <a:solidFill>
                  <a:srgbClr val="1B3B47"/>
                </a:solidFill>
                <a:latin typeface="Arial"/>
              </a:rPr>
              <a:t>Création puis redirection vers la liste.</a:t>
            </a:r>
          </a:p>
        </p:txBody>
      </p:sp>
      <p:sp>
        <p:nvSpPr>
          <p:cNvPr id="33" name="Rounded Rectangle 32"/>
          <p:cNvSpPr/>
          <p:nvPr/>
        </p:nvSpPr>
        <p:spPr>
          <a:xfrm>
            <a:off x="11475720" y="640156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34" name="TextBox 33"/>
          <p:cNvSpPr txBox="1"/>
          <p:nvPr/>
        </p:nvSpPr>
        <p:spPr>
          <a:xfrm>
            <a:off x="11841480" y="6374130"/>
            <a:ext cx="5349240" cy="222757"/>
          </a:xfrm>
          <a:prstGeom prst="rect">
            <a:avLst/>
          </a:prstGeom>
          <a:noFill/>
        </p:spPr>
        <p:txBody>
          <a:bodyPr wrap="square" lIns="0" rIns="0" tIns="0" bIns="0" anchor="t">
            <a:noAutofit/>
          </a:bodyPr>
          <a:lstStyle/>
          <a:p>
            <a:pPr algn="l">
              <a:lnSpc>
                <a:spcPct val="105000"/>
              </a:lnSpc>
              <a:spcBef>
                <a:spcPts val="0"/>
              </a:spcBef>
              <a:spcAft>
                <a:spcPts val="0"/>
              </a:spcAft>
            </a:pPr>
            <a:r>
              <a:rPr b="0" sz="1400" i="0">
                <a:solidFill>
                  <a:srgbClr val="1B3B47"/>
                </a:solidFill>
                <a:latin typeface="Arial"/>
              </a:rPr>
              <a:t>Édition : les champs sont pré-remplis.</a:t>
            </a:r>
          </a:p>
        </p:txBody>
      </p:sp>
      <p:sp>
        <p:nvSpPr>
          <p:cNvPr id="35" name="Rounded Rectangle 34"/>
          <p:cNvSpPr/>
          <p:nvPr/>
        </p:nvSpPr>
        <p:spPr>
          <a:xfrm>
            <a:off x="11475720" y="7863840"/>
            <a:ext cx="5715000" cy="1051560"/>
          </a:xfrm>
          <a:prstGeom prst="roundRect">
            <a:avLst>
              <a:gd name="adj" fmla="val 8000"/>
            </a:avLst>
          </a:prstGeom>
          <a:solidFill>
            <a:srgbClr val="FFF6E5"/>
          </a:solidFill>
          <a:ln>
            <a:noFill/>
          </a:ln>
          <a:effectLst/>
        </p:spPr>
        <p:txBody>
          <a:bodyPr rtlCol="0" anchor="ctr"/>
          <a:lstStyle/>
          <a:p>
            <a:pPr algn="ctr"/>
          </a:p>
        </p:txBody>
      </p:sp>
      <p:sp>
        <p:nvSpPr>
          <p:cNvPr id="36" name="Rectangle 35"/>
          <p:cNvSpPr/>
          <p:nvPr/>
        </p:nvSpPr>
        <p:spPr>
          <a:xfrm>
            <a:off x="11475720" y="7863840"/>
            <a:ext cx="64008" cy="1051560"/>
          </a:xfrm>
          <a:prstGeom prst="rect">
            <a:avLst/>
          </a:prstGeom>
          <a:solidFill>
            <a:srgbClr val="B26A00"/>
          </a:solidFill>
          <a:ln>
            <a:noFill/>
          </a:ln>
          <a:effectLst/>
        </p:spPr>
        <p:txBody>
          <a:bodyPr rtlCol="0" anchor="ctr"/>
          <a:lstStyle/>
          <a:p>
            <a:pPr algn="ctr"/>
          </a:p>
        </p:txBody>
      </p:sp>
      <p:sp>
        <p:nvSpPr>
          <p:cNvPr id="37" name="TextBox 36"/>
          <p:cNvSpPr txBox="1"/>
          <p:nvPr/>
        </p:nvSpPr>
        <p:spPr>
          <a:xfrm>
            <a:off x="11768328" y="8028431"/>
            <a:ext cx="534924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B26A00"/>
                </a:solidFill>
                <a:latin typeface="Arial"/>
              </a:rPr>
              <a:t>PIÈGE</a:t>
            </a:r>
          </a:p>
        </p:txBody>
      </p:sp>
      <p:sp>
        <p:nvSpPr>
          <p:cNvPr id="38" name="TextBox 37"/>
          <p:cNvSpPr txBox="1"/>
          <p:nvPr/>
        </p:nvSpPr>
        <p:spPr>
          <a:xfrm>
            <a:off x="11768328" y="8321040"/>
            <a:ext cx="5303520" cy="484631"/>
          </a:xfrm>
          <a:prstGeom prst="rect">
            <a:avLst/>
          </a:prstGeom>
          <a:noFill/>
        </p:spPr>
        <p:txBody>
          <a:bodyPr wrap="square" lIns="0" rIns="0" tIns="0" bIns="0" anchor="t">
            <a:noAutofit/>
          </a:bodyPr>
          <a:lstStyle/>
          <a:p>
            <a:pPr algn="l">
              <a:lnSpc>
                <a:spcPct val="106000"/>
              </a:lnSpc>
              <a:spcBef>
                <a:spcPts val="0"/>
              </a:spcBef>
              <a:spcAft>
                <a:spcPts val="0"/>
              </a:spcAft>
            </a:pPr>
            <a:r>
              <a:rPr sz="1170" b="0" i="0">
                <a:solidFill>
                  <a:srgbClr val="B26A00"/>
                </a:solidFill>
                <a:latin typeface="Consolas"/>
              </a:rPr>
              <a:t>patchValue</a:t>
            </a:r>
            <a:r>
              <a:rPr b="0" sz="1300" i="0">
                <a:solidFill>
                  <a:srgbClr val="1B3B47"/>
                </a:solidFill>
                <a:latin typeface="Arial"/>
              </a:rPr>
              <a:t> sur un FormGroup typé doit recevoir les bons types : convertir les dates en </a:t>
            </a:r>
            <a:r>
              <a:rPr sz="1170" b="0" i="0">
                <a:solidFill>
                  <a:srgbClr val="B26A00"/>
                </a:solidFill>
                <a:latin typeface="Consolas"/>
              </a:rPr>
              <a:t>yyyy-MM-dd</a:t>
            </a:r>
            <a:r>
              <a:rPr b="0" sz="1300" i="0">
                <a:solidFill>
                  <a:srgbClr val="1B3B47"/>
                </a:solidFill>
                <a:latin typeface="Arial"/>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2  ·  COMPOSANTS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Faire dialoguer les composants</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Input, output, model, projection : quatre outils, pas plus.</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35 / 62</a:t>
            </a:r>
          </a:p>
        </p:txBody>
      </p:sp>
      <p:sp>
        <p:nvSpPr>
          <p:cNvPr id="9" name="Rounded Rectangle 8"/>
          <p:cNvSpPr/>
          <p:nvPr/>
        </p:nvSpPr>
        <p:spPr>
          <a:xfrm>
            <a:off x="2606040" y="3017520"/>
            <a:ext cx="3520440" cy="233172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0" name="Rectangle 9"/>
          <p:cNvSpPr/>
          <p:nvPr/>
        </p:nvSpPr>
        <p:spPr>
          <a:xfrm>
            <a:off x="2606040" y="3017520"/>
            <a:ext cx="3520440" cy="50292"/>
          </a:xfrm>
          <a:prstGeom prst="rect">
            <a:avLst/>
          </a:prstGeom>
          <a:solidFill>
            <a:srgbClr val="0B4F6C"/>
          </a:solidFill>
          <a:ln>
            <a:noFill/>
          </a:ln>
          <a:effectLst/>
        </p:spPr>
        <p:txBody>
          <a:bodyPr rtlCol="0" anchor="ctr"/>
          <a:lstStyle/>
          <a:p>
            <a:pPr algn="ctr"/>
          </a:p>
        </p:txBody>
      </p:sp>
      <p:sp>
        <p:nvSpPr>
          <p:cNvPr id="11" name="TextBox 10"/>
          <p:cNvSpPr txBox="1"/>
          <p:nvPr/>
        </p:nvSpPr>
        <p:spPr>
          <a:xfrm>
            <a:off x="2880360" y="3273552"/>
            <a:ext cx="2971800" cy="411480"/>
          </a:xfrm>
          <a:prstGeom prst="rect">
            <a:avLst/>
          </a:prstGeom>
          <a:noFill/>
        </p:spPr>
        <p:txBody>
          <a:bodyPr wrap="square" lIns="0" rIns="0" tIns="0" bIns="0" anchor="t">
            <a:noAutofit/>
          </a:bodyPr>
          <a:lstStyle/>
          <a:p>
            <a:pPr algn="l">
              <a:lnSpc>
                <a:spcPct val="102000"/>
              </a:lnSpc>
              <a:spcBef>
                <a:spcPts val="0"/>
              </a:spcBef>
              <a:spcAft>
                <a:spcPts val="0"/>
              </a:spcAft>
            </a:pPr>
            <a:r>
              <a:rPr sz="1530" b="1" i="0">
                <a:solidFill>
                  <a:srgbClr val="0B4F6C"/>
                </a:solidFill>
                <a:latin typeface="Consolas"/>
              </a:rPr>
              <a:t>input()</a:t>
            </a:r>
          </a:p>
        </p:txBody>
      </p:sp>
      <p:sp>
        <p:nvSpPr>
          <p:cNvPr id="12" name="TextBox 11"/>
          <p:cNvSpPr txBox="1"/>
          <p:nvPr/>
        </p:nvSpPr>
        <p:spPr>
          <a:xfrm>
            <a:off x="2880360" y="3712464"/>
            <a:ext cx="2971800" cy="1463039"/>
          </a:xfrm>
          <a:prstGeom prst="rect">
            <a:avLst/>
          </a:prstGeom>
          <a:noFill/>
        </p:spPr>
        <p:txBody>
          <a:bodyPr wrap="square" lIns="0" rIns="0" tIns="0" bIns="0" anchor="t">
            <a:noAutofit/>
          </a:bodyPr>
          <a:lstStyle/>
          <a:p>
            <a:pPr algn="l">
              <a:lnSpc>
                <a:spcPct val="108000"/>
              </a:lnSpc>
              <a:spcBef>
                <a:spcPts val="0"/>
              </a:spcBef>
              <a:spcAft>
                <a:spcPts val="0"/>
              </a:spcAft>
            </a:pPr>
            <a:r>
              <a:rPr b="0" sz="1400" i="0">
                <a:solidFill>
                  <a:srgbClr val="1B3B47"/>
                </a:solidFill>
                <a:latin typeface="Arial"/>
              </a:rPr>
              <a:t>Parent → enfant. Lecture seule.</a:t>
            </a:r>
          </a:p>
        </p:txBody>
      </p:sp>
      <p:sp>
        <p:nvSpPr>
          <p:cNvPr id="13" name="Rounded Rectangle 12"/>
          <p:cNvSpPr/>
          <p:nvPr/>
        </p:nvSpPr>
        <p:spPr>
          <a:xfrm>
            <a:off x="6309360" y="3017520"/>
            <a:ext cx="3520440" cy="233172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4" name="Rectangle 13"/>
          <p:cNvSpPr/>
          <p:nvPr/>
        </p:nvSpPr>
        <p:spPr>
          <a:xfrm>
            <a:off x="6309360" y="3017520"/>
            <a:ext cx="3520440" cy="50292"/>
          </a:xfrm>
          <a:prstGeom prst="rect">
            <a:avLst/>
          </a:prstGeom>
          <a:solidFill>
            <a:srgbClr val="ED1548"/>
          </a:solidFill>
          <a:ln>
            <a:noFill/>
          </a:ln>
          <a:effectLst/>
        </p:spPr>
        <p:txBody>
          <a:bodyPr rtlCol="0" anchor="ctr"/>
          <a:lstStyle/>
          <a:p>
            <a:pPr algn="ctr"/>
          </a:p>
        </p:txBody>
      </p:sp>
      <p:sp>
        <p:nvSpPr>
          <p:cNvPr id="15" name="TextBox 14"/>
          <p:cNvSpPr txBox="1"/>
          <p:nvPr/>
        </p:nvSpPr>
        <p:spPr>
          <a:xfrm>
            <a:off x="6583680" y="3273552"/>
            <a:ext cx="2971800" cy="411480"/>
          </a:xfrm>
          <a:prstGeom prst="rect">
            <a:avLst/>
          </a:prstGeom>
          <a:noFill/>
        </p:spPr>
        <p:txBody>
          <a:bodyPr wrap="square" lIns="0" rIns="0" tIns="0" bIns="0" anchor="t">
            <a:noAutofit/>
          </a:bodyPr>
          <a:lstStyle/>
          <a:p>
            <a:pPr algn="l">
              <a:lnSpc>
                <a:spcPct val="102000"/>
              </a:lnSpc>
              <a:spcBef>
                <a:spcPts val="0"/>
              </a:spcBef>
              <a:spcAft>
                <a:spcPts val="0"/>
              </a:spcAft>
            </a:pPr>
            <a:r>
              <a:rPr sz="1530" b="1" i="0">
                <a:solidFill>
                  <a:srgbClr val="ED1548"/>
                </a:solidFill>
                <a:latin typeface="Consolas"/>
              </a:rPr>
              <a:t>output()</a:t>
            </a:r>
          </a:p>
        </p:txBody>
      </p:sp>
      <p:sp>
        <p:nvSpPr>
          <p:cNvPr id="16" name="TextBox 15"/>
          <p:cNvSpPr txBox="1"/>
          <p:nvPr/>
        </p:nvSpPr>
        <p:spPr>
          <a:xfrm>
            <a:off x="6583680" y="3712464"/>
            <a:ext cx="2971800" cy="1463039"/>
          </a:xfrm>
          <a:prstGeom prst="rect">
            <a:avLst/>
          </a:prstGeom>
          <a:noFill/>
        </p:spPr>
        <p:txBody>
          <a:bodyPr wrap="square" lIns="0" rIns="0" tIns="0" bIns="0" anchor="t">
            <a:noAutofit/>
          </a:bodyPr>
          <a:lstStyle/>
          <a:p>
            <a:pPr algn="l">
              <a:lnSpc>
                <a:spcPct val="108000"/>
              </a:lnSpc>
              <a:spcBef>
                <a:spcPts val="0"/>
              </a:spcBef>
              <a:spcAft>
                <a:spcPts val="0"/>
              </a:spcAft>
            </a:pPr>
            <a:r>
              <a:rPr b="0" sz="1400" i="0">
                <a:solidFill>
                  <a:srgbClr val="1B3B47"/>
                </a:solidFill>
                <a:latin typeface="Arial"/>
              </a:rPr>
              <a:t>Enfant → parent. Événement.</a:t>
            </a:r>
          </a:p>
        </p:txBody>
      </p:sp>
      <p:sp>
        <p:nvSpPr>
          <p:cNvPr id="17" name="Rounded Rectangle 16"/>
          <p:cNvSpPr/>
          <p:nvPr/>
        </p:nvSpPr>
        <p:spPr>
          <a:xfrm>
            <a:off x="10012680" y="3017520"/>
            <a:ext cx="3520440" cy="233172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8" name="Rectangle 17"/>
          <p:cNvSpPr/>
          <p:nvPr/>
        </p:nvSpPr>
        <p:spPr>
          <a:xfrm>
            <a:off x="10012680" y="3017520"/>
            <a:ext cx="3520440" cy="50292"/>
          </a:xfrm>
          <a:prstGeom prst="rect">
            <a:avLst/>
          </a:prstGeom>
          <a:solidFill>
            <a:srgbClr val="0B4F6C"/>
          </a:solidFill>
          <a:ln>
            <a:noFill/>
          </a:ln>
          <a:effectLst/>
        </p:spPr>
        <p:txBody>
          <a:bodyPr rtlCol="0" anchor="ctr"/>
          <a:lstStyle/>
          <a:p>
            <a:pPr algn="ctr"/>
          </a:p>
        </p:txBody>
      </p:sp>
      <p:sp>
        <p:nvSpPr>
          <p:cNvPr id="19" name="TextBox 18"/>
          <p:cNvSpPr txBox="1"/>
          <p:nvPr/>
        </p:nvSpPr>
        <p:spPr>
          <a:xfrm>
            <a:off x="10287000" y="3273552"/>
            <a:ext cx="2971800" cy="411480"/>
          </a:xfrm>
          <a:prstGeom prst="rect">
            <a:avLst/>
          </a:prstGeom>
          <a:noFill/>
        </p:spPr>
        <p:txBody>
          <a:bodyPr wrap="square" lIns="0" rIns="0" tIns="0" bIns="0" anchor="t">
            <a:noAutofit/>
          </a:bodyPr>
          <a:lstStyle/>
          <a:p>
            <a:pPr algn="l">
              <a:lnSpc>
                <a:spcPct val="102000"/>
              </a:lnSpc>
              <a:spcBef>
                <a:spcPts val="0"/>
              </a:spcBef>
              <a:spcAft>
                <a:spcPts val="0"/>
              </a:spcAft>
            </a:pPr>
            <a:r>
              <a:rPr sz="1530" b="1" i="0">
                <a:solidFill>
                  <a:srgbClr val="0B4F6C"/>
                </a:solidFill>
                <a:latin typeface="Consolas"/>
              </a:rPr>
              <a:t>model()</a:t>
            </a:r>
          </a:p>
        </p:txBody>
      </p:sp>
      <p:sp>
        <p:nvSpPr>
          <p:cNvPr id="20" name="TextBox 19"/>
          <p:cNvSpPr txBox="1"/>
          <p:nvPr/>
        </p:nvSpPr>
        <p:spPr>
          <a:xfrm>
            <a:off x="10287000" y="3712464"/>
            <a:ext cx="2971800" cy="1463039"/>
          </a:xfrm>
          <a:prstGeom prst="rect">
            <a:avLst/>
          </a:prstGeom>
          <a:noFill/>
        </p:spPr>
        <p:txBody>
          <a:bodyPr wrap="square" lIns="0" rIns="0" tIns="0" bIns="0" anchor="t">
            <a:noAutofit/>
          </a:bodyPr>
          <a:lstStyle/>
          <a:p>
            <a:pPr algn="l">
              <a:lnSpc>
                <a:spcPct val="108000"/>
              </a:lnSpc>
              <a:spcBef>
                <a:spcPts val="0"/>
              </a:spcBef>
              <a:spcAft>
                <a:spcPts val="0"/>
              </a:spcAft>
            </a:pPr>
            <a:r>
              <a:rPr b="0" sz="1400" i="0">
                <a:solidFill>
                  <a:srgbClr val="1B3B47"/>
                </a:solidFill>
                <a:latin typeface="Arial"/>
              </a:rPr>
              <a:t>Deux sens : input + output liés.</a:t>
            </a:r>
          </a:p>
        </p:txBody>
      </p:sp>
      <p:sp>
        <p:nvSpPr>
          <p:cNvPr id="21" name="Rounded Rectangle 20"/>
          <p:cNvSpPr/>
          <p:nvPr/>
        </p:nvSpPr>
        <p:spPr>
          <a:xfrm>
            <a:off x="13715999" y="3017520"/>
            <a:ext cx="3474721" cy="233172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2" name="Rectangle 21"/>
          <p:cNvSpPr/>
          <p:nvPr/>
        </p:nvSpPr>
        <p:spPr>
          <a:xfrm>
            <a:off x="13715999" y="3017520"/>
            <a:ext cx="3474721" cy="50292"/>
          </a:xfrm>
          <a:prstGeom prst="rect">
            <a:avLst/>
          </a:prstGeom>
          <a:solidFill>
            <a:srgbClr val="ED1548"/>
          </a:solidFill>
          <a:ln>
            <a:noFill/>
          </a:ln>
          <a:effectLst/>
        </p:spPr>
        <p:txBody>
          <a:bodyPr rtlCol="0" anchor="ctr"/>
          <a:lstStyle/>
          <a:p>
            <a:pPr algn="ctr"/>
          </a:p>
        </p:txBody>
      </p:sp>
      <p:sp>
        <p:nvSpPr>
          <p:cNvPr id="23" name="TextBox 22"/>
          <p:cNvSpPr txBox="1"/>
          <p:nvPr/>
        </p:nvSpPr>
        <p:spPr>
          <a:xfrm>
            <a:off x="13990319" y="3273552"/>
            <a:ext cx="2971800" cy="411480"/>
          </a:xfrm>
          <a:prstGeom prst="rect">
            <a:avLst/>
          </a:prstGeom>
          <a:noFill/>
        </p:spPr>
        <p:txBody>
          <a:bodyPr wrap="square" lIns="0" rIns="0" tIns="0" bIns="0" anchor="t">
            <a:noAutofit/>
          </a:bodyPr>
          <a:lstStyle/>
          <a:p>
            <a:pPr algn="l">
              <a:lnSpc>
                <a:spcPct val="102000"/>
              </a:lnSpc>
              <a:spcBef>
                <a:spcPts val="0"/>
              </a:spcBef>
              <a:spcAft>
                <a:spcPts val="0"/>
              </a:spcAft>
            </a:pPr>
            <a:r>
              <a:rPr sz="1530" b="1" i="0">
                <a:solidFill>
                  <a:srgbClr val="ED1548"/>
                </a:solidFill>
                <a:latin typeface="Consolas"/>
              </a:rPr>
              <a:t>&lt;ng-content&gt;</a:t>
            </a:r>
          </a:p>
        </p:txBody>
      </p:sp>
      <p:sp>
        <p:nvSpPr>
          <p:cNvPr id="24" name="TextBox 23"/>
          <p:cNvSpPr txBox="1"/>
          <p:nvPr/>
        </p:nvSpPr>
        <p:spPr>
          <a:xfrm>
            <a:off x="13990319" y="3712464"/>
            <a:ext cx="2971800" cy="1463039"/>
          </a:xfrm>
          <a:prstGeom prst="rect">
            <a:avLst/>
          </a:prstGeom>
          <a:noFill/>
        </p:spPr>
        <p:txBody>
          <a:bodyPr wrap="square" lIns="0" rIns="0" tIns="0" bIns="0" anchor="t">
            <a:noAutofit/>
          </a:bodyPr>
          <a:lstStyle/>
          <a:p>
            <a:pPr algn="l">
              <a:lnSpc>
                <a:spcPct val="108000"/>
              </a:lnSpc>
              <a:spcBef>
                <a:spcPts val="0"/>
              </a:spcBef>
              <a:spcAft>
                <a:spcPts val="0"/>
              </a:spcAft>
            </a:pPr>
            <a:r>
              <a:rPr b="0" sz="1400" i="0">
                <a:solidFill>
                  <a:srgbClr val="1B3B47"/>
                </a:solidFill>
                <a:latin typeface="Arial"/>
              </a:rPr>
              <a:t>Projeter du contenu dans un composant.</a:t>
            </a:r>
          </a:p>
        </p:txBody>
      </p:sp>
      <p:sp>
        <p:nvSpPr>
          <p:cNvPr id="25" name="Rounded Rectangle 24"/>
          <p:cNvSpPr/>
          <p:nvPr/>
        </p:nvSpPr>
        <p:spPr>
          <a:xfrm>
            <a:off x="2606040" y="5623560"/>
            <a:ext cx="7680960" cy="333756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26" name="Oval 25"/>
          <p:cNvSpPr/>
          <p:nvPr/>
        </p:nvSpPr>
        <p:spPr>
          <a:xfrm>
            <a:off x="2825496" y="5797296"/>
            <a:ext cx="82296" cy="82296"/>
          </a:xfrm>
          <a:prstGeom prst="ellipse">
            <a:avLst/>
          </a:prstGeom>
          <a:solidFill>
            <a:srgbClr val="ED1548"/>
          </a:solidFill>
          <a:ln>
            <a:noFill/>
          </a:ln>
          <a:effectLst/>
        </p:spPr>
        <p:txBody>
          <a:bodyPr rtlCol="0" anchor="ctr"/>
          <a:lstStyle/>
          <a:p>
            <a:pPr algn="ctr"/>
          </a:p>
        </p:txBody>
      </p:sp>
      <p:sp>
        <p:nvSpPr>
          <p:cNvPr id="27" name="TextBox 26"/>
          <p:cNvSpPr txBox="1"/>
          <p:nvPr/>
        </p:nvSpPr>
        <p:spPr>
          <a:xfrm>
            <a:off x="2990088" y="5733288"/>
            <a:ext cx="704088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rating.ts</a:t>
            </a:r>
          </a:p>
        </p:txBody>
      </p:sp>
      <p:sp>
        <p:nvSpPr>
          <p:cNvPr id="28" name="TextBox 27"/>
          <p:cNvSpPr txBox="1"/>
          <p:nvPr/>
        </p:nvSpPr>
        <p:spPr>
          <a:xfrm>
            <a:off x="2852928" y="6099048"/>
            <a:ext cx="7223760" cy="2697480"/>
          </a:xfrm>
          <a:prstGeom prst="rect">
            <a:avLst/>
          </a:prstGeom>
          <a:noFill/>
        </p:spPr>
        <p:txBody>
          <a:bodyPr wrap="none" lIns="0" rIns="0" tIns="0" bIns="0">
            <a:noAutofit/>
          </a:bodyPr>
          <a:lstStyle/>
          <a:p>
            <a:pPr>
              <a:lnSpc>
                <a:spcPct val="100000"/>
              </a:lnSpc>
              <a:spcBef>
                <a:spcPts val="0"/>
              </a:spcBef>
              <a:spcAft>
                <a:spcPts val="0"/>
              </a:spcAft>
            </a:pPr>
            <a:r>
              <a:rPr sz="1400">
                <a:solidFill>
                  <a:srgbClr val="7FD1E0"/>
                </a:solidFill>
                <a:latin typeface="Consolas"/>
              </a:rPr>
              <a:t>export</a:t>
            </a:r>
            <a:r>
              <a:rPr sz="1400">
                <a:solidFill>
                  <a:srgbClr val="EAF2F4"/>
                </a:solidFill>
                <a:latin typeface="Consolas"/>
              </a:rPr>
              <a:t> </a:t>
            </a:r>
            <a:r>
              <a:rPr sz="1400">
                <a:solidFill>
                  <a:srgbClr val="7FD1E0"/>
                </a:solidFill>
                <a:latin typeface="Consolas"/>
              </a:rPr>
              <a:t>class</a:t>
            </a:r>
            <a:r>
              <a:rPr sz="1400">
                <a:solidFill>
                  <a:srgbClr val="EAF2F4"/>
                </a:solidFill>
                <a:latin typeface="Consolas"/>
              </a:rPr>
              <a:t> RatingComponent {</a:t>
            </a:r>
          </a:p>
          <a:p>
            <a:pPr>
              <a:lnSpc>
                <a:spcPct val="100000"/>
              </a:lnSpc>
              <a:spcBef>
                <a:spcPts val="0"/>
              </a:spcBef>
              <a:spcAft>
                <a:spcPts val="0"/>
              </a:spcAft>
            </a:pPr>
            <a:r>
              <a:rPr sz="1400">
                <a:solidFill>
                  <a:srgbClr val="EAF2F4"/>
                </a:solidFill>
                <a:latin typeface="Consolas"/>
              </a:rPr>
              <a:t>  value = model(</a:t>
            </a:r>
            <a:r>
              <a:rPr sz="1400">
                <a:solidFill>
                  <a:srgbClr val="FFD166"/>
                </a:solidFill>
                <a:latin typeface="Consolas"/>
              </a:rPr>
              <a:t>0</a:t>
            </a:r>
            <a:r>
              <a:rPr sz="1400">
                <a:solidFill>
                  <a:srgbClr val="EAF2F4"/>
                </a:solidFill>
                <a:latin typeface="Consolas"/>
              </a:rPr>
              <a:t>);          </a:t>
            </a:r>
            <a:r>
              <a:rPr sz="1400" i="1">
                <a:solidFill>
                  <a:srgbClr val="7FA6B2"/>
                </a:solidFill>
                <a:latin typeface="Consolas"/>
              </a:rPr>
              <a:t>// two-way</a:t>
            </a:r>
          </a:p>
          <a:p>
            <a:pPr>
              <a:lnSpc>
                <a:spcPct val="100000"/>
              </a:lnSpc>
              <a:spcBef>
                <a:spcPts val="0"/>
              </a:spcBef>
              <a:spcAft>
                <a:spcPts val="0"/>
              </a:spcAft>
            </a:pPr>
            <a:r>
              <a:rPr sz="1400">
                <a:solidFill>
                  <a:srgbClr val="EAF2F4"/>
                </a:solidFill>
                <a:latin typeface="Consolas"/>
              </a:rPr>
              <a:t>  max = input(</a:t>
            </a:r>
            <a:r>
              <a:rPr sz="1400">
                <a:solidFill>
                  <a:srgbClr val="FFD166"/>
                </a:solidFill>
                <a:latin typeface="Consolas"/>
              </a:rPr>
              <a:t>5</a:t>
            </a:r>
            <a:r>
              <a:rPr sz="1400">
                <a:solidFill>
                  <a:srgbClr val="EAF2F4"/>
                </a:solidFill>
                <a:latin typeface="Consolas"/>
              </a:rPr>
              <a:t>);            </a:t>
            </a:r>
            <a:r>
              <a:rPr sz="1400" i="1">
                <a:solidFill>
                  <a:srgbClr val="7FA6B2"/>
                </a:solidFill>
                <a:latin typeface="Consolas"/>
              </a:rPr>
              <a:t>// parent -&gt; enfant</a:t>
            </a:r>
          </a:p>
          <a:p>
            <a:pPr>
              <a:lnSpc>
                <a:spcPct val="100000"/>
              </a:lnSpc>
              <a:spcBef>
                <a:spcPts val="0"/>
              </a:spcBef>
              <a:spcAft>
                <a:spcPts val="0"/>
              </a:spcAft>
            </a:pPr>
            <a:r>
              <a:rPr sz="1400">
                <a:solidFill>
                  <a:srgbClr val="EAF2F4"/>
                </a:solidFill>
                <a:latin typeface="Consolas"/>
              </a:rPr>
              <a:t>  changed = output&lt;number&gt;(); </a:t>
            </a:r>
            <a:r>
              <a:rPr sz="1400" i="1">
                <a:solidFill>
                  <a:srgbClr val="7FA6B2"/>
                </a:solidFill>
                <a:latin typeface="Consolas"/>
              </a:rPr>
              <a:t>// enfant -&gt; parent</a:t>
            </a:r>
          </a:p>
          <a:p>
            <a:pPr>
              <a:lnSpc>
                <a:spcPct val="100000"/>
              </a:lnSpc>
              <a:spcBef>
                <a:spcPts val="0"/>
              </a:spcBef>
              <a:spcAft>
                <a:spcPts val="0"/>
              </a:spcAft>
            </a:pPr>
            <a:r>
              <a:rPr sz="1400">
                <a:solidFill>
                  <a:srgbClr val="EAF2F4"/>
                </a:solidFill>
                <a:latin typeface="Consolas"/>
              </a:rPr>
              <a:t>}</a:t>
            </a:r>
          </a:p>
        </p:txBody>
      </p:sp>
      <p:sp>
        <p:nvSpPr>
          <p:cNvPr id="29" name="Rounded Rectangle 28"/>
          <p:cNvSpPr/>
          <p:nvPr/>
        </p:nvSpPr>
        <p:spPr>
          <a:xfrm>
            <a:off x="10652760" y="5623560"/>
            <a:ext cx="6537960" cy="393192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30" name="TextBox 29"/>
          <p:cNvSpPr txBox="1"/>
          <p:nvPr/>
        </p:nvSpPr>
        <p:spPr>
          <a:xfrm>
            <a:off x="10927080" y="5806440"/>
            <a:ext cx="6035040" cy="274320"/>
          </a:xfrm>
          <a:prstGeom prst="rect">
            <a:avLst/>
          </a:prstGeom>
          <a:noFill/>
        </p:spPr>
        <p:txBody>
          <a:bodyPr wrap="square" lIns="0" rIns="0" tIns="0" bIns="0" anchor="t">
            <a:noAutofit/>
          </a:bodyPr>
          <a:lstStyle/>
          <a:p>
            <a:pPr algn="l">
              <a:lnSpc>
                <a:spcPct val="102000"/>
              </a:lnSpc>
              <a:spcBef>
                <a:spcPts val="0"/>
              </a:spcBef>
              <a:spcAft>
                <a:spcPts val="0"/>
              </a:spcAft>
            </a:pPr>
            <a:r>
              <a:rPr b="1" sz="1600" i="0">
                <a:solidFill>
                  <a:srgbClr val="ED1548"/>
                </a:solidFill>
                <a:latin typeface="Arial"/>
              </a:rPr>
              <a:t>TP 4 — Composants réutilisables</a:t>
            </a:r>
          </a:p>
        </p:txBody>
      </p:sp>
      <p:sp>
        <p:nvSpPr>
          <p:cNvPr id="31" name="Oval 30"/>
          <p:cNvSpPr/>
          <p:nvPr/>
        </p:nvSpPr>
        <p:spPr>
          <a:xfrm>
            <a:off x="10927080" y="6281927"/>
            <a:ext cx="329184" cy="329184"/>
          </a:xfrm>
          <a:prstGeom prst="ellipse">
            <a:avLst/>
          </a:prstGeom>
          <a:solidFill>
            <a:srgbClr val="ED1548"/>
          </a:solidFill>
          <a:ln>
            <a:noFill/>
          </a:ln>
          <a:effectLst/>
        </p:spPr>
        <p:txBody>
          <a:bodyPr rtlCol="0" anchor="ctr" lIns="0" rIns="0" tIns="0" bIns="0"/>
          <a:lstStyle/>
          <a:p>
            <a:pPr algn="ctr"/>
            <a:r>
              <a:rPr sz="1190" b="1">
                <a:solidFill>
                  <a:srgbClr val="FFFFFF"/>
                </a:solidFill>
                <a:latin typeface="Arial"/>
              </a:rPr>
              <a:t>1</a:t>
            </a:r>
          </a:p>
        </p:txBody>
      </p:sp>
      <p:sp>
        <p:nvSpPr>
          <p:cNvPr id="32" name="TextBox 31"/>
          <p:cNvSpPr txBox="1"/>
          <p:nvPr/>
        </p:nvSpPr>
        <p:spPr>
          <a:xfrm>
            <a:off x="11430000" y="6281927"/>
            <a:ext cx="5532120" cy="752093"/>
          </a:xfrm>
          <a:prstGeom prst="rect">
            <a:avLst/>
          </a:prstGeom>
          <a:noFill/>
        </p:spPr>
        <p:txBody>
          <a:bodyPr wrap="square" lIns="0" rIns="0" tIns="0" bIns="0" anchor="t">
            <a:noAutofit/>
          </a:bodyPr>
          <a:lstStyle/>
          <a:p>
            <a:pPr algn="l">
              <a:lnSpc>
                <a:spcPct val="106000"/>
              </a:lnSpc>
              <a:spcBef>
                <a:spcPts val="0"/>
              </a:spcBef>
              <a:spcAft>
                <a:spcPts val="0"/>
              </a:spcAft>
            </a:pPr>
            <a:r>
              <a:rPr sz="1260" b="0" i="0">
                <a:solidFill>
                  <a:srgbClr val="ED1548"/>
                </a:solidFill>
                <a:latin typeface="Consolas"/>
              </a:rPr>
              <a:t>shared/components/statut-filter</a:t>
            </a:r>
            <a:r>
              <a:rPr b="0" sz="1400" i="0">
                <a:solidFill>
                  <a:srgbClr val="1B3B47"/>
                </a:solidFill>
                <a:latin typeface="Arial"/>
              </a:rPr>
              <a:t> avec </a:t>
            </a:r>
            <a:r>
              <a:rPr sz="1260" b="0" i="0">
                <a:solidFill>
                  <a:srgbClr val="ED1548"/>
                </a:solidFill>
                <a:latin typeface="Consolas"/>
              </a:rPr>
              <a:t>model</a:t>
            </a:r>
            <a:r>
              <a:rPr b="0" sz="1400" i="0">
                <a:solidFill>
                  <a:srgbClr val="1B3B47"/>
                </a:solidFill>
                <a:latin typeface="Arial"/>
              </a:rPr>
              <a:t>.</a:t>
            </a:r>
          </a:p>
        </p:txBody>
      </p:sp>
      <p:sp>
        <p:nvSpPr>
          <p:cNvPr id="33" name="Oval 32"/>
          <p:cNvSpPr/>
          <p:nvPr/>
        </p:nvSpPr>
        <p:spPr>
          <a:xfrm>
            <a:off x="10927080" y="7107173"/>
            <a:ext cx="329184" cy="329184"/>
          </a:xfrm>
          <a:prstGeom prst="ellipse">
            <a:avLst/>
          </a:prstGeom>
          <a:solidFill>
            <a:srgbClr val="ED1548"/>
          </a:solidFill>
          <a:ln>
            <a:noFill/>
          </a:ln>
          <a:effectLst/>
        </p:spPr>
        <p:txBody>
          <a:bodyPr rtlCol="0" anchor="ctr" lIns="0" rIns="0" tIns="0" bIns="0"/>
          <a:lstStyle/>
          <a:p>
            <a:pPr algn="ctr"/>
            <a:r>
              <a:rPr sz="1190" b="1">
                <a:solidFill>
                  <a:srgbClr val="FFFFFF"/>
                </a:solidFill>
                <a:latin typeface="Arial"/>
              </a:rPr>
              <a:t>2</a:t>
            </a:r>
          </a:p>
        </p:txBody>
      </p:sp>
      <p:sp>
        <p:nvSpPr>
          <p:cNvPr id="34" name="TextBox 33"/>
          <p:cNvSpPr txBox="1"/>
          <p:nvPr/>
        </p:nvSpPr>
        <p:spPr>
          <a:xfrm>
            <a:off x="11430000" y="7107173"/>
            <a:ext cx="5532120" cy="752093"/>
          </a:xfrm>
          <a:prstGeom prst="rect">
            <a:avLst/>
          </a:prstGeom>
          <a:noFill/>
        </p:spPr>
        <p:txBody>
          <a:bodyPr wrap="square" lIns="0" rIns="0" tIns="0" bIns="0" anchor="t">
            <a:noAutofit/>
          </a:bodyPr>
          <a:lstStyle/>
          <a:p>
            <a:pPr algn="l">
              <a:lnSpc>
                <a:spcPct val="106000"/>
              </a:lnSpc>
              <a:spcBef>
                <a:spcPts val="0"/>
              </a:spcBef>
              <a:spcAft>
                <a:spcPts val="0"/>
              </a:spcAft>
            </a:pPr>
            <a:r>
              <a:rPr sz="1260" b="0" i="0">
                <a:solidFill>
                  <a:srgbClr val="ED1548"/>
                </a:solidFill>
                <a:latin typeface="Consolas"/>
              </a:rPr>
              <a:t>shared/components/confirm-dialog</a:t>
            </a:r>
            <a:r>
              <a:rPr b="0" sz="1400" i="0">
                <a:solidFill>
                  <a:srgbClr val="1B3B47"/>
                </a:solidFill>
                <a:latin typeface="Arial"/>
              </a:rPr>
              <a:t> avec </a:t>
            </a:r>
            <a:r>
              <a:rPr sz="1260" b="0" i="0">
                <a:solidFill>
                  <a:srgbClr val="ED1548"/>
                </a:solidFill>
                <a:latin typeface="Consolas"/>
              </a:rPr>
              <a:t>output</a:t>
            </a:r>
            <a:r>
              <a:rPr b="0" sz="1400" i="0">
                <a:solidFill>
                  <a:srgbClr val="1B3B47"/>
                </a:solidFill>
                <a:latin typeface="Arial"/>
              </a:rPr>
              <a:t>.</a:t>
            </a:r>
          </a:p>
        </p:txBody>
      </p:sp>
      <p:sp>
        <p:nvSpPr>
          <p:cNvPr id="35" name="Oval 34"/>
          <p:cNvSpPr/>
          <p:nvPr/>
        </p:nvSpPr>
        <p:spPr>
          <a:xfrm>
            <a:off x="10927080" y="7932419"/>
            <a:ext cx="329184" cy="329184"/>
          </a:xfrm>
          <a:prstGeom prst="ellipse">
            <a:avLst/>
          </a:prstGeom>
          <a:solidFill>
            <a:srgbClr val="ED1548"/>
          </a:solidFill>
          <a:ln>
            <a:noFill/>
          </a:ln>
          <a:effectLst/>
        </p:spPr>
        <p:txBody>
          <a:bodyPr rtlCol="0" anchor="ctr" lIns="0" rIns="0" tIns="0" bIns="0"/>
          <a:lstStyle/>
          <a:p>
            <a:pPr algn="ctr"/>
            <a:r>
              <a:rPr sz="1190" b="1">
                <a:solidFill>
                  <a:srgbClr val="FFFFFF"/>
                </a:solidFill>
                <a:latin typeface="Arial"/>
              </a:rPr>
              <a:t>3</a:t>
            </a:r>
          </a:p>
        </p:txBody>
      </p:sp>
      <p:sp>
        <p:nvSpPr>
          <p:cNvPr id="36" name="TextBox 35"/>
          <p:cNvSpPr txBox="1"/>
          <p:nvPr/>
        </p:nvSpPr>
        <p:spPr>
          <a:xfrm>
            <a:off x="11430000" y="7932419"/>
            <a:ext cx="5532120" cy="752093"/>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Extraire </a:t>
            </a:r>
            <a:r>
              <a:rPr sz="1260" b="0" i="0">
                <a:solidFill>
                  <a:srgbClr val="ED1548"/>
                </a:solidFill>
                <a:latin typeface="Consolas"/>
              </a:rPr>
              <a:t>facture-row</a:t>
            </a:r>
            <a:r>
              <a:rPr b="0" sz="1400" i="0">
                <a:solidFill>
                  <a:srgbClr val="1B3B47"/>
                </a:solidFill>
                <a:latin typeface="Arial"/>
              </a:rPr>
              <a:t> (input.required + output).</a:t>
            </a:r>
          </a:p>
        </p:txBody>
      </p:sp>
      <p:sp>
        <p:nvSpPr>
          <p:cNvPr id="37" name="Oval 36"/>
          <p:cNvSpPr/>
          <p:nvPr/>
        </p:nvSpPr>
        <p:spPr>
          <a:xfrm>
            <a:off x="10927080" y="8757665"/>
            <a:ext cx="329184" cy="329184"/>
          </a:xfrm>
          <a:prstGeom prst="ellipse">
            <a:avLst/>
          </a:prstGeom>
          <a:solidFill>
            <a:srgbClr val="ED1548"/>
          </a:solidFill>
          <a:ln>
            <a:noFill/>
          </a:ln>
          <a:effectLst/>
        </p:spPr>
        <p:txBody>
          <a:bodyPr rtlCol="0" anchor="ctr" lIns="0" rIns="0" tIns="0" bIns="0"/>
          <a:lstStyle/>
          <a:p>
            <a:pPr algn="ctr"/>
            <a:r>
              <a:rPr sz="1190" b="1">
                <a:solidFill>
                  <a:srgbClr val="FFFFFF"/>
                </a:solidFill>
                <a:latin typeface="Arial"/>
              </a:rPr>
              <a:t>4</a:t>
            </a:r>
          </a:p>
        </p:txBody>
      </p:sp>
      <p:sp>
        <p:nvSpPr>
          <p:cNvPr id="38" name="TextBox 37"/>
          <p:cNvSpPr txBox="1"/>
          <p:nvPr/>
        </p:nvSpPr>
        <p:spPr>
          <a:xfrm>
            <a:off x="11430000" y="8757665"/>
            <a:ext cx="5532120" cy="752093"/>
          </a:xfrm>
          <a:prstGeom prst="rect">
            <a:avLst/>
          </a:prstGeom>
          <a:noFill/>
        </p:spPr>
        <p:txBody>
          <a:bodyPr wrap="square" lIns="0" rIns="0" tIns="0" bIns="0" anchor="t">
            <a:noAutofit/>
          </a:bodyPr>
          <a:lstStyle/>
          <a:p>
            <a:pPr algn="l">
              <a:lnSpc>
                <a:spcPct val="106000"/>
              </a:lnSpc>
              <a:spcBef>
                <a:spcPts val="0"/>
              </a:spcBef>
              <a:spcAft>
                <a:spcPts val="0"/>
              </a:spcAft>
            </a:pPr>
            <a:r>
              <a:rPr sz="1260" b="0" i="0">
                <a:solidFill>
                  <a:srgbClr val="ED1548"/>
                </a:solidFill>
                <a:latin typeface="Consolas"/>
              </a:rPr>
              <a:t>shared/index.ts</a:t>
            </a:r>
            <a:r>
              <a:rPr b="0" sz="1400" i="0">
                <a:solidFill>
                  <a:srgbClr val="1B3B47"/>
                </a:solidFill>
                <a:latin typeface="Arial"/>
              </a:rPr>
              <a:t> : les exports partagés.</a:t>
            </a:r>
          </a:p>
        </p:txBody>
      </p:sp>
      <p:sp>
        <p:nvSpPr>
          <p:cNvPr id="39" name="TextBox 38"/>
          <p:cNvSpPr txBox="1"/>
          <p:nvPr/>
        </p:nvSpPr>
        <p:spPr>
          <a:xfrm>
            <a:off x="2606040" y="9144000"/>
            <a:ext cx="14584680" cy="274320"/>
          </a:xfrm>
          <a:prstGeom prst="rect">
            <a:avLst/>
          </a:prstGeom>
          <a:noFill/>
        </p:spPr>
        <p:txBody>
          <a:bodyPr wrap="square" lIns="0" rIns="0" tIns="0" bIns="0" anchor="t">
            <a:noAutofit/>
          </a:bodyPr>
          <a:lstStyle/>
          <a:p>
            <a:pPr algn="l">
              <a:lnSpc>
                <a:spcPct val="102000"/>
              </a:lnSpc>
              <a:spcBef>
                <a:spcPts val="0"/>
              </a:spcBef>
              <a:spcAft>
                <a:spcPts val="0"/>
              </a:spcAft>
            </a:pPr>
            <a:r>
              <a:rPr b="0" sz="1300" i="0">
                <a:solidFill>
                  <a:srgbClr val="5C6E76"/>
                </a:solidFill>
                <a:latin typeface="Arial"/>
              </a:rPr>
              <a:t>Un composant présentationnel se teste avec de simples inputs, sans HTTP ni routeur.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2  ·  MATERIAL</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Angular Material : accélérer l'UI sans réinventer l'accessibilité</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Des composants prêts, un thème, et beaucoup de temps gagné.</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36 / 62</a:t>
            </a:r>
          </a:p>
        </p:txBody>
      </p:sp>
      <p:sp>
        <p:nvSpPr>
          <p:cNvPr id="9" name="TextBox 8"/>
          <p:cNvSpPr txBox="1"/>
          <p:nvPr/>
        </p:nvSpPr>
        <p:spPr>
          <a:xfrm>
            <a:off x="2606040" y="3063240"/>
            <a:ext cx="6903720" cy="1737360"/>
          </a:xfrm>
          <a:prstGeom prst="rect">
            <a:avLst/>
          </a:prstGeom>
          <a:noFill/>
        </p:spPr>
        <p:txBody>
          <a:bodyPr wrap="square" lIns="0" rIns="0" tIns="0" bIns="0">
            <a:noAutofit/>
          </a:bodyPr>
          <a:lstStyle/>
          <a:p>
            <a:pPr marL="274320" indent="-274320">
              <a:lnSpc>
                <a:spcPct val="102000"/>
              </a:lnSpc>
              <a:spcBef>
                <a:spcPts val="0"/>
              </a:spcBef>
              <a:spcAft>
                <a:spcPts val="432"/>
              </a:spcAft>
              <a:buClr>
                <a:srgbClr val="ED1548"/>
              </a:buClr>
              <a:buFont typeface="Arial"/>
              <a:buChar char="•"/>
            </a:pPr>
            <a:r>
              <a:rPr b="1" sz="1600" i="0">
                <a:solidFill>
                  <a:srgbClr val="093544"/>
                </a:solidFill>
                <a:latin typeface="Arial"/>
              </a:rPr>
              <a:t>Accessibilité</a:t>
            </a:r>
            <a:r>
              <a:rPr b="0" sz="1600" i="0">
                <a:solidFill>
                  <a:srgbClr val="093544"/>
                </a:solidFill>
                <a:latin typeface="Arial"/>
              </a:rPr>
              <a:t> et cohérence visuelle intégrées.</a:t>
            </a:r>
          </a:p>
          <a:p>
            <a:pPr marL="274320" indent="-274320">
              <a:lnSpc>
                <a:spcPct val="102000"/>
              </a:lnSpc>
              <a:spcBef>
                <a:spcPts val="0"/>
              </a:spcBef>
              <a:spcAft>
                <a:spcPts val="432"/>
              </a:spcAft>
              <a:buClr>
                <a:srgbClr val="ED1548"/>
              </a:buClr>
              <a:buFont typeface="Arial"/>
              <a:buChar char="•"/>
            </a:pPr>
            <a:r>
              <a:rPr b="1" sz="1600" i="0">
                <a:solidFill>
                  <a:srgbClr val="093544"/>
                </a:solidFill>
                <a:latin typeface="Arial"/>
              </a:rPr>
              <a:t>Thème</a:t>
            </a:r>
            <a:r>
              <a:rPr b="0" sz="1600" i="0">
                <a:solidFill>
                  <a:srgbClr val="093544"/>
                </a:solidFill>
                <a:latin typeface="Arial"/>
              </a:rPr>
              <a:t> personnalisable aux couleurs AELION.</a:t>
            </a:r>
          </a:p>
          <a:p>
            <a:pPr marL="274320" indent="-274320">
              <a:lnSpc>
                <a:spcPct val="102000"/>
              </a:lnSpc>
              <a:spcBef>
                <a:spcPts val="0"/>
              </a:spcBef>
              <a:spcAft>
                <a:spcPts val="432"/>
              </a:spcAft>
              <a:buClr>
                <a:srgbClr val="ED1548"/>
              </a:buClr>
              <a:buFont typeface="Arial"/>
              <a:buChar char="•"/>
            </a:pPr>
            <a:r>
              <a:rPr b="1" sz="1600" i="0">
                <a:solidFill>
                  <a:srgbClr val="093544"/>
                </a:solidFill>
                <a:latin typeface="Arial"/>
              </a:rPr>
              <a:t>Coût</a:t>
            </a:r>
            <a:r>
              <a:rPr b="0" sz="1600" i="0">
                <a:solidFill>
                  <a:srgbClr val="093544"/>
                </a:solidFill>
                <a:latin typeface="Arial"/>
              </a:rPr>
              <a:t> : poids du bundle et apprentissage.</a:t>
            </a:r>
          </a:p>
        </p:txBody>
      </p:sp>
      <p:sp>
        <p:nvSpPr>
          <p:cNvPr id="10" name="TextBox 9"/>
          <p:cNvSpPr txBox="1"/>
          <p:nvPr/>
        </p:nvSpPr>
        <p:spPr>
          <a:xfrm>
            <a:off x="2606040" y="5120640"/>
            <a:ext cx="6903720" cy="274320"/>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8A9AA1"/>
                </a:solidFill>
                <a:latin typeface="Arial"/>
              </a:rPr>
              <a:t>COMPOSANTS UTILES</a:t>
            </a:r>
          </a:p>
        </p:txBody>
      </p:sp>
      <p:sp>
        <p:nvSpPr>
          <p:cNvPr id="11" name="Rounded Rectangle 10"/>
          <p:cNvSpPr/>
          <p:nvPr/>
        </p:nvSpPr>
        <p:spPr>
          <a:xfrm>
            <a:off x="2606040" y="5486400"/>
            <a:ext cx="1024127" cy="347472"/>
          </a:xfrm>
          <a:prstGeom prst="roundRect">
            <a:avLst>
              <a:gd name="adj" fmla="val 50000"/>
            </a:avLst>
          </a:prstGeom>
          <a:solidFill>
            <a:srgbClr val="0B4F6C"/>
          </a:solidFill>
          <a:ln>
            <a:noFill/>
          </a:ln>
          <a:effectLst/>
        </p:spPr>
        <p:txBody>
          <a:bodyPr rtlCol="0" anchor="ctr" lIns="0" rIns="0" tIns="0" bIns="0"/>
          <a:lstStyle/>
          <a:p>
            <a:pPr algn="ctr"/>
            <a:r>
              <a:rPr sz="1200" b="1">
                <a:solidFill>
                  <a:srgbClr val="FFFFFF"/>
                </a:solidFill>
                <a:latin typeface="Arial"/>
              </a:rPr>
              <a:t>MatTable</a:t>
            </a:r>
          </a:p>
        </p:txBody>
      </p:sp>
      <p:sp>
        <p:nvSpPr>
          <p:cNvPr id="12" name="Rounded Rectangle 11"/>
          <p:cNvSpPr/>
          <p:nvPr/>
        </p:nvSpPr>
        <p:spPr>
          <a:xfrm>
            <a:off x="3739896" y="5486400"/>
            <a:ext cx="1389888" cy="347472"/>
          </a:xfrm>
          <a:prstGeom prst="roundRect">
            <a:avLst>
              <a:gd name="adj" fmla="val 50000"/>
            </a:avLst>
          </a:prstGeom>
          <a:solidFill>
            <a:srgbClr val="0B4F6C"/>
          </a:solidFill>
          <a:ln>
            <a:noFill/>
          </a:ln>
          <a:effectLst/>
        </p:spPr>
        <p:txBody>
          <a:bodyPr rtlCol="0" anchor="ctr" lIns="0" rIns="0" tIns="0" bIns="0"/>
          <a:lstStyle/>
          <a:p>
            <a:pPr algn="ctr"/>
            <a:r>
              <a:rPr sz="1200" b="1">
                <a:solidFill>
                  <a:srgbClr val="FFFFFF"/>
                </a:solidFill>
                <a:latin typeface="Arial"/>
              </a:rPr>
              <a:t>MatFormField</a:t>
            </a:r>
          </a:p>
        </p:txBody>
      </p:sp>
      <p:sp>
        <p:nvSpPr>
          <p:cNvPr id="13" name="Rounded Rectangle 12"/>
          <p:cNvSpPr/>
          <p:nvPr/>
        </p:nvSpPr>
        <p:spPr>
          <a:xfrm>
            <a:off x="5239512" y="5486400"/>
            <a:ext cx="1115568" cy="347472"/>
          </a:xfrm>
          <a:prstGeom prst="roundRect">
            <a:avLst>
              <a:gd name="adj" fmla="val 50000"/>
            </a:avLst>
          </a:prstGeom>
          <a:solidFill>
            <a:srgbClr val="0B4F6C"/>
          </a:solidFill>
          <a:ln>
            <a:noFill/>
          </a:ln>
          <a:effectLst/>
        </p:spPr>
        <p:txBody>
          <a:bodyPr rtlCol="0" anchor="ctr" lIns="0" rIns="0" tIns="0" bIns="0"/>
          <a:lstStyle/>
          <a:p>
            <a:pPr algn="ctr"/>
            <a:r>
              <a:rPr sz="1200" b="1">
                <a:solidFill>
                  <a:srgbClr val="FFFFFF"/>
                </a:solidFill>
                <a:latin typeface="Arial"/>
              </a:rPr>
              <a:t>MatSelect</a:t>
            </a:r>
          </a:p>
        </p:txBody>
      </p:sp>
      <p:sp>
        <p:nvSpPr>
          <p:cNvPr id="14" name="Rounded Rectangle 13"/>
          <p:cNvSpPr/>
          <p:nvPr/>
        </p:nvSpPr>
        <p:spPr>
          <a:xfrm>
            <a:off x="2606040" y="5971032"/>
            <a:ext cx="1481328" cy="347472"/>
          </a:xfrm>
          <a:prstGeom prst="roundRect">
            <a:avLst>
              <a:gd name="adj" fmla="val 50000"/>
            </a:avLst>
          </a:prstGeom>
          <a:solidFill>
            <a:srgbClr val="ED1548"/>
          </a:solidFill>
          <a:ln>
            <a:noFill/>
          </a:ln>
          <a:effectLst/>
        </p:spPr>
        <p:txBody>
          <a:bodyPr rtlCol="0" anchor="ctr" lIns="0" rIns="0" tIns="0" bIns="0"/>
          <a:lstStyle/>
          <a:p>
            <a:pPr algn="ctr"/>
            <a:r>
              <a:rPr sz="1200" b="1">
                <a:solidFill>
                  <a:srgbClr val="FFFFFF"/>
                </a:solidFill>
                <a:latin typeface="Arial"/>
              </a:rPr>
              <a:t>MatDatepicker</a:t>
            </a:r>
          </a:p>
        </p:txBody>
      </p:sp>
      <p:sp>
        <p:nvSpPr>
          <p:cNvPr id="15" name="Rounded Rectangle 14"/>
          <p:cNvSpPr/>
          <p:nvPr/>
        </p:nvSpPr>
        <p:spPr>
          <a:xfrm>
            <a:off x="4197096" y="5971032"/>
            <a:ext cx="1298448" cy="347472"/>
          </a:xfrm>
          <a:prstGeom prst="roundRect">
            <a:avLst>
              <a:gd name="adj" fmla="val 50000"/>
            </a:avLst>
          </a:prstGeom>
          <a:solidFill>
            <a:srgbClr val="ED1548"/>
          </a:solidFill>
          <a:ln>
            <a:noFill/>
          </a:ln>
          <a:effectLst/>
        </p:spPr>
        <p:txBody>
          <a:bodyPr rtlCol="0" anchor="ctr" lIns="0" rIns="0" tIns="0" bIns="0"/>
          <a:lstStyle/>
          <a:p>
            <a:pPr algn="ctr"/>
            <a:r>
              <a:rPr sz="1200" b="1">
                <a:solidFill>
                  <a:srgbClr val="FFFFFF"/>
                </a:solidFill>
                <a:latin typeface="Arial"/>
              </a:rPr>
              <a:t>MatSnackBar</a:t>
            </a:r>
          </a:p>
        </p:txBody>
      </p:sp>
      <p:sp>
        <p:nvSpPr>
          <p:cNvPr id="16" name="Rounded Rectangle 15"/>
          <p:cNvSpPr/>
          <p:nvPr/>
        </p:nvSpPr>
        <p:spPr>
          <a:xfrm>
            <a:off x="5605272" y="5971032"/>
            <a:ext cx="1115568" cy="347472"/>
          </a:xfrm>
          <a:prstGeom prst="roundRect">
            <a:avLst>
              <a:gd name="adj" fmla="val 50000"/>
            </a:avLst>
          </a:prstGeom>
          <a:solidFill>
            <a:srgbClr val="ED1548"/>
          </a:solidFill>
          <a:ln>
            <a:noFill/>
          </a:ln>
          <a:effectLst/>
        </p:spPr>
        <p:txBody>
          <a:bodyPr rtlCol="0" anchor="ctr" lIns="0" rIns="0" tIns="0" bIns="0"/>
          <a:lstStyle/>
          <a:p>
            <a:pPr algn="ctr"/>
            <a:r>
              <a:rPr sz="1200" b="1">
                <a:solidFill>
                  <a:srgbClr val="FFFFFF"/>
                </a:solidFill>
                <a:latin typeface="Arial"/>
              </a:rPr>
              <a:t>MatDialog</a:t>
            </a:r>
          </a:p>
        </p:txBody>
      </p:sp>
      <p:sp>
        <p:nvSpPr>
          <p:cNvPr id="17" name="Rounded Rectangle 16"/>
          <p:cNvSpPr/>
          <p:nvPr/>
        </p:nvSpPr>
        <p:spPr>
          <a:xfrm>
            <a:off x="2606040" y="6675120"/>
            <a:ext cx="6903720" cy="2377440"/>
          </a:xfrm>
          <a:prstGeom prst="roundRect">
            <a:avLst>
              <a:gd name="adj" fmla="val 8000"/>
            </a:avLst>
          </a:prstGeom>
          <a:solidFill>
            <a:srgbClr val="EBF6F8"/>
          </a:solidFill>
          <a:ln>
            <a:noFill/>
          </a:ln>
          <a:effectLst/>
        </p:spPr>
        <p:txBody>
          <a:bodyPr rtlCol="0" anchor="ctr"/>
          <a:lstStyle/>
          <a:p>
            <a:pPr algn="ctr"/>
          </a:p>
        </p:txBody>
      </p:sp>
      <p:sp>
        <p:nvSpPr>
          <p:cNvPr id="18" name="Rectangle 17"/>
          <p:cNvSpPr/>
          <p:nvPr/>
        </p:nvSpPr>
        <p:spPr>
          <a:xfrm>
            <a:off x="2606040" y="6675120"/>
            <a:ext cx="64008" cy="2377440"/>
          </a:xfrm>
          <a:prstGeom prst="rect">
            <a:avLst/>
          </a:prstGeom>
          <a:solidFill>
            <a:srgbClr val="0B4F6C"/>
          </a:solidFill>
          <a:ln>
            <a:noFill/>
          </a:ln>
          <a:effectLst/>
        </p:spPr>
        <p:txBody>
          <a:bodyPr rtlCol="0" anchor="ctr"/>
          <a:lstStyle/>
          <a:p>
            <a:pPr algn="ctr"/>
          </a:p>
        </p:txBody>
      </p:sp>
      <p:sp>
        <p:nvSpPr>
          <p:cNvPr id="19" name="TextBox 18"/>
          <p:cNvSpPr txBox="1"/>
          <p:nvPr/>
        </p:nvSpPr>
        <p:spPr>
          <a:xfrm>
            <a:off x="2898648" y="6839712"/>
            <a:ext cx="64008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POURQUOI MATERIAL</a:t>
            </a:r>
          </a:p>
        </p:txBody>
      </p:sp>
      <p:sp>
        <p:nvSpPr>
          <p:cNvPr id="20" name="TextBox 19"/>
          <p:cNvSpPr txBox="1"/>
          <p:nvPr/>
        </p:nvSpPr>
        <p:spPr>
          <a:xfrm>
            <a:off x="2898648" y="7132320"/>
            <a:ext cx="6355080" cy="1810512"/>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Les patterns d'accessibilité (focus, ARIA, clavier) sont déjà gérés. On gagne du temps sur les tableaux, formulaires et dialogues.</a:t>
            </a:r>
          </a:p>
        </p:txBody>
      </p:sp>
      <p:sp>
        <p:nvSpPr>
          <p:cNvPr id="21" name="Rounded Rectangle 20"/>
          <p:cNvSpPr/>
          <p:nvPr/>
        </p:nvSpPr>
        <p:spPr>
          <a:xfrm>
            <a:off x="9829800" y="3063240"/>
            <a:ext cx="7360920" cy="612648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2" name="TextBox 21"/>
          <p:cNvSpPr txBox="1"/>
          <p:nvPr/>
        </p:nvSpPr>
        <p:spPr>
          <a:xfrm>
            <a:off x="10104120" y="3264408"/>
            <a:ext cx="6858000" cy="320040"/>
          </a:xfrm>
          <a:prstGeom prst="rect">
            <a:avLst/>
          </a:prstGeom>
          <a:noFill/>
        </p:spPr>
        <p:txBody>
          <a:bodyPr wrap="square" lIns="0" rIns="0" tIns="0" bIns="0" anchor="t">
            <a:noAutofit/>
          </a:bodyPr>
          <a:lstStyle/>
          <a:p>
            <a:pPr algn="l">
              <a:lnSpc>
                <a:spcPct val="102000"/>
              </a:lnSpc>
              <a:spcBef>
                <a:spcPts val="0"/>
              </a:spcBef>
              <a:spcAft>
                <a:spcPts val="0"/>
              </a:spcAft>
            </a:pPr>
            <a:r>
              <a:rPr b="1" sz="1800" i="0">
                <a:solidFill>
                  <a:srgbClr val="ED1548"/>
                </a:solidFill>
                <a:latin typeface="Arial"/>
              </a:rPr>
              <a:t>TP 5 — Parcours complet</a:t>
            </a:r>
          </a:p>
        </p:txBody>
      </p:sp>
      <p:sp>
        <p:nvSpPr>
          <p:cNvPr id="23" name="Oval 22"/>
          <p:cNvSpPr/>
          <p:nvPr/>
        </p:nvSpPr>
        <p:spPr>
          <a:xfrm>
            <a:off x="10104120" y="3813048"/>
            <a:ext cx="329184" cy="329184"/>
          </a:xfrm>
          <a:prstGeom prst="ellipse">
            <a:avLst/>
          </a:prstGeom>
          <a:solidFill>
            <a:srgbClr val="ED1548"/>
          </a:solidFill>
          <a:ln>
            <a:noFill/>
          </a:ln>
          <a:effectLst/>
        </p:spPr>
        <p:txBody>
          <a:bodyPr rtlCol="0" anchor="ctr" lIns="0" rIns="0" tIns="0" bIns="0"/>
          <a:lstStyle/>
          <a:p>
            <a:pPr algn="ctr"/>
            <a:r>
              <a:rPr sz="1360" b="1">
                <a:solidFill>
                  <a:srgbClr val="FFFFFF"/>
                </a:solidFill>
                <a:latin typeface="Arial"/>
              </a:rPr>
              <a:t>1</a:t>
            </a:r>
          </a:p>
        </p:txBody>
      </p:sp>
      <p:sp>
        <p:nvSpPr>
          <p:cNvPr id="24" name="TextBox 23"/>
          <p:cNvSpPr txBox="1"/>
          <p:nvPr/>
        </p:nvSpPr>
        <p:spPr>
          <a:xfrm>
            <a:off x="10607040" y="3813048"/>
            <a:ext cx="6355080" cy="899769"/>
          </a:xfrm>
          <a:prstGeom prst="rect">
            <a:avLst/>
          </a:prstGeom>
          <a:noFill/>
        </p:spPr>
        <p:txBody>
          <a:bodyPr wrap="square" lIns="0" rIns="0" tIns="0" bIns="0" anchor="t">
            <a:noAutofit/>
          </a:bodyPr>
          <a:lstStyle/>
          <a:p>
            <a:pPr algn="l">
              <a:lnSpc>
                <a:spcPct val="106000"/>
              </a:lnSpc>
              <a:spcBef>
                <a:spcPts val="0"/>
              </a:spcBef>
              <a:spcAft>
                <a:spcPts val="0"/>
              </a:spcAft>
            </a:pPr>
            <a:r>
              <a:rPr sz="1440" b="0" i="0">
                <a:solidFill>
                  <a:srgbClr val="ED1548"/>
                </a:solidFill>
                <a:latin typeface="Consolas"/>
              </a:rPr>
              <a:t>ng add @angular/material</a:t>
            </a:r>
            <a:r>
              <a:rPr b="0" sz="1600" i="0">
                <a:solidFill>
                  <a:srgbClr val="1B3B47"/>
                </a:solidFill>
                <a:latin typeface="Arial"/>
              </a:rPr>
              <a:t> ; thème personnalisé.</a:t>
            </a:r>
          </a:p>
        </p:txBody>
      </p:sp>
      <p:sp>
        <p:nvSpPr>
          <p:cNvPr id="25" name="Oval 24"/>
          <p:cNvSpPr/>
          <p:nvPr/>
        </p:nvSpPr>
        <p:spPr>
          <a:xfrm>
            <a:off x="10104120" y="4840833"/>
            <a:ext cx="329184" cy="329184"/>
          </a:xfrm>
          <a:prstGeom prst="ellipse">
            <a:avLst/>
          </a:prstGeom>
          <a:solidFill>
            <a:srgbClr val="ED1548"/>
          </a:solidFill>
          <a:ln>
            <a:noFill/>
          </a:ln>
          <a:effectLst/>
        </p:spPr>
        <p:txBody>
          <a:bodyPr rtlCol="0" anchor="ctr" lIns="0" rIns="0" tIns="0" bIns="0"/>
          <a:lstStyle/>
          <a:p>
            <a:pPr algn="ctr"/>
            <a:r>
              <a:rPr sz="1360" b="1">
                <a:solidFill>
                  <a:srgbClr val="FFFFFF"/>
                </a:solidFill>
                <a:latin typeface="Arial"/>
              </a:rPr>
              <a:t>2</a:t>
            </a:r>
          </a:p>
        </p:txBody>
      </p:sp>
      <p:sp>
        <p:nvSpPr>
          <p:cNvPr id="26" name="TextBox 25"/>
          <p:cNvSpPr txBox="1"/>
          <p:nvPr/>
        </p:nvSpPr>
        <p:spPr>
          <a:xfrm>
            <a:off x="10607040" y="4840833"/>
            <a:ext cx="6355080" cy="899769"/>
          </a:xfrm>
          <a:prstGeom prst="rect">
            <a:avLst/>
          </a:prstGeom>
          <a:noFill/>
        </p:spPr>
        <p:txBody>
          <a:bodyPr wrap="square" lIns="0" rIns="0" tIns="0" bIns="0" anchor="t">
            <a:noAutofit/>
          </a:bodyPr>
          <a:lstStyle/>
          <a:p>
            <a:pPr algn="l">
              <a:lnSpc>
                <a:spcPct val="106000"/>
              </a:lnSpc>
              <a:spcBef>
                <a:spcPts val="0"/>
              </a:spcBef>
              <a:spcAft>
                <a:spcPts val="0"/>
              </a:spcAft>
            </a:pPr>
            <a:r>
              <a:rPr sz="1440" b="0" i="0">
                <a:solidFill>
                  <a:srgbClr val="ED1548"/>
                </a:solidFill>
                <a:latin typeface="Consolas"/>
              </a:rPr>
              <a:t>mat-table</a:t>
            </a:r>
            <a:r>
              <a:rPr b="0" sz="1600" i="0">
                <a:solidFill>
                  <a:srgbClr val="1B3B47"/>
                </a:solidFill>
                <a:latin typeface="Arial"/>
              </a:rPr>
              <a:t> avec </a:t>
            </a:r>
            <a:r>
              <a:rPr sz="1440" b="0" i="0">
                <a:solidFill>
                  <a:srgbClr val="ED1548"/>
                </a:solidFill>
                <a:latin typeface="Consolas"/>
              </a:rPr>
              <a:t>matSort</a:t>
            </a:r>
            <a:r>
              <a:rPr b="0" sz="1600" i="0">
                <a:solidFill>
                  <a:srgbClr val="1B3B47"/>
                </a:solidFill>
                <a:latin typeface="Arial"/>
              </a:rPr>
              <a:t> et </a:t>
            </a:r>
            <a:r>
              <a:rPr sz="1440" b="0" i="0">
                <a:solidFill>
                  <a:srgbClr val="ED1548"/>
                </a:solidFill>
                <a:latin typeface="Consolas"/>
              </a:rPr>
              <a:t>matPaginator</a:t>
            </a:r>
            <a:r>
              <a:rPr b="0" sz="1600" i="0">
                <a:solidFill>
                  <a:srgbClr val="1B3B47"/>
                </a:solidFill>
                <a:latin typeface="Arial"/>
              </a:rPr>
              <a:t>.</a:t>
            </a:r>
          </a:p>
        </p:txBody>
      </p:sp>
      <p:sp>
        <p:nvSpPr>
          <p:cNvPr id="27" name="Oval 26"/>
          <p:cNvSpPr/>
          <p:nvPr/>
        </p:nvSpPr>
        <p:spPr>
          <a:xfrm>
            <a:off x="10104120" y="5868619"/>
            <a:ext cx="329184" cy="329184"/>
          </a:xfrm>
          <a:prstGeom prst="ellipse">
            <a:avLst/>
          </a:prstGeom>
          <a:solidFill>
            <a:srgbClr val="ED1548"/>
          </a:solidFill>
          <a:ln>
            <a:noFill/>
          </a:ln>
          <a:effectLst/>
        </p:spPr>
        <p:txBody>
          <a:bodyPr rtlCol="0" anchor="ctr" lIns="0" rIns="0" tIns="0" bIns="0"/>
          <a:lstStyle/>
          <a:p>
            <a:pPr algn="ctr"/>
            <a:r>
              <a:rPr sz="1360" b="1">
                <a:solidFill>
                  <a:srgbClr val="FFFFFF"/>
                </a:solidFill>
                <a:latin typeface="Arial"/>
              </a:rPr>
              <a:t>3</a:t>
            </a:r>
          </a:p>
        </p:txBody>
      </p:sp>
      <p:sp>
        <p:nvSpPr>
          <p:cNvPr id="28" name="TextBox 27"/>
          <p:cNvSpPr txBox="1"/>
          <p:nvPr/>
        </p:nvSpPr>
        <p:spPr>
          <a:xfrm>
            <a:off x="10607040" y="5868619"/>
            <a:ext cx="6355080" cy="899769"/>
          </a:xfrm>
          <a:prstGeom prst="rect">
            <a:avLst/>
          </a:prstGeom>
          <a:noFill/>
        </p:spPr>
        <p:txBody>
          <a:bodyPr wrap="square" lIns="0" rIns="0" tIns="0" bIns="0" anchor="t">
            <a:noAutofit/>
          </a:bodyPr>
          <a:lstStyle/>
          <a:p>
            <a:pPr algn="l">
              <a:lnSpc>
                <a:spcPct val="106000"/>
              </a:lnSpc>
              <a:spcBef>
                <a:spcPts val="0"/>
              </a:spcBef>
              <a:spcAft>
                <a:spcPts val="0"/>
              </a:spcAft>
            </a:pPr>
            <a:r>
              <a:rPr b="0" sz="1600" i="0">
                <a:solidFill>
                  <a:srgbClr val="1B3B47"/>
                </a:solidFill>
                <a:latin typeface="Arial"/>
              </a:rPr>
              <a:t>Formulaire en </a:t>
            </a:r>
            <a:r>
              <a:rPr sz="1440" b="0" i="0">
                <a:solidFill>
                  <a:srgbClr val="ED1548"/>
                </a:solidFill>
                <a:latin typeface="Consolas"/>
              </a:rPr>
              <a:t>mat-form-field</a:t>
            </a:r>
            <a:r>
              <a:rPr b="0" sz="1600" i="0">
                <a:solidFill>
                  <a:srgbClr val="1B3B47"/>
                </a:solidFill>
                <a:latin typeface="Arial"/>
              </a:rPr>
              <a:t> + </a:t>
            </a:r>
            <a:r>
              <a:rPr sz="1440" b="0" i="0">
                <a:solidFill>
                  <a:srgbClr val="ED1548"/>
                </a:solidFill>
                <a:latin typeface="Consolas"/>
              </a:rPr>
              <a:t>mat-error</a:t>
            </a:r>
            <a:r>
              <a:rPr b="0" sz="1600" i="0">
                <a:solidFill>
                  <a:srgbClr val="1B3B47"/>
                </a:solidFill>
                <a:latin typeface="Arial"/>
              </a:rPr>
              <a:t>.</a:t>
            </a:r>
          </a:p>
        </p:txBody>
      </p:sp>
      <p:sp>
        <p:nvSpPr>
          <p:cNvPr id="29" name="Oval 28"/>
          <p:cNvSpPr/>
          <p:nvPr/>
        </p:nvSpPr>
        <p:spPr>
          <a:xfrm>
            <a:off x="10104120" y="6896404"/>
            <a:ext cx="329184" cy="329184"/>
          </a:xfrm>
          <a:prstGeom prst="ellipse">
            <a:avLst/>
          </a:prstGeom>
          <a:solidFill>
            <a:srgbClr val="ED1548"/>
          </a:solidFill>
          <a:ln>
            <a:noFill/>
          </a:ln>
          <a:effectLst/>
        </p:spPr>
        <p:txBody>
          <a:bodyPr rtlCol="0" anchor="ctr" lIns="0" rIns="0" tIns="0" bIns="0"/>
          <a:lstStyle/>
          <a:p>
            <a:pPr algn="ctr"/>
            <a:r>
              <a:rPr sz="1360" b="1">
                <a:solidFill>
                  <a:srgbClr val="FFFFFF"/>
                </a:solidFill>
                <a:latin typeface="Arial"/>
              </a:rPr>
              <a:t>4</a:t>
            </a:r>
          </a:p>
        </p:txBody>
      </p:sp>
      <p:sp>
        <p:nvSpPr>
          <p:cNvPr id="30" name="TextBox 29"/>
          <p:cNvSpPr txBox="1"/>
          <p:nvPr/>
        </p:nvSpPr>
        <p:spPr>
          <a:xfrm>
            <a:off x="10607040" y="6896404"/>
            <a:ext cx="6355080" cy="899769"/>
          </a:xfrm>
          <a:prstGeom prst="rect">
            <a:avLst/>
          </a:prstGeom>
          <a:noFill/>
        </p:spPr>
        <p:txBody>
          <a:bodyPr wrap="square" lIns="0" rIns="0" tIns="0" bIns="0" anchor="t">
            <a:noAutofit/>
          </a:bodyPr>
          <a:lstStyle/>
          <a:p>
            <a:pPr algn="l">
              <a:lnSpc>
                <a:spcPct val="106000"/>
              </a:lnSpc>
              <a:spcBef>
                <a:spcPts val="0"/>
              </a:spcBef>
              <a:spcAft>
                <a:spcPts val="0"/>
              </a:spcAft>
            </a:pPr>
            <a:r>
              <a:rPr sz="1440" b="0" i="0">
                <a:solidFill>
                  <a:srgbClr val="ED1548"/>
                </a:solidFill>
                <a:latin typeface="Consolas"/>
              </a:rPr>
              <a:t>MatSnackBar</a:t>
            </a:r>
            <a:r>
              <a:rPr b="0" sz="1600" i="0">
                <a:solidFill>
                  <a:srgbClr val="1B3B47"/>
                </a:solidFill>
                <a:latin typeface="Arial"/>
              </a:rPr>
              <a:t> pour les retours, </a:t>
            </a:r>
            <a:r>
              <a:rPr sz="1440" b="0" i="0">
                <a:solidFill>
                  <a:srgbClr val="ED1548"/>
                </a:solidFill>
                <a:latin typeface="Consolas"/>
              </a:rPr>
              <a:t>MatDialog</a:t>
            </a:r>
            <a:r>
              <a:rPr b="0" sz="1600" i="0">
                <a:solidFill>
                  <a:srgbClr val="1B3B47"/>
                </a:solidFill>
                <a:latin typeface="Arial"/>
              </a:rPr>
              <a:t> pour confirmer.</a:t>
            </a:r>
          </a:p>
        </p:txBody>
      </p:sp>
      <p:sp>
        <p:nvSpPr>
          <p:cNvPr id="31" name="Oval 30"/>
          <p:cNvSpPr/>
          <p:nvPr/>
        </p:nvSpPr>
        <p:spPr>
          <a:xfrm>
            <a:off x="10104120" y="7924190"/>
            <a:ext cx="329184" cy="329184"/>
          </a:xfrm>
          <a:prstGeom prst="ellipse">
            <a:avLst/>
          </a:prstGeom>
          <a:solidFill>
            <a:srgbClr val="ED1548"/>
          </a:solidFill>
          <a:ln>
            <a:noFill/>
          </a:ln>
          <a:effectLst/>
        </p:spPr>
        <p:txBody>
          <a:bodyPr rtlCol="0" anchor="ctr" lIns="0" rIns="0" tIns="0" bIns="0"/>
          <a:lstStyle/>
          <a:p>
            <a:pPr algn="ctr"/>
            <a:r>
              <a:rPr sz="1360" b="1">
                <a:solidFill>
                  <a:srgbClr val="FFFFFF"/>
                </a:solidFill>
                <a:latin typeface="Arial"/>
              </a:rPr>
              <a:t>5</a:t>
            </a:r>
          </a:p>
        </p:txBody>
      </p:sp>
      <p:sp>
        <p:nvSpPr>
          <p:cNvPr id="32" name="TextBox 31"/>
          <p:cNvSpPr txBox="1"/>
          <p:nvPr/>
        </p:nvSpPr>
        <p:spPr>
          <a:xfrm>
            <a:off x="10607040" y="7924190"/>
            <a:ext cx="6355080" cy="899769"/>
          </a:xfrm>
          <a:prstGeom prst="rect">
            <a:avLst/>
          </a:prstGeom>
          <a:noFill/>
        </p:spPr>
        <p:txBody>
          <a:bodyPr wrap="square" lIns="0" rIns="0" tIns="0" bIns="0" anchor="t">
            <a:noAutofit/>
          </a:bodyPr>
          <a:lstStyle/>
          <a:p>
            <a:pPr algn="l">
              <a:lnSpc>
                <a:spcPct val="106000"/>
              </a:lnSpc>
              <a:spcBef>
                <a:spcPts val="0"/>
              </a:spcBef>
              <a:spcAft>
                <a:spcPts val="0"/>
              </a:spcAft>
            </a:pPr>
            <a:r>
              <a:rPr b="0" sz="1600" i="0">
                <a:solidFill>
                  <a:srgbClr val="1B3B47"/>
                </a:solidFill>
                <a:latin typeface="Arial"/>
              </a:rPr>
              <a:t>Parcours : lister → filtrer → créer → éditer → supprimer.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2  ·  QUIZ</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Trois questions pour vérifier les réflexes</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À faire seul ou en binôme ; les corrigés sont en annexe.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37 / 62</a:t>
            </a:r>
          </a:p>
        </p:txBody>
      </p:sp>
      <p:sp>
        <p:nvSpPr>
          <p:cNvPr id="9" name="Rounded Rectangle 8"/>
          <p:cNvSpPr/>
          <p:nvPr/>
        </p:nvSpPr>
        <p:spPr>
          <a:xfrm>
            <a:off x="2606040" y="3200400"/>
            <a:ext cx="4572000" cy="448056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0" name="Rectangle 9"/>
          <p:cNvSpPr/>
          <p:nvPr/>
        </p:nvSpPr>
        <p:spPr>
          <a:xfrm>
            <a:off x="2606040" y="3200400"/>
            <a:ext cx="4572000" cy="50292"/>
          </a:xfrm>
          <a:prstGeom prst="rect">
            <a:avLst/>
          </a:prstGeom>
          <a:solidFill>
            <a:srgbClr val="ED1548"/>
          </a:solidFill>
          <a:ln>
            <a:noFill/>
          </a:ln>
          <a:effectLst/>
        </p:spPr>
        <p:txBody>
          <a:bodyPr rtlCol="0" anchor="ctr"/>
          <a:lstStyle/>
          <a:p>
            <a:pPr algn="ctr"/>
          </a:p>
        </p:txBody>
      </p:sp>
      <p:sp>
        <p:nvSpPr>
          <p:cNvPr id="11" name="TextBox 10"/>
          <p:cNvSpPr txBox="1"/>
          <p:nvPr/>
        </p:nvSpPr>
        <p:spPr>
          <a:xfrm>
            <a:off x="2926080" y="3429000"/>
            <a:ext cx="1371600" cy="731520"/>
          </a:xfrm>
          <a:prstGeom prst="rect">
            <a:avLst/>
          </a:prstGeom>
          <a:noFill/>
        </p:spPr>
        <p:txBody>
          <a:bodyPr wrap="square" lIns="0" rIns="0" tIns="0" bIns="0" anchor="t">
            <a:noAutofit/>
          </a:bodyPr>
          <a:lstStyle/>
          <a:p>
            <a:pPr algn="l">
              <a:lnSpc>
                <a:spcPct val="102000"/>
              </a:lnSpc>
              <a:spcBef>
                <a:spcPts val="0"/>
              </a:spcBef>
              <a:spcAft>
                <a:spcPts val="0"/>
              </a:spcAft>
            </a:pPr>
            <a:r>
              <a:rPr b="1" sz="4600" i="0">
                <a:solidFill>
                  <a:srgbClr val="ED1548"/>
                </a:solidFill>
                <a:latin typeface="Arial"/>
              </a:rPr>
              <a:t>01</a:t>
            </a:r>
          </a:p>
        </p:txBody>
      </p:sp>
      <p:sp>
        <p:nvSpPr>
          <p:cNvPr id="12" name="TextBox 11"/>
          <p:cNvSpPr txBox="1"/>
          <p:nvPr/>
        </p:nvSpPr>
        <p:spPr>
          <a:xfrm>
            <a:off x="2926080" y="4297680"/>
            <a:ext cx="3931920" cy="1828800"/>
          </a:xfrm>
          <a:prstGeom prst="rect">
            <a:avLst/>
          </a:prstGeom>
          <a:noFill/>
        </p:spPr>
        <p:txBody>
          <a:bodyPr wrap="square" lIns="0" rIns="0" tIns="0" bIns="0" anchor="t">
            <a:noAutofit/>
          </a:bodyPr>
          <a:lstStyle/>
          <a:p>
            <a:pPr algn="l">
              <a:lnSpc>
                <a:spcPct val="108000"/>
              </a:lnSpc>
              <a:spcBef>
                <a:spcPts val="0"/>
              </a:spcBef>
              <a:spcAft>
                <a:spcPts val="0"/>
              </a:spcAft>
            </a:pPr>
            <a:r>
              <a:rPr b="1" sz="1950" i="0">
                <a:solidFill>
                  <a:srgbClr val="093544"/>
                </a:solidFill>
                <a:latin typeface="Arial"/>
              </a:rPr>
              <a:t>Que se passe-t-il si on ne s'abonne pas à un Observable </a:t>
            </a:r>
            <a:r>
              <a:rPr sz="1755" b="1" i="0">
                <a:solidFill>
                  <a:srgbClr val="ED1548"/>
                </a:solidFill>
                <a:latin typeface="Consolas"/>
              </a:rPr>
              <a:t>HttpClient</a:t>
            </a:r>
            <a:r>
              <a:rPr b="1" sz="1950" i="0">
                <a:solidFill>
                  <a:srgbClr val="093544"/>
                </a:solidFill>
                <a:latin typeface="Arial"/>
              </a:rPr>
              <a:t> ?</a:t>
            </a:r>
          </a:p>
        </p:txBody>
      </p:sp>
      <p:sp>
        <p:nvSpPr>
          <p:cNvPr id="13" name="TextBox 12"/>
          <p:cNvSpPr txBox="1"/>
          <p:nvPr/>
        </p:nvSpPr>
        <p:spPr>
          <a:xfrm>
            <a:off x="2926080" y="6492240"/>
            <a:ext cx="3931920" cy="731520"/>
          </a:xfrm>
          <a:prstGeom prst="rect">
            <a:avLst/>
          </a:prstGeom>
          <a:noFill/>
        </p:spPr>
        <p:txBody>
          <a:bodyPr wrap="square" lIns="0" rIns="0" tIns="0" bIns="0" anchor="t">
            <a:noAutofit/>
          </a:bodyPr>
          <a:lstStyle/>
          <a:p>
            <a:pPr algn="l">
              <a:lnSpc>
                <a:spcPct val="102000"/>
              </a:lnSpc>
              <a:spcBef>
                <a:spcPts val="0"/>
              </a:spcBef>
              <a:spcAft>
                <a:spcPts val="0"/>
              </a:spcAft>
            </a:pPr>
            <a:r>
              <a:rPr b="0" sz="1350" i="0">
                <a:solidFill>
                  <a:srgbClr val="5C6E76"/>
                </a:solidFill>
                <a:latin typeface="Arial"/>
              </a:rPr>
              <a:t>Pensez « froid ».</a:t>
            </a:r>
          </a:p>
        </p:txBody>
      </p:sp>
      <p:sp>
        <p:nvSpPr>
          <p:cNvPr id="14" name="Rounded Rectangle 13"/>
          <p:cNvSpPr/>
          <p:nvPr/>
        </p:nvSpPr>
        <p:spPr>
          <a:xfrm>
            <a:off x="7680960" y="3200400"/>
            <a:ext cx="4572000" cy="448056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5" name="Rectangle 14"/>
          <p:cNvSpPr/>
          <p:nvPr/>
        </p:nvSpPr>
        <p:spPr>
          <a:xfrm>
            <a:off x="7680960" y="3200400"/>
            <a:ext cx="4572000" cy="50292"/>
          </a:xfrm>
          <a:prstGeom prst="rect">
            <a:avLst/>
          </a:prstGeom>
          <a:solidFill>
            <a:srgbClr val="ED1548"/>
          </a:solidFill>
          <a:ln>
            <a:noFill/>
          </a:ln>
          <a:effectLst/>
        </p:spPr>
        <p:txBody>
          <a:bodyPr rtlCol="0" anchor="ctr"/>
          <a:lstStyle/>
          <a:p>
            <a:pPr algn="ctr"/>
          </a:p>
        </p:txBody>
      </p:sp>
      <p:sp>
        <p:nvSpPr>
          <p:cNvPr id="16" name="TextBox 15"/>
          <p:cNvSpPr txBox="1"/>
          <p:nvPr/>
        </p:nvSpPr>
        <p:spPr>
          <a:xfrm>
            <a:off x="8001000" y="3429000"/>
            <a:ext cx="1371600" cy="731520"/>
          </a:xfrm>
          <a:prstGeom prst="rect">
            <a:avLst/>
          </a:prstGeom>
          <a:noFill/>
        </p:spPr>
        <p:txBody>
          <a:bodyPr wrap="square" lIns="0" rIns="0" tIns="0" bIns="0" anchor="t">
            <a:noAutofit/>
          </a:bodyPr>
          <a:lstStyle/>
          <a:p>
            <a:pPr algn="l">
              <a:lnSpc>
                <a:spcPct val="102000"/>
              </a:lnSpc>
              <a:spcBef>
                <a:spcPts val="0"/>
              </a:spcBef>
              <a:spcAft>
                <a:spcPts val="0"/>
              </a:spcAft>
            </a:pPr>
            <a:r>
              <a:rPr b="1" sz="4600" i="0">
                <a:solidFill>
                  <a:srgbClr val="ED1548"/>
                </a:solidFill>
                <a:latin typeface="Arial"/>
              </a:rPr>
              <a:t>02</a:t>
            </a:r>
          </a:p>
        </p:txBody>
      </p:sp>
      <p:sp>
        <p:nvSpPr>
          <p:cNvPr id="17" name="TextBox 16"/>
          <p:cNvSpPr txBox="1"/>
          <p:nvPr/>
        </p:nvSpPr>
        <p:spPr>
          <a:xfrm>
            <a:off x="8001000" y="4297680"/>
            <a:ext cx="3931920" cy="1828800"/>
          </a:xfrm>
          <a:prstGeom prst="rect">
            <a:avLst/>
          </a:prstGeom>
          <a:noFill/>
        </p:spPr>
        <p:txBody>
          <a:bodyPr wrap="square" lIns="0" rIns="0" tIns="0" bIns="0" anchor="t">
            <a:noAutofit/>
          </a:bodyPr>
          <a:lstStyle/>
          <a:p>
            <a:pPr algn="l">
              <a:lnSpc>
                <a:spcPct val="108000"/>
              </a:lnSpc>
              <a:spcBef>
                <a:spcPts val="0"/>
              </a:spcBef>
              <a:spcAft>
                <a:spcPts val="0"/>
              </a:spcAft>
            </a:pPr>
            <a:r>
              <a:rPr sz="1755" b="1" i="0">
                <a:solidFill>
                  <a:srgbClr val="ED1548"/>
                </a:solidFill>
                <a:latin typeface="Consolas"/>
              </a:rPr>
              <a:t>switchMap</a:t>
            </a:r>
            <a:r>
              <a:rPr b="1" sz="1950" i="0">
                <a:solidFill>
                  <a:srgbClr val="093544"/>
                </a:solidFill>
                <a:latin typeface="Arial"/>
              </a:rPr>
              <a:t> ou </a:t>
            </a:r>
            <a:r>
              <a:rPr sz="1755" b="1" i="0">
                <a:solidFill>
                  <a:srgbClr val="ED1548"/>
                </a:solidFill>
                <a:latin typeface="Consolas"/>
              </a:rPr>
              <a:t>mergeMap</a:t>
            </a:r>
            <a:r>
              <a:rPr b="1" sz="1950" i="0">
                <a:solidFill>
                  <a:srgbClr val="093544"/>
                </a:solidFill>
                <a:latin typeface="Arial"/>
              </a:rPr>
              <a:t> pour une recherche ?</a:t>
            </a:r>
          </a:p>
        </p:txBody>
      </p:sp>
      <p:sp>
        <p:nvSpPr>
          <p:cNvPr id="18" name="TextBox 17"/>
          <p:cNvSpPr txBox="1"/>
          <p:nvPr/>
        </p:nvSpPr>
        <p:spPr>
          <a:xfrm>
            <a:off x="8001000" y="6492240"/>
            <a:ext cx="3931920" cy="731520"/>
          </a:xfrm>
          <a:prstGeom prst="rect">
            <a:avLst/>
          </a:prstGeom>
          <a:noFill/>
        </p:spPr>
        <p:txBody>
          <a:bodyPr wrap="square" lIns="0" rIns="0" tIns="0" bIns="0" anchor="t">
            <a:noAutofit/>
          </a:bodyPr>
          <a:lstStyle/>
          <a:p>
            <a:pPr algn="l">
              <a:lnSpc>
                <a:spcPct val="102000"/>
              </a:lnSpc>
              <a:spcBef>
                <a:spcPts val="0"/>
              </a:spcBef>
              <a:spcAft>
                <a:spcPts val="0"/>
              </a:spcAft>
            </a:pPr>
            <a:r>
              <a:rPr b="0" sz="1350" i="0">
                <a:solidFill>
                  <a:srgbClr val="5C6E76"/>
                </a:solidFill>
                <a:latin typeface="Arial"/>
              </a:rPr>
              <a:t>Pensez à l'ordre des réponses.</a:t>
            </a:r>
          </a:p>
        </p:txBody>
      </p:sp>
      <p:sp>
        <p:nvSpPr>
          <p:cNvPr id="19" name="Rounded Rectangle 18"/>
          <p:cNvSpPr/>
          <p:nvPr/>
        </p:nvSpPr>
        <p:spPr>
          <a:xfrm>
            <a:off x="12755880" y="3200400"/>
            <a:ext cx="4434840" cy="448056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0" name="Rectangle 19"/>
          <p:cNvSpPr/>
          <p:nvPr/>
        </p:nvSpPr>
        <p:spPr>
          <a:xfrm>
            <a:off x="12755880" y="3200400"/>
            <a:ext cx="4434840" cy="50292"/>
          </a:xfrm>
          <a:prstGeom prst="rect">
            <a:avLst/>
          </a:prstGeom>
          <a:solidFill>
            <a:srgbClr val="ED1548"/>
          </a:solidFill>
          <a:ln>
            <a:noFill/>
          </a:ln>
          <a:effectLst/>
        </p:spPr>
        <p:txBody>
          <a:bodyPr rtlCol="0" anchor="ctr"/>
          <a:lstStyle/>
          <a:p>
            <a:pPr algn="ctr"/>
          </a:p>
        </p:txBody>
      </p:sp>
      <p:sp>
        <p:nvSpPr>
          <p:cNvPr id="21" name="TextBox 20"/>
          <p:cNvSpPr txBox="1"/>
          <p:nvPr/>
        </p:nvSpPr>
        <p:spPr>
          <a:xfrm>
            <a:off x="13075919" y="3429000"/>
            <a:ext cx="1371600" cy="731520"/>
          </a:xfrm>
          <a:prstGeom prst="rect">
            <a:avLst/>
          </a:prstGeom>
          <a:noFill/>
        </p:spPr>
        <p:txBody>
          <a:bodyPr wrap="square" lIns="0" rIns="0" tIns="0" bIns="0" anchor="t">
            <a:noAutofit/>
          </a:bodyPr>
          <a:lstStyle/>
          <a:p>
            <a:pPr algn="l">
              <a:lnSpc>
                <a:spcPct val="102000"/>
              </a:lnSpc>
              <a:spcBef>
                <a:spcPts val="0"/>
              </a:spcBef>
              <a:spcAft>
                <a:spcPts val="0"/>
              </a:spcAft>
            </a:pPr>
            <a:r>
              <a:rPr b="1" sz="4600" i="0">
                <a:solidFill>
                  <a:srgbClr val="ED1548"/>
                </a:solidFill>
                <a:latin typeface="Arial"/>
              </a:rPr>
              <a:t>03</a:t>
            </a:r>
          </a:p>
        </p:txBody>
      </p:sp>
      <p:sp>
        <p:nvSpPr>
          <p:cNvPr id="22" name="TextBox 21"/>
          <p:cNvSpPr txBox="1"/>
          <p:nvPr/>
        </p:nvSpPr>
        <p:spPr>
          <a:xfrm>
            <a:off x="13075919" y="4297680"/>
            <a:ext cx="3931920" cy="1828800"/>
          </a:xfrm>
          <a:prstGeom prst="rect">
            <a:avLst/>
          </a:prstGeom>
          <a:noFill/>
        </p:spPr>
        <p:txBody>
          <a:bodyPr wrap="square" lIns="0" rIns="0" tIns="0" bIns="0" anchor="t">
            <a:noAutofit/>
          </a:bodyPr>
          <a:lstStyle/>
          <a:p>
            <a:pPr algn="l">
              <a:lnSpc>
                <a:spcPct val="108000"/>
              </a:lnSpc>
              <a:spcBef>
                <a:spcPts val="0"/>
              </a:spcBef>
              <a:spcAft>
                <a:spcPts val="0"/>
              </a:spcAft>
            </a:pPr>
            <a:r>
              <a:rPr b="1" sz="1950" i="0">
                <a:solidFill>
                  <a:srgbClr val="093544"/>
                </a:solidFill>
                <a:latin typeface="Arial"/>
              </a:rPr>
              <a:t>Quand préférer </a:t>
            </a:r>
            <a:r>
              <a:rPr sz="1755" b="1" i="0">
                <a:solidFill>
                  <a:srgbClr val="ED1548"/>
                </a:solidFill>
                <a:latin typeface="Consolas"/>
              </a:rPr>
              <a:t>model()</a:t>
            </a:r>
            <a:r>
              <a:rPr b="1" sz="1950" i="0">
                <a:solidFill>
                  <a:srgbClr val="093544"/>
                </a:solidFill>
                <a:latin typeface="Arial"/>
              </a:rPr>
              <a:t> à </a:t>
            </a:r>
            <a:r>
              <a:rPr sz="1755" b="1" i="0">
                <a:solidFill>
                  <a:srgbClr val="ED1548"/>
                </a:solidFill>
                <a:latin typeface="Consolas"/>
              </a:rPr>
              <a:t>input()</a:t>
            </a:r>
            <a:r>
              <a:rPr b="1" sz="1950" i="0">
                <a:solidFill>
                  <a:srgbClr val="093544"/>
                </a:solidFill>
                <a:latin typeface="Arial"/>
              </a:rPr>
              <a:t> + </a:t>
            </a:r>
            <a:r>
              <a:rPr sz="1755" b="1" i="0">
                <a:solidFill>
                  <a:srgbClr val="ED1548"/>
                </a:solidFill>
                <a:latin typeface="Consolas"/>
              </a:rPr>
              <a:t>output()</a:t>
            </a:r>
            <a:r>
              <a:rPr b="1" sz="1950" i="0">
                <a:solidFill>
                  <a:srgbClr val="093544"/>
                </a:solidFill>
                <a:latin typeface="Arial"/>
              </a:rPr>
              <a:t> ?</a:t>
            </a:r>
          </a:p>
        </p:txBody>
      </p:sp>
      <p:sp>
        <p:nvSpPr>
          <p:cNvPr id="23" name="TextBox 22"/>
          <p:cNvSpPr txBox="1"/>
          <p:nvPr/>
        </p:nvSpPr>
        <p:spPr>
          <a:xfrm>
            <a:off x="13075919" y="6492240"/>
            <a:ext cx="3931920" cy="731520"/>
          </a:xfrm>
          <a:prstGeom prst="rect">
            <a:avLst/>
          </a:prstGeom>
          <a:noFill/>
        </p:spPr>
        <p:txBody>
          <a:bodyPr wrap="square" lIns="0" rIns="0" tIns="0" bIns="0" anchor="t">
            <a:noAutofit/>
          </a:bodyPr>
          <a:lstStyle/>
          <a:p>
            <a:pPr algn="l">
              <a:lnSpc>
                <a:spcPct val="102000"/>
              </a:lnSpc>
              <a:spcBef>
                <a:spcPts val="0"/>
              </a:spcBef>
              <a:spcAft>
                <a:spcPts val="0"/>
              </a:spcAft>
            </a:pPr>
            <a:r>
              <a:rPr b="0" sz="1350" i="0">
                <a:solidFill>
                  <a:srgbClr val="5C6E76"/>
                </a:solidFill>
                <a:latin typeface="Arial"/>
              </a:rPr>
              <a:t>Pensez au two-way.</a:t>
            </a:r>
          </a:p>
        </p:txBody>
      </p:sp>
      <p:sp>
        <p:nvSpPr>
          <p:cNvPr id="24" name="Rounded Rectangle 23"/>
          <p:cNvSpPr/>
          <p:nvPr/>
        </p:nvSpPr>
        <p:spPr>
          <a:xfrm>
            <a:off x="2606040" y="7955279"/>
            <a:ext cx="14584680" cy="777240"/>
          </a:xfrm>
          <a:prstGeom prst="roundRect">
            <a:avLst>
              <a:gd name="adj" fmla="val 8000"/>
            </a:avLst>
          </a:prstGeom>
          <a:solidFill>
            <a:srgbClr val="EBF6F8"/>
          </a:solidFill>
          <a:ln>
            <a:noFill/>
          </a:ln>
          <a:effectLst/>
        </p:spPr>
        <p:txBody>
          <a:bodyPr rtlCol="0" anchor="ctr"/>
          <a:lstStyle/>
          <a:p>
            <a:pPr algn="ctr"/>
          </a:p>
        </p:txBody>
      </p:sp>
      <p:sp>
        <p:nvSpPr>
          <p:cNvPr id="25" name="Rectangle 24"/>
          <p:cNvSpPr/>
          <p:nvPr/>
        </p:nvSpPr>
        <p:spPr>
          <a:xfrm>
            <a:off x="2606040" y="7955279"/>
            <a:ext cx="64008" cy="777240"/>
          </a:xfrm>
          <a:prstGeom prst="rect">
            <a:avLst/>
          </a:prstGeom>
          <a:solidFill>
            <a:srgbClr val="0B4F6C"/>
          </a:solidFill>
          <a:ln>
            <a:noFill/>
          </a:ln>
          <a:effectLst/>
        </p:spPr>
        <p:txBody>
          <a:bodyPr rtlCol="0" anchor="ctr"/>
          <a:lstStyle/>
          <a:p>
            <a:pPr algn="ctr"/>
          </a:p>
        </p:txBody>
      </p:sp>
      <p:sp>
        <p:nvSpPr>
          <p:cNvPr id="26" name="TextBox 25"/>
          <p:cNvSpPr txBox="1"/>
          <p:nvPr/>
        </p:nvSpPr>
        <p:spPr>
          <a:xfrm>
            <a:off x="2898648" y="8119871"/>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CORRIGÉS</a:t>
            </a:r>
          </a:p>
        </p:txBody>
      </p:sp>
      <p:sp>
        <p:nvSpPr>
          <p:cNvPr id="27" name="TextBox 26"/>
          <p:cNvSpPr txBox="1"/>
          <p:nvPr/>
        </p:nvSpPr>
        <p:spPr>
          <a:xfrm>
            <a:off x="2898648" y="8412480"/>
            <a:ext cx="14173200" cy="210311"/>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Les réponses commentées sont page 60.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2  ·  À RETENIR</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Quatre réflexes, trois pièges</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Le jour 2 transforme un écran en application.</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38 / 62</a:t>
            </a:r>
          </a:p>
        </p:txBody>
      </p:sp>
      <p:sp>
        <p:nvSpPr>
          <p:cNvPr id="9" name="Rounded Rectangle 8"/>
          <p:cNvSpPr/>
          <p:nvPr/>
        </p:nvSpPr>
        <p:spPr>
          <a:xfrm>
            <a:off x="2606040" y="3063240"/>
            <a:ext cx="7223760" cy="4160520"/>
          </a:xfrm>
          <a:prstGeom prst="roundRect">
            <a:avLst>
              <a:gd name="adj" fmla="val 8000"/>
            </a:avLst>
          </a:prstGeom>
          <a:solidFill>
            <a:srgbClr val="FFF0F4"/>
          </a:solidFill>
          <a:ln>
            <a:noFill/>
          </a:ln>
          <a:effectLst/>
        </p:spPr>
        <p:txBody>
          <a:bodyPr rtlCol="0" anchor="ctr"/>
          <a:lstStyle/>
          <a:p>
            <a:pPr algn="ctr"/>
          </a:p>
        </p:txBody>
      </p:sp>
      <p:sp>
        <p:nvSpPr>
          <p:cNvPr id="10" name="Rectangle 9"/>
          <p:cNvSpPr/>
          <p:nvPr/>
        </p:nvSpPr>
        <p:spPr>
          <a:xfrm>
            <a:off x="2606040" y="3063240"/>
            <a:ext cx="64008" cy="4160520"/>
          </a:xfrm>
          <a:prstGeom prst="rect">
            <a:avLst/>
          </a:prstGeom>
          <a:solidFill>
            <a:srgbClr val="ED1548"/>
          </a:solidFill>
          <a:ln>
            <a:noFill/>
          </a:ln>
          <a:effectLst/>
        </p:spPr>
        <p:txBody>
          <a:bodyPr rtlCol="0" anchor="ctr"/>
          <a:lstStyle/>
          <a:p>
            <a:pPr algn="ctr"/>
          </a:p>
        </p:txBody>
      </p:sp>
      <p:sp>
        <p:nvSpPr>
          <p:cNvPr id="11" name="TextBox 10"/>
          <p:cNvSpPr txBox="1"/>
          <p:nvPr/>
        </p:nvSpPr>
        <p:spPr>
          <a:xfrm>
            <a:off x="2926080" y="3246120"/>
            <a:ext cx="6583680" cy="320040"/>
          </a:xfrm>
          <a:prstGeom prst="rect">
            <a:avLst/>
          </a:prstGeom>
          <a:noFill/>
        </p:spPr>
        <p:txBody>
          <a:bodyPr wrap="square" lIns="0" rIns="0" tIns="0" bIns="0" anchor="t">
            <a:noAutofit/>
          </a:bodyPr>
          <a:lstStyle/>
          <a:p>
            <a:pPr algn="l">
              <a:lnSpc>
                <a:spcPct val="102000"/>
              </a:lnSpc>
              <a:spcBef>
                <a:spcPts val="0"/>
              </a:spcBef>
              <a:spcAft>
                <a:spcPts val="0"/>
              </a:spcAft>
            </a:pPr>
            <a:r>
              <a:rPr b="1" sz="1300" i="0">
                <a:solidFill>
                  <a:srgbClr val="ED1548"/>
                </a:solidFill>
                <a:latin typeface="Arial"/>
              </a:rPr>
              <a:t>À RETENIR</a:t>
            </a:r>
          </a:p>
        </p:txBody>
      </p:sp>
      <p:sp>
        <p:nvSpPr>
          <p:cNvPr id="12" name="TextBox 11"/>
          <p:cNvSpPr txBox="1"/>
          <p:nvPr/>
        </p:nvSpPr>
        <p:spPr>
          <a:xfrm>
            <a:off x="2926080" y="3703320"/>
            <a:ext cx="6537960" cy="3383280"/>
          </a:xfrm>
          <a:prstGeom prst="rect">
            <a:avLst/>
          </a:prstGeom>
          <a:noFill/>
        </p:spPr>
        <p:txBody>
          <a:bodyPr wrap="square" lIns="0" rIns="0" tIns="0" bIns="0">
            <a:noAutofit/>
          </a:bodyPr>
          <a:lstStyle/>
          <a:p>
            <a:pPr marL="274320" indent="-274320">
              <a:lnSpc>
                <a:spcPct val="102000"/>
              </a:lnSpc>
              <a:spcBef>
                <a:spcPts val="0"/>
              </a:spcBef>
              <a:spcAft>
                <a:spcPts val="720"/>
              </a:spcAft>
              <a:buClr>
                <a:srgbClr val="ED1548"/>
              </a:buClr>
              <a:buFont typeface="Arial"/>
              <a:buChar char="•"/>
            </a:pPr>
            <a:r>
              <a:rPr b="0" sz="1700" i="0">
                <a:solidFill>
                  <a:srgbClr val="093544"/>
                </a:solidFill>
                <a:latin typeface="Arial"/>
              </a:rPr>
              <a:t>Une route = une URL ; le lazy garde le bundle initial léger.</a:t>
            </a:r>
          </a:p>
          <a:p>
            <a:pPr marL="274320" indent="-274320">
              <a:lnSpc>
                <a:spcPct val="102000"/>
              </a:lnSpc>
              <a:spcBef>
                <a:spcPts val="0"/>
              </a:spcBef>
              <a:spcAft>
                <a:spcPts val="720"/>
              </a:spcAft>
              <a:buClr>
                <a:srgbClr val="ED1548"/>
              </a:buClr>
              <a:buFont typeface="Arial"/>
              <a:buChar char="•"/>
            </a:pPr>
            <a:r>
              <a:rPr sz="1530" b="0" i="0">
                <a:solidFill>
                  <a:srgbClr val="ED1548"/>
                </a:solidFill>
                <a:latin typeface="Consolas"/>
              </a:rPr>
              <a:t>HttpClient</a:t>
            </a:r>
            <a:r>
              <a:rPr b="0" sz="1700" i="0">
                <a:solidFill>
                  <a:srgbClr val="093544"/>
                </a:solidFill>
                <a:latin typeface="Arial"/>
              </a:rPr>
              <a:t> est froid : sans abonnement, rien ne part.</a:t>
            </a:r>
          </a:p>
          <a:p>
            <a:pPr marL="274320" indent="-274320">
              <a:lnSpc>
                <a:spcPct val="102000"/>
              </a:lnSpc>
              <a:spcBef>
                <a:spcPts val="0"/>
              </a:spcBef>
              <a:spcAft>
                <a:spcPts val="720"/>
              </a:spcAft>
              <a:buClr>
                <a:srgbClr val="ED1548"/>
              </a:buClr>
              <a:buFont typeface="Arial"/>
              <a:buChar char="•"/>
            </a:pPr>
            <a:r>
              <a:rPr b="0" sz="1700" i="0">
                <a:solidFill>
                  <a:srgbClr val="093544"/>
                </a:solidFill>
                <a:latin typeface="Arial"/>
              </a:rPr>
              <a:t>Reactive Forms : la validation est dans le modèle TS.</a:t>
            </a:r>
          </a:p>
          <a:p>
            <a:pPr marL="274320" indent="-274320">
              <a:lnSpc>
                <a:spcPct val="102000"/>
              </a:lnSpc>
              <a:spcBef>
                <a:spcPts val="0"/>
              </a:spcBef>
              <a:spcAft>
                <a:spcPts val="720"/>
              </a:spcAft>
              <a:buClr>
                <a:srgbClr val="ED1548"/>
              </a:buClr>
              <a:buFont typeface="Arial"/>
              <a:buChar char="•"/>
            </a:pPr>
            <a:r>
              <a:rPr b="0" sz="1700" i="0">
                <a:solidFill>
                  <a:srgbClr val="093544"/>
                </a:solidFill>
                <a:latin typeface="Arial"/>
              </a:rPr>
              <a:t>Un composant présentationnel ne connaît ni l'API ni le routeur.</a:t>
            </a:r>
          </a:p>
        </p:txBody>
      </p:sp>
      <p:sp>
        <p:nvSpPr>
          <p:cNvPr id="13" name="Rounded Rectangle 12"/>
          <p:cNvSpPr/>
          <p:nvPr/>
        </p:nvSpPr>
        <p:spPr>
          <a:xfrm>
            <a:off x="10058400" y="3063240"/>
            <a:ext cx="7132320" cy="4160520"/>
          </a:xfrm>
          <a:prstGeom prst="roundRect">
            <a:avLst>
              <a:gd name="adj" fmla="val 8000"/>
            </a:avLst>
          </a:prstGeom>
          <a:solidFill>
            <a:srgbClr val="FFF6E5"/>
          </a:solidFill>
          <a:ln>
            <a:noFill/>
          </a:ln>
          <a:effectLst/>
        </p:spPr>
        <p:txBody>
          <a:bodyPr rtlCol="0" anchor="ctr"/>
          <a:lstStyle/>
          <a:p>
            <a:pPr algn="ctr"/>
          </a:p>
        </p:txBody>
      </p:sp>
      <p:sp>
        <p:nvSpPr>
          <p:cNvPr id="14" name="Rectangle 13"/>
          <p:cNvSpPr/>
          <p:nvPr/>
        </p:nvSpPr>
        <p:spPr>
          <a:xfrm>
            <a:off x="10058400" y="3063240"/>
            <a:ext cx="64008" cy="4160520"/>
          </a:xfrm>
          <a:prstGeom prst="rect">
            <a:avLst/>
          </a:prstGeom>
          <a:solidFill>
            <a:srgbClr val="B26A00"/>
          </a:solidFill>
          <a:ln>
            <a:noFill/>
          </a:ln>
          <a:effectLst/>
        </p:spPr>
        <p:txBody>
          <a:bodyPr rtlCol="0" anchor="ctr"/>
          <a:lstStyle/>
          <a:p>
            <a:pPr algn="ctr"/>
          </a:p>
        </p:txBody>
      </p:sp>
      <p:sp>
        <p:nvSpPr>
          <p:cNvPr id="15" name="TextBox 14"/>
          <p:cNvSpPr txBox="1"/>
          <p:nvPr/>
        </p:nvSpPr>
        <p:spPr>
          <a:xfrm>
            <a:off x="10378440" y="3246120"/>
            <a:ext cx="6583680" cy="320040"/>
          </a:xfrm>
          <a:prstGeom prst="rect">
            <a:avLst/>
          </a:prstGeom>
          <a:noFill/>
        </p:spPr>
        <p:txBody>
          <a:bodyPr wrap="square" lIns="0" rIns="0" tIns="0" bIns="0" anchor="t">
            <a:noAutofit/>
          </a:bodyPr>
          <a:lstStyle/>
          <a:p>
            <a:pPr algn="l">
              <a:lnSpc>
                <a:spcPct val="102000"/>
              </a:lnSpc>
              <a:spcBef>
                <a:spcPts val="0"/>
              </a:spcBef>
              <a:spcAft>
                <a:spcPts val="0"/>
              </a:spcAft>
            </a:pPr>
            <a:r>
              <a:rPr b="1" sz="1300" i="0">
                <a:solidFill>
                  <a:srgbClr val="B26A00"/>
                </a:solidFill>
                <a:latin typeface="Arial"/>
              </a:rPr>
              <a:t>PIÈGES</a:t>
            </a:r>
          </a:p>
        </p:txBody>
      </p:sp>
      <p:sp>
        <p:nvSpPr>
          <p:cNvPr id="16" name="TextBox 15"/>
          <p:cNvSpPr txBox="1"/>
          <p:nvPr/>
        </p:nvSpPr>
        <p:spPr>
          <a:xfrm>
            <a:off x="10378440" y="3703320"/>
            <a:ext cx="6537960" cy="3383280"/>
          </a:xfrm>
          <a:prstGeom prst="rect">
            <a:avLst/>
          </a:prstGeom>
          <a:noFill/>
        </p:spPr>
        <p:txBody>
          <a:bodyPr wrap="square" lIns="0" rIns="0" tIns="0" bIns="0">
            <a:noAutofit/>
          </a:bodyPr>
          <a:lstStyle/>
          <a:p>
            <a:pPr marL="274320" indent="-274320">
              <a:lnSpc>
                <a:spcPct val="102000"/>
              </a:lnSpc>
              <a:spcBef>
                <a:spcPts val="0"/>
              </a:spcBef>
              <a:spcAft>
                <a:spcPts val="720"/>
              </a:spcAft>
              <a:buClr>
                <a:srgbClr val="B26A00"/>
              </a:buClr>
              <a:buFont typeface="Arial"/>
              <a:buChar char="•"/>
            </a:pPr>
            <a:r>
              <a:rPr b="0" sz="1700" i="0">
                <a:solidFill>
                  <a:srgbClr val="093544"/>
                </a:solidFill>
                <a:latin typeface="Arial"/>
              </a:rPr>
              <a:t>Oublier </a:t>
            </a:r>
            <a:r>
              <a:rPr sz="1530" b="0" i="0">
                <a:solidFill>
                  <a:srgbClr val="ED1548"/>
                </a:solidFill>
                <a:latin typeface="Consolas"/>
              </a:rPr>
              <a:t>subscribe</a:t>
            </a:r>
            <a:r>
              <a:rPr b="0" sz="1700" i="0">
                <a:solidFill>
                  <a:srgbClr val="093544"/>
                </a:solidFill>
                <a:latin typeface="Arial"/>
              </a:rPr>
              <a:t>/</a:t>
            </a:r>
            <a:r>
              <a:rPr sz="1530" b="0" i="0">
                <a:solidFill>
                  <a:srgbClr val="ED1548"/>
                </a:solidFill>
                <a:latin typeface="Consolas"/>
              </a:rPr>
              <a:t>toSignal</a:t>
            </a:r>
            <a:r>
              <a:rPr b="0" sz="1700" i="0">
                <a:solidFill>
                  <a:srgbClr val="093544"/>
                </a:solidFill>
                <a:latin typeface="Arial"/>
              </a:rPr>
              <a:t> : aucune requête.</a:t>
            </a:r>
          </a:p>
          <a:p>
            <a:pPr marL="274320" indent="-274320">
              <a:lnSpc>
                <a:spcPct val="102000"/>
              </a:lnSpc>
              <a:spcBef>
                <a:spcPts val="0"/>
              </a:spcBef>
              <a:spcAft>
                <a:spcPts val="720"/>
              </a:spcAft>
              <a:buClr>
                <a:srgbClr val="B26A00"/>
              </a:buClr>
              <a:buFont typeface="Arial"/>
              <a:buChar char="•"/>
            </a:pPr>
            <a:r>
              <a:rPr sz="1530" b="0" i="0">
                <a:solidFill>
                  <a:srgbClr val="ED1548"/>
                </a:solidFill>
                <a:latin typeface="Consolas"/>
              </a:rPr>
              <a:t>mergeMap</a:t>
            </a:r>
            <a:r>
              <a:rPr b="0" sz="1700" i="0">
                <a:solidFill>
                  <a:srgbClr val="093544"/>
                </a:solidFill>
                <a:latin typeface="Arial"/>
              </a:rPr>
              <a:t> au lieu de </a:t>
            </a:r>
            <a:r>
              <a:rPr sz="1530" b="0" i="0">
                <a:solidFill>
                  <a:srgbClr val="ED1548"/>
                </a:solidFill>
                <a:latin typeface="Consolas"/>
              </a:rPr>
              <a:t>switchMap</a:t>
            </a:r>
            <a:r>
              <a:rPr b="0" sz="1700" i="0">
                <a:solidFill>
                  <a:srgbClr val="093544"/>
                </a:solidFill>
                <a:latin typeface="Arial"/>
              </a:rPr>
              <a:t> : réponses dans le désordre.</a:t>
            </a:r>
          </a:p>
          <a:p>
            <a:pPr marL="274320" indent="-274320">
              <a:lnSpc>
                <a:spcPct val="102000"/>
              </a:lnSpc>
              <a:spcBef>
                <a:spcPts val="0"/>
              </a:spcBef>
              <a:spcAft>
                <a:spcPts val="720"/>
              </a:spcAft>
              <a:buClr>
                <a:srgbClr val="B26A00"/>
              </a:buClr>
              <a:buFont typeface="Arial"/>
              <a:buChar char="•"/>
            </a:pPr>
            <a:r>
              <a:rPr b="0" sz="1700" i="0">
                <a:solidFill>
                  <a:srgbClr val="093544"/>
                </a:solidFill>
                <a:latin typeface="Arial"/>
              </a:rPr>
              <a:t>Formulaire non typé : </a:t>
            </a:r>
            <a:r>
              <a:rPr sz="1530" b="0" i="0">
                <a:solidFill>
                  <a:srgbClr val="ED1548"/>
                </a:solidFill>
                <a:latin typeface="Consolas"/>
              </a:rPr>
              <a:t>null</a:t>
            </a:r>
            <a:r>
              <a:rPr b="0" sz="1700" i="0">
                <a:solidFill>
                  <a:srgbClr val="093544"/>
                </a:solidFill>
                <a:latin typeface="Arial"/>
              </a:rPr>
              <a:t> et erreurs à l'exécution.</a:t>
            </a:r>
          </a:p>
          <a:p>
            <a:pPr marL="274320" indent="-274320">
              <a:lnSpc>
                <a:spcPct val="102000"/>
              </a:lnSpc>
              <a:spcBef>
                <a:spcPts val="0"/>
              </a:spcBef>
              <a:spcAft>
                <a:spcPts val="720"/>
              </a:spcAft>
              <a:buClr>
                <a:srgbClr val="B26A00"/>
              </a:buClr>
              <a:buFont typeface="Arial"/>
              <a:buChar char="•"/>
            </a:pPr>
            <a:r>
              <a:rPr sz="1530" b="0" i="0">
                <a:solidFill>
                  <a:srgbClr val="ED1548"/>
                </a:solidFill>
                <a:latin typeface="Consolas"/>
              </a:rPr>
              <a:t>path: '**'</a:t>
            </a:r>
            <a:r>
              <a:rPr b="0" sz="1700" i="0">
                <a:solidFill>
                  <a:srgbClr val="093544"/>
                </a:solidFill>
                <a:latin typeface="Arial"/>
              </a:rPr>
              <a:t> avant les routes lazy.</a:t>
            </a:r>
          </a:p>
        </p:txBody>
      </p:sp>
      <p:sp>
        <p:nvSpPr>
          <p:cNvPr id="17" name="Rounded Rectangle 16"/>
          <p:cNvSpPr/>
          <p:nvPr/>
        </p:nvSpPr>
        <p:spPr>
          <a:xfrm>
            <a:off x="2606040" y="7498079"/>
            <a:ext cx="14584680" cy="128016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8" name="Oval 17"/>
          <p:cNvSpPr/>
          <p:nvPr/>
        </p:nvSpPr>
        <p:spPr>
          <a:xfrm>
            <a:off x="2825496" y="7671815"/>
            <a:ext cx="82296" cy="82296"/>
          </a:xfrm>
          <a:prstGeom prst="ellipse">
            <a:avLst/>
          </a:prstGeom>
          <a:solidFill>
            <a:srgbClr val="ED1548"/>
          </a:solidFill>
          <a:ln>
            <a:noFill/>
          </a:ln>
          <a:effectLst/>
        </p:spPr>
        <p:txBody>
          <a:bodyPr rtlCol="0" anchor="ctr"/>
          <a:lstStyle/>
          <a:p>
            <a:pPr algn="ctr"/>
          </a:p>
        </p:txBody>
      </p:sp>
      <p:sp>
        <p:nvSpPr>
          <p:cNvPr id="19" name="TextBox 18"/>
          <p:cNvSpPr txBox="1"/>
          <p:nvPr/>
        </p:nvSpPr>
        <p:spPr>
          <a:xfrm>
            <a:off x="2990088" y="7607807"/>
            <a:ext cx="1408176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les commandes du jour</a:t>
            </a:r>
          </a:p>
        </p:txBody>
      </p:sp>
      <p:sp>
        <p:nvSpPr>
          <p:cNvPr id="20" name="TextBox 19"/>
          <p:cNvSpPr txBox="1"/>
          <p:nvPr/>
        </p:nvSpPr>
        <p:spPr>
          <a:xfrm>
            <a:off x="2852928" y="7973567"/>
            <a:ext cx="14264640" cy="640080"/>
          </a:xfrm>
          <a:prstGeom prst="rect">
            <a:avLst/>
          </a:prstGeom>
          <a:noFill/>
        </p:spPr>
        <p:txBody>
          <a:bodyPr wrap="none" lIns="0" rIns="0" tIns="0" bIns="0">
            <a:noAutofit/>
          </a:bodyPr>
          <a:lstStyle/>
          <a:p>
            <a:pPr>
              <a:lnSpc>
                <a:spcPct val="100000"/>
              </a:lnSpc>
              <a:spcBef>
                <a:spcPts val="0"/>
              </a:spcBef>
              <a:spcAft>
                <a:spcPts val="0"/>
              </a:spcAft>
            </a:pPr>
            <a:r>
              <a:rPr sz="1250">
                <a:solidFill>
                  <a:srgbClr val="EAF2F4"/>
                </a:solidFill>
                <a:latin typeface="Consolas"/>
              </a:rPr>
              <a:t>ng g s core/services/facture        </a:t>
            </a:r>
            <a:r>
              <a:rPr sz="1250" i="1">
                <a:solidFill>
                  <a:srgbClr val="7FA6B2"/>
                </a:solidFill>
                <a:latin typeface="Consolas"/>
              </a:rPr>
              <a:t># @Service() + inject(HttpClient)</a:t>
            </a:r>
          </a:p>
          <a:p>
            <a:pPr>
              <a:lnSpc>
                <a:spcPct val="100000"/>
              </a:lnSpc>
              <a:spcBef>
                <a:spcPts val="0"/>
              </a:spcBef>
              <a:spcAft>
                <a:spcPts val="0"/>
              </a:spcAft>
            </a:pPr>
            <a:r>
              <a:rPr sz="1250">
                <a:solidFill>
                  <a:srgbClr val="EAF2F4"/>
                </a:solidFill>
                <a:latin typeface="Consolas"/>
              </a:rPr>
              <a:t>ng g c features/factures/facture-form</a:t>
            </a:r>
          </a:p>
          <a:p>
            <a:pPr>
              <a:lnSpc>
                <a:spcPct val="100000"/>
              </a:lnSpc>
              <a:spcBef>
                <a:spcPts val="0"/>
              </a:spcBef>
              <a:spcAft>
                <a:spcPts val="0"/>
              </a:spcAft>
            </a:pPr>
            <a:r>
              <a:rPr sz="1250">
                <a:solidFill>
                  <a:srgbClr val="EAF2F4"/>
                </a:solidFill>
                <a:latin typeface="Consolas"/>
              </a:rPr>
              <a:t>ng g interceptor core/interceptors/error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a:xfrm>
            <a:off x="9966960" y="3383280"/>
            <a:ext cx="8046720" cy="2651760"/>
          </a:xfrm>
        </p:spPr>
        <p:txBody>
          <a:bodyPr wrap="square" anchor="b"/>
          <a:lstStyle/>
          <a:p>
            <a:pPr algn="l"/>
            <a:r>
              <a:rPr sz="8400" b="1">
                <a:solidFill>
                  <a:srgbClr val="FFFFFF"/>
                </a:solidFill>
                <a:latin typeface="Arial"/>
              </a:rPr>
              <a:t>Métier &amp; qualité</a:t>
            </a:r>
          </a:p>
        </p:txBody>
      </p:sp>
      <p:sp>
        <p:nvSpPr>
          <p:cNvPr id="3" name="Text Placeholder 2"/>
          <p:cNvSpPr>
            <a:spLocks noGrp="1"/>
          </p:cNvSpPr>
          <p:nvPr>
            <p:ph type="body" idx="11" sz="quarter"/>
          </p:nvPr>
        </p:nvSpPr>
        <p:spPr>
          <a:xfrm>
            <a:off x="9966960" y="6903720"/>
            <a:ext cx="7635240" cy="914400"/>
          </a:xfrm>
        </p:spPr>
        <p:txBody>
          <a:bodyPr wrap="square"/>
          <a:lstStyle/>
          <a:p>
            <a:pPr algn="l"/>
            <a:r>
              <a:rPr sz="2400" b="0">
                <a:solidFill>
                  <a:srgbClr val="F6D7DE"/>
                </a:solidFill>
                <a:latin typeface="Arial"/>
              </a:rPr>
              <a:t>Rapprochement · tests · E2E · sécurité · build</a:t>
            </a:r>
          </a:p>
        </p:txBody>
      </p:sp>
      <p:sp>
        <p:nvSpPr>
          <p:cNvPr id="4" name="TextBox 3"/>
          <p:cNvSpPr txBox="1"/>
          <p:nvPr/>
        </p:nvSpPr>
        <p:spPr>
          <a:xfrm>
            <a:off x="9966960" y="2788920"/>
            <a:ext cx="45720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3 / 3  ·  7 HEURES</a:t>
            </a:r>
          </a:p>
        </p:txBody>
      </p:sp>
      <p:sp>
        <p:nvSpPr>
          <p:cNvPr id="5" name="Rectangle 4"/>
          <p:cNvSpPr/>
          <p:nvPr/>
        </p:nvSpPr>
        <p:spPr>
          <a:xfrm>
            <a:off x="9966960" y="6601968"/>
            <a:ext cx="1828800" cy="41148"/>
          </a:xfrm>
          <a:prstGeom prst="rect">
            <a:avLst/>
          </a:prstGeom>
          <a:solidFill>
            <a:srgbClr val="ED1548"/>
          </a:solidFill>
          <a:ln>
            <a:noFill/>
          </a:ln>
          <a:effectLst/>
        </p:spPr>
        <p:txBody>
          <a:bodyPr rtlCol="0" anchor="ctr"/>
          <a:lstStyle/>
          <a:p>
            <a:pPr algn="ctr"/>
          </a:p>
        </p:txBody>
      </p:sp>
      <p:sp>
        <p:nvSpPr>
          <p:cNvPr id="6" name="Rounded Rectangle 5"/>
          <p:cNvSpPr/>
          <p:nvPr/>
        </p:nvSpPr>
        <p:spPr>
          <a:xfrm>
            <a:off x="9966960" y="8183879"/>
            <a:ext cx="2240280" cy="502920"/>
          </a:xfrm>
          <a:prstGeom prst="roundRect">
            <a:avLst>
              <a:gd name="adj" fmla="val 50000"/>
            </a:avLst>
          </a:prstGeom>
          <a:noFill/>
          <a:ln w="11430">
            <a:solidFill>
              <a:srgbClr val="FFFFFF"/>
            </a:solidFill>
          </a:ln>
          <a:effectLst/>
        </p:spPr>
        <p:txBody>
          <a:bodyPr rtlCol="0" anchor="ctr" lIns="0" rIns="0" tIns="0" bIns="0"/>
          <a:lstStyle/>
          <a:p>
            <a:pPr algn="ctr"/>
            <a:r>
              <a:rPr sz="1400" b="1">
                <a:solidFill>
                  <a:srgbClr val="FFFFFF"/>
                </a:solidFill>
                <a:latin typeface="Arial"/>
              </a:rPr>
              <a:t>Rapprochement</a:t>
            </a:r>
          </a:p>
        </p:txBody>
      </p:sp>
      <p:sp>
        <p:nvSpPr>
          <p:cNvPr id="7" name="Rounded Rectangle 6"/>
          <p:cNvSpPr/>
          <p:nvPr/>
        </p:nvSpPr>
        <p:spPr>
          <a:xfrm>
            <a:off x="12371832" y="8183879"/>
            <a:ext cx="2240280" cy="502920"/>
          </a:xfrm>
          <a:prstGeom prst="roundRect">
            <a:avLst>
              <a:gd name="adj" fmla="val 50000"/>
            </a:avLst>
          </a:prstGeom>
          <a:noFill/>
          <a:ln w="11430">
            <a:solidFill>
              <a:srgbClr val="FFFFFF"/>
            </a:solidFill>
          </a:ln>
          <a:effectLst/>
        </p:spPr>
        <p:txBody>
          <a:bodyPr rtlCol="0" anchor="ctr" lIns="0" rIns="0" tIns="0" bIns="0"/>
          <a:lstStyle/>
          <a:p>
            <a:pPr algn="ctr"/>
            <a:r>
              <a:rPr sz="1400" b="1">
                <a:solidFill>
                  <a:srgbClr val="FFFFFF"/>
                </a:solidFill>
                <a:latin typeface="Arial"/>
              </a:rPr>
              <a:t>Vitest</a:t>
            </a:r>
          </a:p>
        </p:txBody>
      </p:sp>
      <p:sp>
        <p:nvSpPr>
          <p:cNvPr id="8" name="Rounded Rectangle 7"/>
          <p:cNvSpPr/>
          <p:nvPr/>
        </p:nvSpPr>
        <p:spPr>
          <a:xfrm>
            <a:off x="14776704" y="8183879"/>
            <a:ext cx="2240280" cy="502920"/>
          </a:xfrm>
          <a:prstGeom prst="roundRect">
            <a:avLst>
              <a:gd name="adj" fmla="val 50000"/>
            </a:avLst>
          </a:prstGeom>
          <a:noFill/>
          <a:ln w="11430">
            <a:solidFill>
              <a:srgbClr val="FFFFFF"/>
            </a:solidFill>
          </a:ln>
          <a:effectLst/>
        </p:spPr>
        <p:txBody>
          <a:bodyPr rtlCol="0" anchor="ctr" lIns="0" rIns="0" tIns="0" bIns="0"/>
          <a:lstStyle/>
          <a:p>
            <a:pPr algn="ctr"/>
            <a:r>
              <a:rPr sz="1400" b="1">
                <a:solidFill>
                  <a:srgbClr val="FFFFFF"/>
                </a:solidFill>
                <a:latin typeface="Arial"/>
              </a:rPr>
              <a:t>Build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3  ·  OBJECTIFS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Décider, tester, livrer</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Rapprochement métier, qualité, sécurité et mise en production.</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40 / 62</a:t>
            </a:r>
          </a:p>
        </p:txBody>
      </p:sp>
      <p:sp>
        <p:nvSpPr>
          <p:cNvPr id="9" name="Rounded Rectangle 8"/>
          <p:cNvSpPr/>
          <p:nvPr/>
        </p:nvSpPr>
        <p:spPr>
          <a:xfrm>
            <a:off x="2606040" y="3108960"/>
            <a:ext cx="6720840" cy="1920240"/>
          </a:xfrm>
          <a:prstGeom prst="roundRect">
            <a:avLst>
              <a:gd name="adj" fmla="val 8000"/>
            </a:avLst>
          </a:prstGeom>
          <a:solidFill>
            <a:srgbClr val="FFF0F4"/>
          </a:solidFill>
          <a:ln>
            <a:noFill/>
          </a:ln>
          <a:effectLst/>
        </p:spPr>
        <p:txBody>
          <a:bodyPr rtlCol="0" anchor="ctr"/>
          <a:lstStyle/>
          <a:p>
            <a:pPr algn="ctr"/>
          </a:p>
        </p:txBody>
      </p:sp>
      <p:sp>
        <p:nvSpPr>
          <p:cNvPr id="10" name="Rectangle 9"/>
          <p:cNvSpPr/>
          <p:nvPr/>
        </p:nvSpPr>
        <p:spPr>
          <a:xfrm>
            <a:off x="2606040" y="3108960"/>
            <a:ext cx="64008" cy="1920240"/>
          </a:xfrm>
          <a:prstGeom prst="rect">
            <a:avLst/>
          </a:prstGeom>
          <a:solidFill>
            <a:srgbClr val="ED1548"/>
          </a:solidFill>
          <a:ln>
            <a:noFill/>
          </a:ln>
          <a:effectLst/>
        </p:spPr>
        <p:txBody>
          <a:bodyPr rtlCol="0" anchor="ctr"/>
          <a:lstStyle/>
          <a:p>
            <a:pPr algn="ctr"/>
          </a:p>
        </p:txBody>
      </p:sp>
      <p:sp>
        <p:nvSpPr>
          <p:cNvPr id="11" name="TextBox 10"/>
          <p:cNvSpPr txBox="1"/>
          <p:nvPr/>
        </p:nvSpPr>
        <p:spPr>
          <a:xfrm>
            <a:off x="2898648" y="3273552"/>
            <a:ext cx="6217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OBJECTIF DE FIN DE JOURNÉE</a:t>
            </a:r>
          </a:p>
        </p:txBody>
      </p:sp>
      <p:sp>
        <p:nvSpPr>
          <p:cNvPr id="12" name="TextBox 11"/>
          <p:cNvSpPr txBox="1"/>
          <p:nvPr/>
        </p:nvSpPr>
        <p:spPr>
          <a:xfrm>
            <a:off x="2898648" y="3566160"/>
            <a:ext cx="6172200" cy="1353312"/>
          </a:xfrm>
          <a:prstGeom prst="rect">
            <a:avLst/>
          </a:prstGeom>
          <a:noFill/>
        </p:spPr>
        <p:txBody>
          <a:bodyPr wrap="square" lIns="0" rIns="0" tIns="0" bIns="0" anchor="t">
            <a:noAutofit/>
          </a:bodyPr>
          <a:lstStyle/>
          <a:p>
            <a:pPr algn="l">
              <a:lnSpc>
                <a:spcPct val="106000"/>
              </a:lnSpc>
              <a:spcBef>
                <a:spcPts val="0"/>
              </a:spcBef>
              <a:spcAft>
                <a:spcPts val="0"/>
              </a:spcAft>
            </a:pPr>
            <a:r>
              <a:rPr b="0" sz="1600" i="0">
                <a:solidFill>
                  <a:srgbClr val="1B3B47"/>
                </a:solidFill>
                <a:latin typeface="Arial"/>
              </a:rPr>
              <a:t>Proposer des paiements candidats, valider un rapprochement, tester le métier et construire l'application pour la production.</a:t>
            </a:r>
          </a:p>
        </p:txBody>
      </p:sp>
      <p:sp>
        <p:nvSpPr>
          <p:cNvPr id="13" name="Rounded Rectangle 12"/>
          <p:cNvSpPr/>
          <p:nvPr/>
        </p:nvSpPr>
        <p:spPr>
          <a:xfrm>
            <a:off x="2606040" y="537667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14" name="TextBox 13"/>
          <p:cNvSpPr txBox="1"/>
          <p:nvPr/>
        </p:nvSpPr>
        <p:spPr>
          <a:xfrm>
            <a:off x="2971800" y="5349240"/>
            <a:ext cx="6355079" cy="251968"/>
          </a:xfrm>
          <a:prstGeom prst="rect">
            <a:avLst/>
          </a:prstGeom>
          <a:noFill/>
        </p:spPr>
        <p:txBody>
          <a:bodyPr wrap="square" lIns="0" rIns="0" tIns="0" bIns="0" anchor="t">
            <a:noAutofit/>
          </a:bodyPr>
          <a:lstStyle/>
          <a:p>
            <a:pPr algn="l">
              <a:lnSpc>
                <a:spcPct val="105000"/>
              </a:lnSpc>
              <a:spcBef>
                <a:spcPts val="0"/>
              </a:spcBef>
              <a:spcAft>
                <a:spcPts val="0"/>
              </a:spcAft>
            </a:pPr>
            <a:r>
              <a:rPr b="0" sz="1600" i="0">
                <a:solidFill>
                  <a:srgbClr val="1B3B47"/>
                </a:solidFill>
                <a:latin typeface="Arial"/>
              </a:rPr>
              <a:t>Un store de rapprochement à base de signals.</a:t>
            </a:r>
          </a:p>
        </p:txBody>
      </p:sp>
      <p:sp>
        <p:nvSpPr>
          <p:cNvPr id="15" name="Rounded Rectangle 14"/>
          <p:cNvSpPr/>
          <p:nvPr/>
        </p:nvSpPr>
        <p:spPr>
          <a:xfrm>
            <a:off x="2606040" y="570179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16" name="TextBox 15"/>
          <p:cNvSpPr txBox="1"/>
          <p:nvPr/>
        </p:nvSpPr>
        <p:spPr>
          <a:xfrm>
            <a:off x="2971800" y="5674359"/>
            <a:ext cx="6355079" cy="251968"/>
          </a:xfrm>
          <a:prstGeom prst="rect">
            <a:avLst/>
          </a:prstGeom>
          <a:noFill/>
        </p:spPr>
        <p:txBody>
          <a:bodyPr wrap="square" lIns="0" rIns="0" tIns="0" bIns="0" anchor="t">
            <a:noAutofit/>
          </a:bodyPr>
          <a:lstStyle/>
          <a:p>
            <a:pPr algn="l">
              <a:lnSpc>
                <a:spcPct val="105000"/>
              </a:lnSpc>
              <a:spcBef>
                <a:spcPts val="0"/>
              </a:spcBef>
              <a:spcAft>
                <a:spcPts val="0"/>
              </a:spcAft>
            </a:pPr>
            <a:r>
              <a:rPr b="0" sz="1600" i="0">
                <a:solidFill>
                  <a:srgbClr val="1B3B47"/>
                </a:solidFill>
                <a:latin typeface="Arial"/>
              </a:rPr>
              <a:t>Un scoring testé et une validation en deux PATCH.</a:t>
            </a:r>
          </a:p>
        </p:txBody>
      </p:sp>
      <p:sp>
        <p:nvSpPr>
          <p:cNvPr id="17" name="Rounded Rectangle 16"/>
          <p:cNvSpPr/>
          <p:nvPr/>
        </p:nvSpPr>
        <p:spPr>
          <a:xfrm>
            <a:off x="2606040" y="6026911"/>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18" name="TextBox 17"/>
          <p:cNvSpPr txBox="1"/>
          <p:nvPr/>
        </p:nvSpPr>
        <p:spPr>
          <a:xfrm>
            <a:off x="2971800" y="5999479"/>
            <a:ext cx="6355079" cy="251968"/>
          </a:xfrm>
          <a:prstGeom prst="rect">
            <a:avLst/>
          </a:prstGeom>
          <a:noFill/>
        </p:spPr>
        <p:txBody>
          <a:bodyPr wrap="square" lIns="0" rIns="0" tIns="0" bIns="0" anchor="t">
            <a:noAutofit/>
          </a:bodyPr>
          <a:lstStyle/>
          <a:p>
            <a:pPr algn="l">
              <a:lnSpc>
                <a:spcPct val="105000"/>
              </a:lnSpc>
              <a:spcBef>
                <a:spcPts val="0"/>
              </a:spcBef>
              <a:spcAft>
                <a:spcPts val="0"/>
              </a:spcAft>
            </a:pPr>
            <a:r>
              <a:rPr b="0" sz="1600" i="0">
                <a:solidFill>
                  <a:srgbClr val="1B3B47"/>
                </a:solidFill>
                <a:latin typeface="Arial"/>
              </a:rPr>
              <a:t>Des tests Vitest sur le métier, les pipes et le service.</a:t>
            </a:r>
          </a:p>
        </p:txBody>
      </p:sp>
      <p:sp>
        <p:nvSpPr>
          <p:cNvPr id="19" name="Rounded Rectangle 18"/>
          <p:cNvSpPr/>
          <p:nvPr/>
        </p:nvSpPr>
        <p:spPr>
          <a:xfrm>
            <a:off x="2606040" y="6352031"/>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0" name="TextBox 19"/>
          <p:cNvSpPr txBox="1"/>
          <p:nvPr/>
        </p:nvSpPr>
        <p:spPr>
          <a:xfrm>
            <a:off x="2971800" y="6324599"/>
            <a:ext cx="6355079" cy="251968"/>
          </a:xfrm>
          <a:prstGeom prst="rect">
            <a:avLst/>
          </a:prstGeom>
          <a:noFill/>
        </p:spPr>
        <p:txBody>
          <a:bodyPr wrap="square" lIns="0" rIns="0" tIns="0" bIns="0" anchor="t">
            <a:noAutofit/>
          </a:bodyPr>
          <a:lstStyle/>
          <a:p>
            <a:pPr algn="l">
              <a:lnSpc>
                <a:spcPct val="105000"/>
              </a:lnSpc>
              <a:spcBef>
                <a:spcPts val="0"/>
              </a:spcBef>
              <a:spcAft>
                <a:spcPts val="0"/>
              </a:spcAft>
            </a:pPr>
            <a:r>
              <a:rPr b="0" sz="1600" i="0">
                <a:solidFill>
                  <a:srgbClr val="1B3B47"/>
                </a:solidFill>
                <a:latin typeface="Arial"/>
              </a:rPr>
              <a:t>Un aperçu E2E sur le parcours critique.</a:t>
            </a:r>
          </a:p>
        </p:txBody>
      </p:sp>
      <p:sp>
        <p:nvSpPr>
          <p:cNvPr id="21" name="Rounded Rectangle 20"/>
          <p:cNvSpPr/>
          <p:nvPr/>
        </p:nvSpPr>
        <p:spPr>
          <a:xfrm>
            <a:off x="2606040" y="6677151"/>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2" name="TextBox 21"/>
          <p:cNvSpPr txBox="1"/>
          <p:nvPr/>
        </p:nvSpPr>
        <p:spPr>
          <a:xfrm>
            <a:off x="2971800" y="6649719"/>
            <a:ext cx="6355079" cy="251968"/>
          </a:xfrm>
          <a:prstGeom prst="rect">
            <a:avLst/>
          </a:prstGeom>
          <a:noFill/>
        </p:spPr>
        <p:txBody>
          <a:bodyPr wrap="square" lIns="0" rIns="0" tIns="0" bIns="0" anchor="t">
            <a:noAutofit/>
          </a:bodyPr>
          <a:lstStyle/>
          <a:p>
            <a:pPr algn="l">
              <a:lnSpc>
                <a:spcPct val="105000"/>
              </a:lnSpc>
              <a:spcBef>
                <a:spcPts val="0"/>
              </a:spcBef>
              <a:spcAft>
                <a:spcPts val="0"/>
              </a:spcAft>
            </a:pPr>
            <a:r>
              <a:rPr b="0" sz="1600" i="0">
                <a:solidFill>
                  <a:srgbClr val="1B3B47"/>
                </a:solidFill>
                <a:latin typeface="Arial"/>
              </a:rPr>
              <a:t>Un build de production et une doc générée.</a:t>
            </a:r>
          </a:p>
        </p:txBody>
      </p:sp>
      <p:sp>
        <p:nvSpPr>
          <p:cNvPr id="23" name="TextBox 22"/>
          <p:cNvSpPr txBox="1"/>
          <p:nvPr/>
        </p:nvSpPr>
        <p:spPr>
          <a:xfrm>
            <a:off x="9829800" y="3108960"/>
            <a:ext cx="722376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ED1548"/>
                </a:solidFill>
                <a:latin typeface="Arial"/>
              </a:rPr>
              <a:t>PLANNING INDICATIF</a:t>
            </a:r>
          </a:p>
        </p:txBody>
      </p:sp>
      <p:graphicFrame>
        <p:nvGraphicFramePr>
          <p:cNvPr id="24" name="Table 23"/>
          <p:cNvGraphicFramePr>
            <a:graphicFrameLocks noGrp="1"/>
          </p:cNvGraphicFramePr>
          <p:nvPr/>
        </p:nvGraphicFramePr>
        <p:xfrm>
          <a:off x="9829800" y="3493008"/>
          <a:ext cx="7269479" cy="4187952"/>
        </p:xfrm>
        <a:graphic>
          <a:graphicData uri="http://schemas.openxmlformats.org/drawingml/2006/table">
            <a:tbl>
              <a:tblPr>
                <a:tableStyleId>{5C22544A-7EE6-4342-B048-85BDC9FD1C3A}</a:tableStyleId>
              </a:tblPr>
              <a:tblGrid>
                <a:gridCol w="2308551"/>
                <a:gridCol w="4960928"/>
              </a:tblGrid>
              <a:tr h="438912">
                <a:tc>
                  <a:txBody>
                    <a:bodyPr wrap="square"/>
                    <a:lstStyle/>
                    <a:p>
                      <a:pPr algn="l">
                        <a:lnSpc>
                          <a:spcPct val="100000"/>
                        </a:lnSpc>
                      </a:pPr>
                      <a:r>
                        <a:rPr b="1" sz="1350" i="0">
                          <a:solidFill>
                            <a:srgbClr val="FFFFFF"/>
                          </a:solidFill>
                          <a:latin typeface="Arial"/>
                        </a:rPr>
                        <a:t>Horaire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350" i="0">
                          <a:solidFill>
                            <a:srgbClr val="FFFFFF"/>
                          </a:solidFill>
                          <a:latin typeface="Arial"/>
                        </a:rPr>
                        <a:t>Contenu</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r>
              <a:tr h="640080">
                <a:tc>
                  <a:txBody>
                    <a:bodyPr wrap="square"/>
                    <a:lstStyle/>
                    <a:p>
                      <a:pPr algn="l">
                        <a:lnSpc>
                          <a:spcPct val="100000"/>
                        </a:lnSpc>
                      </a:pPr>
                      <a:r>
                        <a:rPr b="0" sz="1400" i="0">
                          <a:solidFill>
                            <a:srgbClr val="1B3B47"/>
                          </a:solidFill>
                          <a:latin typeface="Arial"/>
                        </a:rPr>
                        <a:t>09:00 – 12:30</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400" i="0">
                          <a:solidFill>
                            <a:srgbClr val="1B3B47"/>
                          </a:solidFill>
                          <a:latin typeface="Arial"/>
                        </a:rPr>
                        <a:t>Écran de rapprochement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640080">
                <a:tc>
                  <a:txBody>
                    <a:bodyPr wrap="square"/>
                    <a:lstStyle/>
                    <a:p>
                      <a:pPr algn="l">
                        <a:lnSpc>
                          <a:spcPct val="100000"/>
                        </a:lnSpc>
                      </a:pPr>
                      <a:r>
                        <a:rPr b="0" sz="1400" i="0">
                          <a:solidFill>
                            <a:srgbClr val="1B3B47"/>
                          </a:solidFill>
                          <a:latin typeface="Arial"/>
                        </a:rPr>
                        <a:t>13:30 – 14:15</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400" i="0">
                          <a:solidFill>
                            <a:srgbClr val="1B3B47"/>
                          </a:solidFill>
                          <a:latin typeface="Arial"/>
                        </a:rPr>
                        <a:t>Guards, interceptors, erreurs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640080">
                <a:tc>
                  <a:txBody>
                    <a:bodyPr wrap="square"/>
                    <a:lstStyle/>
                    <a:p>
                      <a:pPr algn="l">
                        <a:lnSpc>
                          <a:spcPct val="100000"/>
                        </a:lnSpc>
                      </a:pPr>
                      <a:r>
                        <a:rPr b="0" sz="1400" i="0">
                          <a:solidFill>
                            <a:srgbClr val="1B3B47"/>
                          </a:solidFill>
                          <a:latin typeface="Arial"/>
                        </a:rPr>
                        <a:t>14:15 – 15:45</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400" i="0">
                          <a:solidFill>
                            <a:srgbClr val="1B3B47"/>
                          </a:solidFill>
                          <a:latin typeface="Arial"/>
                        </a:rPr>
                        <a:t>Tests unitaires Vitest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594360">
                <a:tc>
                  <a:txBody>
                    <a:bodyPr wrap="square"/>
                    <a:lstStyle/>
                    <a:p>
                      <a:pPr algn="l">
                        <a:lnSpc>
                          <a:spcPct val="100000"/>
                        </a:lnSpc>
                      </a:pPr>
                      <a:r>
                        <a:rPr b="0" sz="1400" i="0">
                          <a:solidFill>
                            <a:srgbClr val="1B3B47"/>
                          </a:solidFill>
                          <a:latin typeface="Arial"/>
                        </a:rPr>
                        <a:t>15:45 – 16:30</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400" i="0">
                          <a:solidFill>
                            <a:srgbClr val="1B3B47"/>
                          </a:solidFill>
                          <a:latin typeface="Arial"/>
                        </a:rPr>
                        <a:t>Aperçu E2E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594360">
                <a:tc>
                  <a:txBody>
                    <a:bodyPr wrap="square"/>
                    <a:lstStyle/>
                    <a:p>
                      <a:pPr algn="l">
                        <a:lnSpc>
                          <a:spcPct val="100000"/>
                        </a:lnSpc>
                      </a:pPr>
                      <a:r>
                        <a:rPr b="0" sz="1400" i="0">
                          <a:solidFill>
                            <a:srgbClr val="1B3B47"/>
                          </a:solidFill>
                          <a:latin typeface="Arial"/>
                        </a:rPr>
                        <a:t>16:30 – 17:15</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400" i="0">
                          <a:solidFill>
                            <a:srgbClr val="1B3B47"/>
                          </a:solidFill>
                          <a:latin typeface="Arial"/>
                        </a:rPr>
                        <a:t>Sécurité et performance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640080">
                <a:tc>
                  <a:txBody>
                    <a:bodyPr wrap="square"/>
                    <a:lstStyle/>
                    <a:p>
                      <a:pPr algn="l">
                        <a:lnSpc>
                          <a:spcPct val="100000"/>
                        </a:lnSpc>
                      </a:pPr>
                      <a:r>
                        <a:rPr b="0" sz="1400" i="0">
                          <a:solidFill>
                            <a:srgbClr val="1B3B47"/>
                          </a:solidFill>
                          <a:latin typeface="Arial"/>
                        </a:rPr>
                        <a:t>17:15 – 18:00</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400" i="0">
                          <a:solidFill>
                            <a:srgbClr val="1B3B47"/>
                          </a:solidFill>
                          <a:latin typeface="Arial"/>
                        </a:rPr>
                        <a:t>Doc, build, bilan</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bl>
          </a:graphicData>
        </a:graphic>
      </p:graphicFrame>
      <p:sp>
        <p:nvSpPr>
          <p:cNvPr id="25" name="Rounded Rectangle 24"/>
          <p:cNvSpPr/>
          <p:nvPr/>
        </p:nvSpPr>
        <p:spPr>
          <a:xfrm>
            <a:off x="9829800" y="8092440"/>
            <a:ext cx="7269480" cy="1143000"/>
          </a:xfrm>
          <a:prstGeom prst="roundRect">
            <a:avLst>
              <a:gd name="adj" fmla="val 8000"/>
            </a:avLst>
          </a:prstGeom>
          <a:solidFill>
            <a:srgbClr val="EBF6F8"/>
          </a:solidFill>
          <a:ln>
            <a:noFill/>
          </a:ln>
          <a:effectLst/>
        </p:spPr>
        <p:txBody>
          <a:bodyPr rtlCol="0" anchor="ctr"/>
          <a:lstStyle/>
          <a:p>
            <a:pPr algn="ctr"/>
          </a:p>
        </p:txBody>
      </p:sp>
      <p:sp>
        <p:nvSpPr>
          <p:cNvPr id="26" name="Rectangle 25"/>
          <p:cNvSpPr/>
          <p:nvPr/>
        </p:nvSpPr>
        <p:spPr>
          <a:xfrm>
            <a:off x="9829800" y="8092440"/>
            <a:ext cx="64008" cy="1143000"/>
          </a:xfrm>
          <a:prstGeom prst="rect">
            <a:avLst/>
          </a:prstGeom>
          <a:solidFill>
            <a:srgbClr val="0B4F6C"/>
          </a:solidFill>
          <a:ln>
            <a:noFill/>
          </a:ln>
          <a:effectLst/>
        </p:spPr>
        <p:txBody>
          <a:bodyPr rtlCol="0" anchor="ctr"/>
          <a:lstStyle/>
          <a:p>
            <a:pPr algn="ctr"/>
          </a:p>
        </p:txBody>
      </p:sp>
      <p:sp>
        <p:nvSpPr>
          <p:cNvPr id="27" name="TextBox 26"/>
          <p:cNvSpPr txBox="1"/>
          <p:nvPr/>
        </p:nvSpPr>
        <p:spPr>
          <a:xfrm>
            <a:off x="10122408" y="8257031"/>
            <a:ext cx="676656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LIVRABLE</a:t>
            </a:r>
          </a:p>
        </p:txBody>
      </p:sp>
      <p:sp>
        <p:nvSpPr>
          <p:cNvPr id="28" name="TextBox 27"/>
          <p:cNvSpPr txBox="1"/>
          <p:nvPr/>
        </p:nvSpPr>
        <p:spPr>
          <a:xfrm>
            <a:off x="10122408" y="8549640"/>
            <a:ext cx="6720840" cy="576072"/>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Un rapprochement validé, un litige traité, un dashboard à jour et une suite de tests verte.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3  ·  MÉTIER</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Le store de rapprochement</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Un état minimal, des dérivés calculés : aucune logique dans le template.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41 / 62</a:t>
            </a:r>
          </a:p>
        </p:txBody>
      </p:sp>
      <p:sp>
        <p:nvSpPr>
          <p:cNvPr id="9" name="Rounded Rectangle 8"/>
          <p:cNvSpPr/>
          <p:nvPr/>
        </p:nvSpPr>
        <p:spPr>
          <a:xfrm>
            <a:off x="2606040" y="3063240"/>
            <a:ext cx="9235440" cy="507492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p>
        </p:txBody>
      </p:sp>
      <p:sp>
        <p:nvSpPr>
          <p:cNvPr id="11" name="TextBox 10"/>
          <p:cNvSpPr txBox="1"/>
          <p:nvPr/>
        </p:nvSpPr>
        <p:spPr>
          <a:xfrm>
            <a:off x="2990088" y="3172968"/>
            <a:ext cx="859536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rapprochement-store.ts</a:t>
            </a:r>
          </a:p>
        </p:txBody>
      </p:sp>
      <p:sp>
        <p:nvSpPr>
          <p:cNvPr id="12" name="TextBox 11"/>
          <p:cNvSpPr txBox="1"/>
          <p:nvPr/>
        </p:nvSpPr>
        <p:spPr>
          <a:xfrm>
            <a:off x="2852928" y="3538728"/>
            <a:ext cx="8778240" cy="4434840"/>
          </a:xfrm>
          <a:prstGeom prst="rect">
            <a:avLst/>
          </a:prstGeom>
          <a:noFill/>
        </p:spPr>
        <p:txBody>
          <a:bodyPr wrap="none" lIns="0" rIns="0" tIns="0" bIns="0">
            <a:noAutofit/>
          </a:bodyPr>
          <a:lstStyle/>
          <a:p>
            <a:pPr>
              <a:lnSpc>
                <a:spcPct val="100000"/>
              </a:lnSpc>
              <a:spcBef>
                <a:spcPts val="0"/>
              </a:spcBef>
              <a:spcAft>
                <a:spcPts val="0"/>
              </a:spcAft>
            </a:pPr>
            <a:r>
              <a:rPr sz="1300">
                <a:solidFill>
                  <a:srgbClr val="FFD166"/>
                </a:solidFill>
                <a:latin typeface="Consolas"/>
              </a:rPr>
              <a:t>@Service</a:t>
            </a:r>
            <a:r>
              <a:rPr sz="1300">
                <a:solidFill>
                  <a:srgbClr val="EAF2F4"/>
                </a:solidFill>
                <a:latin typeface="Consolas"/>
              </a:rPr>
              <a:t>()</a:t>
            </a:r>
          </a:p>
          <a:p>
            <a:pPr>
              <a:lnSpc>
                <a:spcPct val="100000"/>
              </a:lnSpc>
              <a:spcBef>
                <a:spcPts val="0"/>
              </a:spcBef>
              <a:spcAft>
                <a:spcPts val="0"/>
              </a:spcAft>
            </a:pPr>
            <a:r>
              <a:rPr sz="1300">
                <a:solidFill>
                  <a:srgbClr val="7FD1E0"/>
                </a:solidFill>
                <a:latin typeface="Consolas"/>
              </a:rPr>
              <a:t>export</a:t>
            </a:r>
            <a:r>
              <a:rPr sz="1300">
                <a:solidFill>
                  <a:srgbClr val="EAF2F4"/>
                </a:solidFill>
                <a:latin typeface="Consolas"/>
              </a:rPr>
              <a:t> </a:t>
            </a:r>
            <a:r>
              <a:rPr sz="1300">
                <a:solidFill>
                  <a:srgbClr val="7FD1E0"/>
                </a:solidFill>
                <a:latin typeface="Consolas"/>
              </a:rPr>
              <a:t>class</a:t>
            </a:r>
            <a:r>
              <a:rPr sz="1300">
                <a:solidFill>
                  <a:srgbClr val="EAF2F4"/>
                </a:solidFill>
                <a:latin typeface="Consolas"/>
              </a:rPr>
              <a:t> RapprochementStore {</a:t>
            </a:r>
          </a:p>
          <a:p>
            <a:pPr>
              <a:lnSpc>
                <a:spcPct val="100000"/>
              </a:lnSpc>
              <a:spcBef>
                <a:spcPts val="0"/>
              </a:spcBef>
              <a:spcAft>
                <a:spcPts val="0"/>
              </a:spcAft>
            </a:pPr>
            <a:r>
              <a:rPr sz="1300">
                <a:solidFill>
                  <a:srgbClr val="EAF2F4"/>
                </a:solidFill>
                <a:latin typeface="Consolas"/>
              </a:rPr>
              <a:t>  factures  = signal&lt;Facture[]&gt;([]);</a:t>
            </a:r>
          </a:p>
          <a:p>
            <a:pPr>
              <a:lnSpc>
                <a:spcPct val="100000"/>
              </a:lnSpc>
              <a:spcBef>
                <a:spcPts val="0"/>
              </a:spcBef>
              <a:spcAft>
                <a:spcPts val="0"/>
              </a:spcAft>
            </a:pPr>
            <a:r>
              <a:rPr sz="1300">
                <a:solidFill>
                  <a:srgbClr val="EAF2F4"/>
                </a:solidFill>
                <a:latin typeface="Consolas"/>
              </a:rPr>
              <a:t>  paiements = signal&lt;Paiement[]&gt;([]);</a:t>
            </a:r>
          </a:p>
          <a:p>
            <a:pPr>
              <a:lnSpc>
                <a:spcPct val="100000"/>
              </a:lnSpc>
              <a:spcBef>
                <a:spcPts val="0"/>
              </a:spcBef>
              <a:spcAft>
                <a:spcPts val="0"/>
              </a:spcAft>
            </a:pPr>
            <a:r>
              <a:rPr sz="1300">
                <a:solidFill>
                  <a:srgbClr val="EAF2F4"/>
                </a:solidFill>
                <a:latin typeface="Consolas"/>
              </a:rPr>
              <a:t>  selection = signal&lt;Facture | </a:t>
            </a:r>
            <a:r>
              <a:rPr sz="1300">
                <a:solidFill>
                  <a:srgbClr val="7FD1E0"/>
                </a:solidFill>
                <a:latin typeface="Consolas"/>
              </a:rPr>
              <a:t>null</a:t>
            </a:r>
            <a:r>
              <a:rPr sz="1300">
                <a:solidFill>
                  <a:srgbClr val="EAF2F4"/>
                </a:solidFill>
                <a:latin typeface="Consolas"/>
              </a:rPr>
              <a:t>&gt;(</a:t>
            </a:r>
            <a:r>
              <a:rPr sz="1300">
                <a:solidFill>
                  <a:srgbClr val="7FD1E0"/>
                </a:solidFill>
                <a:latin typeface="Consolas"/>
              </a:rPr>
              <a:t>null</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tolerance = signal(</a:t>
            </a:r>
            <a:r>
              <a:rPr sz="1300">
                <a:solidFill>
                  <a:srgbClr val="FFD166"/>
                </a:solidFill>
                <a:latin typeface="Consolas"/>
              </a:rPr>
              <a:t>0.01</a:t>
            </a:r>
            <a:r>
              <a:rPr sz="1300">
                <a:solidFill>
                  <a:srgbClr val="EAF2F4"/>
                </a:solidFill>
                <a:latin typeface="Consolas"/>
              </a:rPr>
              <a:t>);</a:t>
            </a:r>
          </a:p>
          <a:p>
            <a:pPr>
              <a:lnSpc>
                <a:spcPct val="100000"/>
              </a:lnSpc>
              <a:spcBef>
                <a:spcPts val="0"/>
              </a:spcBef>
              <a:spcAft>
                <a:spcPts val="0"/>
              </a:spcAft>
            </a:pPr>
          </a:p>
          <a:p>
            <a:pPr>
              <a:lnSpc>
                <a:spcPct val="100000"/>
              </a:lnSpc>
              <a:spcBef>
                <a:spcPts val="0"/>
              </a:spcBef>
              <a:spcAft>
                <a:spcPts val="0"/>
              </a:spcAft>
            </a:pPr>
            <a:r>
              <a:rPr sz="1300">
                <a:solidFill>
                  <a:srgbClr val="EAF2F4"/>
                </a:solidFill>
                <a:latin typeface="Consolas"/>
              </a:rPr>
              <a:t>  candidats = computed(() =&gt; {</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const</a:t>
            </a:r>
            <a:r>
              <a:rPr sz="1300">
                <a:solidFill>
                  <a:srgbClr val="EAF2F4"/>
                </a:solidFill>
                <a:latin typeface="Consolas"/>
              </a:rPr>
              <a:t> f = </a:t>
            </a:r>
            <a:r>
              <a:rPr sz="1300">
                <a:solidFill>
                  <a:srgbClr val="7FD1E0"/>
                </a:solidFill>
                <a:latin typeface="Consolas"/>
              </a:rPr>
              <a:t>this</a:t>
            </a:r>
            <a:r>
              <a:rPr sz="1300">
                <a:solidFill>
                  <a:srgbClr val="EAF2F4"/>
                </a:solidFill>
                <a:latin typeface="Consolas"/>
              </a:rPr>
              <a:t>.selection();</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if</a:t>
            </a:r>
            <a:r>
              <a:rPr sz="1300">
                <a:solidFill>
                  <a:srgbClr val="EAF2F4"/>
                </a:solidFill>
                <a:latin typeface="Consolas"/>
              </a:rPr>
              <a:t> (!f) </a:t>
            </a:r>
            <a:r>
              <a:rPr sz="1300">
                <a:solidFill>
                  <a:srgbClr val="7FD1E0"/>
                </a:solidFill>
                <a:latin typeface="Consolas"/>
              </a:rPr>
              <a:t>return</a:t>
            </a: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return</a:t>
            </a:r>
            <a:r>
              <a:rPr sz="1300">
                <a:solidFill>
                  <a:srgbClr val="EAF2F4"/>
                </a:solidFill>
                <a:latin typeface="Consolas"/>
              </a:rPr>
              <a:t> </a:t>
            </a:r>
            <a:r>
              <a:rPr sz="1300">
                <a:solidFill>
                  <a:srgbClr val="7FD1E0"/>
                </a:solidFill>
                <a:latin typeface="Consolas"/>
              </a:rPr>
              <a:t>this</a:t>
            </a:r>
            <a:r>
              <a:rPr sz="1300">
                <a:solidFill>
                  <a:srgbClr val="EAF2F4"/>
                </a:solidFill>
                <a:latin typeface="Consolas"/>
              </a:rPr>
              <a:t>.paiements()</a:t>
            </a:r>
          </a:p>
          <a:p>
            <a:pPr>
              <a:lnSpc>
                <a:spcPct val="100000"/>
              </a:lnSpc>
              <a:spcBef>
                <a:spcPts val="0"/>
              </a:spcBef>
              <a:spcAft>
                <a:spcPts val="0"/>
              </a:spcAft>
            </a:pPr>
            <a:r>
              <a:rPr sz="1300">
                <a:solidFill>
                  <a:srgbClr val="EAF2F4"/>
                </a:solidFill>
                <a:latin typeface="Consolas"/>
              </a:rPr>
              <a:t>      .filter(p =&gt; p.factureId === </a:t>
            </a:r>
            <a:r>
              <a:rPr sz="1300">
                <a:solidFill>
                  <a:srgbClr val="7FD1E0"/>
                </a:solidFill>
                <a:latin typeface="Consolas"/>
              </a:rPr>
              <a:t>null</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.filter(p =&gt; Math.abs(p.montant - f.montantTTC)</a:t>
            </a:r>
          </a:p>
          <a:p>
            <a:pPr>
              <a:lnSpc>
                <a:spcPct val="100000"/>
              </a:lnSpc>
              <a:spcBef>
                <a:spcPts val="0"/>
              </a:spcBef>
              <a:spcAft>
                <a:spcPts val="0"/>
              </a:spcAft>
            </a:pPr>
            <a:r>
              <a:rPr sz="1300">
                <a:solidFill>
                  <a:srgbClr val="EAF2F4"/>
                </a:solidFill>
                <a:latin typeface="Consolas"/>
              </a:rPr>
              <a:t>                   &lt;= </a:t>
            </a:r>
            <a:r>
              <a:rPr sz="1300">
                <a:solidFill>
                  <a:srgbClr val="7FD1E0"/>
                </a:solidFill>
                <a:latin typeface="Consolas"/>
              </a:rPr>
              <a:t>this</a:t>
            </a:r>
            <a:r>
              <a:rPr sz="1300">
                <a:solidFill>
                  <a:srgbClr val="EAF2F4"/>
                </a:solidFill>
                <a:latin typeface="Consolas"/>
              </a:rPr>
              <a:t>.tolerance())</a:t>
            </a:r>
          </a:p>
          <a:p>
            <a:pPr>
              <a:lnSpc>
                <a:spcPct val="100000"/>
              </a:lnSpc>
              <a:spcBef>
                <a:spcPts val="0"/>
              </a:spcBef>
              <a:spcAft>
                <a:spcPts val="0"/>
              </a:spcAft>
            </a:pPr>
            <a:r>
              <a:rPr sz="1300">
                <a:solidFill>
                  <a:srgbClr val="EAF2F4"/>
                </a:solidFill>
                <a:latin typeface="Consolas"/>
              </a:rPr>
              <a:t>      .sort((a, b) =&gt; score(f, b) - score(f, a));</a:t>
            </a:r>
          </a:p>
          <a:p>
            <a:pPr>
              <a:lnSpc>
                <a:spcPct val="100000"/>
              </a:lnSpc>
              <a:spcBef>
                <a:spcPts val="0"/>
              </a:spcBef>
              <a:spcAft>
                <a:spcPts val="0"/>
              </a:spcAft>
            </a:pP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a:t>
            </a:r>
          </a:p>
        </p:txBody>
      </p:sp>
      <p:sp>
        <p:nvSpPr>
          <p:cNvPr id="13" name="Rounded Rectangle 12"/>
          <p:cNvSpPr/>
          <p:nvPr/>
        </p:nvSpPr>
        <p:spPr>
          <a:xfrm>
            <a:off x="12252960" y="3063240"/>
            <a:ext cx="4937760" cy="123444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4" name="Rectangle 13"/>
          <p:cNvSpPr/>
          <p:nvPr/>
        </p:nvSpPr>
        <p:spPr>
          <a:xfrm>
            <a:off x="12252960" y="3063240"/>
            <a:ext cx="4937760" cy="50292"/>
          </a:xfrm>
          <a:prstGeom prst="rect">
            <a:avLst/>
          </a:prstGeom>
          <a:solidFill>
            <a:srgbClr val="0B4F6C"/>
          </a:solidFill>
          <a:ln>
            <a:noFill/>
          </a:ln>
          <a:effectLst/>
        </p:spPr>
        <p:txBody>
          <a:bodyPr rtlCol="0" anchor="ctr"/>
          <a:lstStyle/>
          <a:p>
            <a:pPr algn="ctr"/>
          </a:p>
        </p:txBody>
      </p:sp>
      <p:sp>
        <p:nvSpPr>
          <p:cNvPr id="15" name="TextBox 14"/>
          <p:cNvSpPr txBox="1"/>
          <p:nvPr/>
        </p:nvSpPr>
        <p:spPr>
          <a:xfrm>
            <a:off x="12527280" y="3319272"/>
            <a:ext cx="4526280" cy="411480"/>
          </a:xfrm>
          <a:prstGeom prst="rect">
            <a:avLst/>
          </a:prstGeom>
          <a:noFill/>
        </p:spPr>
        <p:txBody>
          <a:bodyPr wrap="square" lIns="0" rIns="0" tIns="0" bIns="0" anchor="t">
            <a:noAutofit/>
          </a:bodyPr>
          <a:lstStyle/>
          <a:p>
            <a:pPr algn="l">
              <a:lnSpc>
                <a:spcPct val="102000"/>
              </a:lnSpc>
              <a:spcBef>
                <a:spcPts val="0"/>
              </a:spcBef>
              <a:spcAft>
                <a:spcPts val="0"/>
              </a:spcAft>
            </a:pPr>
            <a:r>
              <a:rPr b="1" sz="1500" i="0">
                <a:solidFill>
                  <a:srgbClr val="0B4F6C"/>
                </a:solidFill>
                <a:latin typeface="Arial"/>
              </a:rPr>
              <a:t>État</a:t>
            </a:r>
          </a:p>
        </p:txBody>
      </p:sp>
      <p:sp>
        <p:nvSpPr>
          <p:cNvPr id="16" name="TextBox 15"/>
          <p:cNvSpPr txBox="1"/>
          <p:nvPr/>
        </p:nvSpPr>
        <p:spPr>
          <a:xfrm>
            <a:off x="12527280" y="3758183"/>
            <a:ext cx="4526280" cy="365760"/>
          </a:xfrm>
          <a:prstGeom prst="rect">
            <a:avLst/>
          </a:prstGeom>
          <a:noFill/>
        </p:spPr>
        <p:txBody>
          <a:bodyPr wrap="square" lIns="0" rIns="0" tIns="0" bIns="0" anchor="t">
            <a:noAutofit/>
          </a:bodyPr>
          <a:lstStyle/>
          <a:p>
            <a:pPr algn="l">
              <a:lnSpc>
                <a:spcPct val="108000"/>
              </a:lnSpc>
              <a:spcBef>
                <a:spcPts val="0"/>
              </a:spcBef>
              <a:spcAft>
                <a:spcPts val="0"/>
              </a:spcAft>
            </a:pPr>
            <a:r>
              <a:rPr b="0" sz="1250" i="0">
                <a:solidFill>
                  <a:srgbClr val="1B3B47"/>
                </a:solidFill>
                <a:latin typeface="Arial"/>
              </a:rPr>
              <a:t>4 signals : factures, paiements, sélection, tolérance.</a:t>
            </a:r>
          </a:p>
        </p:txBody>
      </p:sp>
      <p:sp>
        <p:nvSpPr>
          <p:cNvPr id="17" name="Rounded Rectangle 16"/>
          <p:cNvSpPr/>
          <p:nvPr/>
        </p:nvSpPr>
        <p:spPr>
          <a:xfrm>
            <a:off x="12252960" y="4480560"/>
            <a:ext cx="4937760" cy="123444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8" name="Rectangle 17"/>
          <p:cNvSpPr/>
          <p:nvPr/>
        </p:nvSpPr>
        <p:spPr>
          <a:xfrm>
            <a:off x="12252960" y="4480560"/>
            <a:ext cx="4937760" cy="50292"/>
          </a:xfrm>
          <a:prstGeom prst="rect">
            <a:avLst/>
          </a:prstGeom>
          <a:solidFill>
            <a:srgbClr val="ED1548"/>
          </a:solidFill>
          <a:ln>
            <a:noFill/>
          </a:ln>
          <a:effectLst/>
        </p:spPr>
        <p:txBody>
          <a:bodyPr rtlCol="0" anchor="ctr"/>
          <a:lstStyle/>
          <a:p>
            <a:pPr algn="ctr"/>
          </a:p>
        </p:txBody>
      </p:sp>
      <p:sp>
        <p:nvSpPr>
          <p:cNvPr id="19" name="TextBox 18"/>
          <p:cNvSpPr txBox="1"/>
          <p:nvPr/>
        </p:nvSpPr>
        <p:spPr>
          <a:xfrm>
            <a:off x="12527280" y="4736592"/>
            <a:ext cx="4526280" cy="411480"/>
          </a:xfrm>
          <a:prstGeom prst="rect">
            <a:avLst/>
          </a:prstGeom>
          <a:noFill/>
        </p:spPr>
        <p:txBody>
          <a:bodyPr wrap="square" lIns="0" rIns="0" tIns="0" bIns="0" anchor="t">
            <a:noAutofit/>
          </a:bodyPr>
          <a:lstStyle/>
          <a:p>
            <a:pPr algn="l">
              <a:lnSpc>
                <a:spcPct val="102000"/>
              </a:lnSpc>
              <a:spcBef>
                <a:spcPts val="0"/>
              </a:spcBef>
              <a:spcAft>
                <a:spcPts val="0"/>
              </a:spcAft>
            </a:pPr>
            <a:r>
              <a:rPr b="1" sz="1500" i="0">
                <a:solidFill>
                  <a:srgbClr val="ED1548"/>
                </a:solidFill>
                <a:latin typeface="Arial"/>
              </a:rPr>
              <a:t>Dérivés</a:t>
            </a:r>
          </a:p>
        </p:txBody>
      </p:sp>
      <p:sp>
        <p:nvSpPr>
          <p:cNvPr id="20" name="TextBox 19"/>
          <p:cNvSpPr txBox="1"/>
          <p:nvPr/>
        </p:nvSpPr>
        <p:spPr>
          <a:xfrm>
            <a:off x="12527280" y="5175504"/>
            <a:ext cx="4526280" cy="365760"/>
          </a:xfrm>
          <a:prstGeom prst="rect">
            <a:avLst/>
          </a:prstGeom>
          <a:noFill/>
        </p:spPr>
        <p:txBody>
          <a:bodyPr wrap="square" lIns="0" rIns="0" tIns="0" bIns="0" anchor="t">
            <a:noAutofit/>
          </a:bodyPr>
          <a:lstStyle/>
          <a:p>
            <a:pPr algn="l">
              <a:lnSpc>
                <a:spcPct val="108000"/>
              </a:lnSpc>
              <a:spcBef>
                <a:spcPts val="0"/>
              </a:spcBef>
              <a:spcAft>
                <a:spcPts val="0"/>
              </a:spcAft>
            </a:pPr>
            <a:r>
              <a:rPr sz="1125" b="0" i="0">
                <a:solidFill>
                  <a:srgbClr val="ED1548"/>
                </a:solidFill>
                <a:latin typeface="Consolas"/>
              </a:rPr>
              <a:t>candidats</a:t>
            </a:r>
            <a:r>
              <a:rPr b="0" sz="1250" i="0">
                <a:solidFill>
                  <a:srgbClr val="1B3B47"/>
                </a:solidFill>
                <a:latin typeface="Arial"/>
              </a:rPr>
              <a:t> se recalcule quand une dépendance change.</a:t>
            </a:r>
          </a:p>
        </p:txBody>
      </p:sp>
      <p:sp>
        <p:nvSpPr>
          <p:cNvPr id="21" name="Rounded Rectangle 20"/>
          <p:cNvSpPr/>
          <p:nvPr/>
        </p:nvSpPr>
        <p:spPr>
          <a:xfrm>
            <a:off x="12252960" y="5897880"/>
            <a:ext cx="4937760" cy="123444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2" name="Rectangle 21"/>
          <p:cNvSpPr/>
          <p:nvPr/>
        </p:nvSpPr>
        <p:spPr>
          <a:xfrm>
            <a:off x="12252960" y="5897880"/>
            <a:ext cx="4937760" cy="50292"/>
          </a:xfrm>
          <a:prstGeom prst="rect">
            <a:avLst/>
          </a:prstGeom>
          <a:solidFill>
            <a:srgbClr val="0B4F6C"/>
          </a:solidFill>
          <a:ln>
            <a:noFill/>
          </a:ln>
          <a:effectLst/>
        </p:spPr>
        <p:txBody>
          <a:bodyPr rtlCol="0" anchor="ctr"/>
          <a:lstStyle/>
          <a:p>
            <a:pPr algn="ctr"/>
          </a:p>
        </p:txBody>
      </p:sp>
      <p:sp>
        <p:nvSpPr>
          <p:cNvPr id="23" name="TextBox 22"/>
          <p:cNvSpPr txBox="1"/>
          <p:nvPr/>
        </p:nvSpPr>
        <p:spPr>
          <a:xfrm>
            <a:off x="12527280" y="6153912"/>
            <a:ext cx="4526280" cy="411480"/>
          </a:xfrm>
          <a:prstGeom prst="rect">
            <a:avLst/>
          </a:prstGeom>
          <a:noFill/>
        </p:spPr>
        <p:txBody>
          <a:bodyPr wrap="square" lIns="0" rIns="0" tIns="0" bIns="0" anchor="t">
            <a:noAutofit/>
          </a:bodyPr>
          <a:lstStyle/>
          <a:p>
            <a:pPr algn="l">
              <a:lnSpc>
                <a:spcPct val="102000"/>
              </a:lnSpc>
              <a:spcBef>
                <a:spcPts val="0"/>
              </a:spcBef>
              <a:spcAft>
                <a:spcPts val="0"/>
              </a:spcAft>
            </a:pPr>
            <a:r>
              <a:rPr b="1" sz="1500" i="0">
                <a:solidFill>
                  <a:srgbClr val="0B4F6C"/>
                </a:solidFill>
                <a:latin typeface="Arial"/>
              </a:rPr>
              <a:t>Testable</a:t>
            </a:r>
          </a:p>
        </p:txBody>
      </p:sp>
      <p:sp>
        <p:nvSpPr>
          <p:cNvPr id="24" name="TextBox 23"/>
          <p:cNvSpPr txBox="1"/>
          <p:nvPr/>
        </p:nvSpPr>
        <p:spPr>
          <a:xfrm>
            <a:off x="12527280" y="6592824"/>
            <a:ext cx="4526280" cy="365760"/>
          </a:xfrm>
          <a:prstGeom prst="rect">
            <a:avLst/>
          </a:prstGeom>
          <a:noFill/>
        </p:spPr>
        <p:txBody>
          <a:bodyPr wrap="square" lIns="0" rIns="0" tIns="0" bIns="0" anchor="t">
            <a:noAutofit/>
          </a:bodyPr>
          <a:lstStyle/>
          <a:p>
            <a:pPr algn="l">
              <a:lnSpc>
                <a:spcPct val="108000"/>
              </a:lnSpc>
              <a:spcBef>
                <a:spcPts val="0"/>
              </a:spcBef>
              <a:spcAft>
                <a:spcPts val="0"/>
              </a:spcAft>
            </a:pPr>
            <a:r>
              <a:rPr b="0" sz="1250" i="0">
                <a:solidFill>
                  <a:srgbClr val="1B3B47"/>
                </a:solidFill>
                <a:latin typeface="Arial"/>
              </a:rPr>
              <a:t>Le scoring et les filtres se testent sans UI.</a:t>
            </a:r>
          </a:p>
        </p:txBody>
      </p:sp>
      <p:sp>
        <p:nvSpPr>
          <p:cNvPr id="25" name="Rounded Rectangle 24"/>
          <p:cNvSpPr/>
          <p:nvPr/>
        </p:nvSpPr>
        <p:spPr>
          <a:xfrm>
            <a:off x="12252960" y="7315200"/>
            <a:ext cx="4937760" cy="123444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6" name="Rectangle 25"/>
          <p:cNvSpPr/>
          <p:nvPr/>
        </p:nvSpPr>
        <p:spPr>
          <a:xfrm>
            <a:off x="12252960" y="7315200"/>
            <a:ext cx="4937760" cy="50292"/>
          </a:xfrm>
          <a:prstGeom prst="rect">
            <a:avLst/>
          </a:prstGeom>
          <a:solidFill>
            <a:srgbClr val="ED1548"/>
          </a:solidFill>
          <a:ln>
            <a:noFill/>
          </a:ln>
          <a:effectLst/>
        </p:spPr>
        <p:txBody>
          <a:bodyPr rtlCol="0" anchor="ctr"/>
          <a:lstStyle/>
          <a:p>
            <a:pPr algn="ctr"/>
          </a:p>
        </p:txBody>
      </p:sp>
      <p:sp>
        <p:nvSpPr>
          <p:cNvPr id="27" name="TextBox 26"/>
          <p:cNvSpPr txBox="1"/>
          <p:nvPr/>
        </p:nvSpPr>
        <p:spPr>
          <a:xfrm>
            <a:off x="12527280" y="7571231"/>
            <a:ext cx="4526280" cy="411480"/>
          </a:xfrm>
          <a:prstGeom prst="rect">
            <a:avLst/>
          </a:prstGeom>
          <a:noFill/>
        </p:spPr>
        <p:txBody>
          <a:bodyPr wrap="square" lIns="0" rIns="0" tIns="0" bIns="0" anchor="t">
            <a:noAutofit/>
          </a:bodyPr>
          <a:lstStyle/>
          <a:p>
            <a:pPr algn="l">
              <a:lnSpc>
                <a:spcPct val="102000"/>
              </a:lnSpc>
              <a:spcBef>
                <a:spcPts val="0"/>
              </a:spcBef>
              <a:spcAft>
                <a:spcPts val="0"/>
              </a:spcAft>
            </a:pPr>
            <a:r>
              <a:rPr b="1" sz="1500" i="0">
                <a:solidFill>
                  <a:srgbClr val="ED1548"/>
                </a:solidFill>
                <a:latin typeface="Arial"/>
              </a:rPr>
              <a:t>Sans bibliothèque</a:t>
            </a:r>
          </a:p>
        </p:txBody>
      </p:sp>
      <p:sp>
        <p:nvSpPr>
          <p:cNvPr id="28" name="TextBox 27"/>
          <p:cNvSpPr txBox="1"/>
          <p:nvPr/>
        </p:nvSpPr>
        <p:spPr>
          <a:xfrm>
            <a:off x="12527280" y="8010144"/>
            <a:ext cx="4526280" cy="365760"/>
          </a:xfrm>
          <a:prstGeom prst="rect">
            <a:avLst/>
          </a:prstGeom>
          <a:noFill/>
        </p:spPr>
        <p:txBody>
          <a:bodyPr wrap="square" lIns="0" rIns="0" tIns="0" bIns="0" anchor="t">
            <a:noAutofit/>
          </a:bodyPr>
          <a:lstStyle/>
          <a:p>
            <a:pPr algn="l">
              <a:lnSpc>
                <a:spcPct val="108000"/>
              </a:lnSpc>
              <a:spcBef>
                <a:spcPts val="0"/>
              </a:spcBef>
              <a:spcAft>
                <a:spcPts val="0"/>
              </a:spcAft>
            </a:pPr>
            <a:r>
              <a:rPr b="0" sz="1250" i="0">
                <a:solidFill>
                  <a:srgbClr val="1B3B47"/>
                </a:solidFill>
                <a:latin typeface="Arial"/>
              </a:rPr>
              <a:t>Pas besoin de NgRx pour ce périmètre.</a:t>
            </a:r>
          </a:p>
        </p:txBody>
      </p:sp>
      <p:sp>
        <p:nvSpPr>
          <p:cNvPr id="29" name="Rounded Rectangle 28"/>
          <p:cNvSpPr/>
          <p:nvPr/>
        </p:nvSpPr>
        <p:spPr>
          <a:xfrm>
            <a:off x="2606040" y="8778240"/>
            <a:ext cx="14584680" cy="731520"/>
          </a:xfrm>
          <a:prstGeom prst="roundRect">
            <a:avLst>
              <a:gd name="adj" fmla="val 8000"/>
            </a:avLst>
          </a:prstGeom>
          <a:solidFill>
            <a:srgbClr val="FFF0F4"/>
          </a:solidFill>
          <a:ln>
            <a:noFill/>
          </a:ln>
          <a:effectLst/>
        </p:spPr>
        <p:txBody>
          <a:bodyPr rtlCol="0" anchor="ctr"/>
          <a:lstStyle/>
          <a:p>
            <a:pPr algn="ctr"/>
          </a:p>
        </p:txBody>
      </p:sp>
      <p:sp>
        <p:nvSpPr>
          <p:cNvPr id="30" name="Rectangle 29"/>
          <p:cNvSpPr/>
          <p:nvPr/>
        </p:nvSpPr>
        <p:spPr>
          <a:xfrm>
            <a:off x="2606040" y="8778240"/>
            <a:ext cx="64008" cy="731520"/>
          </a:xfrm>
          <a:prstGeom prst="rect">
            <a:avLst/>
          </a:prstGeom>
          <a:solidFill>
            <a:srgbClr val="ED1548"/>
          </a:solidFill>
          <a:ln>
            <a:noFill/>
          </a:ln>
          <a:effectLst/>
        </p:spPr>
        <p:txBody>
          <a:bodyPr rtlCol="0" anchor="ctr"/>
          <a:lstStyle/>
          <a:p>
            <a:pPr algn="ctr"/>
          </a:p>
        </p:txBody>
      </p:sp>
      <p:sp>
        <p:nvSpPr>
          <p:cNvPr id="31" name="TextBox 30"/>
          <p:cNvSpPr txBox="1"/>
          <p:nvPr/>
        </p:nvSpPr>
        <p:spPr>
          <a:xfrm>
            <a:off x="2898648" y="8942832"/>
            <a:ext cx="14081759"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RÈGLE</a:t>
            </a:r>
          </a:p>
        </p:txBody>
      </p:sp>
      <p:sp>
        <p:nvSpPr>
          <p:cNvPr id="32" name="TextBox 31"/>
          <p:cNvSpPr txBox="1"/>
          <p:nvPr/>
        </p:nvSpPr>
        <p:spPr>
          <a:xfrm>
            <a:off x="2898648" y="9235440"/>
            <a:ext cx="14036040" cy="164592"/>
          </a:xfrm>
          <a:prstGeom prst="rect">
            <a:avLst/>
          </a:prstGeom>
          <a:noFill/>
        </p:spPr>
        <p:txBody>
          <a:bodyPr wrap="square" lIns="0" rIns="0" tIns="0" bIns="0" anchor="t">
            <a:noAutofit/>
          </a:bodyPr>
          <a:lstStyle/>
          <a:p>
            <a:pPr algn="l">
              <a:lnSpc>
                <a:spcPct val="106000"/>
              </a:lnSpc>
              <a:spcBef>
                <a:spcPts val="0"/>
              </a:spcBef>
              <a:spcAft>
                <a:spcPts val="0"/>
              </a:spcAft>
            </a:pPr>
            <a:r>
              <a:rPr b="0" sz="1100" i="0">
                <a:solidFill>
                  <a:srgbClr val="1B3B47"/>
                </a:solidFill>
                <a:latin typeface="Arial"/>
              </a:rPr>
              <a:t>Le template lit </a:t>
            </a:r>
            <a:r>
              <a:rPr sz="1000" b="0" i="0">
                <a:solidFill>
                  <a:srgbClr val="ED1548"/>
                </a:solidFill>
                <a:latin typeface="Consolas"/>
              </a:rPr>
              <a:t>candidats()</a:t>
            </a:r>
            <a:r>
              <a:rPr b="0" sz="1100" i="0">
                <a:solidFill>
                  <a:srgbClr val="1B3B47"/>
                </a:solidFill>
                <a:latin typeface="Arial"/>
              </a:rPr>
              <a:t> et affiche ; il ne filtre pas, ne trie pas, ne calcule pas.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3  ·  SCORING</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Scorer les paiements candidats</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Une règle métier explicite, testable, à discuter avec le métier.</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42 / 62</a:t>
            </a:r>
          </a:p>
        </p:txBody>
      </p:sp>
      <p:graphicFrame>
        <p:nvGraphicFramePr>
          <p:cNvPr id="9" name="Table 8"/>
          <p:cNvGraphicFramePr>
            <a:graphicFrameLocks noGrp="1"/>
          </p:cNvGraphicFramePr>
          <p:nvPr/>
        </p:nvGraphicFramePr>
        <p:xfrm>
          <a:off x="2606040" y="3063240"/>
          <a:ext cx="6995160" cy="2706624"/>
        </p:xfrm>
        <a:graphic>
          <a:graphicData uri="http://schemas.openxmlformats.org/drawingml/2006/table">
            <a:tbl>
              <a:tblPr>
                <a:tableStyleId>{5C22544A-7EE6-4342-B048-85BDC9FD1C3A}</a:tableStyleId>
              </a:tblPr>
              <a:tblGrid>
                <a:gridCol w="5074920"/>
                <a:gridCol w="1920240"/>
              </a:tblGrid>
              <a:tr h="438912">
                <a:tc>
                  <a:txBody>
                    <a:bodyPr wrap="square"/>
                    <a:lstStyle/>
                    <a:p>
                      <a:pPr algn="l">
                        <a:lnSpc>
                          <a:spcPct val="100000"/>
                        </a:lnSpc>
                      </a:pPr>
                      <a:r>
                        <a:rPr b="1" sz="1400" i="0">
                          <a:solidFill>
                            <a:srgbClr val="FFFFFF"/>
                          </a:solidFill>
                          <a:latin typeface="Arial"/>
                        </a:rPr>
                        <a:t>Règle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400" i="0">
                          <a:solidFill>
                            <a:srgbClr val="FFFFFF"/>
                          </a:solidFill>
                          <a:latin typeface="Arial"/>
                        </a:rPr>
                        <a:t>Points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r>
              <a:tr h="566928">
                <a:tc>
                  <a:txBody>
                    <a:bodyPr wrap="square"/>
                    <a:lstStyle/>
                    <a:p>
                      <a:pPr algn="l">
                        <a:lnSpc>
                          <a:spcPct val="100000"/>
                        </a:lnSpc>
                      </a:pPr>
                      <a:r>
                        <a:rPr b="0" sz="1500" i="0">
                          <a:solidFill>
                            <a:srgbClr val="1B3B47"/>
                          </a:solidFill>
                          <a:latin typeface="Arial"/>
                        </a:rPr>
                        <a:t>Montant = TTC (± tolérance)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500" i="0">
                          <a:solidFill>
                            <a:srgbClr val="1B3B47"/>
                          </a:solidFill>
                          <a:latin typeface="Arial"/>
                        </a:rPr>
                        <a:t>+50</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566928">
                <a:tc>
                  <a:txBody>
                    <a:bodyPr wrap="square"/>
                    <a:lstStyle/>
                    <a:p>
                      <a:pPr algn="l">
                        <a:lnSpc>
                          <a:spcPct val="100000"/>
                        </a:lnSpc>
                      </a:pPr>
                      <a:r>
                        <a:rPr b="0" sz="1500" i="0">
                          <a:solidFill>
                            <a:srgbClr val="1B3B47"/>
                          </a:solidFill>
                          <a:latin typeface="Arial"/>
                        </a:rPr>
                        <a:t>Libellé contient le numéro</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500" i="0">
                          <a:solidFill>
                            <a:srgbClr val="1B3B47"/>
                          </a:solidFill>
                          <a:latin typeface="Arial"/>
                        </a:rPr>
                        <a:t>+30</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566928">
                <a:tc>
                  <a:txBody>
                    <a:bodyPr wrap="square"/>
                    <a:lstStyle/>
                    <a:p>
                      <a:pPr algn="l">
                        <a:lnSpc>
                          <a:spcPct val="100000"/>
                        </a:lnSpc>
                      </a:pPr>
                      <a:r>
                        <a:rPr b="0" sz="1500" i="0">
                          <a:solidFill>
                            <a:srgbClr val="1B3B47"/>
                          </a:solidFill>
                          <a:latin typeface="Arial"/>
                        </a:rPr>
                        <a:t>IBAN = fournisseur</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500" i="0">
                          <a:solidFill>
                            <a:srgbClr val="1B3B47"/>
                          </a:solidFill>
                          <a:latin typeface="Arial"/>
                        </a:rPr>
                        <a:t>+20</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566928">
                <a:tc>
                  <a:txBody>
                    <a:bodyPr wrap="square"/>
                    <a:lstStyle/>
                    <a:p>
                      <a:pPr algn="l">
                        <a:lnSpc>
                          <a:spcPct val="100000"/>
                        </a:lnSpc>
                      </a:pPr>
                      <a:r>
                        <a:rPr b="0" sz="1500" i="0">
                          <a:solidFill>
                            <a:srgbClr val="1B3B47"/>
                          </a:solidFill>
                          <a:latin typeface="Arial"/>
                        </a:rPr>
                        <a:t>Écart avec l'échéance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500" i="0">
                          <a:solidFill>
                            <a:srgbClr val="1B3B47"/>
                          </a:solidFill>
                          <a:latin typeface="Arial"/>
                        </a:rPr>
                        <a:t>−1 / jour</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bl>
          </a:graphicData>
        </a:graphic>
      </p:graphicFrame>
      <p:sp>
        <p:nvSpPr>
          <p:cNvPr id="10" name="Rounded Rectangle 9"/>
          <p:cNvSpPr/>
          <p:nvPr/>
        </p:nvSpPr>
        <p:spPr>
          <a:xfrm>
            <a:off x="10058400" y="3063240"/>
            <a:ext cx="7132320" cy="416052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1" name="Oval 10"/>
          <p:cNvSpPr/>
          <p:nvPr/>
        </p:nvSpPr>
        <p:spPr>
          <a:xfrm>
            <a:off x="10277856" y="3236976"/>
            <a:ext cx="82296" cy="82296"/>
          </a:xfrm>
          <a:prstGeom prst="ellipse">
            <a:avLst/>
          </a:prstGeom>
          <a:solidFill>
            <a:srgbClr val="ED1548"/>
          </a:solidFill>
          <a:ln>
            <a:noFill/>
          </a:ln>
          <a:effectLst/>
        </p:spPr>
        <p:txBody>
          <a:bodyPr rtlCol="0" anchor="ctr"/>
          <a:lstStyle/>
          <a:p>
            <a:pPr algn="ctr"/>
          </a:p>
        </p:txBody>
      </p:sp>
      <p:sp>
        <p:nvSpPr>
          <p:cNvPr id="12" name="TextBox 11"/>
          <p:cNvSpPr txBox="1"/>
          <p:nvPr/>
        </p:nvSpPr>
        <p:spPr>
          <a:xfrm>
            <a:off x="10442448" y="3172968"/>
            <a:ext cx="662940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rapprochement.utils.ts</a:t>
            </a:r>
          </a:p>
        </p:txBody>
      </p:sp>
      <p:sp>
        <p:nvSpPr>
          <p:cNvPr id="13" name="TextBox 12"/>
          <p:cNvSpPr txBox="1"/>
          <p:nvPr/>
        </p:nvSpPr>
        <p:spPr>
          <a:xfrm>
            <a:off x="10305288" y="3538728"/>
            <a:ext cx="6812280" cy="3520439"/>
          </a:xfrm>
          <a:prstGeom prst="rect">
            <a:avLst/>
          </a:prstGeom>
          <a:noFill/>
        </p:spPr>
        <p:txBody>
          <a:bodyPr wrap="none" lIns="0" rIns="0" tIns="0" bIns="0">
            <a:noAutofit/>
          </a:bodyPr>
          <a:lstStyle/>
          <a:p>
            <a:pPr>
              <a:lnSpc>
                <a:spcPct val="100000"/>
              </a:lnSpc>
              <a:spcBef>
                <a:spcPts val="0"/>
              </a:spcBef>
              <a:spcAft>
                <a:spcPts val="0"/>
              </a:spcAft>
            </a:pPr>
            <a:r>
              <a:rPr sz="1300">
                <a:solidFill>
                  <a:srgbClr val="7FD1E0"/>
                </a:solidFill>
                <a:latin typeface="Consolas"/>
              </a:rPr>
              <a:t>export</a:t>
            </a:r>
            <a:r>
              <a:rPr sz="1300">
                <a:solidFill>
                  <a:srgbClr val="EAF2F4"/>
                </a:solidFill>
                <a:latin typeface="Consolas"/>
              </a:rPr>
              <a:t> </a:t>
            </a:r>
            <a:r>
              <a:rPr sz="1300">
                <a:solidFill>
                  <a:srgbClr val="7FD1E0"/>
                </a:solidFill>
                <a:latin typeface="Consolas"/>
              </a:rPr>
              <a:t>function</a:t>
            </a:r>
            <a:r>
              <a:rPr sz="1300">
                <a:solidFill>
                  <a:srgbClr val="EAF2F4"/>
                </a:solidFill>
                <a:latin typeface="Consolas"/>
              </a:rPr>
              <a:t> score(f: Facture, p: Paiement): number {</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let</a:t>
            </a:r>
            <a:r>
              <a:rPr sz="1300">
                <a:solidFill>
                  <a:srgbClr val="EAF2F4"/>
                </a:solidFill>
                <a:latin typeface="Consolas"/>
              </a:rPr>
              <a:t> s = </a:t>
            </a:r>
            <a:r>
              <a:rPr sz="1300">
                <a:solidFill>
                  <a:srgbClr val="FFD166"/>
                </a:solidFill>
                <a:latin typeface="Consolas"/>
              </a:rPr>
              <a:t>0</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if</a:t>
            </a:r>
            <a:r>
              <a:rPr sz="1300">
                <a:solidFill>
                  <a:srgbClr val="EAF2F4"/>
                </a:solidFill>
                <a:latin typeface="Consolas"/>
              </a:rPr>
              <a:t> (Math.abs(p.montant - f.montantTTC) &lt;= </a:t>
            </a:r>
            <a:r>
              <a:rPr sz="1300">
                <a:solidFill>
                  <a:srgbClr val="FFD166"/>
                </a:solidFill>
                <a:latin typeface="Consolas"/>
              </a:rPr>
              <a:t>0.01</a:t>
            </a:r>
            <a:r>
              <a:rPr sz="1300">
                <a:solidFill>
                  <a:srgbClr val="EAF2F4"/>
                </a:solidFill>
                <a:latin typeface="Consolas"/>
              </a:rPr>
              <a:t>) s += </a:t>
            </a:r>
            <a:r>
              <a:rPr sz="1300">
                <a:solidFill>
                  <a:srgbClr val="FFD166"/>
                </a:solidFill>
                <a:latin typeface="Consolas"/>
              </a:rPr>
              <a:t>50</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if</a:t>
            </a:r>
            <a:r>
              <a:rPr sz="1300">
                <a:solidFill>
                  <a:srgbClr val="EAF2F4"/>
                </a:solidFill>
                <a:latin typeface="Consolas"/>
              </a:rPr>
              <a:t> (p.label.includes(f.numero)) s += </a:t>
            </a:r>
            <a:r>
              <a:rPr sz="1300">
                <a:solidFill>
                  <a:srgbClr val="FFD166"/>
                </a:solidFill>
                <a:latin typeface="Consolas"/>
              </a:rPr>
              <a:t>30</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if</a:t>
            </a:r>
            <a:r>
              <a:rPr sz="1300">
                <a:solidFill>
                  <a:srgbClr val="EAF2F4"/>
                </a:solidFill>
                <a:latin typeface="Consolas"/>
              </a:rPr>
              <a:t> (p.iban === f.fournisseurIban) s += </a:t>
            </a:r>
            <a:r>
              <a:rPr sz="1300">
                <a:solidFill>
                  <a:srgbClr val="FFD166"/>
                </a:solidFill>
                <a:latin typeface="Consolas"/>
              </a:rPr>
              <a:t>20</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s -= Math.abs(joursEntre(p.date, f.dateEcheance));</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return</a:t>
            </a:r>
            <a:r>
              <a:rPr sz="1300">
                <a:solidFill>
                  <a:srgbClr val="EAF2F4"/>
                </a:solidFill>
                <a:latin typeface="Consolas"/>
              </a:rPr>
              <a:t> s;</a:t>
            </a:r>
          </a:p>
          <a:p>
            <a:pPr>
              <a:lnSpc>
                <a:spcPct val="100000"/>
              </a:lnSpc>
              <a:spcBef>
                <a:spcPts val="0"/>
              </a:spcBef>
              <a:spcAft>
                <a:spcPts val="0"/>
              </a:spcAft>
            </a:pPr>
            <a:r>
              <a:rPr sz="1300">
                <a:solidFill>
                  <a:srgbClr val="EAF2F4"/>
                </a:solidFill>
                <a:latin typeface="Consolas"/>
              </a:rPr>
              <a:t>}</a:t>
            </a:r>
          </a:p>
        </p:txBody>
      </p:sp>
      <p:sp>
        <p:nvSpPr>
          <p:cNvPr id="14" name="TextBox 13"/>
          <p:cNvSpPr txBox="1"/>
          <p:nvPr/>
        </p:nvSpPr>
        <p:spPr>
          <a:xfrm>
            <a:off x="2606040" y="6172200"/>
            <a:ext cx="6995160" cy="731520"/>
          </a:xfrm>
          <a:prstGeom prst="rect">
            <a:avLst/>
          </a:prstGeom>
          <a:noFill/>
        </p:spPr>
        <p:txBody>
          <a:bodyPr wrap="square" lIns="0" rIns="0" tIns="0" bIns="0" anchor="t">
            <a:noAutofit/>
          </a:bodyPr>
          <a:lstStyle/>
          <a:p>
            <a:pPr algn="l">
              <a:lnSpc>
                <a:spcPct val="102000"/>
              </a:lnSpc>
              <a:spcBef>
                <a:spcPts val="0"/>
              </a:spcBef>
              <a:spcAft>
                <a:spcPts val="0"/>
              </a:spcAft>
            </a:pPr>
            <a:r>
              <a:rPr b="0" sz="1350" i="0">
                <a:solidFill>
                  <a:srgbClr val="5C6E76"/>
                </a:solidFill>
                <a:latin typeface="Arial"/>
              </a:rPr>
              <a:t>Une fonction pure : mêmes entrées, même sortie, aucun accès réseau. C'est le premier candidat au test unitaire.</a:t>
            </a:r>
          </a:p>
        </p:txBody>
      </p:sp>
      <p:sp>
        <p:nvSpPr>
          <p:cNvPr id="15" name="Rounded Rectangle 14"/>
          <p:cNvSpPr/>
          <p:nvPr/>
        </p:nvSpPr>
        <p:spPr>
          <a:xfrm>
            <a:off x="2606040" y="7589520"/>
            <a:ext cx="4572000" cy="160020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6" name="Rectangle 15"/>
          <p:cNvSpPr/>
          <p:nvPr/>
        </p:nvSpPr>
        <p:spPr>
          <a:xfrm>
            <a:off x="2606040" y="7589520"/>
            <a:ext cx="54864" cy="1600200"/>
          </a:xfrm>
          <a:prstGeom prst="rect">
            <a:avLst/>
          </a:prstGeom>
          <a:solidFill>
            <a:srgbClr val="1E8E5A"/>
          </a:solidFill>
          <a:ln>
            <a:noFill/>
          </a:ln>
          <a:effectLst/>
        </p:spPr>
        <p:txBody>
          <a:bodyPr rtlCol="0" anchor="ctr"/>
          <a:lstStyle/>
          <a:p>
            <a:pPr algn="ctr"/>
          </a:p>
        </p:txBody>
      </p:sp>
      <p:sp>
        <p:nvSpPr>
          <p:cNvPr id="17" name="TextBox 16"/>
          <p:cNvSpPr txBox="1"/>
          <p:nvPr/>
        </p:nvSpPr>
        <p:spPr>
          <a:xfrm>
            <a:off x="2834640" y="7708392"/>
            <a:ext cx="27432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1E8E5A"/>
                </a:solidFill>
                <a:latin typeface="Arial"/>
              </a:rPr>
              <a:t>Paiement A</a:t>
            </a:r>
          </a:p>
        </p:txBody>
      </p:sp>
      <p:sp>
        <p:nvSpPr>
          <p:cNvPr id="18" name="TextBox 17"/>
          <p:cNvSpPr txBox="1"/>
          <p:nvPr/>
        </p:nvSpPr>
        <p:spPr>
          <a:xfrm>
            <a:off x="5349240" y="7653527"/>
            <a:ext cx="1600200" cy="365760"/>
          </a:xfrm>
          <a:prstGeom prst="rect">
            <a:avLst/>
          </a:prstGeom>
          <a:noFill/>
        </p:spPr>
        <p:txBody>
          <a:bodyPr wrap="square" lIns="0" rIns="0" tIns="0" bIns="0" anchor="t">
            <a:noAutofit/>
          </a:bodyPr>
          <a:lstStyle/>
          <a:p>
            <a:pPr algn="r">
              <a:lnSpc>
                <a:spcPct val="102000"/>
              </a:lnSpc>
              <a:spcBef>
                <a:spcPts val="0"/>
              </a:spcBef>
              <a:spcAft>
                <a:spcPts val="0"/>
              </a:spcAft>
            </a:pPr>
            <a:r>
              <a:rPr b="1" sz="1700" i="0">
                <a:solidFill>
                  <a:srgbClr val="1E8E5A"/>
                </a:solidFill>
                <a:latin typeface="Arial"/>
              </a:rPr>
              <a:t>100 / 100</a:t>
            </a:r>
          </a:p>
        </p:txBody>
      </p:sp>
      <p:sp>
        <p:nvSpPr>
          <p:cNvPr id="19" name="TextBox 18"/>
          <p:cNvSpPr txBox="1"/>
          <p:nvPr/>
        </p:nvSpPr>
        <p:spPr>
          <a:xfrm>
            <a:off x="2834640" y="8092440"/>
            <a:ext cx="4114800" cy="822960"/>
          </a:xfrm>
          <a:prstGeom prst="rect">
            <a:avLst/>
          </a:prstGeom>
          <a:noFill/>
        </p:spPr>
        <p:txBody>
          <a:bodyPr wrap="square" lIns="0" rIns="0" tIns="0" bIns="0" anchor="t">
            <a:noAutofit/>
          </a:bodyPr>
          <a:lstStyle/>
          <a:p>
            <a:pPr algn="l">
              <a:lnSpc>
                <a:spcPct val="105000"/>
              </a:lnSpc>
              <a:spcBef>
                <a:spcPts val="0"/>
              </a:spcBef>
              <a:spcAft>
                <a:spcPts val="0"/>
              </a:spcAft>
            </a:pPr>
            <a:r>
              <a:rPr b="0" sz="1150" i="0">
                <a:solidFill>
                  <a:srgbClr val="5C6E76"/>
                </a:solidFill>
                <a:latin typeface="Arial"/>
              </a:rPr>
              <a:t>Montant exact, libellé et IBANOK, 0 jour.</a:t>
            </a:r>
          </a:p>
        </p:txBody>
      </p:sp>
      <p:sp>
        <p:nvSpPr>
          <p:cNvPr id="20" name="Rounded Rectangle 19"/>
          <p:cNvSpPr/>
          <p:nvPr/>
        </p:nvSpPr>
        <p:spPr>
          <a:xfrm>
            <a:off x="7680960" y="7589520"/>
            <a:ext cx="4572000" cy="160020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1" name="Rectangle 20"/>
          <p:cNvSpPr/>
          <p:nvPr/>
        </p:nvSpPr>
        <p:spPr>
          <a:xfrm>
            <a:off x="7680960" y="7589520"/>
            <a:ext cx="54864" cy="1600200"/>
          </a:xfrm>
          <a:prstGeom prst="rect">
            <a:avLst/>
          </a:prstGeom>
          <a:solidFill>
            <a:srgbClr val="D98200"/>
          </a:solidFill>
          <a:ln>
            <a:noFill/>
          </a:ln>
          <a:effectLst/>
        </p:spPr>
        <p:txBody>
          <a:bodyPr rtlCol="0" anchor="ctr"/>
          <a:lstStyle/>
          <a:p>
            <a:pPr algn="ctr"/>
          </a:p>
        </p:txBody>
      </p:sp>
      <p:sp>
        <p:nvSpPr>
          <p:cNvPr id="22" name="TextBox 21"/>
          <p:cNvSpPr txBox="1"/>
          <p:nvPr/>
        </p:nvSpPr>
        <p:spPr>
          <a:xfrm>
            <a:off x="7909560" y="7708392"/>
            <a:ext cx="27432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D98200"/>
                </a:solidFill>
                <a:latin typeface="Arial"/>
              </a:rPr>
              <a:t>Paiement B</a:t>
            </a:r>
          </a:p>
        </p:txBody>
      </p:sp>
      <p:sp>
        <p:nvSpPr>
          <p:cNvPr id="23" name="TextBox 22"/>
          <p:cNvSpPr txBox="1"/>
          <p:nvPr/>
        </p:nvSpPr>
        <p:spPr>
          <a:xfrm>
            <a:off x="10424160" y="7653527"/>
            <a:ext cx="1600200" cy="365760"/>
          </a:xfrm>
          <a:prstGeom prst="rect">
            <a:avLst/>
          </a:prstGeom>
          <a:noFill/>
        </p:spPr>
        <p:txBody>
          <a:bodyPr wrap="square" lIns="0" rIns="0" tIns="0" bIns="0" anchor="t">
            <a:noAutofit/>
          </a:bodyPr>
          <a:lstStyle/>
          <a:p>
            <a:pPr algn="r">
              <a:lnSpc>
                <a:spcPct val="102000"/>
              </a:lnSpc>
              <a:spcBef>
                <a:spcPts val="0"/>
              </a:spcBef>
              <a:spcAft>
                <a:spcPts val="0"/>
              </a:spcAft>
            </a:pPr>
            <a:r>
              <a:rPr b="1" sz="1700" i="0">
                <a:solidFill>
                  <a:srgbClr val="D98200"/>
                </a:solidFill>
                <a:latin typeface="Arial"/>
              </a:rPr>
              <a:t>68 / 100</a:t>
            </a:r>
          </a:p>
        </p:txBody>
      </p:sp>
      <p:sp>
        <p:nvSpPr>
          <p:cNvPr id="24" name="TextBox 23"/>
          <p:cNvSpPr txBox="1"/>
          <p:nvPr/>
        </p:nvSpPr>
        <p:spPr>
          <a:xfrm>
            <a:off x="7909560" y="8092440"/>
            <a:ext cx="4114800" cy="822960"/>
          </a:xfrm>
          <a:prstGeom prst="rect">
            <a:avLst/>
          </a:prstGeom>
          <a:noFill/>
        </p:spPr>
        <p:txBody>
          <a:bodyPr wrap="square" lIns="0" rIns="0" tIns="0" bIns="0" anchor="t">
            <a:noAutofit/>
          </a:bodyPr>
          <a:lstStyle/>
          <a:p>
            <a:pPr algn="l">
              <a:lnSpc>
                <a:spcPct val="105000"/>
              </a:lnSpc>
              <a:spcBef>
                <a:spcPts val="0"/>
              </a:spcBef>
              <a:spcAft>
                <a:spcPts val="0"/>
              </a:spcAft>
            </a:pPr>
            <a:r>
              <a:rPr b="0" sz="1150" i="0">
                <a:solidFill>
                  <a:srgbClr val="5C6E76"/>
                </a:solidFill>
                <a:latin typeface="Arial"/>
              </a:rPr>
              <a:t>Écart 0,01 €, pas de numéro, IBAN OK, 2 jours.</a:t>
            </a:r>
          </a:p>
        </p:txBody>
      </p:sp>
      <p:sp>
        <p:nvSpPr>
          <p:cNvPr id="25" name="Rounded Rectangle 24"/>
          <p:cNvSpPr/>
          <p:nvPr/>
        </p:nvSpPr>
        <p:spPr>
          <a:xfrm>
            <a:off x="12755880" y="7589520"/>
            <a:ext cx="4434840" cy="160020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6" name="Rectangle 25"/>
          <p:cNvSpPr/>
          <p:nvPr/>
        </p:nvSpPr>
        <p:spPr>
          <a:xfrm>
            <a:off x="12755880" y="7589520"/>
            <a:ext cx="54864" cy="1600200"/>
          </a:xfrm>
          <a:prstGeom prst="rect">
            <a:avLst/>
          </a:prstGeom>
          <a:solidFill>
            <a:srgbClr val="ED1548"/>
          </a:solidFill>
          <a:ln>
            <a:noFill/>
          </a:ln>
          <a:effectLst/>
        </p:spPr>
        <p:txBody>
          <a:bodyPr rtlCol="0" anchor="ctr"/>
          <a:lstStyle/>
          <a:p>
            <a:pPr algn="ctr"/>
          </a:p>
        </p:txBody>
      </p:sp>
      <p:sp>
        <p:nvSpPr>
          <p:cNvPr id="27" name="TextBox 26"/>
          <p:cNvSpPr txBox="1"/>
          <p:nvPr/>
        </p:nvSpPr>
        <p:spPr>
          <a:xfrm>
            <a:off x="12984480" y="7708392"/>
            <a:ext cx="27432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ED1548"/>
                </a:solidFill>
                <a:latin typeface="Arial"/>
              </a:rPr>
              <a:t>Paiement C</a:t>
            </a:r>
          </a:p>
        </p:txBody>
      </p:sp>
      <p:sp>
        <p:nvSpPr>
          <p:cNvPr id="28" name="TextBox 27"/>
          <p:cNvSpPr txBox="1"/>
          <p:nvPr/>
        </p:nvSpPr>
        <p:spPr>
          <a:xfrm>
            <a:off x="15499080" y="7653527"/>
            <a:ext cx="1600200" cy="365760"/>
          </a:xfrm>
          <a:prstGeom prst="rect">
            <a:avLst/>
          </a:prstGeom>
          <a:noFill/>
        </p:spPr>
        <p:txBody>
          <a:bodyPr wrap="square" lIns="0" rIns="0" tIns="0" bIns="0" anchor="t">
            <a:noAutofit/>
          </a:bodyPr>
          <a:lstStyle/>
          <a:p>
            <a:pPr algn="r">
              <a:lnSpc>
                <a:spcPct val="102000"/>
              </a:lnSpc>
              <a:spcBef>
                <a:spcPts val="0"/>
              </a:spcBef>
              <a:spcAft>
                <a:spcPts val="0"/>
              </a:spcAft>
            </a:pPr>
            <a:r>
              <a:rPr b="1" sz="1700" i="0">
                <a:solidFill>
                  <a:srgbClr val="ED1548"/>
                </a:solidFill>
                <a:latin typeface="Arial"/>
              </a:rPr>
              <a:t>70 / 100</a:t>
            </a:r>
          </a:p>
        </p:txBody>
      </p:sp>
      <p:sp>
        <p:nvSpPr>
          <p:cNvPr id="29" name="TextBox 28"/>
          <p:cNvSpPr txBox="1"/>
          <p:nvPr/>
        </p:nvSpPr>
        <p:spPr>
          <a:xfrm>
            <a:off x="12984480" y="8092440"/>
            <a:ext cx="4114800" cy="822960"/>
          </a:xfrm>
          <a:prstGeom prst="rect">
            <a:avLst/>
          </a:prstGeom>
          <a:noFill/>
        </p:spPr>
        <p:txBody>
          <a:bodyPr wrap="square" lIns="0" rIns="0" tIns="0" bIns="0" anchor="t">
            <a:noAutofit/>
          </a:bodyPr>
          <a:lstStyle/>
          <a:p>
            <a:pPr algn="l">
              <a:lnSpc>
                <a:spcPct val="105000"/>
              </a:lnSpc>
              <a:spcBef>
                <a:spcPts val="0"/>
              </a:spcBef>
              <a:spcAft>
                <a:spcPts val="0"/>
              </a:spcAft>
            </a:pPr>
            <a:r>
              <a:rPr b="0" sz="1150" i="0">
                <a:solidFill>
                  <a:srgbClr val="5C6E76"/>
                </a:solidFill>
                <a:latin typeface="Arial"/>
              </a:rPr>
              <a:t>Montant et numéro OK, IBAN absent, 10 jours.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3  ·  VALIDATION</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Valider un rapprochement en deux PATCH</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La facture et le paiement doivent être mis à jour ensemble.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43 / 62</a:t>
            </a:r>
          </a:p>
        </p:txBody>
      </p:sp>
      <p:sp>
        <p:nvSpPr>
          <p:cNvPr id="9" name="Rounded Rectangle 8"/>
          <p:cNvSpPr/>
          <p:nvPr/>
        </p:nvSpPr>
        <p:spPr>
          <a:xfrm>
            <a:off x="2606040" y="3017520"/>
            <a:ext cx="3383280" cy="1143000"/>
          </a:xfrm>
          <a:prstGeom prst="roundRect">
            <a:avLst>
              <a:gd name="adj" fmla="val 8000"/>
            </a:avLst>
          </a:prstGeom>
          <a:solidFill>
            <a:srgbClr val="FFFFFF"/>
          </a:solidFill>
          <a:ln w="9525">
            <a:solidFill>
              <a:srgbClr val="E0E6E8"/>
            </a:solidFill>
          </a:ln>
          <a:effectLst/>
        </p:spPr>
        <p:txBody>
          <a:bodyPr rtlCol="0" anchor="ctr"/>
          <a:lstStyle/>
          <a:p>
            <a:pPr algn="ctr"/>
          </a:p>
        </p:txBody>
      </p:sp>
      <p:sp>
        <p:nvSpPr>
          <p:cNvPr id="10" name="Rectangle 9"/>
          <p:cNvSpPr/>
          <p:nvPr/>
        </p:nvSpPr>
        <p:spPr>
          <a:xfrm>
            <a:off x="2606040" y="3017520"/>
            <a:ext cx="54864" cy="1143000"/>
          </a:xfrm>
          <a:prstGeom prst="rect">
            <a:avLst/>
          </a:prstGeom>
          <a:solidFill>
            <a:srgbClr val="0B4F6C"/>
          </a:solidFill>
          <a:ln>
            <a:noFill/>
          </a:ln>
          <a:effectLst/>
        </p:spPr>
        <p:txBody>
          <a:bodyPr rtlCol="0" anchor="ctr"/>
          <a:lstStyle/>
          <a:p>
            <a:pPr algn="ctr"/>
          </a:p>
        </p:txBody>
      </p:sp>
      <p:sp>
        <p:nvSpPr>
          <p:cNvPr id="11" name="TextBox 10"/>
          <p:cNvSpPr txBox="1"/>
          <p:nvPr/>
        </p:nvSpPr>
        <p:spPr>
          <a:xfrm>
            <a:off x="2834640" y="3182112"/>
            <a:ext cx="2926080" cy="274320"/>
          </a:xfrm>
          <a:prstGeom prst="rect">
            <a:avLst/>
          </a:prstGeom>
          <a:noFill/>
        </p:spPr>
        <p:txBody>
          <a:bodyPr wrap="square" lIns="0" rIns="0" tIns="0" bIns="0" anchor="t">
            <a:noAutofit/>
          </a:bodyPr>
          <a:lstStyle/>
          <a:p>
            <a:pPr algn="l">
              <a:lnSpc>
                <a:spcPct val="102000"/>
              </a:lnSpc>
              <a:spcBef>
                <a:spcPts val="0"/>
              </a:spcBef>
              <a:spcAft>
                <a:spcPts val="0"/>
              </a:spcAft>
            </a:pPr>
            <a:r>
              <a:rPr b="1" sz="1500" i="0">
                <a:solidFill>
                  <a:srgbClr val="0B4F6C"/>
                </a:solidFill>
                <a:latin typeface="Arial"/>
              </a:rPr>
              <a:t>UI</a:t>
            </a:r>
          </a:p>
        </p:txBody>
      </p:sp>
      <p:sp>
        <p:nvSpPr>
          <p:cNvPr id="12" name="TextBox 11"/>
          <p:cNvSpPr txBox="1"/>
          <p:nvPr/>
        </p:nvSpPr>
        <p:spPr>
          <a:xfrm>
            <a:off x="2834640" y="3520439"/>
            <a:ext cx="2926080" cy="411480"/>
          </a:xfrm>
          <a:prstGeom prst="rect">
            <a:avLst/>
          </a:prstGeom>
          <a:noFill/>
        </p:spPr>
        <p:txBody>
          <a:bodyPr wrap="square" lIns="0" rIns="0" tIns="0" bIns="0" anchor="t">
            <a:noAutofit/>
          </a:bodyPr>
          <a:lstStyle/>
          <a:p>
            <a:pPr algn="l">
              <a:lnSpc>
                <a:spcPct val="102000"/>
              </a:lnSpc>
              <a:spcBef>
                <a:spcPts val="0"/>
              </a:spcBef>
              <a:spcAft>
                <a:spcPts val="0"/>
              </a:spcAft>
            </a:pPr>
            <a:r>
              <a:rPr b="0" sz="1150" i="0">
                <a:solidFill>
                  <a:srgbClr val="5C6E76"/>
                </a:solidFill>
                <a:latin typeface="Arial"/>
              </a:rPr>
              <a:t>bouton « Valider »</a:t>
            </a:r>
          </a:p>
        </p:txBody>
      </p:sp>
      <p:cxnSp>
        <p:nvCxnSpPr>
          <p:cNvPr id="13" name="Connector 12"/>
          <p:cNvCxnSpPr/>
          <p:nvPr/>
        </p:nvCxnSpPr>
        <p:spPr>
          <a:xfrm>
            <a:off x="6035040" y="3584448"/>
            <a:ext cx="365760" cy="0"/>
          </a:xfrm>
          <a:prstGeom prst="line">
            <a:avLst/>
          </a:prstGeom>
          <a:ln w="17780">
            <a:solidFill>
              <a:srgbClr val="8A9A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446520" y="3017520"/>
            <a:ext cx="3383280" cy="1143000"/>
          </a:xfrm>
          <a:prstGeom prst="roundRect">
            <a:avLst>
              <a:gd name="adj" fmla="val 8000"/>
            </a:avLst>
          </a:prstGeom>
          <a:solidFill>
            <a:srgbClr val="FFFFFF"/>
          </a:solidFill>
          <a:ln w="9525">
            <a:solidFill>
              <a:srgbClr val="E0E6E8"/>
            </a:solidFill>
          </a:ln>
          <a:effectLst/>
        </p:spPr>
        <p:txBody>
          <a:bodyPr rtlCol="0" anchor="ctr"/>
          <a:lstStyle/>
          <a:p>
            <a:pPr algn="ctr"/>
          </a:p>
        </p:txBody>
      </p:sp>
      <p:sp>
        <p:nvSpPr>
          <p:cNvPr id="15" name="Rectangle 14"/>
          <p:cNvSpPr/>
          <p:nvPr/>
        </p:nvSpPr>
        <p:spPr>
          <a:xfrm>
            <a:off x="6446520" y="3017520"/>
            <a:ext cx="54864" cy="1143000"/>
          </a:xfrm>
          <a:prstGeom prst="rect">
            <a:avLst/>
          </a:prstGeom>
          <a:solidFill>
            <a:srgbClr val="ED1548"/>
          </a:solidFill>
          <a:ln>
            <a:noFill/>
          </a:ln>
          <a:effectLst/>
        </p:spPr>
        <p:txBody>
          <a:bodyPr rtlCol="0" anchor="ctr"/>
          <a:lstStyle/>
          <a:p>
            <a:pPr algn="ctr"/>
          </a:p>
        </p:txBody>
      </p:sp>
      <p:sp>
        <p:nvSpPr>
          <p:cNvPr id="16" name="TextBox 15"/>
          <p:cNvSpPr txBox="1"/>
          <p:nvPr/>
        </p:nvSpPr>
        <p:spPr>
          <a:xfrm>
            <a:off x="6675120" y="3182112"/>
            <a:ext cx="2926080" cy="274320"/>
          </a:xfrm>
          <a:prstGeom prst="rect">
            <a:avLst/>
          </a:prstGeom>
          <a:noFill/>
        </p:spPr>
        <p:txBody>
          <a:bodyPr wrap="square" lIns="0" rIns="0" tIns="0" bIns="0" anchor="t">
            <a:noAutofit/>
          </a:bodyPr>
          <a:lstStyle/>
          <a:p>
            <a:pPr algn="l">
              <a:lnSpc>
                <a:spcPct val="102000"/>
              </a:lnSpc>
              <a:spcBef>
                <a:spcPts val="0"/>
              </a:spcBef>
              <a:spcAft>
                <a:spcPts val="0"/>
              </a:spcAft>
            </a:pPr>
            <a:r>
              <a:rPr b="1" sz="1500" i="0">
                <a:solidFill>
                  <a:srgbClr val="ED1548"/>
                </a:solidFill>
                <a:latin typeface="Arial"/>
              </a:rPr>
              <a:t>Store</a:t>
            </a:r>
          </a:p>
        </p:txBody>
      </p:sp>
      <p:sp>
        <p:nvSpPr>
          <p:cNvPr id="17" name="TextBox 16"/>
          <p:cNvSpPr txBox="1"/>
          <p:nvPr/>
        </p:nvSpPr>
        <p:spPr>
          <a:xfrm>
            <a:off x="6675120" y="3520439"/>
            <a:ext cx="2926080" cy="411480"/>
          </a:xfrm>
          <a:prstGeom prst="rect">
            <a:avLst/>
          </a:prstGeom>
          <a:noFill/>
        </p:spPr>
        <p:txBody>
          <a:bodyPr wrap="square" lIns="0" rIns="0" tIns="0" bIns="0" anchor="t">
            <a:noAutofit/>
          </a:bodyPr>
          <a:lstStyle/>
          <a:p>
            <a:pPr algn="l">
              <a:lnSpc>
                <a:spcPct val="102000"/>
              </a:lnSpc>
              <a:spcBef>
                <a:spcPts val="0"/>
              </a:spcBef>
              <a:spcAft>
                <a:spcPts val="0"/>
              </a:spcAft>
            </a:pPr>
            <a:r>
              <a:rPr b="0" sz="1150" i="0">
                <a:solidFill>
                  <a:srgbClr val="5C6E76"/>
                </a:solidFill>
                <a:latin typeface="Arial"/>
              </a:rPr>
              <a:t>met à jour les signals</a:t>
            </a:r>
          </a:p>
        </p:txBody>
      </p:sp>
      <p:cxnSp>
        <p:nvCxnSpPr>
          <p:cNvPr id="18" name="Connector 17"/>
          <p:cNvCxnSpPr/>
          <p:nvPr/>
        </p:nvCxnSpPr>
        <p:spPr>
          <a:xfrm>
            <a:off x="9875520" y="3584448"/>
            <a:ext cx="365760" cy="0"/>
          </a:xfrm>
          <a:prstGeom prst="line">
            <a:avLst/>
          </a:prstGeom>
          <a:ln w="17780">
            <a:solidFill>
              <a:srgbClr val="8A9A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0287000" y="3017520"/>
            <a:ext cx="3383280" cy="1143000"/>
          </a:xfrm>
          <a:prstGeom prst="roundRect">
            <a:avLst>
              <a:gd name="adj" fmla="val 8000"/>
            </a:avLst>
          </a:prstGeom>
          <a:solidFill>
            <a:srgbClr val="FFFFFF"/>
          </a:solidFill>
          <a:ln w="9525">
            <a:solidFill>
              <a:srgbClr val="E0E6E8"/>
            </a:solidFill>
          </a:ln>
          <a:effectLst/>
        </p:spPr>
        <p:txBody>
          <a:bodyPr rtlCol="0" anchor="ctr"/>
          <a:lstStyle/>
          <a:p>
            <a:pPr algn="ctr"/>
          </a:p>
        </p:txBody>
      </p:sp>
      <p:sp>
        <p:nvSpPr>
          <p:cNvPr id="20" name="Rectangle 19"/>
          <p:cNvSpPr/>
          <p:nvPr/>
        </p:nvSpPr>
        <p:spPr>
          <a:xfrm>
            <a:off x="10287000" y="3017520"/>
            <a:ext cx="54864" cy="1143000"/>
          </a:xfrm>
          <a:prstGeom prst="rect">
            <a:avLst/>
          </a:prstGeom>
          <a:solidFill>
            <a:srgbClr val="B26A00"/>
          </a:solidFill>
          <a:ln>
            <a:noFill/>
          </a:ln>
          <a:effectLst/>
        </p:spPr>
        <p:txBody>
          <a:bodyPr rtlCol="0" anchor="ctr"/>
          <a:lstStyle/>
          <a:p>
            <a:pPr algn="ctr"/>
          </a:p>
        </p:txBody>
      </p:sp>
      <p:sp>
        <p:nvSpPr>
          <p:cNvPr id="21" name="TextBox 20"/>
          <p:cNvSpPr txBox="1"/>
          <p:nvPr/>
        </p:nvSpPr>
        <p:spPr>
          <a:xfrm>
            <a:off x="10515600" y="3182112"/>
            <a:ext cx="2926080" cy="274320"/>
          </a:xfrm>
          <a:prstGeom prst="rect">
            <a:avLst/>
          </a:prstGeom>
          <a:noFill/>
        </p:spPr>
        <p:txBody>
          <a:bodyPr wrap="square" lIns="0" rIns="0" tIns="0" bIns="0" anchor="t">
            <a:noAutofit/>
          </a:bodyPr>
          <a:lstStyle/>
          <a:p>
            <a:pPr algn="l">
              <a:lnSpc>
                <a:spcPct val="102000"/>
              </a:lnSpc>
              <a:spcBef>
                <a:spcPts val="0"/>
              </a:spcBef>
              <a:spcAft>
                <a:spcPts val="0"/>
              </a:spcAft>
            </a:pPr>
            <a:r>
              <a:rPr b="1" sz="1500" i="0">
                <a:solidFill>
                  <a:srgbClr val="B26A00"/>
                </a:solidFill>
                <a:latin typeface="Arial"/>
              </a:rPr>
              <a:t>json-server</a:t>
            </a:r>
          </a:p>
        </p:txBody>
      </p:sp>
      <p:sp>
        <p:nvSpPr>
          <p:cNvPr id="22" name="TextBox 21"/>
          <p:cNvSpPr txBox="1"/>
          <p:nvPr/>
        </p:nvSpPr>
        <p:spPr>
          <a:xfrm>
            <a:off x="10515600" y="3520439"/>
            <a:ext cx="2926080" cy="411480"/>
          </a:xfrm>
          <a:prstGeom prst="rect">
            <a:avLst/>
          </a:prstGeom>
          <a:noFill/>
        </p:spPr>
        <p:txBody>
          <a:bodyPr wrap="square" lIns="0" rIns="0" tIns="0" bIns="0" anchor="t">
            <a:noAutofit/>
          </a:bodyPr>
          <a:lstStyle/>
          <a:p>
            <a:pPr algn="l">
              <a:lnSpc>
                <a:spcPct val="102000"/>
              </a:lnSpc>
              <a:spcBef>
                <a:spcPts val="0"/>
              </a:spcBef>
              <a:spcAft>
                <a:spcPts val="0"/>
              </a:spcAft>
            </a:pPr>
            <a:r>
              <a:rPr b="0" sz="1150" i="0">
                <a:solidFill>
                  <a:srgbClr val="5C6E76"/>
                </a:solidFill>
                <a:latin typeface="Arial"/>
              </a:rPr>
              <a:t>2 × PATCH</a:t>
            </a:r>
          </a:p>
        </p:txBody>
      </p:sp>
      <p:sp>
        <p:nvSpPr>
          <p:cNvPr id="23" name="TextBox 22"/>
          <p:cNvSpPr txBox="1"/>
          <p:nvPr/>
        </p:nvSpPr>
        <p:spPr>
          <a:xfrm>
            <a:off x="13716000" y="3127248"/>
            <a:ext cx="3474720" cy="914400"/>
          </a:xfrm>
          <a:prstGeom prst="rect">
            <a:avLst/>
          </a:prstGeom>
          <a:noFill/>
        </p:spPr>
        <p:txBody>
          <a:bodyPr wrap="square" lIns="0" rIns="0" tIns="0" bIns="0" anchor="t">
            <a:noAutofit/>
          </a:bodyPr>
          <a:lstStyle/>
          <a:p>
            <a:pPr algn="l">
              <a:lnSpc>
                <a:spcPct val="115000"/>
              </a:lnSpc>
              <a:spcBef>
                <a:spcPts val="0"/>
              </a:spcBef>
              <a:spcAft>
                <a:spcPts val="0"/>
              </a:spcAft>
            </a:pPr>
            <a:r>
              <a:rPr b="0" sz="1100" i="0">
                <a:solidFill>
                  <a:srgbClr val="093544"/>
                </a:solidFill>
                <a:latin typeface="Consolas"/>
              </a:rPr>
              <a:t>PATCH /factures/:id</a:t>
            </a:r>
          </a:p>
          <a:p>
            <a:pPr algn="l">
              <a:lnSpc>
                <a:spcPct val="115000"/>
              </a:lnSpc>
              <a:spcBef>
                <a:spcPts val="0"/>
              </a:spcBef>
              <a:spcAft>
                <a:spcPts val="0"/>
              </a:spcAft>
            </a:pPr>
            <a:r>
              <a:rPr b="0" sz="1100" i="0">
                <a:solidFill>
                  <a:srgbClr val="093544"/>
                </a:solidFill>
                <a:latin typeface="Consolas"/>
              </a:rPr>
              <a:t>{ statut, paiementId }</a:t>
            </a:r>
          </a:p>
          <a:p>
            <a:pPr algn="l">
              <a:lnSpc>
                <a:spcPct val="115000"/>
              </a:lnSpc>
              <a:spcBef>
                <a:spcPts val="0"/>
              </a:spcBef>
              <a:spcAft>
                <a:spcPts val="0"/>
              </a:spcAft>
            </a:pPr>
          </a:p>
          <a:p>
            <a:pPr algn="l">
              <a:lnSpc>
                <a:spcPct val="115000"/>
              </a:lnSpc>
              <a:spcBef>
                <a:spcPts val="0"/>
              </a:spcBef>
              <a:spcAft>
                <a:spcPts val="0"/>
              </a:spcAft>
            </a:pPr>
            <a:r>
              <a:rPr b="0" sz="1100" i="0">
                <a:solidFill>
                  <a:srgbClr val="093544"/>
                </a:solidFill>
                <a:latin typeface="Consolas"/>
              </a:rPr>
              <a:t>PATCH /paiements/:id</a:t>
            </a:r>
          </a:p>
          <a:p>
            <a:pPr algn="l">
              <a:lnSpc>
                <a:spcPct val="115000"/>
              </a:lnSpc>
              <a:spcBef>
                <a:spcPts val="0"/>
              </a:spcBef>
              <a:spcAft>
                <a:spcPts val="0"/>
              </a:spcAft>
            </a:pPr>
            <a:r>
              <a:rPr b="0" sz="1100" i="0">
                <a:solidFill>
                  <a:srgbClr val="093544"/>
                </a:solidFill>
                <a:latin typeface="Consolas"/>
              </a:rPr>
              <a:t>{ factureId }</a:t>
            </a:r>
          </a:p>
        </p:txBody>
      </p:sp>
      <p:sp>
        <p:nvSpPr>
          <p:cNvPr id="24" name="Rounded Rectangle 23"/>
          <p:cNvSpPr/>
          <p:nvPr/>
        </p:nvSpPr>
        <p:spPr>
          <a:xfrm>
            <a:off x="2606040" y="4526279"/>
            <a:ext cx="11338560" cy="315468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25" name="Oval 24"/>
          <p:cNvSpPr/>
          <p:nvPr/>
        </p:nvSpPr>
        <p:spPr>
          <a:xfrm>
            <a:off x="2825496" y="4700016"/>
            <a:ext cx="82296" cy="82296"/>
          </a:xfrm>
          <a:prstGeom prst="ellipse">
            <a:avLst/>
          </a:prstGeom>
          <a:solidFill>
            <a:srgbClr val="ED1548"/>
          </a:solidFill>
          <a:ln>
            <a:noFill/>
          </a:ln>
          <a:effectLst/>
        </p:spPr>
        <p:txBody>
          <a:bodyPr rtlCol="0" anchor="ctr"/>
          <a:lstStyle/>
          <a:p>
            <a:pPr algn="ctr"/>
          </a:p>
        </p:txBody>
      </p:sp>
      <p:sp>
        <p:nvSpPr>
          <p:cNvPr id="26" name="TextBox 25"/>
          <p:cNvSpPr txBox="1"/>
          <p:nvPr/>
        </p:nvSpPr>
        <p:spPr>
          <a:xfrm>
            <a:off x="2990088" y="4636007"/>
            <a:ext cx="1069848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rapprochement.service.ts</a:t>
            </a:r>
          </a:p>
        </p:txBody>
      </p:sp>
      <p:sp>
        <p:nvSpPr>
          <p:cNvPr id="27" name="TextBox 26"/>
          <p:cNvSpPr txBox="1"/>
          <p:nvPr/>
        </p:nvSpPr>
        <p:spPr>
          <a:xfrm>
            <a:off x="2852928" y="5001767"/>
            <a:ext cx="10881360" cy="2514600"/>
          </a:xfrm>
          <a:prstGeom prst="rect">
            <a:avLst/>
          </a:prstGeom>
          <a:noFill/>
        </p:spPr>
        <p:txBody>
          <a:bodyPr wrap="none" lIns="0" rIns="0" tIns="0" bIns="0">
            <a:noAutofit/>
          </a:bodyPr>
          <a:lstStyle/>
          <a:p>
            <a:pPr>
              <a:lnSpc>
                <a:spcPct val="100000"/>
              </a:lnSpc>
              <a:spcBef>
                <a:spcPts val="0"/>
              </a:spcBef>
              <a:spcAft>
                <a:spcPts val="0"/>
              </a:spcAft>
            </a:pPr>
            <a:r>
              <a:rPr sz="1300">
                <a:solidFill>
                  <a:srgbClr val="EAF2F4"/>
                </a:solidFill>
                <a:latin typeface="Consolas"/>
              </a:rPr>
              <a:t>valider(f: Facture, p: Paiement) {</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return</a:t>
            </a:r>
            <a:r>
              <a:rPr sz="1300">
                <a:solidFill>
                  <a:srgbClr val="EAF2F4"/>
                </a:solidFill>
                <a:latin typeface="Consolas"/>
              </a:rPr>
              <a:t> forkJoin([</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this</a:t>
            </a:r>
            <a:r>
              <a:rPr sz="1300">
                <a:solidFill>
                  <a:srgbClr val="EAF2F4"/>
                </a:solidFill>
                <a:latin typeface="Consolas"/>
              </a:rPr>
              <a:t>.http.patch(</a:t>
            </a:r>
            <a:r>
              <a:rPr sz="1300">
                <a:solidFill>
                  <a:srgbClr val="FFB3C1"/>
                </a:solidFill>
                <a:latin typeface="Consolas"/>
              </a:rPr>
              <a:t>`${this.api}/factures/${f.id}`</a:t>
            </a: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      statut: </a:t>
            </a:r>
            <a:r>
              <a:rPr sz="1300">
                <a:solidFill>
                  <a:srgbClr val="FFB3C1"/>
                </a:solidFill>
                <a:latin typeface="Consolas"/>
              </a:rPr>
              <a:t>'rapprochee'</a:t>
            </a:r>
            <a:r>
              <a:rPr sz="1300">
                <a:solidFill>
                  <a:srgbClr val="EAF2F4"/>
                </a:solidFill>
                <a:latin typeface="Consolas"/>
              </a:rPr>
              <a:t>, paiementId: p.id,</a:t>
            </a:r>
          </a:p>
          <a:p>
            <a:pPr>
              <a:lnSpc>
                <a:spcPct val="100000"/>
              </a:lnSpc>
              <a:spcBef>
                <a:spcPts val="0"/>
              </a:spcBef>
              <a:spcAft>
                <a:spcPts val="0"/>
              </a:spcAft>
            </a:pP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this</a:t>
            </a:r>
            <a:r>
              <a:rPr sz="1300">
                <a:solidFill>
                  <a:srgbClr val="EAF2F4"/>
                </a:solidFill>
                <a:latin typeface="Consolas"/>
              </a:rPr>
              <a:t>.http.patch(</a:t>
            </a:r>
            <a:r>
              <a:rPr sz="1300">
                <a:solidFill>
                  <a:srgbClr val="FFB3C1"/>
                </a:solidFill>
                <a:latin typeface="Consolas"/>
              </a:rPr>
              <a:t>`${this.api}/paiements/${p.id}`</a:t>
            </a: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      factureId: f.id,</a:t>
            </a:r>
          </a:p>
          <a:p>
            <a:pPr>
              <a:lnSpc>
                <a:spcPct val="100000"/>
              </a:lnSpc>
              <a:spcBef>
                <a:spcPts val="0"/>
              </a:spcBef>
              <a:spcAft>
                <a:spcPts val="0"/>
              </a:spcAft>
            </a:pP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  ]).pipe(tap(() =&gt; </a:t>
            </a:r>
            <a:r>
              <a:rPr sz="1300">
                <a:solidFill>
                  <a:srgbClr val="7FD1E0"/>
                </a:solidFill>
                <a:latin typeface="Consolas"/>
              </a:rPr>
              <a:t>this</a:t>
            </a:r>
            <a:r>
              <a:rPr sz="1300">
                <a:solidFill>
                  <a:srgbClr val="EAF2F4"/>
                </a:solidFill>
                <a:latin typeface="Consolas"/>
              </a:rPr>
              <a:t>.store.maj(f, p)));</a:t>
            </a:r>
          </a:p>
          <a:p>
            <a:pPr>
              <a:lnSpc>
                <a:spcPct val="100000"/>
              </a:lnSpc>
              <a:spcBef>
                <a:spcPts val="0"/>
              </a:spcBef>
              <a:spcAft>
                <a:spcPts val="0"/>
              </a:spcAft>
            </a:pPr>
            <a:r>
              <a:rPr sz="1300">
                <a:solidFill>
                  <a:srgbClr val="EAF2F4"/>
                </a:solidFill>
                <a:latin typeface="Consolas"/>
              </a:rPr>
              <a:t>}</a:t>
            </a:r>
          </a:p>
        </p:txBody>
      </p:sp>
      <p:sp>
        <p:nvSpPr>
          <p:cNvPr id="28" name="Rounded Rectangle 27"/>
          <p:cNvSpPr/>
          <p:nvPr/>
        </p:nvSpPr>
        <p:spPr>
          <a:xfrm>
            <a:off x="2606040" y="7909559"/>
            <a:ext cx="14584680" cy="1234440"/>
          </a:xfrm>
          <a:prstGeom prst="roundRect">
            <a:avLst>
              <a:gd name="adj" fmla="val 8000"/>
            </a:avLst>
          </a:prstGeom>
          <a:solidFill>
            <a:srgbClr val="FFF6E5"/>
          </a:solidFill>
          <a:ln>
            <a:noFill/>
          </a:ln>
          <a:effectLst/>
        </p:spPr>
        <p:txBody>
          <a:bodyPr rtlCol="0" anchor="ctr"/>
          <a:lstStyle/>
          <a:p>
            <a:pPr algn="ctr"/>
          </a:p>
        </p:txBody>
      </p:sp>
      <p:sp>
        <p:nvSpPr>
          <p:cNvPr id="29" name="Rectangle 28"/>
          <p:cNvSpPr/>
          <p:nvPr/>
        </p:nvSpPr>
        <p:spPr>
          <a:xfrm>
            <a:off x="2606040" y="7909559"/>
            <a:ext cx="64008" cy="1234440"/>
          </a:xfrm>
          <a:prstGeom prst="rect">
            <a:avLst/>
          </a:prstGeom>
          <a:solidFill>
            <a:srgbClr val="B26A00"/>
          </a:solidFill>
          <a:ln>
            <a:noFill/>
          </a:ln>
          <a:effectLst/>
        </p:spPr>
        <p:txBody>
          <a:bodyPr rtlCol="0" anchor="ctr"/>
          <a:lstStyle/>
          <a:p>
            <a:pPr algn="ctr"/>
          </a:p>
        </p:txBody>
      </p:sp>
      <p:sp>
        <p:nvSpPr>
          <p:cNvPr id="30" name="TextBox 29"/>
          <p:cNvSpPr txBox="1"/>
          <p:nvPr/>
        </p:nvSpPr>
        <p:spPr>
          <a:xfrm>
            <a:off x="2898648" y="8074151"/>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B26A00"/>
                </a:solidFill>
                <a:latin typeface="Arial"/>
              </a:rPr>
              <a:t>PAS DE TRANSACTION ICI</a:t>
            </a:r>
          </a:p>
        </p:txBody>
      </p:sp>
      <p:sp>
        <p:nvSpPr>
          <p:cNvPr id="31" name="TextBox 30"/>
          <p:cNvSpPr txBox="1"/>
          <p:nvPr/>
        </p:nvSpPr>
        <p:spPr>
          <a:xfrm>
            <a:off x="2898648" y="8366759"/>
            <a:ext cx="14173200" cy="667512"/>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Les deux PATCH peuvent diverger. Prévoir un rollback manuel, un endpoint métier unique côté serveur, ou une idempotence. En TP, on journalise et on prévient l'utilisateur.</a:t>
            </a:r>
          </a:p>
        </p:txBody>
      </p:sp>
      <p:sp>
        <p:nvSpPr>
          <p:cNvPr id="32" name="TextBox 31"/>
          <p:cNvSpPr txBox="1"/>
          <p:nvPr/>
        </p:nvSpPr>
        <p:spPr>
          <a:xfrm>
            <a:off x="14218920" y="4663440"/>
            <a:ext cx="2971800" cy="2377440"/>
          </a:xfrm>
          <a:prstGeom prst="rect">
            <a:avLst/>
          </a:prstGeom>
          <a:noFill/>
        </p:spPr>
        <p:txBody>
          <a:bodyPr wrap="square" lIns="0" rIns="0" tIns="0" bIns="0" anchor="t">
            <a:noAutofit/>
          </a:bodyPr>
          <a:lstStyle/>
          <a:p>
            <a:pPr algn="l">
              <a:lnSpc>
                <a:spcPct val="112000"/>
              </a:lnSpc>
              <a:spcBef>
                <a:spcPts val="0"/>
              </a:spcBef>
              <a:spcAft>
                <a:spcPts val="0"/>
              </a:spcAft>
            </a:pPr>
            <a:r>
              <a:rPr b="0" sz="1150" i="0">
                <a:solidFill>
                  <a:srgbClr val="5C6E76"/>
                </a:solidFill>
                <a:latin typeface="Arial"/>
              </a:rPr>
              <a:t>Si le 2e PATCH échoue :</a:t>
            </a:r>
          </a:p>
          <a:p>
            <a:pPr algn="l">
              <a:lnSpc>
                <a:spcPct val="112000"/>
              </a:lnSpc>
              <a:spcBef>
                <a:spcPts val="0"/>
              </a:spcBef>
              <a:spcAft>
                <a:spcPts val="0"/>
              </a:spcAft>
            </a:pPr>
          </a:p>
          <a:p>
            <a:pPr algn="l">
              <a:lnSpc>
                <a:spcPct val="112000"/>
              </a:lnSpc>
              <a:spcBef>
                <a:spcPts val="0"/>
              </a:spcBef>
              <a:spcAft>
                <a:spcPts val="0"/>
              </a:spcAft>
            </a:pPr>
            <a:r>
              <a:rPr b="0" sz="1150" i="0">
                <a:solidFill>
                  <a:srgbClr val="5C6E76"/>
                </a:solidFill>
                <a:latin typeface="Arial"/>
              </a:rPr>
              <a:t>• la facture est déjà</a:t>
            </a:r>
          </a:p>
          <a:p>
            <a:pPr algn="l">
              <a:lnSpc>
                <a:spcPct val="112000"/>
              </a:lnSpc>
              <a:spcBef>
                <a:spcPts val="0"/>
              </a:spcBef>
              <a:spcAft>
                <a:spcPts val="0"/>
              </a:spcAft>
            </a:pPr>
            <a:r>
              <a:rPr b="0" sz="1150" i="0">
                <a:solidFill>
                  <a:srgbClr val="5C6E76"/>
                </a:solidFill>
                <a:latin typeface="Arial"/>
              </a:rPr>
              <a:t>  « rapprochée »</a:t>
            </a:r>
          </a:p>
          <a:p>
            <a:pPr algn="l">
              <a:lnSpc>
                <a:spcPct val="112000"/>
              </a:lnSpc>
              <a:spcBef>
                <a:spcPts val="0"/>
              </a:spcBef>
              <a:spcAft>
                <a:spcPts val="0"/>
              </a:spcAft>
            </a:pPr>
            <a:r>
              <a:rPr b="0" sz="1150" i="0">
                <a:solidFill>
                  <a:srgbClr val="5C6E76"/>
                </a:solidFill>
                <a:latin typeface="Arial"/>
              </a:rPr>
              <a:t>• le paiement est libre</a:t>
            </a:r>
          </a:p>
          <a:p>
            <a:pPr algn="l">
              <a:lnSpc>
                <a:spcPct val="112000"/>
              </a:lnSpc>
              <a:spcBef>
                <a:spcPts val="0"/>
              </a:spcBef>
              <a:spcAft>
                <a:spcPts val="0"/>
              </a:spcAft>
            </a:pPr>
          </a:p>
          <a:p>
            <a:pPr algn="l">
              <a:lnSpc>
                <a:spcPct val="112000"/>
              </a:lnSpc>
              <a:spcBef>
                <a:spcPts val="0"/>
              </a:spcBef>
              <a:spcAft>
                <a:spcPts val="0"/>
              </a:spcAft>
            </a:pPr>
            <a:r>
              <a:rPr b="0" sz="1150" i="0">
                <a:solidFill>
                  <a:srgbClr val="5C6E76"/>
                </a:solidFill>
                <a:latin typeface="Arial"/>
              </a:rPr>
              <a:t>→ message + reprise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3  ·  TP 1</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Construire l'écran de rapprochement</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Objectif : proposer, scorer, valider — et sortir la facture de la liste.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44 / 62</a:t>
            </a:r>
          </a:p>
        </p:txBody>
      </p:sp>
      <p:sp>
        <p:nvSpPr>
          <p:cNvPr id="9" name="Oval 8"/>
          <p:cNvSpPr/>
          <p:nvPr/>
        </p:nvSpPr>
        <p:spPr>
          <a:xfrm>
            <a:off x="2606040" y="3081528"/>
            <a:ext cx="329184" cy="329184"/>
          </a:xfrm>
          <a:prstGeom prst="ellipse">
            <a:avLst/>
          </a:prstGeom>
          <a:solidFill>
            <a:srgbClr val="ED1548"/>
          </a:solidFill>
          <a:ln>
            <a:noFill/>
          </a:ln>
          <a:effectLst/>
        </p:spPr>
        <p:txBody>
          <a:bodyPr rtlCol="0" anchor="ctr" lIns="0" rIns="0" tIns="0" bIns="0"/>
          <a:lstStyle/>
          <a:p>
            <a:pPr algn="ctr"/>
            <a:r>
              <a:rPr sz="1232" b="1">
                <a:solidFill>
                  <a:srgbClr val="FFFFFF"/>
                </a:solidFill>
                <a:latin typeface="Arial"/>
              </a:rPr>
              <a:t>1</a:t>
            </a:r>
          </a:p>
        </p:txBody>
      </p:sp>
      <p:sp>
        <p:nvSpPr>
          <p:cNvPr id="10" name="TextBox 9"/>
          <p:cNvSpPr txBox="1"/>
          <p:nvPr/>
        </p:nvSpPr>
        <p:spPr>
          <a:xfrm>
            <a:off x="3108960" y="3081528"/>
            <a:ext cx="8229600" cy="689228"/>
          </a:xfrm>
          <a:prstGeom prst="rect">
            <a:avLst/>
          </a:prstGeom>
          <a:noFill/>
        </p:spPr>
        <p:txBody>
          <a:bodyPr wrap="square" lIns="0" rIns="0" tIns="0" bIns="0" anchor="t">
            <a:noAutofit/>
          </a:bodyPr>
          <a:lstStyle/>
          <a:p>
            <a:pPr algn="l">
              <a:lnSpc>
                <a:spcPct val="106000"/>
              </a:lnSpc>
              <a:spcBef>
                <a:spcPts val="0"/>
              </a:spcBef>
              <a:spcAft>
                <a:spcPts val="0"/>
              </a:spcAft>
            </a:pPr>
            <a:r>
              <a:rPr sz="1305" b="0" i="0">
                <a:solidFill>
                  <a:srgbClr val="ED1548"/>
                </a:solidFill>
                <a:latin typeface="Consolas"/>
              </a:rPr>
              <a:t>ng g s core/services/paiement</a:t>
            </a:r>
            <a:r>
              <a:rPr b="0" sz="1450" i="0">
                <a:solidFill>
                  <a:srgbClr val="1B3B47"/>
                </a:solidFill>
                <a:latin typeface="Arial"/>
              </a:rPr>
              <a:t> : </a:t>
            </a:r>
            <a:r>
              <a:rPr sz="1305" b="0" i="0">
                <a:solidFill>
                  <a:srgbClr val="ED1548"/>
                </a:solidFill>
                <a:latin typeface="Consolas"/>
              </a:rPr>
              <a:t>list</a:t>
            </a:r>
            <a:r>
              <a:rPr b="0" sz="1450" i="0">
                <a:solidFill>
                  <a:srgbClr val="1B3B47"/>
                </a:solidFill>
                <a:latin typeface="Arial"/>
              </a:rPr>
              <a:t>, </a:t>
            </a:r>
            <a:r>
              <a:rPr sz="1305" b="0" i="0">
                <a:solidFill>
                  <a:srgbClr val="ED1548"/>
                </a:solidFill>
                <a:latin typeface="Consolas"/>
              </a:rPr>
              <a:t>patch</a:t>
            </a:r>
            <a:r>
              <a:rPr b="0" sz="1450" i="0">
                <a:solidFill>
                  <a:srgbClr val="1B3B47"/>
                </a:solidFill>
                <a:latin typeface="Arial"/>
              </a:rPr>
              <a:t>.</a:t>
            </a:r>
          </a:p>
        </p:txBody>
      </p:sp>
      <p:sp>
        <p:nvSpPr>
          <p:cNvPr id="11" name="Oval 10"/>
          <p:cNvSpPr/>
          <p:nvPr/>
        </p:nvSpPr>
        <p:spPr>
          <a:xfrm>
            <a:off x="2606040" y="3862197"/>
            <a:ext cx="329184" cy="329184"/>
          </a:xfrm>
          <a:prstGeom prst="ellipse">
            <a:avLst/>
          </a:prstGeom>
          <a:solidFill>
            <a:srgbClr val="ED1548"/>
          </a:solidFill>
          <a:ln>
            <a:noFill/>
          </a:ln>
          <a:effectLst/>
        </p:spPr>
        <p:txBody>
          <a:bodyPr rtlCol="0" anchor="ctr" lIns="0" rIns="0" tIns="0" bIns="0"/>
          <a:lstStyle/>
          <a:p>
            <a:pPr algn="ctr"/>
            <a:r>
              <a:rPr sz="1232" b="1">
                <a:solidFill>
                  <a:srgbClr val="FFFFFF"/>
                </a:solidFill>
                <a:latin typeface="Arial"/>
              </a:rPr>
              <a:t>2</a:t>
            </a:r>
          </a:p>
        </p:txBody>
      </p:sp>
      <p:sp>
        <p:nvSpPr>
          <p:cNvPr id="12" name="TextBox 11"/>
          <p:cNvSpPr txBox="1"/>
          <p:nvPr/>
        </p:nvSpPr>
        <p:spPr>
          <a:xfrm>
            <a:off x="3108960" y="3862197"/>
            <a:ext cx="8229600" cy="689228"/>
          </a:xfrm>
          <a:prstGeom prst="rect">
            <a:avLst/>
          </a:prstGeom>
          <a:noFill/>
        </p:spPr>
        <p:txBody>
          <a:bodyPr wrap="square" lIns="0" rIns="0" tIns="0" bIns="0" anchor="t">
            <a:noAutofit/>
          </a:bodyPr>
          <a:lstStyle/>
          <a:p>
            <a:pPr algn="l">
              <a:lnSpc>
                <a:spcPct val="106000"/>
              </a:lnSpc>
              <a:spcBef>
                <a:spcPts val="0"/>
              </a:spcBef>
              <a:spcAft>
                <a:spcPts val="0"/>
              </a:spcAft>
            </a:pPr>
            <a:r>
              <a:rPr b="0" sz="1450" i="0">
                <a:solidFill>
                  <a:srgbClr val="1B3B47"/>
                </a:solidFill>
                <a:latin typeface="Arial"/>
              </a:rPr>
              <a:t>Store : </a:t>
            </a:r>
            <a:r>
              <a:rPr sz="1305" b="0" i="0">
                <a:solidFill>
                  <a:srgbClr val="ED1548"/>
                </a:solidFill>
                <a:latin typeface="Consolas"/>
              </a:rPr>
              <a:t>factures</a:t>
            </a:r>
            <a:r>
              <a:rPr b="0" sz="1450" i="0">
                <a:solidFill>
                  <a:srgbClr val="1B3B47"/>
                </a:solidFill>
                <a:latin typeface="Arial"/>
              </a:rPr>
              <a:t> (à rapprocher), </a:t>
            </a:r>
            <a:r>
              <a:rPr sz="1305" b="0" i="0">
                <a:solidFill>
                  <a:srgbClr val="ED1548"/>
                </a:solidFill>
                <a:latin typeface="Consolas"/>
              </a:rPr>
              <a:t>paiements</a:t>
            </a:r>
            <a:r>
              <a:rPr b="0" sz="1450" i="0">
                <a:solidFill>
                  <a:srgbClr val="1B3B47"/>
                </a:solidFill>
                <a:latin typeface="Arial"/>
              </a:rPr>
              <a:t> (libres), </a:t>
            </a:r>
            <a:r>
              <a:rPr sz="1305" b="0" i="0">
                <a:solidFill>
                  <a:srgbClr val="ED1548"/>
                </a:solidFill>
                <a:latin typeface="Consolas"/>
              </a:rPr>
              <a:t>selection</a:t>
            </a:r>
            <a:r>
              <a:rPr b="0" sz="1450" i="0">
                <a:solidFill>
                  <a:srgbClr val="1B3B47"/>
                </a:solidFill>
                <a:latin typeface="Arial"/>
              </a:rPr>
              <a:t>, </a:t>
            </a:r>
            <a:r>
              <a:rPr sz="1305" b="0" i="0">
                <a:solidFill>
                  <a:srgbClr val="ED1548"/>
                </a:solidFill>
                <a:latin typeface="Consolas"/>
              </a:rPr>
              <a:t>tolerance</a:t>
            </a:r>
            <a:r>
              <a:rPr b="0" sz="1450" i="0">
                <a:solidFill>
                  <a:srgbClr val="1B3B47"/>
                </a:solidFill>
                <a:latin typeface="Arial"/>
              </a:rPr>
              <a:t>.</a:t>
            </a:r>
          </a:p>
        </p:txBody>
      </p:sp>
      <p:sp>
        <p:nvSpPr>
          <p:cNvPr id="13" name="Oval 12"/>
          <p:cNvSpPr/>
          <p:nvPr/>
        </p:nvSpPr>
        <p:spPr>
          <a:xfrm>
            <a:off x="2606040" y="4642866"/>
            <a:ext cx="329184" cy="329184"/>
          </a:xfrm>
          <a:prstGeom prst="ellipse">
            <a:avLst/>
          </a:prstGeom>
          <a:solidFill>
            <a:srgbClr val="ED1548"/>
          </a:solidFill>
          <a:ln>
            <a:noFill/>
          </a:ln>
          <a:effectLst/>
        </p:spPr>
        <p:txBody>
          <a:bodyPr rtlCol="0" anchor="ctr" lIns="0" rIns="0" tIns="0" bIns="0"/>
          <a:lstStyle/>
          <a:p>
            <a:pPr algn="ctr"/>
            <a:r>
              <a:rPr sz="1232" b="1">
                <a:solidFill>
                  <a:srgbClr val="FFFFFF"/>
                </a:solidFill>
                <a:latin typeface="Arial"/>
              </a:rPr>
              <a:t>3</a:t>
            </a:r>
          </a:p>
        </p:txBody>
      </p:sp>
      <p:sp>
        <p:nvSpPr>
          <p:cNvPr id="14" name="TextBox 13"/>
          <p:cNvSpPr txBox="1"/>
          <p:nvPr/>
        </p:nvSpPr>
        <p:spPr>
          <a:xfrm>
            <a:off x="3108960" y="4642866"/>
            <a:ext cx="8229600" cy="689228"/>
          </a:xfrm>
          <a:prstGeom prst="rect">
            <a:avLst/>
          </a:prstGeom>
          <a:noFill/>
        </p:spPr>
        <p:txBody>
          <a:bodyPr wrap="square" lIns="0" rIns="0" tIns="0" bIns="0" anchor="t">
            <a:noAutofit/>
          </a:bodyPr>
          <a:lstStyle/>
          <a:p>
            <a:pPr algn="l">
              <a:lnSpc>
                <a:spcPct val="106000"/>
              </a:lnSpc>
              <a:spcBef>
                <a:spcPts val="0"/>
              </a:spcBef>
              <a:spcAft>
                <a:spcPts val="0"/>
              </a:spcAft>
            </a:pPr>
            <a:r>
              <a:rPr b="0" sz="1450" i="0">
                <a:solidFill>
                  <a:srgbClr val="1B3B47"/>
                </a:solidFill>
                <a:latin typeface="Arial"/>
              </a:rPr>
              <a:t>Fonction pure </a:t>
            </a:r>
            <a:r>
              <a:rPr sz="1305" b="0" i="0">
                <a:solidFill>
                  <a:srgbClr val="ED1548"/>
                </a:solidFill>
                <a:latin typeface="Consolas"/>
              </a:rPr>
              <a:t>score(facture, paiement)</a:t>
            </a:r>
            <a:r>
              <a:rPr b="0" sz="1450" i="0">
                <a:solidFill>
                  <a:srgbClr val="1B3B47"/>
                </a:solidFill>
                <a:latin typeface="Arial"/>
              </a:rPr>
              <a:t> dans </a:t>
            </a:r>
            <a:r>
              <a:rPr sz="1305" b="0" i="0">
                <a:solidFill>
                  <a:srgbClr val="ED1548"/>
                </a:solidFill>
                <a:latin typeface="Consolas"/>
              </a:rPr>
              <a:t>rapprochement.utils.ts</a:t>
            </a:r>
            <a:r>
              <a:rPr b="0" sz="1450" i="0">
                <a:solidFill>
                  <a:srgbClr val="1B3B47"/>
                </a:solidFill>
                <a:latin typeface="Arial"/>
              </a:rPr>
              <a:t>.</a:t>
            </a:r>
          </a:p>
        </p:txBody>
      </p:sp>
      <p:sp>
        <p:nvSpPr>
          <p:cNvPr id="15" name="Oval 14"/>
          <p:cNvSpPr/>
          <p:nvPr/>
        </p:nvSpPr>
        <p:spPr>
          <a:xfrm>
            <a:off x="2606040" y="5423534"/>
            <a:ext cx="329184" cy="329184"/>
          </a:xfrm>
          <a:prstGeom prst="ellipse">
            <a:avLst/>
          </a:prstGeom>
          <a:solidFill>
            <a:srgbClr val="ED1548"/>
          </a:solidFill>
          <a:ln>
            <a:noFill/>
          </a:ln>
          <a:effectLst/>
        </p:spPr>
        <p:txBody>
          <a:bodyPr rtlCol="0" anchor="ctr" lIns="0" rIns="0" tIns="0" bIns="0"/>
          <a:lstStyle/>
          <a:p>
            <a:pPr algn="ctr"/>
            <a:r>
              <a:rPr sz="1232" b="1">
                <a:solidFill>
                  <a:srgbClr val="FFFFFF"/>
                </a:solidFill>
                <a:latin typeface="Arial"/>
              </a:rPr>
              <a:t>4</a:t>
            </a:r>
          </a:p>
        </p:txBody>
      </p:sp>
      <p:sp>
        <p:nvSpPr>
          <p:cNvPr id="16" name="TextBox 15"/>
          <p:cNvSpPr txBox="1"/>
          <p:nvPr/>
        </p:nvSpPr>
        <p:spPr>
          <a:xfrm>
            <a:off x="3108960" y="5423534"/>
            <a:ext cx="8229600" cy="689228"/>
          </a:xfrm>
          <a:prstGeom prst="rect">
            <a:avLst/>
          </a:prstGeom>
          <a:noFill/>
        </p:spPr>
        <p:txBody>
          <a:bodyPr wrap="square" lIns="0" rIns="0" tIns="0" bIns="0" anchor="t">
            <a:noAutofit/>
          </a:bodyPr>
          <a:lstStyle/>
          <a:p>
            <a:pPr algn="l">
              <a:lnSpc>
                <a:spcPct val="106000"/>
              </a:lnSpc>
              <a:spcBef>
                <a:spcPts val="0"/>
              </a:spcBef>
              <a:spcAft>
                <a:spcPts val="0"/>
              </a:spcAft>
            </a:pPr>
            <a:r>
              <a:rPr sz="1305" b="0" i="0">
                <a:solidFill>
                  <a:srgbClr val="ED1548"/>
                </a:solidFill>
                <a:latin typeface="Consolas"/>
              </a:rPr>
              <a:t>candidats = computed(...)</a:t>
            </a:r>
            <a:r>
              <a:rPr b="0" sz="1450" i="0">
                <a:solidFill>
                  <a:srgbClr val="1B3B47"/>
                </a:solidFill>
                <a:latin typeface="Arial"/>
              </a:rPr>
              <a:t> triés par score décroissant.</a:t>
            </a:r>
          </a:p>
        </p:txBody>
      </p:sp>
      <p:sp>
        <p:nvSpPr>
          <p:cNvPr id="17" name="Oval 16"/>
          <p:cNvSpPr/>
          <p:nvPr/>
        </p:nvSpPr>
        <p:spPr>
          <a:xfrm>
            <a:off x="2606040" y="6204203"/>
            <a:ext cx="329184" cy="329184"/>
          </a:xfrm>
          <a:prstGeom prst="ellipse">
            <a:avLst/>
          </a:prstGeom>
          <a:solidFill>
            <a:srgbClr val="ED1548"/>
          </a:solidFill>
          <a:ln>
            <a:noFill/>
          </a:ln>
          <a:effectLst/>
        </p:spPr>
        <p:txBody>
          <a:bodyPr rtlCol="0" anchor="ctr" lIns="0" rIns="0" tIns="0" bIns="0"/>
          <a:lstStyle/>
          <a:p>
            <a:pPr algn="ctr"/>
            <a:r>
              <a:rPr sz="1232" b="1">
                <a:solidFill>
                  <a:srgbClr val="FFFFFF"/>
                </a:solidFill>
                <a:latin typeface="Arial"/>
              </a:rPr>
              <a:t>5</a:t>
            </a:r>
          </a:p>
        </p:txBody>
      </p:sp>
      <p:sp>
        <p:nvSpPr>
          <p:cNvPr id="18" name="TextBox 17"/>
          <p:cNvSpPr txBox="1"/>
          <p:nvPr/>
        </p:nvSpPr>
        <p:spPr>
          <a:xfrm>
            <a:off x="3108960" y="6204203"/>
            <a:ext cx="8229600" cy="689228"/>
          </a:xfrm>
          <a:prstGeom prst="rect">
            <a:avLst/>
          </a:prstGeom>
          <a:noFill/>
        </p:spPr>
        <p:txBody>
          <a:bodyPr wrap="square" lIns="0" rIns="0" tIns="0" bIns="0" anchor="t">
            <a:noAutofit/>
          </a:bodyPr>
          <a:lstStyle/>
          <a:p>
            <a:pPr algn="l">
              <a:lnSpc>
                <a:spcPct val="106000"/>
              </a:lnSpc>
              <a:spcBef>
                <a:spcPts val="0"/>
              </a:spcBef>
              <a:spcAft>
                <a:spcPts val="0"/>
              </a:spcAft>
            </a:pPr>
            <a:r>
              <a:rPr b="0" sz="1450" i="0">
                <a:solidFill>
                  <a:srgbClr val="1B3B47"/>
                </a:solidFill>
                <a:latin typeface="Arial"/>
              </a:rPr>
              <a:t>Composant 2 colonnes, </a:t>
            </a:r>
            <a:r>
              <a:rPr sz="1305" b="0" i="0">
                <a:solidFill>
                  <a:srgbClr val="ED1548"/>
                </a:solidFill>
                <a:latin typeface="Consolas"/>
              </a:rPr>
              <a:t>@if (selection())</a:t>
            </a:r>
            <a:r>
              <a:rPr b="0" sz="1450" i="0">
                <a:solidFill>
                  <a:srgbClr val="1B3B47"/>
                </a:solidFill>
                <a:latin typeface="Arial"/>
              </a:rPr>
              <a:t>, </a:t>
            </a:r>
            <a:r>
              <a:rPr sz="1305" b="0" i="0">
                <a:solidFill>
                  <a:srgbClr val="ED1548"/>
                </a:solidFill>
                <a:latin typeface="Consolas"/>
              </a:rPr>
              <a:t>@empty</a:t>
            </a:r>
            <a:r>
              <a:rPr b="0" sz="1450" i="0">
                <a:solidFill>
                  <a:srgbClr val="1B3B47"/>
                </a:solidFill>
                <a:latin typeface="Arial"/>
              </a:rPr>
              <a:t>.</a:t>
            </a:r>
          </a:p>
        </p:txBody>
      </p:sp>
      <p:sp>
        <p:nvSpPr>
          <p:cNvPr id="19" name="Oval 18"/>
          <p:cNvSpPr/>
          <p:nvPr/>
        </p:nvSpPr>
        <p:spPr>
          <a:xfrm>
            <a:off x="2606040" y="6984873"/>
            <a:ext cx="329184" cy="329184"/>
          </a:xfrm>
          <a:prstGeom prst="ellipse">
            <a:avLst/>
          </a:prstGeom>
          <a:solidFill>
            <a:srgbClr val="ED1548"/>
          </a:solidFill>
          <a:ln>
            <a:noFill/>
          </a:ln>
          <a:effectLst/>
        </p:spPr>
        <p:txBody>
          <a:bodyPr rtlCol="0" anchor="ctr" lIns="0" rIns="0" tIns="0" bIns="0"/>
          <a:lstStyle/>
          <a:p>
            <a:pPr algn="ctr"/>
            <a:r>
              <a:rPr sz="1232" b="1">
                <a:solidFill>
                  <a:srgbClr val="FFFFFF"/>
                </a:solidFill>
                <a:latin typeface="Arial"/>
              </a:rPr>
              <a:t>6</a:t>
            </a:r>
          </a:p>
        </p:txBody>
      </p:sp>
      <p:sp>
        <p:nvSpPr>
          <p:cNvPr id="20" name="TextBox 19"/>
          <p:cNvSpPr txBox="1"/>
          <p:nvPr/>
        </p:nvSpPr>
        <p:spPr>
          <a:xfrm>
            <a:off x="3108960" y="6984873"/>
            <a:ext cx="8229600" cy="689228"/>
          </a:xfrm>
          <a:prstGeom prst="rect">
            <a:avLst/>
          </a:prstGeom>
          <a:noFill/>
        </p:spPr>
        <p:txBody>
          <a:bodyPr wrap="square" lIns="0" rIns="0" tIns="0" bIns="0" anchor="t">
            <a:noAutofit/>
          </a:bodyPr>
          <a:lstStyle/>
          <a:p>
            <a:pPr algn="l">
              <a:lnSpc>
                <a:spcPct val="106000"/>
              </a:lnSpc>
              <a:spcBef>
                <a:spcPts val="0"/>
              </a:spcBef>
              <a:spcAft>
                <a:spcPts val="0"/>
              </a:spcAft>
            </a:pPr>
            <a:r>
              <a:rPr b="0" sz="1450" i="0">
                <a:solidFill>
                  <a:srgbClr val="1B3B47"/>
                </a:solidFill>
                <a:latin typeface="Arial"/>
              </a:rPr>
              <a:t>Formulaire de tolérance (€) et commentaire obligatoire si écart ≠ 0.</a:t>
            </a:r>
          </a:p>
        </p:txBody>
      </p:sp>
      <p:sp>
        <p:nvSpPr>
          <p:cNvPr id="21" name="Oval 20"/>
          <p:cNvSpPr/>
          <p:nvPr/>
        </p:nvSpPr>
        <p:spPr>
          <a:xfrm>
            <a:off x="2606040" y="7765542"/>
            <a:ext cx="329184" cy="329184"/>
          </a:xfrm>
          <a:prstGeom prst="ellipse">
            <a:avLst/>
          </a:prstGeom>
          <a:solidFill>
            <a:srgbClr val="ED1548"/>
          </a:solidFill>
          <a:ln>
            <a:noFill/>
          </a:ln>
          <a:effectLst/>
        </p:spPr>
        <p:txBody>
          <a:bodyPr rtlCol="0" anchor="ctr" lIns="0" rIns="0" tIns="0" bIns="0"/>
          <a:lstStyle/>
          <a:p>
            <a:pPr algn="ctr"/>
            <a:r>
              <a:rPr sz="1232" b="1">
                <a:solidFill>
                  <a:srgbClr val="FFFFFF"/>
                </a:solidFill>
                <a:latin typeface="Arial"/>
              </a:rPr>
              <a:t>7</a:t>
            </a:r>
          </a:p>
        </p:txBody>
      </p:sp>
      <p:sp>
        <p:nvSpPr>
          <p:cNvPr id="22" name="TextBox 21"/>
          <p:cNvSpPr txBox="1"/>
          <p:nvPr/>
        </p:nvSpPr>
        <p:spPr>
          <a:xfrm>
            <a:off x="3108960" y="7765542"/>
            <a:ext cx="8229600" cy="689228"/>
          </a:xfrm>
          <a:prstGeom prst="rect">
            <a:avLst/>
          </a:prstGeom>
          <a:noFill/>
        </p:spPr>
        <p:txBody>
          <a:bodyPr wrap="square" lIns="0" rIns="0" tIns="0" bIns="0" anchor="t">
            <a:noAutofit/>
          </a:bodyPr>
          <a:lstStyle/>
          <a:p>
            <a:pPr algn="l">
              <a:lnSpc>
                <a:spcPct val="106000"/>
              </a:lnSpc>
              <a:spcBef>
                <a:spcPts val="0"/>
              </a:spcBef>
              <a:spcAft>
                <a:spcPts val="0"/>
              </a:spcAft>
            </a:pPr>
            <a:r>
              <a:rPr b="0" sz="1450" i="0">
                <a:solidFill>
                  <a:srgbClr val="1B3B47"/>
                </a:solidFill>
                <a:latin typeface="Arial"/>
              </a:rPr>
              <a:t>« Valider » : </a:t>
            </a:r>
            <a:r>
              <a:rPr sz="1305" b="0" i="0">
                <a:solidFill>
                  <a:srgbClr val="ED1548"/>
                </a:solidFill>
                <a:latin typeface="Consolas"/>
              </a:rPr>
              <a:t>forkJoin</a:t>
            </a:r>
            <a:r>
              <a:rPr b="0" sz="1450" i="0">
                <a:solidFill>
                  <a:srgbClr val="1B3B47"/>
                </a:solidFill>
                <a:latin typeface="Arial"/>
              </a:rPr>
              <a:t> des 2 PATCH, puis mise à jour du store ; « Litige ».</a:t>
            </a:r>
          </a:p>
        </p:txBody>
      </p:sp>
      <p:sp>
        <p:nvSpPr>
          <p:cNvPr id="23" name="Oval 22"/>
          <p:cNvSpPr/>
          <p:nvPr/>
        </p:nvSpPr>
        <p:spPr>
          <a:xfrm>
            <a:off x="2606040" y="8546211"/>
            <a:ext cx="329184" cy="329184"/>
          </a:xfrm>
          <a:prstGeom prst="ellipse">
            <a:avLst/>
          </a:prstGeom>
          <a:solidFill>
            <a:srgbClr val="ED1548"/>
          </a:solidFill>
          <a:ln>
            <a:noFill/>
          </a:ln>
          <a:effectLst/>
        </p:spPr>
        <p:txBody>
          <a:bodyPr rtlCol="0" anchor="ctr" lIns="0" rIns="0" tIns="0" bIns="0"/>
          <a:lstStyle/>
          <a:p>
            <a:pPr algn="ctr"/>
            <a:r>
              <a:rPr sz="1232" b="1">
                <a:solidFill>
                  <a:srgbClr val="FFFFFF"/>
                </a:solidFill>
                <a:latin typeface="Arial"/>
              </a:rPr>
              <a:t>8</a:t>
            </a:r>
          </a:p>
        </p:txBody>
      </p:sp>
      <p:sp>
        <p:nvSpPr>
          <p:cNvPr id="24" name="TextBox 23"/>
          <p:cNvSpPr txBox="1"/>
          <p:nvPr/>
        </p:nvSpPr>
        <p:spPr>
          <a:xfrm>
            <a:off x="3108960" y="8546211"/>
            <a:ext cx="8229600" cy="689228"/>
          </a:xfrm>
          <a:prstGeom prst="rect">
            <a:avLst/>
          </a:prstGeom>
          <a:noFill/>
        </p:spPr>
        <p:txBody>
          <a:bodyPr wrap="square" lIns="0" rIns="0" tIns="0" bIns="0" anchor="t">
            <a:noAutofit/>
          </a:bodyPr>
          <a:lstStyle/>
          <a:p>
            <a:pPr algn="l">
              <a:lnSpc>
                <a:spcPct val="106000"/>
              </a:lnSpc>
              <a:spcBef>
                <a:spcPts val="0"/>
              </a:spcBef>
              <a:spcAft>
                <a:spcPts val="0"/>
              </a:spcAft>
            </a:pPr>
            <a:r>
              <a:rPr b="0" sz="1450" i="0">
                <a:solidFill>
                  <a:srgbClr val="1B3B47"/>
                </a:solidFill>
                <a:latin typeface="Arial"/>
              </a:rPr>
              <a:t>Dashboard lazy : totaux, taux, litiges ; carte en </a:t>
            </a:r>
            <a:r>
              <a:rPr sz="1305" b="0" i="0">
                <a:solidFill>
                  <a:srgbClr val="ED1548"/>
                </a:solidFill>
                <a:latin typeface="Consolas"/>
              </a:rPr>
              <a:t>@defer (on viewport)</a:t>
            </a:r>
            <a:r>
              <a:rPr b="0" sz="1450" i="0">
                <a:solidFill>
                  <a:srgbClr val="1B3B47"/>
                </a:solidFill>
                <a:latin typeface="Arial"/>
              </a:rPr>
              <a:t>.</a:t>
            </a:r>
          </a:p>
        </p:txBody>
      </p:sp>
      <p:sp>
        <p:nvSpPr>
          <p:cNvPr id="25" name="Rounded Rectangle 24"/>
          <p:cNvSpPr/>
          <p:nvPr/>
        </p:nvSpPr>
        <p:spPr>
          <a:xfrm>
            <a:off x="11704320" y="3063240"/>
            <a:ext cx="5486400" cy="310896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6" name="TextBox 25"/>
          <p:cNvSpPr txBox="1"/>
          <p:nvPr/>
        </p:nvSpPr>
        <p:spPr>
          <a:xfrm>
            <a:off x="11960352" y="3246120"/>
            <a:ext cx="5120640" cy="274320"/>
          </a:xfrm>
          <a:prstGeom prst="rect">
            <a:avLst/>
          </a:prstGeom>
          <a:noFill/>
        </p:spPr>
        <p:txBody>
          <a:bodyPr wrap="square" lIns="0" rIns="0" tIns="0" bIns="0" anchor="t">
            <a:noAutofit/>
          </a:bodyPr>
          <a:lstStyle/>
          <a:p>
            <a:pPr algn="l">
              <a:lnSpc>
                <a:spcPct val="102000"/>
              </a:lnSpc>
              <a:spcBef>
                <a:spcPts val="0"/>
              </a:spcBef>
              <a:spcAft>
                <a:spcPts val="0"/>
              </a:spcAft>
            </a:pPr>
            <a:r>
              <a:rPr b="1" sz="1150" i="0">
                <a:solidFill>
                  <a:srgbClr val="ED1548"/>
                </a:solidFill>
                <a:latin typeface="Arial"/>
              </a:rPr>
              <a:t>CRITÈRES</a:t>
            </a:r>
          </a:p>
        </p:txBody>
      </p:sp>
      <p:sp>
        <p:nvSpPr>
          <p:cNvPr id="27" name="Rounded Rectangle 26"/>
          <p:cNvSpPr/>
          <p:nvPr/>
        </p:nvSpPr>
        <p:spPr>
          <a:xfrm>
            <a:off x="11960352" y="3657600"/>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8" name="TextBox 27"/>
          <p:cNvSpPr txBox="1"/>
          <p:nvPr/>
        </p:nvSpPr>
        <p:spPr>
          <a:xfrm>
            <a:off x="12326112" y="3630168"/>
            <a:ext cx="4754879"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La facture validée quitte la liste.</a:t>
            </a:r>
          </a:p>
        </p:txBody>
      </p:sp>
      <p:sp>
        <p:nvSpPr>
          <p:cNvPr id="29" name="Rounded Rectangle 28"/>
          <p:cNvSpPr/>
          <p:nvPr/>
        </p:nvSpPr>
        <p:spPr>
          <a:xfrm>
            <a:off x="11960352" y="3938905"/>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30" name="TextBox 29"/>
          <p:cNvSpPr txBox="1"/>
          <p:nvPr/>
        </p:nvSpPr>
        <p:spPr>
          <a:xfrm>
            <a:off x="12326112" y="3911473"/>
            <a:ext cx="4754879"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Le paiement disparaît des candidats.</a:t>
            </a:r>
          </a:p>
        </p:txBody>
      </p:sp>
      <p:sp>
        <p:nvSpPr>
          <p:cNvPr id="31" name="Rounded Rectangle 30"/>
          <p:cNvSpPr/>
          <p:nvPr/>
        </p:nvSpPr>
        <p:spPr>
          <a:xfrm>
            <a:off x="11960352" y="4220210"/>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32" name="TextBox 31"/>
          <p:cNvSpPr txBox="1"/>
          <p:nvPr/>
        </p:nvSpPr>
        <p:spPr>
          <a:xfrm>
            <a:off x="12326112" y="4192778"/>
            <a:ext cx="4754879"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Le dashboard se met à jour.</a:t>
            </a:r>
          </a:p>
        </p:txBody>
      </p:sp>
      <p:sp>
        <p:nvSpPr>
          <p:cNvPr id="33" name="Rounded Rectangle 32"/>
          <p:cNvSpPr/>
          <p:nvPr/>
        </p:nvSpPr>
        <p:spPr>
          <a:xfrm>
            <a:off x="11960352" y="4501515"/>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34" name="TextBox 33"/>
          <p:cNvSpPr txBox="1"/>
          <p:nvPr/>
        </p:nvSpPr>
        <p:spPr>
          <a:xfrm>
            <a:off x="12326112" y="4474083"/>
            <a:ext cx="4754879"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Un écart non nul exige un commentaire.</a:t>
            </a:r>
          </a:p>
        </p:txBody>
      </p:sp>
      <p:sp>
        <p:nvSpPr>
          <p:cNvPr id="35" name="Rounded Rectangle 34"/>
          <p:cNvSpPr/>
          <p:nvPr/>
        </p:nvSpPr>
        <p:spPr>
          <a:xfrm>
            <a:off x="11704320" y="6446520"/>
            <a:ext cx="5486400" cy="1737360"/>
          </a:xfrm>
          <a:prstGeom prst="roundRect">
            <a:avLst>
              <a:gd name="adj" fmla="val 8000"/>
            </a:avLst>
          </a:prstGeom>
          <a:solidFill>
            <a:srgbClr val="EBF6F8"/>
          </a:solidFill>
          <a:ln>
            <a:noFill/>
          </a:ln>
          <a:effectLst/>
        </p:spPr>
        <p:txBody>
          <a:bodyPr rtlCol="0" anchor="ctr"/>
          <a:lstStyle/>
          <a:p>
            <a:pPr algn="ctr"/>
          </a:p>
        </p:txBody>
      </p:sp>
      <p:sp>
        <p:nvSpPr>
          <p:cNvPr id="36" name="Rectangle 35"/>
          <p:cNvSpPr/>
          <p:nvPr/>
        </p:nvSpPr>
        <p:spPr>
          <a:xfrm>
            <a:off x="11704320" y="6446520"/>
            <a:ext cx="64008" cy="1737360"/>
          </a:xfrm>
          <a:prstGeom prst="rect">
            <a:avLst/>
          </a:prstGeom>
          <a:solidFill>
            <a:srgbClr val="0B4F6C"/>
          </a:solidFill>
          <a:ln>
            <a:noFill/>
          </a:ln>
          <a:effectLst/>
        </p:spPr>
        <p:txBody>
          <a:bodyPr rtlCol="0" anchor="ctr"/>
          <a:lstStyle/>
          <a:p>
            <a:pPr algn="ctr"/>
          </a:p>
        </p:txBody>
      </p:sp>
      <p:sp>
        <p:nvSpPr>
          <p:cNvPr id="37" name="TextBox 36"/>
          <p:cNvSpPr txBox="1"/>
          <p:nvPr/>
        </p:nvSpPr>
        <p:spPr>
          <a:xfrm>
            <a:off x="11996928" y="6611112"/>
            <a:ext cx="512064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DASHBOARD</a:t>
            </a:r>
          </a:p>
        </p:txBody>
      </p:sp>
      <p:sp>
        <p:nvSpPr>
          <p:cNvPr id="38" name="TextBox 37"/>
          <p:cNvSpPr txBox="1"/>
          <p:nvPr/>
        </p:nvSpPr>
        <p:spPr>
          <a:xfrm>
            <a:off x="11996928" y="6903720"/>
            <a:ext cx="5074920" cy="1170431"/>
          </a:xfrm>
          <a:prstGeom prst="rect">
            <a:avLst/>
          </a:prstGeom>
          <a:noFill/>
        </p:spPr>
        <p:txBody>
          <a:bodyPr wrap="square" lIns="0" rIns="0" tIns="0" bIns="0" anchor="t">
            <a:noAutofit/>
          </a:bodyPr>
          <a:lstStyle/>
          <a:p>
            <a:pPr algn="l">
              <a:lnSpc>
                <a:spcPct val="106000"/>
              </a:lnSpc>
              <a:spcBef>
                <a:spcPts val="0"/>
              </a:spcBef>
              <a:spcAft>
                <a:spcPts val="0"/>
              </a:spcAft>
            </a:pPr>
            <a:r>
              <a:rPr b="0" sz="1300" i="0">
                <a:solidFill>
                  <a:srgbClr val="1B3B47"/>
                </a:solidFill>
                <a:latin typeface="Arial"/>
              </a:rPr>
              <a:t>Computed pour le total TTC, le taux de rapprochement et les litiges. </a:t>
            </a:r>
            <a:r>
              <a:rPr sz="1170" b="0" i="0">
                <a:solidFill>
                  <a:srgbClr val="0B4F6C"/>
                </a:solidFill>
                <a:latin typeface="Consolas"/>
              </a:rPr>
              <a:t>@defer (on viewport)</a:t>
            </a:r>
            <a:r>
              <a:rPr b="0" sz="1300" i="0">
                <a:solidFill>
                  <a:srgbClr val="1B3B47"/>
                </a:solidFill>
                <a:latin typeface="Arial"/>
              </a:rPr>
              <a:t> pour ne pas charger les cartes au démarrage.</a:t>
            </a:r>
          </a:p>
        </p:txBody>
      </p:sp>
      <p:sp>
        <p:nvSpPr>
          <p:cNvPr id="39" name="TextBox 38"/>
          <p:cNvSpPr txBox="1"/>
          <p:nvPr/>
        </p:nvSpPr>
        <p:spPr>
          <a:xfrm>
            <a:off x="11704320" y="8412480"/>
            <a:ext cx="5486400" cy="640080"/>
          </a:xfrm>
          <a:prstGeom prst="rect">
            <a:avLst/>
          </a:prstGeom>
          <a:noFill/>
        </p:spPr>
        <p:txBody>
          <a:bodyPr wrap="square" lIns="0" rIns="0" tIns="0" bIns="0" anchor="t">
            <a:noAutofit/>
          </a:bodyPr>
          <a:lstStyle/>
          <a:p>
            <a:pPr algn="l">
              <a:lnSpc>
                <a:spcPct val="105000"/>
              </a:lnSpc>
              <a:spcBef>
                <a:spcPts val="0"/>
              </a:spcBef>
              <a:spcAft>
                <a:spcPts val="0"/>
              </a:spcAft>
            </a:pPr>
            <a:r>
              <a:rPr b="0" sz="1150" i="0">
                <a:solidFill>
                  <a:srgbClr val="5C6E76"/>
                </a:solidFill>
                <a:latin typeface="Arial"/>
              </a:rPr>
              <a:t>Si </a:t>
            </a:r>
            <a:r>
              <a:rPr sz="1035" b="0" i="0">
                <a:solidFill>
                  <a:srgbClr val="ED1548"/>
                </a:solidFill>
                <a:latin typeface="Consolas"/>
              </a:rPr>
              <a:t>forkJoin</a:t>
            </a:r>
            <a:r>
              <a:rPr b="0" sz="1150" i="0">
                <a:solidFill>
                  <a:srgbClr val="5C6E76"/>
                </a:solidFill>
                <a:latin typeface="Arial"/>
              </a:rPr>
              <a:t> échoue, le store ne doit pas être mis à jour : gérer l'erreur avant le </a:t>
            </a:r>
            <a:r>
              <a:rPr sz="1035" b="0" i="0">
                <a:solidFill>
                  <a:srgbClr val="ED1548"/>
                </a:solidFill>
                <a:latin typeface="Consolas"/>
              </a:rPr>
              <a:t>tap</a:t>
            </a:r>
            <a:r>
              <a:rPr b="0" sz="1150" i="0">
                <a:solidFill>
                  <a:srgbClr val="5C6E76"/>
                </a:solidFill>
                <a:latin typeface="Arial"/>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3  ·  TRANSVERSE</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Guards et interceptors : la logique transverse</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Écrite une fois, appliquée partout : erreur, loading, sortie de formulaire.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45 / 62</a:t>
            </a:r>
          </a:p>
        </p:txBody>
      </p:sp>
      <p:sp>
        <p:nvSpPr>
          <p:cNvPr id="9" name="Rounded Rectangle 8"/>
          <p:cNvSpPr/>
          <p:nvPr/>
        </p:nvSpPr>
        <p:spPr>
          <a:xfrm>
            <a:off x="2606040" y="3063240"/>
            <a:ext cx="8412480" cy="420624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p>
        </p:txBody>
      </p:sp>
      <p:sp>
        <p:nvSpPr>
          <p:cNvPr id="11" name="TextBox 10"/>
          <p:cNvSpPr txBox="1"/>
          <p:nvPr/>
        </p:nvSpPr>
        <p:spPr>
          <a:xfrm>
            <a:off x="2990088" y="3172968"/>
            <a:ext cx="777240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interceptors + guard</a:t>
            </a:r>
          </a:p>
        </p:txBody>
      </p:sp>
      <p:sp>
        <p:nvSpPr>
          <p:cNvPr id="12" name="TextBox 11"/>
          <p:cNvSpPr txBox="1"/>
          <p:nvPr/>
        </p:nvSpPr>
        <p:spPr>
          <a:xfrm>
            <a:off x="2852928" y="3538728"/>
            <a:ext cx="7955279" cy="3566160"/>
          </a:xfrm>
          <a:prstGeom prst="rect">
            <a:avLst/>
          </a:prstGeom>
          <a:noFill/>
        </p:spPr>
        <p:txBody>
          <a:bodyPr wrap="none" lIns="0" rIns="0" tIns="0" bIns="0">
            <a:noAutofit/>
          </a:bodyPr>
          <a:lstStyle/>
          <a:p>
            <a:pPr>
              <a:lnSpc>
                <a:spcPct val="100000"/>
              </a:lnSpc>
              <a:spcBef>
                <a:spcPts val="0"/>
              </a:spcBef>
              <a:spcAft>
                <a:spcPts val="0"/>
              </a:spcAft>
            </a:pPr>
            <a:r>
              <a:rPr sz="1250">
                <a:solidFill>
                  <a:srgbClr val="7FD1E0"/>
                </a:solidFill>
                <a:latin typeface="Consolas"/>
              </a:rPr>
              <a:t>export</a:t>
            </a:r>
            <a:r>
              <a:rPr sz="1250">
                <a:solidFill>
                  <a:srgbClr val="EAF2F4"/>
                </a:solidFill>
                <a:latin typeface="Consolas"/>
              </a:rPr>
              <a:t> </a:t>
            </a:r>
            <a:r>
              <a:rPr sz="1250">
                <a:solidFill>
                  <a:srgbClr val="7FD1E0"/>
                </a:solidFill>
                <a:latin typeface="Consolas"/>
              </a:rPr>
              <a:t>const</a:t>
            </a:r>
            <a:r>
              <a:rPr sz="1250">
                <a:solidFill>
                  <a:srgbClr val="EAF2F4"/>
                </a:solidFill>
                <a:latin typeface="Consolas"/>
              </a:rPr>
              <a:t> authInterceptor: HttpInterceptorFn = (req, next) =&gt;</a:t>
            </a:r>
          </a:p>
          <a:p>
            <a:pPr>
              <a:lnSpc>
                <a:spcPct val="100000"/>
              </a:lnSpc>
              <a:spcBef>
                <a:spcPts val="0"/>
              </a:spcBef>
              <a:spcAft>
                <a:spcPts val="0"/>
              </a:spcAft>
            </a:pPr>
            <a:r>
              <a:rPr sz="1250">
                <a:solidFill>
                  <a:srgbClr val="EAF2F4"/>
                </a:solidFill>
                <a:latin typeface="Consolas"/>
              </a:rPr>
              <a:t>  next(req.clone({</a:t>
            </a:r>
          </a:p>
          <a:p>
            <a:pPr>
              <a:lnSpc>
                <a:spcPct val="100000"/>
              </a:lnSpc>
              <a:spcBef>
                <a:spcPts val="0"/>
              </a:spcBef>
              <a:spcAft>
                <a:spcPts val="0"/>
              </a:spcAft>
            </a:pPr>
            <a:r>
              <a:rPr sz="1250">
                <a:solidFill>
                  <a:srgbClr val="EAF2F4"/>
                </a:solidFill>
                <a:latin typeface="Consolas"/>
              </a:rPr>
              <a:t>    setHeaders: { Authorization: </a:t>
            </a:r>
            <a:r>
              <a:rPr sz="1250">
                <a:solidFill>
                  <a:srgbClr val="FFB3C1"/>
                </a:solidFill>
                <a:latin typeface="Consolas"/>
              </a:rPr>
              <a:t>`Bearer ${inject(AuthService).token()}`</a:t>
            </a:r>
            <a:r>
              <a:rPr sz="1250">
                <a:solidFill>
                  <a:srgbClr val="EAF2F4"/>
                </a:solidFill>
                <a:latin typeface="Consolas"/>
              </a:rPr>
              <a:t> },</a:t>
            </a:r>
          </a:p>
          <a:p>
            <a:pPr>
              <a:lnSpc>
                <a:spcPct val="100000"/>
              </a:lnSpc>
              <a:spcBef>
                <a:spcPts val="0"/>
              </a:spcBef>
              <a:spcAft>
                <a:spcPts val="0"/>
              </a:spcAft>
            </a:pPr>
            <a:r>
              <a:rPr sz="1250">
                <a:solidFill>
                  <a:srgbClr val="EAF2F4"/>
                </a:solidFill>
                <a:latin typeface="Consolas"/>
              </a:rPr>
              <a:t>  }));</a:t>
            </a:r>
          </a:p>
          <a:p>
            <a:pPr>
              <a:lnSpc>
                <a:spcPct val="100000"/>
              </a:lnSpc>
              <a:spcBef>
                <a:spcPts val="0"/>
              </a:spcBef>
              <a:spcAft>
                <a:spcPts val="0"/>
              </a:spcAft>
            </a:pPr>
          </a:p>
          <a:p>
            <a:pPr>
              <a:lnSpc>
                <a:spcPct val="100000"/>
              </a:lnSpc>
              <a:spcBef>
                <a:spcPts val="0"/>
              </a:spcBef>
              <a:spcAft>
                <a:spcPts val="0"/>
              </a:spcAft>
            </a:pPr>
            <a:r>
              <a:rPr sz="1250">
                <a:solidFill>
                  <a:srgbClr val="7FD1E0"/>
                </a:solidFill>
                <a:latin typeface="Consolas"/>
              </a:rPr>
              <a:t>export</a:t>
            </a:r>
            <a:r>
              <a:rPr sz="1250">
                <a:solidFill>
                  <a:srgbClr val="EAF2F4"/>
                </a:solidFill>
                <a:latin typeface="Consolas"/>
              </a:rPr>
              <a:t> </a:t>
            </a:r>
            <a:r>
              <a:rPr sz="1250">
                <a:solidFill>
                  <a:srgbClr val="7FD1E0"/>
                </a:solidFill>
                <a:latin typeface="Consolas"/>
              </a:rPr>
              <a:t>const</a:t>
            </a:r>
            <a:r>
              <a:rPr sz="1250">
                <a:solidFill>
                  <a:srgbClr val="EAF2F4"/>
                </a:solidFill>
                <a:latin typeface="Consolas"/>
              </a:rPr>
              <a:t> unsavedChanges: CanDeactivateFn&lt;FactureFormComponent&gt; =</a:t>
            </a:r>
          </a:p>
          <a:p>
            <a:pPr>
              <a:lnSpc>
                <a:spcPct val="100000"/>
              </a:lnSpc>
              <a:spcBef>
                <a:spcPts val="0"/>
              </a:spcBef>
              <a:spcAft>
                <a:spcPts val="0"/>
              </a:spcAft>
            </a:pPr>
            <a:r>
              <a:rPr sz="1250">
                <a:solidFill>
                  <a:srgbClr val="EAF2F4"/>
                </a:solidFill>
                <a:latin typeface="Consolas"/>
              </a:rPr>
              <a:t>  (c) =&gt; !c.form.dirty || confirm(</a:t>
            </a:r>
            <a:r>
              <a:rPr sz="1250">
                <a:solidFill>
                  <a:srgbClr val="FFB3C1"/>
                </a:solidFill>
                <a:latin typeface="Consolas"/>
              </a:rPr>
              <a:t>'Quitter sans enregistrer ?'</a:t>
            </a:r>
            <a:r>
              <a:rPr sz="1250">
                <a:solidFill>
                  <a:srgbClr val="EAF2F4"/>
                </a:solidFill>
                <a:latin typeface="Consolas"/>
              </a:rPr>
              <a:t>);</a:t>
            </a:r>
          </a:p>
        </p:txBody>
      </p:sp>
      <p:sp>
        <p:nvSpPr>
          <p:cNvPr id="13" name="Rounded Rectangle 12"/>
          <p:cNvSpPr/>
          <p:nvPr/>
        </p:nvSpPr>
        <p:spPr>
          <a:xfrm>
            <a:off x="2606040" y="7589520"/>
            <a:ext cx="8412480" cy="1737360"/>
          </a:xfrm>
          <a:prstGeom prst="roundRect">
            <a:avLst>
              <a:gd name="adj" fmla="val 8000"/>
            </a:avLst>
          </a:prstGeom>
          <a:solidFill>
            <a:srgbClr val="EBF6F8"/>
          </a:solidFill>
          <a:ln>
            <a:noFill/>
          </a:ln>
          <a:effectLst/>
        </p:spPr>
        <p:txBody>
          <a:bodyPr rtlCol="0" anchor="ctr"/>
          <a:lstStyle/>
          <a:p>
            <a:pPr algn="ctr"/>
          </a:p>
        </p:txBody>
      </p:sp>
      <p:sp>
        <p:nvSpPr>
          <p:cNvPr id="14" name="Rectangle 13"/>
          <p:cNvSpPr/>
          <p:nvPr/>
        </p:nvSpPr>
        <p:spPr>
          <a:xfrm>
            <a:off x="2606040" y="7589520"/>
            <a:ext cx="64008" cy="1737360"/>
          </a:xfrm>
          <a:prstGeom prst="rect">
            <a:avLst/>
          </a:prstGeom>
          <a:solidFill>
            <a:srgbClr val="0B4F6C"/>
          </a:solidFill>
          <a:ln>
            <a:noFill/>
          </a:ln>
          <a:effectLst/>
        </p:spPr>
        <p:txBody>
          <a:bodyPr rtlCol="0" anchor="ctr"/>
          <a:lstStyle/>
          <a:p>
            <a:pPr algn="ctr"/>
          </a:p>
        </p:txBody>
      </p:sp>
      <p:sp>
        <p:nvSpPr>
          <p:cNvPr id="15" name="TextBox 14"/>
          <p:cNvSpPr txBox="1"/>
          <p:nvPr/>
        </p:nvSpPr>
        <p:spPr>
          <a:xfrm>
            <a:off x="2898648" y="7754112"/>
            <a:ext cx="7909559"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ENREGISTREMENT</a:t>
            </a:r>
          </a:p>
        </p:txBody>
      </p:sp>
      <p:sp>
        <p:nvSpPr>
          <p:cNvPr id="16" name="TextBox 15"/>
          <p:cNvSpPr txBox="1"/>
          <p:nvPr/>
        </p:nvSpPr>
        <p:spPr>
          <a:xfrm>
            <a:off x="2898648" y="8046720"/>
            <a:ext cx="7863840" cy="1170431"/>
          </a:xfrm>
          <a:prstGeom prst="rect">
            <a:avLst/>
          </a:prstGeom>
          <a:noFill/>
        </p:spPr>
        <p:txBody>
          <a:bodyPr wrap="square" lIns="0" rIns="0" tIns="0" bIns="0" anchor="t">
            <a:noAutofit/>
          </a:bodyPr>
          <a:lstStyle/>
          <a:p>
            <a:pPr algn="l">
              <a:lnSpc>
                <a:spcPct val="106000"/>
              </a:lnSpc>
              <a:spcBef>
                <a:spcPts val="0"/>
              </a:spcBef>
              <a:spcAft>
                <a:spcPts val="0"/>
              </a:spcAft>
            </a:pPr>
            <a:r>
              <a:rPr sz="1215" b="0" i="0">
                <a:solidFill>
                  <a:srgbClr val="0B4F6C"/>
                </a:solidFill>
                <a:latin typeface="Consolas"/>
              </a:rPr>
              <a:t>provideHttpClient(withInterceptors([errorInterceptor, loadingInterceptor]))</a:t>
            </a:r>
            <a:r>
              <a:rPr b="0" sz="1350" i="0">
                <a:solidFill>
                  <a:srgbClr val="1B3B47"/>
                </a:solidFill>
                <a:latin typeface="Arial"/>
              </a:rPr>
              <a:t> dans </a:t>
            </a:r>
            <a:r>
              <a:rPr sz="1215" b="0" i="0">
                <a:solidFill>
                  <a:srgbClr val="0B4F6C"/>
                </a:solidFill>
                <a:latin typeface="Consolas"/>
              </a:rPr>
              <a:t>app.config.ts</a:t>
            </a:r>
            <a:r>
              <a:rPr b="0" sz="1350" i="0">
                <a:solidFill>
                  <a:srgbClr val="1B3B47"/>
                </a:solidFill>
                <a:latin typeface="Arial"/>
              </a:rPr>
              <a:t>. Les guards se déclarent sur la route (</a:t>
            </a:r>
            <a:r>
              <a:rPr sz="1215" b="0" i="0">
                <a:solidFill>
                  <a:srgbClr val="0B4F6C"/>
                </a:solidFill>
                <a:latin typeface="Consolas"/>
              </a:rPr>
              <a:t>canDeactivate</a:t>
            </a:r>
            <a:r>
              <a:rPr b="0" sz="1350" i="0">
                <a:solidFill>
                  <a:srgbClr val="1B3B47"/>
                </a:solidFill>
                <a:latin typeface="Arial"/>
              </a:rPr>
              <a:t>).</a:t>
            </a:r>
          </a:p>
        </p:txBody>
      </p:sp>
      <p:sp>
        <p:nvSpPr>
          <p:cNvPr id="17" name="Rounded Rectangle 16"/>
          <p:cNvSpPr/>
          <p:nvPr/>
        </p:nvSpPr>
        <p:spPr>
          <a:xfrm>
            <a:off x="11338560" y="3063240"/>
            <a:ext cx="5852160" cy="457200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8" name="TextBox 17"/>
          <p:cNvSpPr txBox="1"/>
          <p:nvPr/>
        </p:nvSpPr>
        <p:spPr>
          <a:xfrm>
            <a:off x="11612880" y="3246120"/>
            <a:ext cx="5486400" cy="274320"/>
          </a:xfrm>
          <a:prstGeom prst="rect">
            <a:avLst/>
          </a:prstGeom>
          <a:noFill/>
        </p:spPr>
        <p:txBody>
          <a:bodyPr wrap="square" lIns="0" rIns="0" tIns="0" bIns="0" anchor="t">
            <a:noAutofit/>
          </a:bodyPr>
          <a:lstStyle/>
          <a:p>
            <a:pPr algn="l">
              <a:lnSpc>
                <a:spcPct val="102000"/>
              </a:lnSpc>
              <a:spcBef>
                <a:spcPts val="0"/>
              </a:spcBef>
              <a:spcAft>
                <a:spcPts val="0"/>
              </a:spcAft>
            </a:pPr>
            <a:r>
              <a:rPr b="1" sz="1600" i="0">
                <a:solidFill>
                  <a:srgbClr val="ED1548"/>
                </a:solidFill>
                <a:latin typeface="Arial"/>
              </a:rPr>
              <a:t>TP 2 — Transverse</a:t>
            </a:r>
          </a:p>
        </p:txBody>
      </p:sp>
      <p:sp>
        <p:nvSpPr>
          <p:cNvPr id="19" name="Oval 18"/>
          <p:cNvSpPr/>
          <p:nvPr/>
        </p:nvSpPr>
        <p:spPr>
          <a:xfrm>
            <a:off x="11612880" y="3721607"/>
            <a:ext cx="329184" cy="329184"/>
          </a:xfrm>
          <a:prstGeom prst="ellipse">
            <a:avLst/>
          </a:prstGeom>
          <a:solidFill>
            <a:srgbClr val="ED1548"/>
          </a:solidFill>
          <a:ln>
            <a:noFill/>
          </a:ln>
          <a:effectLst/>
        </p:spPr>
        <p:txBody>
          <a:bodyPr rtlCol="0" anchor="ctr" lIns="0" rIns="0" tIns="0" bIns="0"/>
          <a:lstStyle/>
          <a:p>
            <a:pPr algn="ctr"/>
            <a:r>
              <a:rPr sz="1147" b="1">
                <a:solidFill>
                  <a:srgbClr val="FFFFFF"/>
                </a:solidFill>
                <a:latin typeface="Arial"/>
              </a:rPr>
              <a:t>1</a:t>
            </a:r>
          </a:p>
        </p:txBody>
      </p:sp>
      <p:sp>
        <p:nvSpPr>
          <p:cNvPr id="20" name="TextBox 19"/>
          <p:cNvSpPr txBox="1"/>
          <p:nvPr/>
        </p:nvSpPr>
        <p:spPr>
          <a:xfrm>
            <a:off x="12115800" y="3721607"/>
            <a:ext cx="4983480" cy="877823"/>
          </a:xfrm>
          <a:prstGeom prst="rect">
            <a:avLst/>
          </a:prstGeom>
          <a:noFill/>
        </p:spPr>
        <p:txBody>
          <a:bodyPr wrap="square" lIns="0" rIns="0" tIns="0" bIns="0" anchor="t">
            <a:noAutofit/>
          </a:bodyPr>
          <a:lstStyle/>
          <a:p>
            <a:pPr algn="l">
              <a:lnSpc>
                <a:spcPct val="106000"/>
              </a:lnSpc>
              <a:spcBef>
                <a:spcPts val="0"/>
              </a:spcBef>
              <a:spcAft>
                <a:spcPts val="0"/>
              </a:spcAft>
            </a:pPr>
            <a:r>
              <a:rPr sz="1215" b="0" i="0">
                <a:solidFill>
                  <a:srgbClr val="ED1548"/>
                </a:solidFill>
                <a:latin typeface="Consolas"/>
              </a:rPr>
              <a:t>ng g interceptor core/interceptors/error</a:t>
            </a:r>
            <a:r>
              <a:rPr b="0" sz="1350" i="0">
                <a:solidFill>
                  <a:srgbClr val="1B3B47"/>
                </a:solidFill>
                <a:latin typeface="Arial"/>
              </a:rPr>
              <a:t> : snackbar puis relance.</a:t>
            </a:r>
          </a:p>
        </p:txBody>
      </p:sp>
      <p:sp>
        <p:nvSpPr>
          <p:cNvPr id="21" name="Oval 20"/>
          <p:cNvSpPr/>
          <p:nvPr/>
        </p:nvSpPr>
        <p:spPr>
          <a:xfrm>
            <a:off x="11612880" y="4672583"/>
            <a:ext cx="329184" cy="329184"/>
          </a:xfrm>
          <a:prstGeom prst="ellipse">
            <a:avLst/>
          </a:prstGeom>
          <a:solidFill>
            <a:srgbClr val="ED1548"/>
          </a:solidFill>
          <a:ln>
            <a:noFill/>
          </a:ln>
          <a:effectLst/>
        </p:spPr>
        <p:txBody>
          <a:bodyPr rtlCol="0" anchor="ctr" lIns="0" rIns="0" tIns="0" bIns="0"/>
          <a:lstStyle/>
          <a:p>
            <a:pPr algn="ctr"/>
            <a:r>
              <a:rPr sz="1147" b="1">
                <a:solidFill>
                  <a:srgbClr val="FFFFFF"/>
                </a:solidFill>
                <a:latin typeface="Arial"/>
              </a:rPr>
              <a:t>2</a:t>
            </a:r>
          </a:p>
        </p:txBody>
      </p:sp>
      <p:sp>
        <p:nvSpPr>
          <p:cNvPr id="22" name="TextBox 21"/>
          <p:cNvSpPr txBox="1"/>
          <p:nvPr/>
        </p:nvSpPr>
        <p:spPr>
          <a:xfrm>
            <a:off x="12115800" y="4672583"/>
            <a:ext cx="4983480" cy="877823"/>
          </a:xfrm>
          <a:prstGeom prst="rect">
            <a:avLst/>
          </a:prstGeom>
          <a:noFill/>
        </p:spPr>
        <p:txBody>
          <a:bodyPr wrap="square" lIns="0" rIns="0" tIns="0" bIns="0" anchor="t">
            <a:noAutofit/>
          </a:bodyPr>
          <a:lstStyle/>
          <a:p>
            <a:pPr algn="l">
              <a:lnSpc>
                <a:spcPct val="106000"/>
              </a:lnSpc>
              <a:spcBef>
                <a:spcPts val="0"/>
              </a:spcBef>
              <a:spcAft>
                <a:spcPts val="0"/>
              </a:spcAft>
            </a:pPr>
            <a:r>
              <a:rPr sz="1215" b="0" i="0">
                <a:solidFill>
                  <a:srgbClr val="ED1548"/>
                </a:solidFill>
                <a:latin typeface="Consolas"/>
              </a:rPr>
              <a:t>ng g interceptor core/interceptors/loading</a:t>
            </a:r>
            <a:r>
              <a:rPr b="0" sz="1350" i="0">
                <a:solidFill>
                  <a:srgbClr val="1B3B47"/>
                </a:solidFill>
                <a:latin typeface="Arial"/>
              </a:rPr>
              <a:t> : compteur </a:t>
            </a:r>
            <a:r>
              <a:rPr sz="1215" b="0" i="0">
                <a:solidFill>
                  <a:srgbClr val="ED1548"/>
                </a:solidFill>
                <a:latin typeface="Consolas"/>
              </a:rPr>
              <a:t>pending</a:t>
            </a:r>
            <a:r>
              <a:rPr b="0" sz="1350" i="0">
                <a:solidFill>
                  <a:srgbClr val="1B3B47"/>
                </a:solidFill>
                <a:latin typeface="Arial"/>
              </a:rPr>
              <a:t>.</a:t>
            </a:r>
          </a:p>
        </p:txBody>
      </p:sp>
      <p:sp>
        <p:nvSpPr>
          <p:cNvPr id="23" name="Oval 22"/>
          <p:cNvSpPr/>
          <p:nvPr/>
        </p:nvSpPr>
        <p:spPr>
          <a:xfrm>
            <a:off x="11612880" y="5623559"/>
            <a:ext cx="329184" cy="329184"/>
          </a:xfrm>
          <a:prstGeom prst="ellipse">
            <a:avLst/>
          </a:prstGeom>
          <a:solidFill>
            <a:srgbClr val="ED1548"/>
          </a:solidFill>
          <a:ln>
            <a:noFill/>
          </a:ln>
          <a:effectLst/>
        </p:spPr>
        <p:txBody>
          <a:bodyPr rtlCol="0" anchor="ctr" lIns="0" rIns="0" tIns="0" bIns="0"/>
          <a:lstStyle/>
          <a:p>
            <a:pPr algn="ctr"/>
            <a:r>
              <a:rPr sz="1147" b="1">
                <a:solidFill>
                  <a:srgbClr val="FFFFFF"/>
                </a:solidFill>
                <a:latin typeface="Arial"/>
              </a:rPr>
              <a:t>3</a:t>
            </a:r>
          </a:p>
        </p:txBody>
      </p:sp>
      <p:sp>
        <p:nvSpPr>
          <p:cNvPr id="24" name="TextBox 23"/>
          <p:cNvSpPr txBox="1"/>
          <p:nvPr/>
        </p:nvSpPr>
        <p:spPr>
          <a:xfrm>
            <a:off x="12115800" y="5623559"/>
            <a:ext cx="4983480" cy="877823"/>
          </a:xfrm>
          <a:prstGeom prst="rect">
            <a:avLst/>
          </a:prstGeom>
          <a:noFill/>
        </p:spPr>
        <p:txBody>
          <a:bodyPr wrap="square" lIns="0" rIns="0" tIns="0" bIns="0" anchor="t">
            <a:noAutofit/>
          </a:bodyPr>
          <a:lstStyle/>
          <a:p>
            <a:pPr algn="l">
              <a:lnSpc>
                <a:spcPct val="106000"/>
              </a:lnSpc>
              <a:spcBef>
                <a:spcPts val="0"/>
              </a:spcBef>
              <a:spcAft>
                <a:spcPts val="0"/>
              </a:spcAft>
            </a:pPr>
            <a:r>
              <a:rPr b="0" sz="1350" i="0">
                <a:solidFill>
                  <a:srgbClr val="1B3B47"/>
                </a:solidFill>
                <a:latin typeface="Arial"/>
              </a:rPr>
              <a:t>Enregistrer avec </a:t>
            </a:r>
            <a:r>
              <a:rPr sz="1215" b="0" i="0">
                <a:solidFill>
                  <a:srgbClr val="ED1548"/>
                </a:solidFill>
                <a:latin typeface="Consolas"/>
              </a:rPr>
              <a:t>withInterceptors([...])</a:t>
            </a:r>
            <a:r>
              <a:rPr b="0" sz="1350" i="0">
                <a:solidFill>
                  <a:srgbClr val="1B3B47"/>
                </a:solidFill>
                <a:latin typeface="Arial"/>
              </a:rPr>
              <a:t>.</a:t>
            </a:r>
          </a:p>
        </p:txBody>
      </p:sp>
      <p:sp>
        <p:nvSpPr>
          <p:cNvPr id="25" name="Oval 24"/>
          <p:cNvSpPr/>
          <p:nvPr/>
        </p:nvSpPr>
        <p:spPr>
          <a:xfrm>
            <a:off x="11612880" y="6574535"/>
            <a:ext cx="329184" cy="329184"/>
          </a:xfrm>
          <a:prstGeom prst="ellipse">
            <a:avLst/>
          </a:prstGeom>
          <a:solidFill>
            <a:srgbClr val="ED1548"/>
          </a:solidFill>
          <a:ln>
            <a:noFill/>
          </a:ln>
          <a:effectLst/>
        </p:spPr>
        <p:txBody>
          <a:bodyPr rtlCol="0" anchor="ctr" lIns="0" rIns="0" tIns="0" bIns="0"/>
          <a:lstStyle/>
          <a:p>
            <a:pPr algn="ctr"/>
            <a:r>
              <a:rPr sz="1147" b="1">
                <a:solidFill>
                  <a:srgbClr val="FFFFFF"/>
                </a:solidFill>
                <a:latin typeface="Arial"/>
              </a:rPr>
              <a:t>4</a:t>
            </a:r>
          </a:p>
        </p:txBody>
      </p:sp>
      <p:sp>
        <p:nvSpPr>
          <p:cNvPr id="26" name="TextBox 25"/>
          <p:cNvSpPr txBox="1"/>
          <p:nvPr/>
        </p:nvSpPr>
        <p:spPr>
          <a:xfrm>
            <a:off x="12115800" y="6574535"/>
            <a:ext cx="4983480" cy="877823"/>
          </a:xfrm>
          <a:prstGeom prst="rect">
            <a:avLst/>
          </a:prstGeom>
          <a:noFill/>
        </p:spPr>
        <p:txBody>
          <a:bodyPr wrap="square" lIns="0" rIns="0" tIns="0" bIns="0" anchor="t">
            <a:noAutofit/>
          </a:bodyPr>
          <a:lstStyle/>
          <a:p>
            <a:pPr algn="l">
              <a:lnSpc>
                <a:spcPct val="106000"/>
              </a:lnSpc>
              <a:spcBef>
                <a:spcPts val="0"/>
              </a:spcBef>
              <a:spcAft>
                <a:spcPts val="0"/>
              </a:spcAft>
            </a:pPr>
            <a:r>
              <a:rPr sz="1215" b="0" i="0">
                <a:solidFill>
                  <a:srgbClr val="ED1548"/>
                </a:solidFill>
                <a:latin typeface="Consolas"/>
              </a:rPr>
              <a:t>ng g guard core/guards/unsaved-changes</a:t>
            </a:r>
            <a:r>
              <a:rPr b="0" sz="1350" i="0">
                <a:solidFill>
                  <a:srgbClr val="1B3B47"/>
                </a:solidFill>
                <a:latin typeface="Arial"/>
              </a:rPr>
              <a:t> sur le formulaire.</a:t>
            </a:r>
          </a:p>
        </p:txBody>
      </p:sp>
      <p:sp>
        <p:nvSpPr>
          <p:cNvPr id="27" name="Rounded Rectangle 26"/>
          <p:cNvSpPr/>
          <p:nvPr/>
        </p:nvSpPr>
        <p:spPr>
          <a:xfrm>
            <a:off x="11338560" y="7863840"/>
            <a:ext cx="5852160" cy="1188720"/>
          </a:xfrm>
          <a:prstGeom prst="roundRect">
            <a:avLst>
              <a:gd name="adj" fmla="val 8000"/>
            </a:avLst>
          </a:prstGeom>
          <a:solidFill>
            <a:srgbClr val="FFF6E5"/>
          </a:solidFill>
          <a:ln>
            <a:noFill/>
          </a:ln>
          <a:effectLst/>
        </p:spPr>
        <p:txBody>
          <a:bodyPr rtlCol="0" anchor="ctr"/>
          <a:lstStyle/>
          <a:p>
            <a:pPr algn="ctr"/>
          </a:p>
        </p:txBody>
      </p:sp>
      <p:sp>
        <p:nvSpPr>
          <p:cNvPr id="28" name="Rectangle 27"/>
          <p:cNvSpPr/>
          <p:nvPr/>
        </p:nvSpPr>
        <p:spPr>
          <a:xfrm>
            <a:off x="11338560" y="7863840"/>
            <a:ext cx="64008" cy="1188720"/>
          </a:xfrm>
          <a:prstGeom prst="rect">
            <a:avLst/>
          </a:prstGeom>
          <a:solidFill>
            <a:srgbClr val="B26A00"/>
          </a:solidFill>
          <a:ln>
            <a:noFill/>
          </a:ln>
          <a:effectLst/>
        </p:spPr>
        <p:txBody>
          <a:bodyPr rtlCol="0" anchor="ctr"/>
          <a:lstStyle/>
          <a:p>
            <a:pPr algn="ctr"/>
          </a:p>
        </p:txBody>
      </p:sp>
      <p:sp>
        <p:nvSpPr>
          <p:cNvPr id="29" name="TextBox 28"/>
          <p:cNvSpPr txBox="1"/>
          <p:nvPr/>
        </p:nvSpPr>
        <p:spPr>
          <a:xfrm>
            <a:off x="11631168" y="8028431"/>
            <a:ext cx="54864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B26A00"/>
                </a:solidFill>
                <a:latin typeface="Arial"/>
              </a:rPr>
              <a:t>PIÈGE</a:t>
            </a:r>
          </a:p>
        </p:txBody>
      </p:sp>
      <p:sp>
        <p:nvSpPr>
          <p:cNvPr id="30" name="TextBox 29"/>
          <p:cNvSpPr txBox="1"/>
          <p:nvPr/>
        </p:nvSpPr>
        <p:spPr>
          <a:xfrm>
            <a:off x="11631168" y="8321040"/>
            <a:ext cx="5440680" cy="621792"/>
          </a:xfrm>
          <a:prstGeom prst="rect">
            <a:avLst/>
          </a:prstGeom>
          <a:noFill/>
        </p:spPr>
        <p:txBody>
          <a:bodyPr wrap="square" lIns="0" rIns="0" tIns="0" bIns="0" anchor="t">
            <a:noAutofit/>
          </a:bodyPr>
          <a:lstStyle/>
          <a:p>
            <a:pPr algn="l">
              <a:lnSpc>
                <a:spcPct val="106000"/>
              </a:lnSpc>
              <a:spcBef>
                <a:spcPts val="0"/>
              </a:spcBef>
              <a:spcAft>
                <a:spcPts val="0"/>
              </a:spcAft>
            </a:pPr>
            <a:r>
              <a:rPr b="0" sz="1300" i="0">
                <a:solidFill>
                  <a:srgbClr val="1B3B47"/>
                </a:solidFill>
                <a:latin typeface="Arial"/>
              </a:rPr>
              <a:t>Un interceptor qui avale l'erreur empêche l'appelant de réagir. Relancer l'erreur après la snackbar.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3  ·  TESTS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Vitest remplace Karma et Jasmine</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La commande reste </a:t>
            </a:r>
            <a:r>
              <a:rPr sz="1800" b="0" i="0">
                <a:solidFill>
                  <a:srgbClr val="ED1548"/>
                </a:solidFill>
                <a:latin typeface="Consolas"/>
              </a:rPr>
              <a:t>ng test</a:t>
            </a:r>
            <a:r>
              <a:rPr b="0" sz="2000" i="0">
                <a:solidFill>
                  <a:srgbClr val="5C6E76"/>
                </a:solidFill>
                <a:latin typeface="Arial"/>
              </a:rPr>
              <a:t> ; le builder </a:t>
            </a:r>
            <a:r>
              <a:rPr sz="1800" b="0" i="0">
                <a:solidFill>
                  <a:srgbClr val="ED1548"/>
                </a:solidFill>
                <a:latin typeface="Consolas"/>
              </a:rPr>
              <a:t>@angular/build:unit-test</a:t>
            </a:r>
            <a:r>
              <a:rPr b="0" sz="2000" i="0">
                <a:solidFill>
                  <a:srgbClr val="5C6E76"/>
                </a:solidFill>
                <a:latin typeface="Arial"/>
              </a:rPr>
              <a:t> est configuré par la CLI.</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46 / 62</a:t>
            </a:r>
          </a:p>
        </p:txBody>
      </p:sp>
      <p:graphicFrame>
        <p:nvGraphicFramePr>
          <p:cNvPr id="9" name="Table 8"/>
          <p:cNvGraphicFramePr>
            <a:graphicFrameLocks noGrp="1"/>
          </p:cNvGraphicFramePr>
          <p:nvPr/>
        </p:nvGraphicFramePr>
        <p:xfrm>
          <a:off x="2606040" y="3063240"/>
          <a:ext cx="8412480" cy="3886200"/>
        </p:xfrm>
        <a:graphic>
          <a:graphicData uri="http://schemas.openxmlformats.org/drawingml/2006/table">
            <a:tbl>
              <a:tblPr>
                <a:tableStyleId>{5C22544A-7EE6-4342-B048-85BDC9FD1C3A}</a:tableStyleId>
              </a:tblPr>
              <a:tblGrid>
                <a:gridCol w="1920240"/>
                <a:gridCol w="3246120"/>
                <a:gridCol w="3246120"/>
              </a:tblGrid>
              <a:tr h="411480">
                <a:tc>
                  <a:txBody>
                    <a:bodyPr wrap="square"/>
                    <a:lstStyle/>
                    <a:p>
                      <a:pPr algn="l">
                        <a:lnSpc>
                          <a:spcPct val="100000"/>
                        </a:lnSpc>
                      </a:pPr>
                      <a:r>
                        <a:rPr b="1" sz="1300" i="0">
                          <a:solidFill>
                            <a:srgbClr val="FFFFFF"/>
                          </a:solidFill>
                          <a:latin typeface="Arial"/>
                        </a:rPr>
                        <a:t>Sujet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300" i="0">
                          <a:solidFill>
                            <a:srgbClr val="FFFFFF"/>
                          </a:solidFill>
                          <a:latin typeface="Arial"/>
                        </a:rPr>
                        <a:t>Karma + Jasmine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300" i="0">
                          <a:solidFill>
                            <a:srgbClr val="FFFFFF"/>
                          </a:solidFill>
                          <a:latin typeface="Arial"/>
                        </a:rPr>
                        <a:t>Vitest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r>
              <a:tr h="548640">
                <a:tc>
                  <a:txBody>
                    <a:bodyPr wrap="square"/>
                    <a:lstStyle/>
                    <a:p>
                      <a:pPr algn="l">
                        <a:lnSpc>
                          <a:spcPct val="100000"/>
                        </a:lnSpc>
                      </a:pPr>
                      <a:r>
                        <a:rPr b="0" sz="1350" i="0">
                          <a:solidFill>
                            <a:srgbClr val="1B3B47"/>
                          </a:solidFill>
                          <a:latin typeface="Arial"/>
                        </a:rPr>
                        <a:t>Structure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350" i="0">
                          <a:solidFill>
                            <a:srgbClr val="1B3B47"/>
                          </a:solidFill>
                          <a:latin typeface="Arial"/>
                        </a:rPr>
                        <a:t>describe / it / expect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350" i="0">
                          <a:solidFill>
                            <a:srgbClr val="1B3B47"/>
                          </a:solidFill>
                          <a:latin typeface="Arial"/>
                        </a:rPr>
                        <a:t>identique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640080">
                <a:tc>
                  <a:txBody>
                    <a:bodyPr wrap="square"/>
                    <a:lstStyle/>
                    <a:p>
                      <a:pPr algn="l">
                        <a:lnSpc>
                          <a:spcPct val="100000"/>
                        </a:lnSpc>
                      </a:pPr>
                      <a:r>
                        <a:rPr b="0" sz="1350" i="0">
                          <a:solidFill>
                            <a:srgbClr val="1B3B47"/>
                          </a:solidFill>
                          <a:latin typeface="Arial"/>
                        </a:rPr>
                        <a:t>Espions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350" i="0">
                          <a:solidFill>
                            <a:srgbClr val="1B3B47"/>
                          </a:solidFill>
                          <a:latin typeface="Arial"/>
                        </a:rPr>
                        <a:t>spyOn / jasmine.createSpy</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sz="1215" b="0" i="0">
                          <a:solidFill>
                            <a:srgbClr val="ED1548"/>
                          </a:solidFill>
                          <a:latin typeface="Consolas"/>
                        </a:rPr>
                        <a:t>vi.fn()</a:t>
                      </a:r>
                      <a:r>
                        <a:rPr b="0" sz="1350" i="0">
                          <a:solidFill>
                            <a:srgbClr val="1B3B47"/>
                          </a:solidFill>
                          <a:latin typeface="Arial"/>
                        </a:rPr>
                        <a:t> / </a:t>
                      </a:r>
                      <a:r>
                        <a:rPr sz="1215" b="0" i="0">
                          <a:solidFill>
                            <a:srgbClr val="ED1548"/>
                          </a:solidFill>
                          <a:latin typeface="Consolas"/>
                        </a:rPr>
                        <a:t>vi.spyOn</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548640">
                <a:tc>
                  <a:txBody>
                    <a:bodyPr wrap="square"/>
                    <a:lstStyle/>
                    <a:p>
                      <a:pPr algn="l">
                        <a:lnSpc>
                          <a:spcPct val="100000"/>
                        </a:lnSpc>
                      </a:pPr>
                      <a:r>
                        <a:rPr b="0" sz="1350" i="0">
                          <a:solidFill>
                            <a:srgbClr val="1B3B47"/>
                          </a:solidFill>
                          <a:latin typeface="Arial"/>
                        </a:rPr>
                        <a:t>Matchers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350" i="0">
                          <a:solidFill>
                            <a:srgbClr val="1B3B47"/>
                          </a:solidFill>
                          <a:latin typeface="Arial"/>
                        </a:rPr>
                        <a:t>Jasmine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350" i="0">
                          <a:solidFill>
                            <a:srgbClr val="1B3B47"/>
                          </a:solidFill>
                          <a:latin typeface="Arial"/>
                        </a:rPr>
                        <a:t>proches de Jest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548640">
                <a:tc>
                  <a:txBody>
                    <a:bodyPr wrap="square"/>
                    <a:lstStyle/>
                    <a:p>
                      <a:pPr algn="l">
                        <a:lnSpc>
                          <a:spcPct val="100000"/>
                        </a:lnSpc>
                      </a:pPr>
                      <a:r>
                        <a:rPr b="0" sz="1350" i="0">
                          <a:solidFill>
                            <a:srgbClr val="1B3B47"/>
                          </a:solidFill>
                          <a:latin typeface="Arial"/>
                        </a:rPr>
                        <a:t>Temps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350" i="0">
                          <a:solidFill>
                            <a:srgbClr val="1B3B47"/>
                          </a:solidFill>
                          <a:latin typeface="Arial"/>
                        </a:rPr>
                        <a:t>jasmine.clock</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sz="1215" b="0" i="0">
                          <a:solidFill>
                            <a:srgbClr val="ED1548"/>
                          </a:solidFill>
                          <a:latin typeface="Consolas"/>
                        </a:rPr>
                        <a:t>vi.useFakeTimers()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548640">
                <a:tc>
                  <a:txBody>
                    <a:bodyPr wrap="square"/>
                    <a:lstStyle/>
                    <a:p>
                      <a:pPr algn="l">
                        <a:lnSpc>
                          <a:spcPct val="100000"/>
                        </a:lnSpc>
                      </a:pPr>
                      <a:r>
                        <a:rPr b="0" sz="1350" i="0">
                          <a:solidFill>
                            <a:srgbClr val="1B3B47"/>
                          </a:solidFill>
                          <a:latin typeface="Arial"/>
                        </a:rPr>
                        <a:t>Asynchrone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sz="1215" b="0" i="0">
                          <a:solidFill>
                            <a:srgbClr val="ED1548"/>
                          </a:solidFill>
                          <a:latin typeface="Consolas"/>
                        </a:rPr>
                        <a:t>done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sz="1215" b="0" i="0">
                          <a:solidFill>
                            <a:srgbClr val="ED1548"/>
                          </a:solidFill>
                          <a:latin typeface="Consolas"/>
                        </a:rPr>
                        <a:t>async/await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640080">
                <a:tc>
                  <a:txBody>
                    <a:bodyPr wrap="square"/>
                    <a:lstStyle/>
                    <a:p>
                      <a:pPr algn="l">
                        <a:lnSpc>
                          <a:spcPct val="100000"/>
                        </a:lnSpc>
                      </a:pPr>
                      <a:r>
                        <a:rPr b="0" sz="1350" i="0">
                          <a:solidFill>
                            <a:srgbClr val="1B3B47"/>
                          </a:solidFill>
                          <a:latin typeface="Arial"/>
                        </a:rPr>
                        <a:t>Couverture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350" i="0">
                          <a:solidFill>
                            <a:srgbClr val="1B3B47"/>
                          </a:solidFill>
                          <a:latin typeface="Arial"/>
                        </a:rPr>
                        <a:t>istanbul</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sz="1215" b="0" i="0">
                          <a:solidFill>
                            <a:srgbClr val="ED1548"/>
                          </a:solidFill>
                          <a:latin typeface="Consolas"/>
                        </a:rPr>
                        <a:t>@vitest/coverage-v8</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bl>
          </a:graphicData>
        </a:graphic>
      </p:graphicFrame>
      <p:sp>
        <p:nvSpPr>
          <p:cNvPr id="10" name="Rounded Rectangle 9"/>
          <p:cNvSpPr/>
          <p:nvPr/>
        </p:nvSpPr>
        <p:spPr>
          <a:xfrm>
            <a:off x="11338560" y="3063240"/>
            <a:ext cx="5852160" cy="246888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1" name="Oval 10"/>
          <p:cNvSpPr/>
          <p:nvPr/>
        </p:nvSpPr>
        <p:spPr>
          <a:xfrm>
            <a:off x="11558016" y="3236976"/>
            <a:ext cx="82296" cy="82296"/>
          </a:xfrm>
          <a:prstGeom prst="ellipse">
            <a:avLst/>
          </a:prstGeom>
          <a:solidFill>
            <a:srgbClr val="ED1548"/>
          </a:solidFill>
          <a:ln>
            <a:noFill/>
          </a:ln>
          <a:effectLst/>
        </p:spPr>
        <p:txBody>
          <a:bodyPr rtlCol="0" anchor="ctr"/>
          <a:lstStyle/>
          <a:p>
            <a:pPr algn="ctr"/>
          </a:p>
        </p:txBody>
      </p:sp>
      <p:sp>
        <p:nvSpPr>
          <p:cNvPr id="12" name="TextBox 11"/>
          <p:cNvSpPr txBox="1"/>
          <p:nvPr/>
        </p:nvSpPr>
        <p:spPr>
          <a:xfrm>
            <a:off x="11722608" y="3172968"/>
            <a:ext cx="534924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commandes</a:t>
            </a:r>
          </a:p>
        </p:txBody>
      </p:sp>
      <p:sp>
        <p:nvSpPr>
          <p:cNvPr id="13" name="TextBox 12"/>
          <p:cNvSpPr txBox="1"/>
          <p:nvPr/>
        </p:nvSpPr>
        <p:spPr>
          <a:xfrm>
            <a:off x="11585448" y="3538728"/>
            <a:ext cx="5532120" cy="1828800"/>
          </a:xfrm>
          <a:prstGeom prst="rect">
            <a:avLst/>
          </a:prstGeom>
          <a:noFill/>
        </p:spPr>
        <p:txBody>
          <a:bodyPr wrap="none" lIns="0" rIns="0" tIns="0" bIns="0">
            <a:noAutofit/>
          </a:bodyPr>
          <a:lstStyle/>
          <a:p>
            <a:pPr>
              <a:lnSpc>
                <a:spcPct val="100000"/>
              </a:lnSpc>
              <a:spcBef>
                <a:spcPts val="0"/>
              </a:spcBef>
              <a:spcAft>
                <a:spcPts val="0"/>
              </a:spcAft>
            </a:pPr>
            <a:r>
              <a:rPr sz="1400">
                <a:solidFill>
                  <a:srgbClr val="EAF2F4"/>
                </a:solidFill>
                <a:latin typeface="Consolas"/>
              </a:rPr>
              <a:t>ng test</a:t>
            </a:r>
          </a:p>
          <a:p>
            <a:pPr>
              <a:lnSpc>
                <a:spcPct val="100000"/>
              </a:lnSpc>
              <a:spcBef>
                <a:spcPts val="0"/>
              </a:spcBef>
              <a:spcAft>
                <a:spcPts val="0"/>
              </a:spcAft>
            </a:pPr>
            <a:r>
              <a:rPr sz="1400">
                <a:solidFill>
                  <a:srgbClr val="EAF2F4"/>
                </a:solidFill>
                <a:latin typeface="Consolas"/>
              </a:rPr>
              <a:t>ng test --no-watch</a:t>
            </a:r>
          </a:p>
          <a:p>
            <a:pPr>
              <a:lnSpc>
                <a:spcPct val="100000"/>
              </a:lnSpc>
              <a:spcBef>
                <a:spcPts val="0"/>
              </a:spcBef>
              <a:spcAft>
                <a:spcPts val="0"/>
              </a:spcAft>
            </a:pPr>
            <a:r>
              <a:rPr sz="1400">
                <a:solidFill>
                  <a:srgbClr val="EAF2F4"/>
                </a:solidFill>
                <a:latin typeface="Consolas"/>
              </a:rPr>
              <a:t>ng test --no-watch --coverage</a:t>
            </a:r>
          </a:p>
        </p:txBody>
      </p:sp>
      <p:sp>
        <p:nvSpPr>
          <p:cNvPr id="14" name="Rounded Rectangle 13"/>
          <p:cNvSpPr/>
          <p:nvPr/>
        </p:nvSpPr>
        <p:spPr>
          <a:xfrm>
            <a:off x="11338560" y="5852160"/>
            <a:ext cx="5852160" cy="1645920"/>
          </a:xfrm>
          <a:prstGeom prst="roundRect">
            <a:avLst>
              <a:gd name="adj" fmla="val 8000"/>
            </a:avLst>
          </a:prstGeom>
          <a:solidFill>
            <a:srgbClr val="EBF6F8"/>
          </a:solidFill>
          <a:ln>
            <a:noFill/>
          </a:ln>
          <a:effectLst/>
        </p:spPr>
        <p:txBody>
          <a:bodyPr rtlCol="0" anchor="ctr"/>
          <a:lstStyle/>
          <a:p>
            <a:pPr algn="ctr"/>
          </a:p>
        </p:txBody>
      </p:sp>
      <p:sp>
        <p:nvSpPr>
          <p:cNvPr id="15" name="Rectangle 14"/>
          <p:cNvSpPr/>
          <p:nvPr/>
        </p:nvSpPr>
        <p:spPr>
          <a:xfrm>
            <a:off x="11338560" y="5852160"/>
            <a:ext cx="64008" cy="1645920"/>
          </a:xfrm>
          <a:prstGeom prst="rect">
            <a:avLst/>
          </a:prstGeom>
          <a:solidFill>
            <a:srgbClr val="0B4F6C"/>
          </a:solidFill>
          <a:ln>
            <a:noFill/>
          </a:ln>
          <a:effectLst/>
        </p:spPr>
        <p:txBody>
          <a:bodyPr rtlCol="0" anchor="ctr"/>
          <a:lstStyle/>
          <a:p>
            <a:pPr algn="ctr"/>
          </a:p>
        </p:txBody>
      </p:sp>
      <p:sp>
        <p:nvSpPr>
          <p:cNvPr id="16" name="TextBox 15"/>
          <p:cNvSpPr txBox="1"/>
          <p:nvPr/>
        </p:nvSpPr>
        <p:spPr>
          <a:xfrm>
            <a:off x="11631168" y="6016752"/>
            <a:ext cx="54864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COUVERTURE</a:t>
            </a:r>
          </a:p>
        </p:txBody>
      </p:sp>
      <p:sp>
        <p:nvSpPr>
          <p:cNvPr id="17" name="TextBox 16"/>
          <p:cNvSpPr txBox="1"/>
          <p:nvPr/>
        </p:nvSpPr>
        <p:spPr>
          <a:xfrm>
            <a:off x="11631168" y="6309360"/>
            <a:ext cx="5440680" cy="1078992"/>
          </a:xfrm>
          <a:prstGeom prst="rect">
            <a:avLst/>
          </a:prstGeom>
          <a:noFill/>
        </p:spPr>
        <p:txBody>
          <a:bodyPr wrap="square" lIns="0" rIns="0" tIns="0" bIns="0" anchor="t">
            <a:noAutofit/>
          </a:bodyPr>
          <a:lstStyle/>
          <a:p>
            <a:pPr algn="l">
              <a:lnSpc>
                <a:spcPct val="106000"/>
              </a:lnSpc>
              <a:spcBef>
                <a:spcPts val="0"/>
              </a:spcBef>
              <a:spcAft>
                <a:spcPts val="0"/>
              </a:spcAft>
            </a:pPr>
            <a:r>
              <a:rPr b="0" sz="1350" i="0">
                <a:solidFill>
                  <a:srgbClr val="1B3B47"/>
                </a:solidFill>
                <a:latin typeface="Arial"/>
              </a:rPr>
              <a:t>Installer </a:t>
            </a:r>
            <a:r>
              <a:rPr sz="1215" b="0" i="0">
                <a:solidFill>
                  <a:srgbClr val="0B4F6C"/>
                </a:solidFill>
                <a:latin typeface="Consolas"/>
              </a:rPr>
              <a:t>@vitest/coverage-v8</a:t>
            </a:r>
            <a:r>
              <a:rPr b="0" sz="1350" i="0">
                <a:solidFill>
                  <a:srgbClr val="1B3B47"/>
                </a:solidFill>
                <a:latin typeface="Arial"/>
              </a:rPr>
              <a:t> puis viser &gt; 70 % sur </a:t>
            </a:r>
            <a:r>
              <a:rPr sz="1215" b="0" i="0">
                <a:solidFill>
                  <a:srgbClr val="0B4F6C"/>
                </a:solidFill>
                <a:latin typeface="Consolas"/>
              </a:rPr>
              <a:t>core/</a:t>
            </a:r>
            <a:r>
              <a:rPr b="0" sz="1350" i="0">
                <a:solidFill>
                  <a:srgbClr val="1B3B47"/>
                </a:solidFill>
                <a:latin typeface="Arial"/>
              </a:rPr>
              <a:t> et </a:t>
            </a:r>
            <a:r>
              <a:rPr sz="1215" b="0" i="0">
                <a:solidFill>
                  <a:srgbClr val="0B4F6C"/>
                </a:solidFill>
                <a:latin typeface="Consolas"/>
              </a:rPr>
              <a:t>shared/</a:t>
            </a:r>
            <a:r>
              <a:rPr b="0" sz="1350" i="0">
                <a:solidFill>
                  <a:srgbClr val="1B3B47"/>
                </a:solidFill>
                <a:latin typeface="Arial"/>
              </a:rPr>
              <a:t>. La couverture n'est pas un objectif en soi.</a:t>
            </a:r>
          </a:p>
        </p:txBody>
      </p:sp>
      <p:sp>
        <p:nvSpPr>
          <p:cNvPr id="18" name="Rounded Rectangle 17"/>
          <p:cNvSpPr/>
          <p:nvPr/>
        </p:nvSpPr>
        <p:spPr>
          <a:xfrm>
            <a:off x="11338560" y="7726679"/>
            <a:ext cx="5852160" cy="1280160"/>
          </a:xfrm>
          <a:prstGeom prst="roundRect">
            <a:avLst>
              <a:gd name="adj" fmla="val 8000"/>
            </a:avLst>
          </a:prstGeom>
          <a:solidFill>
            <a:srgbClr val="FFF0F4"/>
          </a:solidFill>
          <a:ln>
            <a:noFill/>
          </a:ln>
          <a:effectLst/>
        </p:spPr>
        <p:txBody>
          <a:bodyPr rtlCol="0" anchor="ctr"/>
          <a:lstStyle/>
          <a:p>
            <a:pPr algn="ctr"/>
          </a:p>
        </p:txBody>
      </p:sp>
      <p:sp>
        <p:nvSpPr>
          <p:cNvPr id="19" name="Rectangle 18"/>
          <p:cNvSpPr/>
          <p:nvPr/>
        </p:nvSpPr>
        <p:spPr>
          <a:xfrm>
            <a:off x="11338560" y="7726679"/>
            <a:ext cx="64008" cy="1280160"/>
          </a:xfrm>
          <a:prstGeom prst="rect">
            <a:avLst/>
          </a:prstGeom>
          <a:solidFill>
            <a:srgbClr val="ED1548"/>
          </a:solidFill>
          <a:ln>
            <a:noFill/>
          </a:ln>
          <a:effectLst/>
        </p:spPr>
        <p:txBody>
          <a:bodyPr rtlCol="0" anchor="ctr"/>
          <a:lstStyle/>
          <a:p>
            <a:pPr algn="ctr"/>
          </a:p>
        </p:txBody>
      </p:sp>
      <p:sp>
        <p:nvSpPr>
          <p:cNvPr id="20" name="TextBox 19"/>
          <p:cNvSpPr txBox="1"/>
          <p:nvPr/>
        </p:nvSpPr>
        <p:spPr>
          <a:xfrm>
            <a:off x="11631168" y="7891271"/>
            <a:ext cx="54864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DOM</a:t>
            </a:r>
          </a:p>
        </p:txBody>
      </p:sp>
      <p:sp>
        <p:nvSpPr>
          <p:cNvPr id="21" name="TextBox 20"/>
          <p:cNvSpPr txBox="1"/>
          <p:nvPr/>
        </p:nvSpPr>
        <p:spPr>
          <a:xfrm>
            <a:off x="11631168" y="8183879"/>
            <a:ext cx="5440680" cy="713231"/>
          </a:xfrm>
          <a:prstGeom prst="rect">
            <a:avLst/>
          </a:prstGeom>
          <a:noFill/>
        </p:spPr>
        <p:txBody>
          <a:bodyPr wrap="square" lIns="0" rIns="0" tIns="0" bIns="0" anchor="t">
            <a:noAutofit/>
          </a:bodyPr>
          <a:lstStyle/>
          <a:p>
            <a:pPr algn="l">
              <a:lnSpc>
                <a:spcPct val="106000"/>
              </a:lnSpc>
              <a:spcBef>
                <a:spcPts val="0"/>
              </a:spcBef>
              <a:spcAft>
                <a:spcPts val="0"/>
              </a:spcAft>
            </a:pPr>
            <a:r>
              <a:rPr b="0" sz="1300" i="0">
                <a:solidFill>
                  <a:srgbClr val="1B3B47"/>
                </a:solidFill>
                <a:latin typeface="Arial"/>
              </a:rPr>
              <a:t>jsdom par défaut ; un mode navigateur réel est optionnel. Les tests de composants restent ciblés sur le template.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3  ·  TESTS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Tester le métier et les pipes</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Le test pur va vite ; le pipe se teste sans DOM.</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47 / 62</a:t>
            </a:r>
          </a:p>
        </p:txBody>
      </p:sp>
      <p:sp>
        <p:nvSpPr>
          <p:cNvPr id="9" name="Rounded Rectangle 8"/>
          <p:cNvSpPr/>
          <p:nvPr/>
        </p:nvSpPr>
        <p:spPr>
          <a:xfrm>
            <a:off x="2606040" y="3063240"/>
            <a:ext cx="7315200" cy="493776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p>
        </p:txBody>
      </p:sp>
      <p:sp>
        <p:nvSpPr>
          <p:cNvPr id="11" name="TextBox 10"/>
          <p:cNvSpPr txBox="1"/>
          <p:nvPr/>
        </p:nvSpPr>
        <p:spPr>
          <a:xfrm>
            <a:off x="2990088" y="3172968"/>
            <a:ext cx="667512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score.spec.ts</a:t>
            </a:r>
          </a:p>
        </p:txBody>
      </p:sp>
      <p:sp>
        <p:nvSpPr>
          <p:cNvPr id="12" name="TextBox 11"/>
          <p:cNvSpPr txBox="1"/>
          <p:nvPr/>
        </p:nvSpPr>
        <p:spPr>
          <a:xfrm>
            <a:off x="2852928" y="3538728"/>
            <a:ext cx="6858000" cy="4297680"/>
          </a:xfrm>
          <a:prstGeom prst="rect">
            <a:avLst/>
          </a:prstGeom>
          <a:noFill/>
        </p:spPr>
        <p:txBody>
          <a:bodyPr wrap="none" lIns="0" rIns="0" tIns="0" bIns="0">
            <a:noAutofit/>
          </a:bodyPr>
          <a:lstStyle/>
          <a:p>
            <a:pPr>
              <a:lnSpc>
                <a:spcPct val="100000"/>
              </a:lnSpc>
              <a:spcBef>
                <a:spcPts val="0"/>
              </a:spcBef>
              <a:spcAft>
                <a:spcPts val="0"/>
              </a:spcAft>
            </a:pPr>
            <a:r>
              <a:rPr sz="1250">
                <a:solidFill>
                  <a:srgbClr val="EAF2F4"/>
                </a:solidFill>
                <a:latin typeface="Consolas"/>
              </a:rPr>
              <a:t>describe(</a:t>
            </a:r>
            <a:r>
              <a:rPr sz="1250">
                <a:solidFill>
                  <a:srgbClr val="FFB3C1"/>
                </a:solidFill>
                <a:latin typeface="Consolas"/>
              </a:rPr>
              <a:t>'score'</a:t>
            </a:r>
            <a:r>
              <a:rPr sz="1250">
                <a:solidFill>
                  <a:srgbClr val="EAF2F4"/>
                </a:solidFill>
                <a:latin typeface="Consolas"/>
              </a:rPr>
              <a:t>, () =&gt; {</a:t>
            </a:r>
          </a:p>
          <a:p>
            <a:pPr>
              <a:lnSpc>
                <a:spcPct val="100000"/>
              </a:lnSpc>
              <a:spcBef>
                <a:spcPts val="0"/>
              </a:spcBef>
              <a:spcAft>
                <a:spcPts val="0"/>
              </a:spcAft>
            </a:pPr>
            <a:r>
              <a:rPr sz="1250">
                <a:solidFill>
                  <a:srgbClr val="EAF2F4"/>
                </a:solidFill>
                <a:latin typeface="Consolas"/>
              </a:rPr>
              <a:t>  it(</a:t>
            </a:r>
            <a:r>
              <a:rPr sz="1250">
                <a:solidFill>
                  <a:srgbClr val="FFB3C1"/>
                </a:solidFill>
                <a:latin typeface="Consolas"/>
              </a:rPr>
              <a:t>'pénalise un écart de 0,01 €'</a:t>
            </a:r>
            <a:r>
              <a:rPr sz="1250">
                <a:solidFill>
                  <a:srgbClr val="EAF2F4"/>
                </a:solidFill>
                <a:latin typeface="Consolas"/>
              </a:rPr>
              <a:t>, () =&gt; {</a:t>
            </a:r>
          </a:p>
          <a:p>
            <a:pPr>
              <a:lnSpc>
                <a:spcPct val="100000"/>
              </a:lnSpc>
              <a:spcBef>
                <a:spcPts val="0"/>
              </a:spcBef>
              <a:spcAft>
                <a:spcPts val="0"/>
              </a:spcAft>
            </a:pPr>
            <a:r>
              <a:rPr sz="1250">
                <a:solidFill>
                  <a:srgbClr val="EAF2F4"/>
                </a:solidFill>
                <a:latin typeface="Consolas"/>
              </a:rPr>
              <a:t>    </a:t>
            </a:r>
            <a:r>
              <a:rPr sz="1250">
                <a:solidFill>
                  <a:srgbClr val="7FD1E0"/>
                </a:solidFill>
                <a:latin typeface="Consolas"/>
              </a:rPr>
              <a:t>const</a:t>
            </a:r>
            <a:r>
              <a:rPr sz="1250">
                <a:solidFill>
                  <a:srgbClr val="EAF2F4"/>
                </a:solidFill>
                <a:latin typeface="Consolas"/>
              </a:rPr>
              <a:t> f = facture({ montantTTC: </a:t>
            </a:r>
            <a:r>
              <a:rPr sz="1250">
                <a:solidFill>
                  <a:srgbClr val="FFD166"/>
                </a:solidFill>
                <a:latin typeface="Consolas"/>
              </a:rPr>
              <a:t>100</a:t>
            </a:r>
            <a:r>
              <a:rPr sz="1250">
                <a:solidFill>
                  <a:srgbClr val="EAF2F4"/>
                </a:solidFill>
                <a:latin typeface="Consolas"/>
              </a:rPr>
              <a:t> });</a:t>
            </a:r>
          </a:p>
          <a:p>
            <a:pPr>
              <a:lnSpc>
                <a:spcPct val="100000"/>
              </a:lnSpc>
              <a:spcBef>
                <a:spcPts val="0"/>
              </a:spcBef>
              <a:spcAft>
                <a:spcPts val="0"/>
              </a:spcAft>
            </a:pPr>
            <a:r>
              <a:rPr sz="1250">
                <a:solidFill>
                  <a:srgbClr val="EAF2F4"/>
                </a:solidFill>
                <a:latin typeface="Consolas"/>
              </a:rPr>
              <a:t>    </a:t>
            </a:r>
            <a:r>
              <a:rPr sz="1250">
                <a:solidFill>
                  <a:srgbClr val="7FD1E0"/>
                </a:solidFill>
                <a:latin typeface="Consolas"/>
              </a:rPr>
              <a:t>const</a:t>
            </a:r>
            <a:r>
              <a:rPr sz="1250">
                <a:solidFill>
                  <a:srgbClr val="EAF2F4"/>
                </a:solidFill>
                <a:latin typeface="Consolas"/>
              </a:rPr>
              <a:t> p = paiement({ montant: </a:t>
            </a:r>
            <a:r>
              <a:rPr sz="1250">
                <a:solidFill>
                  <a:srgbClr val="FFD166"/>
                </a:solidFill>
                <a:latin typeface="Consolas"/>
              </a:rPr>
              <a:t>99.99</a:t>
            </a:r>
            <a:r>
              <a:rPr sz="1250">
                <a:solidFill>
                  <a:srgbClr val="EAF2F4"/>
                </a:solidFill>
                <a:latin typeface="Consolas"/>
              </a:rPr>
              <a:t> });</a:t>
            </a:r>
          </a:p>
          <a:p>
            <a:pPr>
              <a:lnSpc>
                <a:spcPct val="100000"/>
              </a:lnSpc>
              <a:spcBef>
                <a:spcPts val="0"/>
              </a:spcBef>
              <a:spcAft>
                <a:spcPts val="0"/>
              </a:spcAft>
            </a:pPr>
            <a:r>
              <a:rPr sz="1250">
                <a:solidFill>
                  <a:srgbClr val="EAF2F4"/>
                </a:solidFill>
                <a:latin typeface="Consolas"/>
              </a:rPr>
              <a:t>    expect(score(f, p)).toBeLessThan(</a:t>
            </a:r>
            <a:r>
              <a:rPr sz="1250">
                <a:solidFill>
                  <a:srgbClr val="FFD166"/>
                </a:solidFill>
                <a:latin typeface="Consolas"/>
              </a:rPr>
              <a:t>50</a:t>
            </a:r>
            <a:r>
              <a:rPr sz="1250">
                <a:solidFill>
                  <a:srgbClr val="EAF2F4"/>
                </a:solidFill>
                <a:latin typeface="Consolas"/>
              </a:rPr>
              <a:t>);</a:t>
            </a:r>
          </a:p>
          <a:p>
            <a:pPr>
              <a:lnSpc>
                <a:spcPct val="100000"/>
              </a:lnSpc>
              <a:spcBef>
                <a:spcPts val="0"/>
              </a:spcBef>
              <a:spcAft>
                <a:spcPts val="0"/>
              </a:spcAft>
            </a:pPr>
            <a:r>
              <a:rPr sz="1250">
                <a:solidFill>
                  <a:srgbClr val="EAF2F4"/>
                </a:solidFill>
                <a:latin typeface="Consolas"/>
              </a:rPr>
              <a:t>  });</a:t>
            </a:r>
          </a:p>
          <a:p>
            <a:pPr>
              <a:lnSpc>
                <a:spcPct val="100000"/>
              </a:lnSpc>
              <a:spcBef>
                <a:spcPts val="0"/>
              </a:spcBef>
              <a:spcAft>
                <a:spcPts val="0"/>
              </a:spcAft>
            </a:pPr>
          </a:p>
          <a:p>
            <a:pPr>
              <a:lnSpc>
                <a:spcPct val="100000"/>
              </a:lnSpc>
              <a:spcBef>
                <a:spcPts val="0"/>
              </a:spcBef>
              <a:spcAft>
                <a:spcPts val="0"/>
              </a:spcAft>
            </a:pPr>
            <a:r>
              <a:rPr sz="1250">
                <a:solidFill>
                  <a:srgbClr val="EAF2F4"/>
                </a:solidFill>
                <a:latin typeface="Consolas"/>
              </a:rPr>
              <a:t>  it(</a:t>
            </a:r>
            <a:r>
              <a:rPr sz="1250">
                <a:solidFill>
                  <a:srgbClr val="FFB3C1"/>
                </a:solidFill>
                <a:latin typeface="Consolas"/>
              </a:rPr>
              <a:t>'bonus libellé + IBAN'</a:t>
            </a:r>
            <a:r>
              <a:rPr sz="1250">
                <a:solidFill>
                  <a:srgbClr val="EAF2F4"/>
                </a:solidFill>
                <a:latin typeface="Consolas"/>
              </a:rPr>
              <a:t>, () =&gt; {</a:t>
            </a:r>
          </a:p>
          <a:p>
            <a:pPr>
              <a:lnSpc>
                <a:spcPct val="100000"/>
              </a:lnSpc>
              <a:spcBef>
                <a:spcPts val="0"/>
              </a:spcBef>
              <a:spcAft>
                <a:spcPts val="0"/>
              </a:spcAft>
            </a:pPr>
            <a:r>
              <a:rPr sz="1250">
                <a:solidFill>
                  <a:srgbClr val="EAF2F4"/>
                </a:solidFill>
                <a:latin typeface="Consolas"/>
              </a:rPr>
              <a:t>    </a:t>
            </a:r>
            <a:r>
              <a:rPr sz="1250">
                <a:solidFill>
                  <a:srgbClr val="7FD1E0"/>
                </a:solidFill>
                <a:latin typeface="Consolas"/>
              </a:rPr>
              <a:t>const</a:t>
            </a:r>
            <a:r>
              <a:rPr sz="1250">
                <a:solidFill>
                  <a:srgbClr val="EAF2F4"/>
                </a:solidFill>
                <a:latin typeface="Consolas"/>
              </a:rPr>
              <a:t> f = facture({ numero: </a:t>
            </a:r>
            <a:r>
              <a:rPr sz="1250">
                <a:solidFill>
                  <a:srgbClr val="FFB3C1"/>
                </a:solidFill>
                <a:latin typeface="Consolas"/>
              </a:rPr>
              <a:t>'FA-2026-0001'</a:t>
            </a:r>
            <a:r>
              <a:rPr sz="1250">
                <a:solidFill>
                  <a:srgbClr val="EAF2F4"/>
                </a:solidFill>
                <a:latin typeface="Consolas"/>
              </a:rPr>
              <a:t> });</a:t>
            </a:r>
          </a:p>
          <a:p>
            <a:pPr>
              <a:lnSpc>
                <a:spcPct val="100000"/>
              </a:lnSpc>
              <a:spcBef>
                <a:spcPts val="0"/>
              </a:spcBef>
              <a:spcAft>
                <a:spcPts val="0"/>
              </a:spcAft>
            </a:pPr>
            <a:r>
              <a:rPr sz="1250">
                <a:solidFill>
                  <a:srgbClr val="EAF2F4"/>
                </a:solidFill>
                <a:latin typeface="Consolas"/>
              </a:rPr>
              <a:t>    </a:t>
            </a:r>
            <a:r>
              <a:rPr sz="1250">
                <a:solidFill>
                  <a:srgbClr val="7FD1E0"/>
                </a:solidFill>
                <a:latin typeface="Consolas"/>
              </a:rPr>
              <a:t>const</a:t>
            </a:r>
            <a:r>
              <a:rPr sz="1250">
                <a:solidFill>
                  <a:srgbClr val="EAF2F4"/>
                </a:solidFill>
                <a:latin typeface="Consolas"/>
              </a:rPr>
              <a:t> p = paiement({ label: </a:t>
            </a:r>
            <a:r>
              <a:rPr sz="1250">
                <a:solidFill>
                  <a:srgbClr val="FFB3C1"/>
                </a:solidFill>
                <a:latin typeface="Consolas"/>
              </a:rPr>
              <a:t>'FA-2026-0001'</a:t>
            </a:r>
            <a:r>
              <a:rPr sz="1250">
                <a:solidFill>
                  <a:srgbClr val="EAF2F4"/>
                </a:solidFill>
                <a:latin typeface="Consolas"/>
              </a:rPr>
              <a:t>, iban: f.iban });</a:t>
            </a:r>
          </a:p>
          <a:p>
            <a:pPr>
              <a:lnSpc>
                <a:spcPct val="100000"/>
              </a:lnSpc>
              <a:spcBef>
                <a:spcPts val="0"/>
              </a:spcBef>
              <a:spcAft>
                <a:spcPts val="0"/>
              </a:spcAft>
            </a:pPr>
            <a:r>
              <a:rPr sz="1250">
                <a:solidFill>
                  <a:srgbClr val="EAF2F4"/>
                </a:solidFill>
                <a:latin typeface="Consolas"/>
              </a:rPr>
              <a:t>    expect(score(f, p)).toBeGreaterThanOrEqual(</a:t>
            </a:r>
            <a:r>
              <a:rPr sz="1250">
                <a:solidFill>
                  <a:srgbClr val="FFD166"/>
                </a:solidFill>
                <a:latin typeface="Consolas"/>
              </a:rPr>
              <a:t>50</a:t>
            </a:r>
            <a:r>
              <a:rPr sz="1250">
                <a:solidFill>
                  <a:srgbClr val="EAF2F4"/>
                </a:solidFill>
                <a:latin typeface="Consolas"/>
              </a:rPr>
              <a:t>);</a:t>
            </a:r>
          </a:p>
          <a:p>
            <a:pPr>
              <a:lnSpc>
                <a:spcPct val="100000"/>
              </a:lnSpc>
              <a:spcBef>
                <a:spcPts val="0"/>
              </a:spcBef>
              <a:spcAft>
                <a:spcPts val="0"/>
              </a:spcAft>
            </a:pPr>
            <a:r>
              <a:rPr sz="1250">
                <a:solidFill>
                  <a:srgbClr val="EAF2F4"/>
                </a:solidFill>
                <a:latin typeface="Consolas"/>
              </a:rPr>
              <a:t>  });</a:t>
            </a:r>
          </a:p>
          <a:p>
            <a:pPr>
              <a:lnSpc>
                <a:spcPct val="100000"/>
              </a:lnSpc>
              <a:spcBef>
                <a:spcPts val="0"/>
              </a:spcBef>
              <a:spcAft>
                <a:spcPts val="0"/>
              </a:spcAft>
            </a:pPr>
            <a:r>
              <a:rPr sz="1250">
                <a:solidFill>
                  <a:srgbClr val="EAF2F4"/>
                </a:solidFill>
                <a:latin typeface="Consolas"/>
              </a:rPr>
              <a:t>});</a:t>
            </a:r>
          </a:p>
        </p:txBody>
      </p:sp>
      <p:sp>
        <p:nvSpPr>
          <p:cNvPr id="13" name="Rounded Rectangle 12"/>
          <p:cNvSpPr/>
          <p:nvPr/>
        </p:nvSpPr>
        <p:spPr>
          <a:xfrm>
            <a:off x="10012680" y="3063240"/>
            <a:ext cx="7178040" cy="493776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4" name="Oval 13"/>
          <p:cNvSpPr/>
          <p:nvPr/>
        </p:nvSpPr>
        <p:spPr>
          <a:xfrm>
            <a:off x="10232136" y="3236976"/>
            <a:ext cx="82296" cy="82296"/>
          </a:xfrm>
          <a:prstGeom prst="ellipse">
            <a:avLst/>
          </a:prstGeom>
          <a:solidFill>
            <a:srgbClr val="ED1548"/>
          </a:solidFill>
          <a:ln>
            <a:noFill/>
          </a:ln>
          <a:effectLst/>
        </p:spPr>
        <p:txBody>
          <a:bodyPr rtlCol="0" anchor="ctr"/>
          <a:lstStyle/>
          <a:p>
            <a:pPr algn="ctr"/>
          </a:p>
        </p:txBody>
      </p:sp>
      <p:sp>
        <p:nvSpPr>
          <p:cNvPr id="15" name="TextBox 14"/>
          <p:cNvSpPr txBox="1"/>
          <p:nvPr/>
        </p:nvSpPr>
        <p:spPr>
          <a:xfrm>
            <a:off x="10396728" y="3172968"/>
            <a:ext cx="667512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echeance.pipe.spec.ts</a:t>
            </a:r>
          </a:p>
        </p:txBody>
      </p:sp>
      <p:sp>
        <p:nvSpPr>
          <p:cNvPr id="16" name="TextBox 15"/>
          <p:cNvSpPr txBox="1"/>
          <p:nvPr/>
        </p:nvSpPr>
        <p:spPr>
          <a:xfrm>
            <a:off x="10259567" y="3538728"/>
            <a:ext cx="6858000" cy="4297680"/>
          </a:xfrm>
          <a:prstGeom prst="rect">
            <a:avLst/>
          </a:prstGeom>
          <a:noFill/>
        </p:spPr>
        <p:txBody>
          <a:bodyPr wrap="none" lIns="0" rIns="0" tIns="0" bIns="0">
            <a:noAutofit/>
          </a:bodyPr>
          <a:lstStyle/>
          <a:p>
            <a:pPr>
              <a:lnSpc>
                <a:spcPct val="100000"/>
              </a:lnSpc>
              <a:spcBef>
                <a:spcPts val="0"/>
              </a:spcBef>
              <a:spcAft>
                <a:spcPts val="0"/>
              </a:spcAft>
            </a:pPr>
            <a:r>
              <a:rPr sz="1250">
                <a:solidFill>
                  <a:srgbClr val="EAF2F4"/>
                </a:solidFill>
                <a:latin typeface="Consolas"/>
              </a:rPr>
              <a:t>describe(</a:t>
            </a:r>
            <a:r>
              <a:rPr sz="1250">
                <a:solidFill>
                  <a:srgbClr val="FFB3C1"/>
                </a:solidFill>
                <a:latin typeface="Consolas"/>
              </a:rPr>
              <a:t>'EcheancePipe'</a:t>
            </a:r>
            <a:r>
              <a:rPr sz="1250">
                <a:solidFill>
                  <a:srgbClr val="EAF2F4"/>
                </a:solidFill>
                <a:latin typeface="Consolas"/>
              </a:rPr>
              <a:t>, () =&gt; {</a:t>
            </a:r>
          </a:p>
          <a:p>
            <a:pPr>
              <a:lnSpc>
                <a:spcPct val="100000"/>
              </a:lnSpc>
              <a:spcBef>
                <a:spcPts val="0"/>
              </a:spcBef>
              <a:spcAft>
                <a:spcPts val="0"/>
              </a:spcAft>
            </a:pPr>
            <a:r>
              <a:rPr sz="1250">
                <a:solidFill>
                  <a:srgbClr val="EAF2F4"/>
                </a:solidFill>
                <a:latin typeface="Consolas"/>
              </a:rPr>
              <a:t>  beforeEach(() =&gt; {</a:t>
            </a:r>
          </a:p>
          <a:p>
            <a:pPr>
              <a:lnSpc>
                <a:spcPct val="100000"/>
              </a:lnSpc>
              <a:spcBef>
                <a:spcPts val="0"/>
              </a:spcBef>
              <a:spcAft>
                <a:spcPts val="0"/>
              </a:spcAft>
            </a:pPr>
            <a:r>
              <a:rPr sz="1250">
                <a:solidFill>
                  <a:srgbClr val="EAF2F4"/>
                </a:solidFill>
                <a:latin typeface="Consolas"/>
              </a:rPr>
              <a:t>    vi.useFakeTimers();</a:t>
            </a:r>
          </a:p>
          <a:p>
            <a:pPr>
              <a:lnSpc>
                <a:spcPct val="100000"/>
              </a:lnSpc>
              <a:spcBef>
                <a:spcPts val="0"/>
              </a:spcBef>
              <a:spcAft>
                <a:spcPts val="0"/>
              </a:spcAft>
            </a:pPr>
            <a:r>
              <a:rPr sz="1250">
                <a:solidFill>
                  <a:srgbClr val="EAF2F4"/>
                </a:solidFill>
                <a:latin typeface="Consolas"/>
              </a:rPr>
              <a:t>    vi.setSystemTime(</a:t>
            </a:r>
            <a:r>
              <a:rPr sz="1250">
                <a:solidFill>
                  <a:srgbClr val="7FD1E0"/>
                </a:solidFill>
                <a:latin typeface="Consolas"/>
              </a:rPr>
              <a:t>new</a:t>
            </a:r>
            <a:r>
              <a:rPr sz="1250">
                <a:solidFill>
                  <a:srgbClr val="EAF2F4"/>
                </a:solidFill>
                <a:latin typeface="Consolas"/>
              </a:rPr>
              <a:t> Date(</a:t>
            </a:r>
            <a:r>
              <a:rPr sz="1250">
                <a:solidFill>
                  <a:srgbClr val="FFB3C1"/>
                </a:solidFill>
                <a:latin typeface="Consolas"/>
              </a:rPr>
              <a:t>'2026-10-15'</a:t>
            </a:r>
            <a:r>
              <a:rPr sz="1250">
                <a:solidFill>
                  <a:srgbClr val="EAF2F4"/>
                </a:solidFill>
                <a:latin typeface="Consolas"/>
              </a:rPr>
              <a:t>));</a:t>
            </a:r>
          </a:p>
          <a:p>
            <a:pPr>
              <a:lnSpc>
                <a:spcPct val="100000"/>
              </a:lnSpc>
              <a:spcBef>
                <a:spcPts val="0"/>
              </a:spcBef>
              <a:spcAft>
                <a:spcPts val="0"/>
              </a:spcAft>
            </a:pPr>
            <a:r>
              <a:rPr sz="1250">
                <a:solidFill>
                  <a:srgbClr val="EAF2F4"/>
                </a:solidFill>
                <a:latin typeface="Consolas"/>
              </a:rPr>
              <a:t>  });</a:t>
            </a:r>
          </a:p>
          <a:p>
            <a:pPr>
              <a:lnSpc>
                <a:spcPct val="100000"/>
              </a:lnSpc>
              <a:spcBef>
                <a:spcPts val="0"/>
              </a:spcBef>
              <a:spcAft>
                <a:spcPts val="0"/>
              </a:spcAft>
            </a:pPr>
            <a:r>
              <a:rPr sz="1250">
                <a:solidFill>
                  <a:srgbClr val="EAF2F4"/>
                </a:solidFill>
                <a:latin typeface="Consolas"/>
              </a:rPr>
              <a:t>  afterEach(() =&gt; vi.useRealTimers());</a:t>
            </a:r>
          </a:p>
          <a:p>
            <a:pPr>
              <a:lnSpc>
                <a:spcPct val="100000"/>
              </a:lnSpc>
              <a:spcBef>
                <a:spcPts val="0"/>
              </a:spcBef>
              <a:spcAft>
                <a:spcPts val="0"/>
              </a:spcAft>
            </a:pPr>
          </a:p>
          <a:p>
            <a:pPr>
              <a:lnSpc>
                <a:spcPct val="100000"/>
              </a:lnSpc>
              <a:spcBef>
                <a:spcPts val="0"/>
              </a:spcBef>
              <a:spcAft>
                <a:spcPts val="0"/>
              </a:spcAft>
            </a:pPr>
            <a:r>
              <a:rPr sz="1250">
                <a:solidFill>
                  <a:srgbClr val="EAF2F4"/>
                </a:solidFill>
                <a:latin typeface="Consolas"/>
              </a:rPr>
              <a:t>  it(</a:t>
            </a:r>
            <a:r>
              <a:rPr sz="1250">
                <a:solidFill>
                  <a:srgbClr val="FFB3C1"/>
                </a:solidFill>
                <a:latin typeface="Consolas"/>
              </a:rPr>
              <a:t>'indique un retard'</a:t>
            </a:r>
            <a:r>
              <a:rPr sz="1250">
                <a:solidFill>
                  <a:srgbClr val="EAF2F4"/>
                </a:solidFill>
                <a:latin typeface="Consolas"/>
              </a:rPr>
              <a:t>, () =&gt; {</a:t>
            </a:r>
          </a:p>
          <a:p>
            <a:pPr>
              <a:lnSpc>
                <a:spcPct val="100000"/>
              </a:lnSpc>
              <a:spcBef>
                <a:spcPts val="0"/>
              </a:spcBef>
              <a:spcAft>
                <a:spcPts val="0"/>
              </a:spcAft>
            </a:pPr>
            <a:r>
              <a:rPr sz="1250">
                <a:solidFill>
                  <a:srgbClr val="EAF2F4"/>
                </a:solidFill>
                <a:latin typeface="Consolas"/>
              </a:rPr>
              <a:t>    expect(</a:t>
            </a:r>
            <a:r>
              <a:rPr sz="1250">
                <a:solidFill>
                  <a:srgbClr val="7FD1E0"/>
                </a:solidFill>
                <a:latin typeface="Consolas"/>
              </a:rPr>
              <a:t>new</a:t>
            </a:r>
            <a:r>
              <a:rPr sz="1250">
                <a:solidFill>
                  <a:srgbClr val="EAF2F4"/>
                </a:solidFill>
                <a:latin typeface="Consolas"/>
              </a:rPr>
              <a:t> EcheancePipe()</a:t>
            </a:r>
          </a:p>
          <a:p>
            <a:pPr>
              <a:lnSpc>
                <a:spcPct val="100000"/>
              </a:lnSpc>
              <a:spcBef>
                <a:spcPts val="0"/>
              </a:spcBef>
              <a:spcAft>
                <a:spcPts val="0"/>
              </a:spcAft>
            </a:pPr>
            <a:r>
              <a:rPr sz="1250">
                <a:solidFill>
                  <a:srgbClr val="EAF2F4"/>
                </a:solidFill>
                <a:latin typeface="Consolas"/>
              </a:rPr>
              <a:t>      .transform(</a:t>
            </a:r>
            <a:r>
              <a:rPr sz="1250">
                <a:solidFill>
                  <a:srgbClr val="FFB3C1"/>
                </a:solidFill>
                <a:latin typeface="Consolas"/>
              </a:rPr>
              <a:t>'2026-10-10'</a:t>
            </a:r>
            <a:r>
              <a:rPr sz="1250">
                <a:solidFill>
                  <a:srgbClr val="EAF2F4"/>
                </a:solidFill>
                <a:latin typeface="Consolas"/>
              </a:rPr>
              <a:t>))</a:t>
            </a:r>
          </a:p>
          <a:p>
            <a:pPr>
              <a:lnSpc>
                <a:spcPct val="100000"/>
              </a:lnSpc>
              <a:spcBef>
                <a:spcPts val="0"/>
              </a:spcBef>
              <a:spcAft>
                <a:spcPts val="0"/>
              </a:spcAft>
            </a:pPr>
            <a:r>
              <a:rPr sz="1250">
                <a:solidFill>
                  <a:srgbClr val="EAF2F4"/>
                </a:solidFill>
                <a:latin typeface="Consolas"/>
              </a:rPr>
              <a:t>      .toContain(</a:t>
            </a:r>
            <a:r>
              <a:rPr sz="1250">
                <a:solidFill>
                  <a:srgbClr val="FFB3C1"/>
                </a:solidFill>
                <a:latin typeface="Consolas"/>
              </a:rPr>
              <a:t>'retard'</a:t>
            </a:r>
            <a:r>
              <a:rPr sz="1250">
                <a:solidFill>
                  <a:srgbClr val="EAF2F4"/>
                </a:solidFill>
                <a:latin typeface="Consolas"/>
              </a:rPr>
              <a:t>);</a:t>
            </a:r>
          </a:p>
          <a:p>
            <a:pPr>
              <a:lnSpc>
                <a:spcPct val="100000"/>
              </a:lnSpc>
              <a:spcBef>
                <a:spcPts val="0"/>
              </a:spcBef>
              <a:spcAft>
                <a:spcPts val="0"/>
              </a:spcAft>
            </a:pPr>
            <a:r>
              <a:rPr sz="1250">
                <a:solidFill>
                  <a:srgbClr val="EAF2F4"/>
                </a:solidFill>
                <a:latin typeface="Consolas"/>
              </a:rPr>
              <a:t>  });</a:t>
            </a:r>
          </a:p>
          <a:p>
            <a:pPr>
              <a:lnSpc>
                <a:spcPct val="100000"/>
              </a:lnSpc>
              <a:spcBef>
                <a:spcPts val="0"/>
              </a:spcBef>
              <a:spcAft>
                <a:spcPts val="0"/>
              </a:spcAft>
            </a:pPr>
            <a:r>
              <a:rPr sz="1250">
                <a:solidFill>
                  <a:srgbClr val="EAF2F4"/>
                </a:solidFill>
                <a:latin typeface="Consolas"/>
              </a:rPr>
              <a:t>});</a:t>
            </a:r>
          </a:p>
        </p:txBody>
      </p:sp>
      <p:sp>
        <p:nvSpPr>
          <p:cNvPr id="17" name="Rounded Rectangle 16"/>
          <p:cNvSpPr/>
          <p:nvPr/>
        </p:nvSpPr>
        <p:spPr>
          <a:xfrm>
            <a:off x="2606040" y="8321040"/>
            <a:ext cx="14584680" cy="868680"/>
          </a:xfrm>
          <a:prstGeom prst="roundRect">
            <a:avLst>
              <a:gd name="adj" fmla="val 8000"/>
            </a:avLst>
          </a:prstGeom>
          <a:solidFill>
            <a:srgbClr val="EBF6F8"/>
          </a:solidFill>
          <a:ln>
            <a:noFill/>
          </a:ln>
          <a:effectLst/>
        </p:spPr>
        <p:txBody>
          <a:bodyPr rtlCol="0" anchor="ctr"/>
          <a:lstStyle/>
          <a:p>
            <a:pPr algn="ctr"/>
          </a:p>
        </p:txBody>
      </p:sp>
      <p:sp>
        <p:nvSpPr>
          <p:cNvPr id="18" name="Rectangle 17"/>
          <p:cNvSpPr/>
          <p:nvPr/>
        </p:nvSpPr>
        <p:spPr>
          <a:xfrm>
            <a:off x="2606040" y="8321040"/>
            <a:ext cx="64008" cy="868680"/>
          </a:xfrm>
          <a:prstGeom prst="rect">
            <a:avLst/>
          </a:prstGeom>
          <a:solidFill>
            <a:srgbClr val="0B4F6C"/>
          </a:solidFill>
          <a:ln>
            <a:noFill/>
          </a:ln>
          <a:effectLst/>
        </p:spPr>
        <p:txBody>
          <a:bodyPr rtlCol="0" anchor="ctr"/>
          <a:lstStyle/>
          <a:p>
            <a:pPr algn="ctr"/>
          </a:p>
        </p:txBody>
      </p:sp>
      <p:sp>
        <p:nvSpPr>
          <p:cNvPr id="19" name="TextBox 18"/>
          <p:cNvSpPr txBox="1"/>
          <p:nvPr/>
        </p:nvSpPr>
        <p:spPr>
          <a:xfrm>
            <a:off x="2898648" y="8485632"/>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POURQUOI CE TEST EST RENTABLE</a:t>
            </a:r>
          </a:p>
        </p:txBody>
      </p:sp>
      <p:sp>
        <p:nvSpPr>
          <p:cNvPr id="20" name="TextBox 19"/>
          <p:cNvSpPr txBox="1"/>
          <p:nvPr/>
        </p:nvSpPr>
        <p:spPr>
          <a:xfrm>
            <a:off x="2898648" y="8778240"/>
            <a:ext cx="14173200" cy="301751"/>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Millisecondes d'exécution, aucun DOM, cas limites (0,01 €, IBAN, libellé) faciles à couvrir. Réservez TestBed aux composants.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3  ·  TESTS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Tester le service HTTP et le composant</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HttpTestingController pour l'un, setInput + whenStable pour l'autre.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48 / 62</a:t>
            </a:r>
          </a:p>
        </p:txBody>
      </p:sp>
      <p:sp>
        <p:nvSpPr>
          <p:cNvPr id="9" name="Rounded Rectangle 8"/>
          <p:cNvSpPr/>
          <p:nvPr/>
        </p:nvSpPr>
        <p:spPr>
          <a:xfrm>
            <a:off x="2606040" y="3063240"/>
            <a:ext cx="8503920" cy="502920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p>
        </p:txBody>
      </p:sp>
      <p:sp>
        <p:nvSpPr>
          <p:cNvPr id="11" name="TextBox 10"/>
          <p:cNvSpPr txBox="1"/>
          <p:nvPr/>
        </p:nvSpPr>
        <p:spPr>
          <a:xfrm>
            <a:off x="2990088" y="3172968"/>
            <a:ext cx="786384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facture.service.spec.ts</a:t>
            </a:r>
          </a:p>
        </p:txBody>
      </p:sp>
      <p:sp>
        <p:nvSpPr>
          <p:cNvPr id="12" name="TextBox 11"/>
          <p:cNvSpPr txBox="1"/>
          <p:nvPr/>
        </p:nvSpPr>
        <p:spPr>
          <a:xfrm>
            <a:off x="2852928" y="3538728"/>
            <a:ext cx="8046720" cy="4389120"/>
          </a:xfrm>
          <a:prstGeom prst="rect">
            <a:avLst/>
          </a:prstGeom>
          <a:noFill/>
        </p:spPr>
        <p:txBody>
          <a:bodyPr wrap="none" lIns="0" rIns="0" tIns="0" bIns="0">
            <a:noAutofit/>
          </a:bodyPr>
          <a:lstStyle/>
          <a:p>
            <a:pPr>
              <a:lnSpc>
                <a:spcPct val="100000"/>
              </a:lnSpc>
              <a:spcBef>
                <a:spcPts val="0"/>
              </a:spcBef>
              <a:spcAft>
                <a:spcPts val="0"/>
              </a:spcAft>
            </a:pPr>
            <a:r>
              <a:rPr sz="1220">
                <a:solidFill>
                  <a:srgbClr val="EAF2F4"/>
                </a:solidFill>
                <a:latin typeface="Consolas"/>
              </a:rPr>
              <a:t>it(</a:t>
            </a:r>
            <a:r>
              <a:rPr sz="1220">
                <a:solidFill>
                  <a:srgbClr val="FFB3C1"/>
                </a:solidFill>
                <a:latin typeface="Consolas"/>
              </a:rPr>
              <a:t>'GET /factures?statut=litige'</a:t>
            </a:r>
            <a:r>
              <a:rPr sz="1220">
                <a:solidFill>
                  <a:srgbClr val="EAF2F4"/>
                </a:solidFill>
                <a:latin typeface="Consolas"/>
              </a:rPr>
              <a:t>, () =&gt; {</a:t>
            </a:r>
          </a:p>
          <a:p>
            <a:pPr>
              <a:lnSpc>
                <a:spcPct val="100000"/>
              </a:lnSpc>
              <a:spcBef>
                <a:spcPts val="0"/>
              </a:spcBef>
              <a:spcAft>
                <a:spcPts val="0"/>
              </a:spcAft>
            </a:pPr>
            <a:r>
              <a:rPr sz="1220">
                <a:solidFill>
                  <a:srgbClr val="EAF2F4"/>
                </a:solidFill>
                <a:latin typeface="Consolas"/>
              </a:rPr>
              <a:t>  TestBed.configureTestingModule({</a:t>
            </a:r>
          </a:p>
          <a:p>
            <a:pPr>
              <a:lnSpc>
                <a:spcPct val="100000"/>
              </a:lnSpc>
              <a:spcBef>
                <a:spcPts val="0"/>
              </a:spcBef>
              <a:spcAft>
                <a:spcPts val="0"/>
              </a:spcAft>
            </a:pPr>
            <a:r>
              <a:rPr sz="1220">
                <a:solidFill>
                  <a:srgbClr val="EAF2F4"/>
                </a:solidFill>
                <a:latin typeface="Consolas"/>
              </a:rPr>
              <a:t>    providers: [provideHttpClient(), provideHttpClientTesting()],</a:t>
            </a:r>
          </a:p>
          <a:p>
            <a:pPr>
              <a:lnSpc>
                <a:spcPct val="100000"/>
              </a:lnSpc>
              <a:spcBef>
                <a:spcPts val="0"/>
              </a:spcBef>
              <a:spcAft>
                <a:spcPts val="0"/>
              </a:spcAft>
            </a:pPr>
            <a:r>
              <a:rPr sz="1220">
                <a:solidFill>
                  <a:srgbClr val="EAF2F4"/>
                </a:solidFill>
                <a:latin typeface="Consolas"/>
              </a:rPr>
              <a:t>  });</a:t>
            </a:r>
          </a:p>
          <a:p>
            <a:pPr>
              <a:lnSpc>
                <a:spcPct val="100000"/>
              </a:lnSpc>
              <a:spcBef>
                <a:spcPts val="0"/>
              </a:spcBef>
              <a:spcAft>
                <a:spcPts val="0"/>
              </a:spcAft>
            </a:pPr>
            <a:r>
              <a:rPr sz="1220">
                <a:solidFill>
                  <a:srgbClr val="EAF2F4"/>
                </a:solidFill>
                <a:latin typeface="Consolas"/>
              </a:rPr>
              <a:t>  </a:t>
            </a:r>
            <a:r>
              <a:rPr sz="1220">
                <a:solidFill>
                  <a:srgbClr val="7FD1E0"/>
                </a:solidFill>
                <a:latin typeface="Consolas"/>
              </a:rPr>
              <a:t>const</a:t>
            </a:r>
            <a:r>
              <a:rPr sz="1220">
                <a:solidFill>
                  <a:srgbClr val="EAF2F4"/>
                </a:solidFill>
                <a:latin typeface="Consolas"/>
              </a:rPr>
              <a:t> svc = TestBed.inject(FactureService);</a:t>
            </a:r>
          </a:p>
          <a:p>
            <a:pPr>
              <a:lnSpc>
                <a:spcPct val="100000"/>
              </a:lnSpc>
              <a:spcBef>
                <a:spcPts val="0"/>
              </a:spcBef>
              <a:spcAft>
                <a:spcPts val="0"/>
              </a:spcAft>
            </a:pPr>
            <a:r>
              <a:rPr sz="1220">
                <a:solidFill>
                  <a:srgbClr val="EAF2F4"/>
                </a:solidFill>
                <a:latin typeface="Consolas"/>
              </a:rPr>
              <a:t>  </a:t>
            </a:r>
            <a:r>
              <a:rPr sz="1220">
                <a:solidFill>
                  <a:srgbClr val="7FD1E0"/>
                </a:solidFill>
                <a:latin typeface="Consolas"/>
              </a:rPr>
              <a:t>const</a:t>
            </a:r>
            <a:r>
              <a:rPr sz="1220">
                <a:solidFill>
                  <a:srgbClr val="EAF2F4"/>
                </a:solidFill>
                <a:latin typeface="Consolas"/>
              </a:rPr>
              <a:t> http = TestBed.inject(HttpTestingController);</a:t>
            </a:r>
          </a:p>
          <a:p>
            <a:pPr>
              <a:lnSpc>
                <a:spcPct val="100000"/>
              </a:lnSpc>
              <a:spcBef>
                <a:spcPts val="0"/>
              </a:spcBef>
              <a:spcAft>
                <a:spcPts val="0"/>
              </a:spcAft>
            </a:pPr>
          </a:p>
          <a:p>
            <a:pPr>
              <a:lnSpc>
                <a:spcPct val="100000"/>
              </a:lnSpc>
              <a:spcBef>
                <a:spcPts val="0"/>
              </a:spcBef>
              <a:spcAft>
                <a:spcPts val="0"/>
              </a:spcAft>
            </a:pPr>
            <a:r>
              <a:rPr sz="1220">
                <a:solidFill>
                  <a:srgbClr val="EAF2F4"/>
                </a:solidFill>
                <a:latin typeface="Consolas"/>
              </a:rPr>
              <a:t>  svc.list({ statut: </a:t>
            </a:r>
            <a:r>
              <a:rPr sz="1220">
                <a:solidFill>
                  <a:srgbClr val="FFB3C1"/>
                </a:solidFill>
                <a:latin typeface="Consolas"/>
              </a:rPr>
              <a:t>'litige'</a:t>
            </a:r>
            <a:r>
              <a:rPr sz="1220">
                <a:solidFill>
                  <a:srgbClr val="EAF2F4"/>
                </a:solidFill>
                <a:latin typeface="Consolas"/>
              </a:rPr>
              <a:t> })</a:t>
            </a:r>
          </a:p>
          <a:p>
            <a:pPr>
              <a:lnSpc>
                <a:spcPct val="100000"/>
              </a:lnSpc>
              <a:spcBef>
                <a:spcPts val="0"/>
              </a:spcBef>
              <a:spcAft>
                <a:spcPts val="0"/>
              </a:spcAft>
            </a:pPr>
            <a:r>
              <a:rPr sz="1220">
                <a:solidFill>
                  <a:srgbClr val="EAF2F4"/>
                </a:solidFill>
                <a:latin typeface="Consolas"/>
              </a:rPr>
              <a:t>    .subscribe(r =&gt; expect(r.length).toBe(</a:t>
            </a:r>
            <a:r>
              <a:rPr sz="1220">
                <a:solidFill>
                  <a:srgbClr val="FFD166"/>
                </a:solidFill>
                <a:latin typeface="Consolas"/>
              </a:rPr>
              <a:t>1</a:t>
            </a:r>
            <a:r>
              <a:rPr sz="1220">
                <a:solidFill>
                  <a:srgbClr val="EAF2F4"/>
                </a:solidFill>
                <a:latin typeface="Consolas"/>
              </a:rPr>
              <a:t>));</a:t>
            </a:r>
          </a:p>
          <a:p>
            <a:pPr>
              <a:lnSpc>
                <a:spcPct val="100000"/>
              </a:lnSpc>
              <a:spcBef>
                <a:spcPts val="0"/>
              </a:spcBef>
              <a:spcAft>
                <a:spcPts val="0"/>
              </a:spcAft>
            </a:pPr>
          </a:p>
          <a:p>
            <a:pPr>
              <a:lnSpc>
                <a:spcPct val="100000"/>
              </a:lnSpc>
              <a:spcBef>
                <a:spcPts val="0"/>
              </a:spcBef>
              <a:spcAft>
                <a:spcPts val="0"/>
              </a:spcAft>
            </a:pPr>
            <a:r>
              <a:rPr sz="1220">
                <a:solidFill>
                  <a:srgbClr val="EAF2F4"/>
                </a:solidFill>
                <a:latin typeface="Consolas"/>
              </a:rPr>
              <a:t>  </a:t>
            </a:r>
            <a:r>
              <a:rPr sz="1220">
                <a:solidFill>
                  <a:srgbClr val="7FD1E0"/>
                </a:solidFill>
                <a:latin typeface="Consolas"/>
              </a:rPr>
              <a:t>const</a:t>
            </a:r>
            <a:r>
              <a:rPr sz="1220">
                <a:solidFill>
                  <a:srgbClr val="EAF2F4"/>
                </a:solidFill>
                <a:latin typeface="Consolas"/>
              </a:rPr>
              <a:t> req = http.expectOne(r =&gt;</a:t>
            </a:r>
          </a:p>
          <a:p>
            <a:pPr>
              <a:lnSpc>
                <a:spcPct val="100000"/>
              </a:lnSpc>
              <a:spcBef>
                <a:spcPts val="0"/>
              </a:spcBef>
              <a:spcAft>
                <a:spcPts val="0"/>
              </a:spcAft>
            </a:pPr>
            <a:r>
              <a:rPr sz="1220">
                <a:solidFill>
                  <a:srgbClr val="EAF2F4"/>
                </a:solidFill>
                <a:latin typeface="Consolas"/>
              </a:rPr>
              <a:t>    r.url.endsWith(</a:t>
            </a:r>
            <a:r>
              <a:rPr sz="1220">
                <a:solidFill>
                  <a:srgbClr val="FFB3C1"/>
                </a:solidFill>
                <a:latin typeface="Consolas"/>
              </a:rPr>
              <a:t>'/factures'</a:t>
            </a:r>
            <a:r>
              <a:rPr sz="1220">
                <a:solidFill>
                  <a:srgbClr val="EAF2F4"/>
                </a:solidFill>
                <a:latin typeface="Consolas"/>
              </a:rPr>
              <a:t>)</a:t>
            </a:r>
          </a:p>
          <a:p>
            <a:pPr>
              <a:lnSpc>
                <a:spcPct val="100000"/>
              </a:lnSpc>
              <a:spcBef>
                <a:spcPts val="0"/>
              </a:spcBef>
              <a:spcAft>
                <a:spcPts val="0"/>
              </a:spcAft>
            </a:pPr>
            <a:r>
              <a:rPr sz="1220">
                <a:solidFill>
                  <a:srgbClr val="EAF2F4"/>
                </a:solidFill>
                <a:latin typeface="Consolas"/>
              </a:rPr>
              <a:t>    &amp;&amp; r.params.get(</a:t>
            </a:r>
            <a:r>
              <a:rPr sz="1220">
                <a:solidFill>
                  <a:srgbClr val="FFB3C1"/>
                </a:solidFill>
                <a:latin typeface="Consolas"/>
              </a:rPr>
              <a:t>'statut'</a:t>
            </a:r>
            <a:r>
              <a:rPr sz="1220">
                <a:solidFill>
                  <a:srgbClr val="EAF2F4"/>
                </a:solidFill>
                <a:latin typeface="Consolas"/>
              </a:rPr>
              <a:t>) === </a:t>
            </a:r>
            <a:r>
              <a:rPr sz="1220">
                <a:solidFill>
                  <a:srgbClr val="FFB3C1"/>
                </a:solidFill>
                <a:latin typeface="Consolas"/>
              </a:rPr>
              <a:t>'litige'</a:t>
            </a:r>
            <a:r>
              <a:rPr sz="1220">
                <a:solidFill>
                  <a:srgbClr val="EAF2F4"/>
                </a:solidFill>
                <a:latin typeface="Consolas"/>
              </a:rPr>
              <a:t>);</a:t>
            </a:r>
          </a:p>
          <a:p>
            <a:pPr>
              <a:lnSpc>
                <a:spcPct val="100000"/>
              </a:lnSpc>
              <a:spcBef>
                <a:spcPts val="0"/>
              </a:spcBef>
              <a:spcAft>
                <a:spcPts val="0"/>
              </a:spcAft>
            </a:pPr>
            <a:r>
              <a:rPr sz="1220">
                <a:solidFill>
                  <a:srgbClr val="EAF2F4"/>
                </a:solidFill>
                <a:latin typeface="Consolas"/>
              </a:rPr>
              <a:t>  expect(req.request.method).toBe(</a:t>
            </a:r>
            <a:r>
              <a:rPr sz="1220">
                <a:solidFill>
                  <a:srgbClr val="FFB3C1"/>
                </a:solidFill>
                <a:latin typeface="Consolas"/>
              </a:rPr>
              <a:t>'GET'</a:t>
            </a:r>
            <a:r>
              <a:rPr sz="1220">
                <a:solidFill>
                  <a:srgbClr val="EAF2F4"/>
                </a:solidFill>
                <a:latin typeface="Consolas"/>
              </a:rPr>
              <a:t>);</a:t>
            </a:r>
          </a:p>
          <a:p>
            <a:pPr>
              <a:lnSpc>
                <a:spcPct val="100000"/>
              </a:lnSpc>
              <a:spcBef>
                <a:spcPts val="0"/>
              </a:spcBef>
              <a:spcAft>
                <a:spcPts val="0"/>
              </a:spcAft>
            </a:pPr>
            <a:r>
              <a:rPr sz="1220">
                <a:solidFill>
                  <a:srgbClr val="EAF2F4"/>
                </a:solidFill>
                <a:latin typeface="Consolas"/>
              </a:rPr>
              <a:t>  req.flush([{ id: </a:t>
            </a:r>
            <a:r>
              <a:rPr sz="1220">
                <a:solidFill>
                  <a:srgbClr val="FFD166"/>
                </a:solidFill>
                <a:latin typeface="Consolas"/>
              </a:rPr>
              <a:t>1</a:t>
            </a:r>
            <a:r>
              <a:rPr sz="1220">
                <a:solidFill>
                  <a:srgbClr val="EAF2F4"/>
                </a:solidFill>
                <a:latin typeface="Consolas"/>
              </a:rPr>
              <a:t> }]);</a:t>
            </a:r>
          </a:p>
          <a:p>
            <a:pPr>
              <a:lnSpc>
                <a:spcPct val="100000"/>
              </a:lnSpc>
              <a:spcBef>
                <a:spcPts val="0"/>
              </a:spcBef>
              <a:spcAft>
                <a:spcPts val="0"/>
              </a:spcAft>
            </a:pPr>
            <a:r>
              <a:rPr sz="1220">
                <a:solidFill>
                  <a:srgbClr val="EAF2F4"/>
                </a:solidFill>
                <a:latin typeface="Consolas"/>
              </a:rPr>
              <a:t>  http.verify();</a:t>
            </a:r>
          </a:p>
          <a:p>
            <a:pPr>
              <a:lnSpc>
                <a:spcPct val="100000"/>
              </a:lnSpc>
              <a:spcBef>
                <a:spcPts val="0"/>
              </a:spcBef>
              <a:spcAft>
                <a:spcPts val="0"/>
              </a:spcAft>
            </a:pPr>
            <a:r>
              <a:rPr sz="1220">
                <a:solidFill>
                  <a:srgbClr val="EAF2F4"/>
                </a:solidFill>
                <a:latin typeface="Consolas"/>
              </a:rPr>
              <a:t>});</a:t>
            </a:r>
          </a:p>
        </p:txBody>
      </p:sp>
      <p:sp>
        <p:nvSpPr>
          <p:cNvPr id="13" name="Rounded Rectangle 12"/>
          <p:cNvSpPr/>
          <p:nvPr/>
        </p:nvSpPr>
        <p:spPr>
          <a:xfrm>
            <a:off x="11795760" y="3063240"/>
            <a:ext cx="5394960" cy="365760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4" name="Oval 13"/>
          <p:cNvSpPr/>
          <p:nvPr/>
        </p:nvSpPr>
        <p:spPr>
          <a:xfrm>
            <a:off x="12015216" y="3236976"/>
            <a:ext cx="82296" cy="82296"/>
          </a:xfrm>
          <a:prstGeom prst="ellipse">
            <a:avLst/>
          </a:prstGeom>
          <a:solidFill>
            <a:srgbClr val="ED1548"/>
          </a:solidFill>
          <a:ln>
            <a:noFill/>
          </a:ln>
          <a:effectLst/>
        </p:spPr>
        <p:txBody>
          <a:bodyPr rtlCol="0" anchor="ctr"/>
          <a:lstStyle/>
          <a:p>
            <a:pPr algn="ctr"/>
          </a:p>
        </p:txBody>
      </p:sp>
      <p:sp>
        <p:nvSpPr>
          <p:cNvPr id="15" name="TextBox 14"/>
          <p:cNvSpPr txBox="1"/>
          <p:nvPr/>
        </p:nvSpPr>
        <p:spPr>
          <a:xfrm>
            <a:off x="12179808" y="3172968"/>
            <a:ext cx="489204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facture-row.spec.ts</a:t>
            </a:r>
          </a:p>
        </p:txBody>
      </p:sp>
      <p:sp>
        <p:nvSpPr>
          <p:cNvPr id="16" name="TextBox 15"/>
          <p:cNvSpPr txBox="1"/>
          <p:nvPr/>
        </p:nvSpPr>
        <p:spPr>
          <a:xfrm>
            <a:off x="12042648" y="3538728"/>
            <a:ext cx="5074920" cy="3017520"/>
          </a:xfrm>
          <a:prstGeom prst="rect">
            <a:avLst/>
          </a:prstGeom>
          <a:noFill/>
        </p:spPr>
        <p:txBody>
          <a:bodyPr wrap="none" lIns="0" rIns="0" tIns="0" bIns="0">
            <a:noAutofit/>
          </a:bodyPr>
          <a:lstStyle/>
          <a:p>
            <a:pPr>
              <a:lnSpc>
                <a:spcPct val="100000"/>
              </a:lnSpc>
              <a:spcBef>
                <a:spcPts val="0"/>
              </a:spcBef>
              <a:spcAft>
                <a:spcPts val="0"/>
              </a:spcAft>
            </a:pPr>
            <a:r>
              <a:rPr sz="1200">
                <a:solidFill>
                  <a:srgbClr val="7FD1E0"/>
                </a:solidFill>
                <a:latin typeface="Consolas"/>
              </a:rPr>
              <a:t>const</a:t>
            </a:r>
            <a:r>
              <a:rPr sz="1200">
                <a:solidFill>
                  <a:srgbClr val="EAF2F4"/>
                </a:solidFill>
                <a:latin typeface="Consolas"/>
              </a:rPr>
              <a:t> fixture = TestBed.createComponent(</a:t>
            </a:r>
          </a:p>
          <a:p>
            <a:pPr>
              <a:lnSpc>
                <a:spcPct val="100000"/>
              </a:lnSpc>
              <a:spcBef>
                <a:spcPts val="0"/>
              </a:spcBef>
              <a:spcAft>
                <a:spcPts val="0"/>
              </a:spcAft>
            </a:pPr>
            <a:r>
              <a:rPr sz="1200">
                <a:solidFill>
                  <a:srgbClr val="EAF2F4"/>
                </a:solidFill>
                <a:latin typeface="Consolas"/>
              </a:rPr>
              <a:t>  FactureRowComponent);</a:t>
            </a:r>
          </a:p>
          <a:p>
            <a:pPr>
              <a:lnSpc>
                <a:spcPct val="100000"/>
              </a:lnSpc>
              <a:spcBef>
                <a:spcPts val="0"/>
              </a:spcBef>
              <a:spcAft>
                <a:spcPts val="0"/>
              </a:spcAft>
            </a:pPr>
            <a:r>
              <a:rPr sz="1200">
                <a:solidFill>
                  <a:srgbClr val="EAF2F4"/>
                </a:solidFill>
                <a:latin typeface="Consolas"/>
              </a:rPr>
              <a:t>fixture.componentRef.setInput(</a:t>
            </a:r>
            <a:r>
              <a:rPr sz="1200">
                <a:solidFill>
                  <a:srgbClr val="FFB3C1"/>
                </a:solidFill>
                <a:latin typeface="Consolas"/>
              </a:rPr>
              <a:t>'facture'</a:t>
            </a:r>
            <a:r>
              <a:rPr sz="1200">
                <a:solidFill>
                  <a:srgbClr val="EAF2F4"/>
                </a:solidFill>
                <a:latin typeface="Consolas"/>
              </a:rPr>
              <a:t>, facture);</a:t>
            </a:r>
          </a:p>
          <a:p>
            <a:pPr>
              <a:lnSpc>
                <a:spcPct val="100000"/>
              </a:lnSpc>
              <a:spcBef>
                <a:spcPts val="0"/>
              </a:spcBef>
              <a:spcAft>
                <a:spcPts val="0"/>
              </a:spcAft>
            </a:pPr>
            <a:r>
              <a:rPr sz="1200">
                <a:solidFill>
                  <a:srgbClr val="7FD1E0"/>
                </a:solidFill>
                <a:latin typeface="Consolas"/>
              </a:rPr>
              <a:t>await</a:t>
            </a:r>
            <a:r>
              <a:rPr sz="1200">
                <a:solidFill>
                  <a:srgbClr val="EAF2F4"/>
                </a:solidFill>
                <a:latin typeface="Consolas"/>
              </a:rPr>
              <a:t> fixture.whenStable();</a:t>
            </a:r>
          </a:p>
          <a:p>
            <a:pPr>
              <a:lnSpc>
                <a:spcPct val="100000"/>
              </a:lnSpc>
              <a:spcBef>
                <a:spcPts val="0"/>
              </a:spcBef>
              <a:spcAft>
                <a:spcPts val="0"/>
              </a:spcAft>
            </a:pPr>
          </a:p>
          <a:p>
            <a:pPr>
              <a:lnSpc>
                <a:spcPct val="100000"/>
              </a:lnSpc>
              <a:spcBef>
                <a:spcPts val="0"/>
              </a:spcBef>
              <a:spcAft>
                <a:spcPts val="0"/>
              </a:spcAft>
            </a:pPr>
            <a:r>
              <a:rPr sz="1200">
                <a:solidFill>
                  <a:srgbClr val="EAF2F4"/>
                </a:solidFill>
                <a:latin typeface="Consolas"/>
              </a:rPr>
              <a:t>expect(fixture.nativeElement.textContent)</a:t>
            </a:r>
          </a:p>
          <a:p>
            <a:pPr>
              <a:lnSpc>
                <a:spcPct val="100000"/>
              </a:lnSpc>
              <a:spcBef>
                <a:spcPts val="0"/>
              </a:spcBef>
              <a:spcAft>
                <a:spcPts val="0"/>
              </a:spcAft>
            </a:pPr>
            <a:r>
              <a:rPr sz="1200">
                <a:solidFill>
                  <a:srgbClr val="EAF2F4"/>
                </a:solidFill>
                <a:latin typeface="Consolas"/>
              </a:rPr>
              <a:t>  .toContain(</a:t>
            </a:r>
            <a:r>
              <a:rPr sz="1200">
                <a:solidFill>
                  <a:srgbClr val="FFB3C1"/>
                </a:solidFill>
                <a:latin typeface="Consolas"/>
              </a:rPr>
              <a:t>'FA-2026-0001'</a:t>
            </a:r>
            <a:r>
              <a:rPr sz="1200">
                <a:solidFill>
                  <a:srgbClr val="EAF2F4"/>
                </a:solidFill>
                <a:latin typeface="Consolas"/>
              </a:rPr>
              <a:t>);</a:t>
            </a:r>
          </a:p>
        </p:txBody>
      </p:sp>
      <p:sp>
        <p:nvSpPr>
          <p:cNvPr id="17" name="Rounded Rectangle 16"/>
          <p:cNvSpPr/>
          <p:nvPr/>
        </p:nvSpPr>
        <p:spPr>
          <a:xfrm>
            <a:off x="11795760" y="7040879"/>
            <a:ext cx="5394960" cy="2103120"/>
          </a:xfrm>
          <a:prstGeom prst="roundRect">
            <a:avLst>
              <a:gd name="adj" fmla="val 8000"/>
            </a:avLst>
          </a:prstGeom>
          <a:solidFill>
            <a:srgbClr val="FFF0F4"/>
          </a:solidFill>
          <a:ln>
            <a:noFill/>
          </a:ln>
          <a:effectLst/>
        </p:spPr>
        <p:txBody>
          <a:bodyPr rtlCol="0" anchor="ctr"/>
          <a:lstStyle/>
          <a:p>
            <a:pPr algn="ctr"/>
          </a:p>
        </p:txBody>
      </p:sp>
      <p:sp>
        <p:nvSpPr>
          <p:cNvPr id="18" name="Rectangle 17"/>
          <p:cNvSpPr/>
          <p:nvPr/>
        </p:nvSpPr>
        <p:spPr>
          <a:xfrm>
            <a:off x="11795760" y="7040879"/>
            <a:ext cx="64008" cy="2103120"/>
          </a:xfrm>
          <a:prstGeom prst="rect">
            <a:avLst/>
          </a:prstGeom>
          <a:solidFill>
            <a:srgbClr val="ED1548"/>
          </a:solidFill>
          <a:ln>
            <a:noFill/>
          </a:ln>
          <a:effectLst/>
        </p:spPr>
        <p:txBody>
          <a:bodyPr rtlCol="0" anchor="ctr"/>
          <a:lstStyle/>
          <a:p>
            <a:pPr algn="ctr"/>
          </a:p>
        </p:txBody>
      </p:sp>
      <p:sp>
        <p:nvSpPr>
          <p:cNvPr id="19" name="TextBox 18"/>
          <p:cNvSpPr txBox="1"/>
          <p:nvPr/>
        </p:nvSpPr>
        <p:spPr>
          <a:xfrm>
            <a:off x="12088368" y="7205471"/>
            <a:ext cx="502920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CE QU'ON TESTE</a:t>
            </a:r>
          </a:p>
        </p:txBody>
      </p:sp>
      <p:sp>
        <p:nvSpPr>
          <p:cNvPr id="20" name="TextBox 19"/>
          <p:cNvSpPr txBox="1"/>
          <p:nvPr/>
        </p:nvSpPr>
        <p:spPr>
          <a:xfrm>
            <a:off x="12088368" y="7498079"/>
            <a:ext cx="4983480" cy="1536191"/>
          </a:xfrm>
          <a:prstGeom prst="rect">
            <a:avLst/>
          </a:prstGeom>
          <a:noFill/>
        </p:spPr>
        <p:txBody>
          <a:bodyPr wrap="square" lIns="0" rIns="0" tIns="0" bIns="0" anchor="t">
            <a:noAutofit/>
          </a:bodyPr>
          <a:lstStyle/>
          <a:p>
            <a:pPr algn="l">
              <a:lnSpc>
                <a:spcPct val="106000"/>
              </a:lnSpc>
              <a:spcBef>
                <a:spcPts val="0"/>
              </a:spcBef>
              <a:spcAft>
                <a:spcPts val="0"/>
              </a:spcAft>
            </a:pPr>
            <a:r>
              <a:rPr b="0" sz="1300" i="0">
                <a:solidFill>
                  <a:srgbClr val="1B3B47"/>
                </a:solidFill>
                <a:latin typeface="Arial"/>
              </a:rPr>
              <a:t>Le service : URL, méthode, params, réponse. Le composant : le texte rendu, les classes, l'émission d'output. Pas les champs privés.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3  ·  TP 3</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Écrire les tests</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Objectif : &gt; 70 % sur core/ et shared/, sans tester l'implémentation.</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49 / 62</a:t>
            </a:r>
          </a:p>
        </p:txBody>
      </p:sp>
      <p:sp>
        <p:nvSpPr>
          <p:cNvPr id="9" name="Oval 8"/>
          <p:cNvSpPr/>
          <p:nvPr/>
        </p:nvSpPr>
        <p:spPr>
          <a:xfrm>
            <a:off x="2606040" y="3081528"/>
            <a:ext cx="329184" cy="329184"/>
          </a:xfrm>
          <a:prstGeom prst="ellipse">
            <a:avLst/>
          </a:prstGeom>
          <a:solidFill>
            <a:srgbClr val="ED1548"/>
          </a:solidFill>
          <a:ln>
            <a:noFill/>
          </a:ln>
          <a:effectLst/>
        </p:spPr>
        <p:txBody>
          <a:bodyPr rtlCol="0" anchor="ctr" lIns="0" rIns="0" tIns="0" bIns="0"/>
          <a:lstStyle/>
          <a:p>
            <a:pPr algn="ctr"/>
            <a:r>
              <a:rPr sz="1317" b="1">
                <a:solidFill>
                  <a:srgbClr val="FFFFFF"/>
                </a:solidFill>
                <a:latin typeface="Arial"/>
              </a:rPr>
              <a:t>1</a:t>
            </a:r>
          </a:p>
        </p:txBody>
      </p:sp>
      <p:sp>
        <p:nvSpPr>
          <p:cNvPr id="10" name="TextBox 9"/>
          <p:cNvSpPr txBox="1"/>
          <p:nvPr/>
        </p:nvSpPr>
        <p:spPr>
          <a:xfrm>
            <a:off x="3108960" y="3081528"/>
            <a:ext cx="8001000" cy="721069"/>
          </a:xfrm>
          <a:prstGeom prst="rect">
            <a:avLst/>
          </a:prstGeom>
          <a:noFill/>
        </p:spPr>
        <p:txBody>
          <a:bodyPr wrap="square" lIns="0" rIns="0" tIns="0" bIns="0" anchor="t">
            <a:noAutofit/>
          </a:bodyPr>
          <a:lstStyle/>
          <a:p>
            <a:pPr algn="l">
              <a:lnSpc>
                <a:spcPct val="106000"/>
              </a:lnSpc>
              <a:spcBef>
                <a:spcPts val="0"/>
              </a:spcBef>
              <a:spcAft>
                <a:spcPts val="0"/>
              </a:spcAft>
            </a:pPr>
            <a:r>
              <a:rPr b="0" sz="1550" i="0">
                <a:solidFill>
                  <a:srgbClr val="1B3B47"/>
                </a:solidFill>
                <a:latin typeface="Arial"/>
              </a:rPr>
              <a:t>Vérifier le builder </a:t>
            </a:r>
            <a:r>
              <a:rPr sz="1395" b="0" i="0">
                <a:solidFill>
                  <a:srgbClr val="ED1548"/>
                </a:solidFill>
                <a:latin typeface="Consolas"/>
              </a:rPr>
              <a:t>@angular/build:unit-test</a:t>
            </a:r>
            <a:r>
              <a:rPr b="0" sz="1550" i="0">
                <a:solidFill>
                  <a:srgbClr val="1B3B47"/>
                </a:solidFill>
                <a:latin typeface="Arial"/>
              </a:rPr>
              <a:t> et lancer </a:t>
            </a:r>
            <a:r>
              <a:rPr sz="1395" b="0" i="0">
                <a:solidFill>
                  <a:srgbClr val="ED1548"/>
                </a:solidFill>
                <a:latin typeface="Consolas"/>
              </a:rPr>
              <a:t>ng test</a:t>
            </a:r>
            <a:r>
              <a:rPr b="0" sz="1550" i="0">
                <a:solidFill>
                  <a:srgbClr val="1B3B47"/>
                </a:solidFill>
                <a:latin typeface="Arial"/>
              </a:rPr>
              <a:t>.</a:t>
            </a:r>
          </a:p>
        </p:txBody>
      </p:sp>
      <p:sp>
        <p:nvSpPr>
          <p:cNvPr id="11" name="Oval 10"/>
          <p:cNvSpPr/>
          <p:nvPr/>
        </p:nvSpPr>
        <p:spPr>
          <a:xfrm>
            <a:off x="2606040" y="3903181"/>
            <a:ext cx="329184" cy="329184"/>
          </a:xfrm>
          <a:prstGeom prst="ellipse">
            <a:avLst/>
          </a:prstGeom>
          <a:solidFill>
            <a:srgbClr val="ED1548"/>
          </a:solidFill>
          <a:ln>
            <a:noFill/>
          </a:ln>
          <a:effectLst/>
        </p:spPr>
        <p:txBody>
          <a:bodyPr rtlCol="0" anchor="ctr" lIns="0" rIns="0" tIns="0" bIns="0"/>
          <a:lstStyle/>
          <a:p>
            <a:pPr algn="ctr"/>
            <a:r>
              <a:rPr sz="1317" b="1">
                <a:solidFill>
                  <a:srgbClr val="FFFFFF"/>
                </a:solidFill>
                <a:latin typeface="Arial"/>
              </a:rPr>
              <a:t>2</a:t>
            </a:r>
          </a:p>
        </p:txBody>
      </p:sp>
      <p:sp>
        <p:nvSpPr>
          <p:cNvPr id="12" name="TextBox 11"/>
          <p:cNvSpPr txBox="1"/>
          <p:nvPr/>
        </p:nvSpPr>
        <p:spPr>
          <a:xfrm>
            <a:off x="3108960" y="3903181"/>
            <a:ext cx="8001000" cy="721069"/>
          </a:xfrm>
          <a:prstGeom prst="rect">
            <a:avLst/>
          </a:prstGeom>
          <a:noFill/>
        </p:spPr>
        <p:txBody>
          <a:bodyPr wrap="square" lIns="0" rIns="0" tIns="0" bIns="0" anchor="t">
            <a:noAutofit/>
          </a:bodyPr>
          <a:lstStyle/>
          <a:p>
            <a:pPr algn="l">
              <a:lnSpc>
                <a:spcPct val="106000"/>
              </a:lnSpc>
              <a:spcBef>
                <a:spcPts val="0"/>
              </a:spcBef>
              <a:spcAft>
                <a:spcPts val="0"/>
              </a:spcAft>
            </a:pPr>
            <a:r>
              <a:rPr b="0" sz="1550" i="0">
                <a:solidFill>
                  <a:srgbClr val="1B3B47"/>
                </a:solidFill>
                <a:latin typeface="Arial"/>
              </a:rPr>
              <a:t>Tester </a:t>
            </a:r>
            <a:r>
              <a:rPr sz="1395" b="0" i="0">
                <a:solidFill>
                  <a:srgbClr val="ED1548"/>
                </a:solidFill>
                <a:latin typeface="Consolas"/>
              </a:rPr>
              <a:t>score()</a:t>
            </a:r>
            <a:r>
              <a:rPr b="0" sz="1550" i="0">
                <a:solidFill>
                  <a:srgbClr val="1B3B47"/>
                </a:solidFill>
                <a:latin typeface="Arial"/>
              </a:rPr>
              <a:t> : montant identique, écart 0,01 €, IBAN, libellé.</a:t>
            </a:r>
          </a:p>
        </p:txBody>
      </p:sp>
      <p:sp>
        <p:nvSpPr>
          <p:cNvPr id="13" name="Oval 12"/>
          <p:cNvSpPr/>
          <p:nvPr/>
        </p:nvSpPr>
        <p:spPr>
          <a:xfrm>
            <a:off x="2606040" y="4724835"/>
            <a:ext cx="329184" cy="329184"/>
          </a:xfrm>
          <a:prstGeom prst="ellipse">
            <a:avLst/>
          </a:prstGeom>
          <a:solidFill>
            <a:srgbClr val="ED1548"/>
          </a:solidFill>
          <a:ln>
            <a:noFill/>
          </a:ln>
          <a:effectLst/>
        </p:spPr>
        <p:txBody>
          <a:bodyPr rtlCol="0" anchor="ctr" lIns="0" rIns="0" tIns="0" bIns="0"/>
          <a:lstStyle/>
          <a:p>
            <a:pPr algn="ctr"/>
            <a:r>
              <a:rPr sz="1317" b="1">
                <a:solidFill>
                  <a:srgbClr val="FFFFFF"/>
                </a:solidFill>
                <a:latin typeface="Arial"/>
              </a:rPr>
              <a:t>3</a:t>
            </a:r>
          </a:p>
        </p:txBody>
      </p:sp>
      <p:sp>
        <p:nvSpPr>
          <p:cNvPr id="14" name="TextBox 13"/>
          <p:cNvSpPr txBox="1"/>
          <p:nvPr/>
        </p:nvSpPr>
        <p:spPr>
          <a:xfrm>
            <a:off x="3108960" y="4724835"/>
            <a:ext cx="8001000" cy="721069"/>
          </a:xfrm>
          <a:prstGeom prst="rect">
            <a:avLst/>
          </a:prstGeom>
          <a:noFill/>
        </p:spPr>
        <p:txBody>
          <a:bodyPr wrap="square" lIns="0" rIns="0" tIns="0" bIns="0" anchor="t">
            <a:noAutofit/>
          </a:bodyPr>
          <a:lstStyle/>
          <a:p>
            <a:pPr algn="l">
              <a:lnSpc>
                <a:spcPct val="106000"/>
              </a:lnSpc>
              <a:spcBef>
                <a:spcPts val="0"/>
              </a:spcBef>
              <a:spcAft>
                <a:spcPts val="0"/>
              </a:spcAft>
            </a:pPr>
            <a:r>
              <a:rPr b="0" sz="1550" i="0">
                <a:solidFill>
                  <a:srgbClr val="1B3B47"/>
                </a:solidFill>
                <a:latin typeface="Arial"/>
              </a:rPr>
              <a:t>Tester </a:t>
            </a:r>
            <a:r>
              <a:rPr sz="1395" b="0" i="0">
                <a:solidFill>
                  <a:srgbClr val="ED1548"/>
                </a:solidFill>
                <a:latin typeface="Consolas"/>
              </a:rPr>
              <a:t>StatutLabelPipe</a:t>
            </a:r>
            <a:r>
              <a:rPr b="0" sz="1550" i="0">
                <a:solidFill>
                  <a:srgbClr val="1B3B47"/>
                </a:solidFill>
                <a:latin typeface="Arial"/>
              </a:rPr>
              <a:t> et </a:t>
            </a:r>
            <a:r>
              <a:rPr sz="1395" b="0" i="0">
                <a:solidFill>
                  <a:srgbClr val="ED1548"/>
                </a:solidFill>
                <a:latin typeface="Consolas"/>
              </a:rPr>
              <a:t>EcheancePipe</a:t>
            </a:r>
            <a:r>
              <a:rPr b="0" sz="1550" i="0">
                <a:solidFill>
                  <a:srgbClr val="1B3B47"/>
                </a:solidFill>
                <a:latin typeface="Arial"/>
              </a:rPr>
              <a:t> (temps figé).</a:t>
            </a:r>
          </a:p>
        </p:txBody>
      </p:sp>
      <p:sp>
        <p:nvSpPr>
          <p:cNvPr id="15" name="Oval 14"/>
          <p:cNvSpPr/>
          <p:nvPr/>
        </p:nvSpPr>
        <p:spPr>
          <a:xfrm>
            <a:off x="2606040" y="5546489"/>
            <a:ext cx="329184" cy="329184"/>
          </a:xfrm>
          <a:prstGeom prst="ellipse">
            <a:avLst/>
          </a:prstGeom>
          <a:solidFill>
            <a:srgbClr val="ED1548"/>
          </a:solidFill>
          <a:ln>
            <a:noFill/>
          </a:ln>
          <a:effectLst/>
        </p:spPr>
        <p:txBody>
          <a:bodyPr rtlCol="0" anchor="ctr" lIns="0" rIns="0" tIns="0" bIns="0"/>
          <a:lstStyle/>
          <a:p>
            <a:pPr algn="ctr"/>
            <a:r>
              <a:rPr sz="1317" b="1">
                <a:solidFill>
                  <a:srgbClr val="FFFFFF"/>
                </a:solidFill>
                <a:latin typeface="Arial"/>
              </a:rPr>
              <a:t>4</a:t>
            </a:r>
          </a:p>
        </p:txBody>
      </p:sp>
      <p:sp>
        <p:nvSpPr>
          <p:cNvPr id="16" name="TextBox 15"/>
          <p:cNvSpPr txBox="1"/>
          <p:nvPr/>
        </p:nvSpPr>
        <p:spPr>
          <a:xfrm>
            <a:off x="3108960" y="5546489"/>
            <a:ext cx="8001000" cy="721069"/>
          </a:xfrm>
          <a:prstGeom prst="rect">
            <a:avLst/>
          </a:prstGeom>
          <a:noFill/>
        </p:spPr>
        <p:txBody>
          <a:bodyPr wrap="square" lIns="0" rIns="0" tIns="0" bIns="0" anchor="t">
            <a:noAutofit/>
          </a:bodyPr>
          <a:lstStyle/>
          <a:p>
            <a:pPr algn="l">
              <a:lnSpc>
                <a:spcPct val="106000"/>
              </a:lnSpc>
              <a:spcBef>
                <a:spcPts val="0"/>
              </a:spcBef>
              <a:spcAft>
                <a:spcPts val="0"/>
              </a:spcAft>
            </a:pPr>
            <a:r>
              <a:rPr b="0" sz="1550" i="0">
                <a:solidFill>
                  <a:srgbClr val="1B3B47"/>
                </a:solidFill>
                <a:latin typeface="Arial"/>
              </a:rPr>
              <a:t>Tester </a:t>
            </a:r>
            <a:r>
              <a:rPr sz="1395" b="0" i="0">
                <a:solidFill>
                  <a:srgbClr val="ED1548"/>
                </a:solidFill>
                <a:latin typeface="Consolas"/>
              </a:rPr>
              <a:t>FactureService</a:t>
            </a:r>
            <a:r>
              <a:rPr b="0" sz="1550" i="0">
                <a:solidFill>
                  <a:srgbClr val="1B3B47"/>
                </a:solidFill>
                <a:latin typeface="Arial"/>
              </a:rPr>
              <a:t> avec </a:t>
            </a:r>
            <a:r>
              <a:rPr sz="1395" b="0" i="0">
                <a:solidFill>
                  <a:srgbClr val="ED1548"/>
                </a:solidFill>
                <a:latin typeface="Consolas"/>
              </a:rPr>
              <a:t>HttpTestingController</a:t>
            </a:r>
            <a:r>
              <a:rPr b="0" sz="1550" i="0">
                <a:solidFill>
                  <a:srgbClr val="1B3B47"/>
                </a:solidFill>
                <a:latin typeface="Arial"/>
              </a:rPr>
              <a:t>.</a:t>
            </a:r>
          </a:p>
        </p:txBody>
      </p:sp>
      <p:sp>
        <p:nvSpPr>
          <p:cNvPr id="17" name="Oval 16"/>
          <p:cNvSpPr/>
          <p:nvPr/>
        </p:nvSpPr>
        <p:spPr>
          <a:xfrm>
            <a:off x="2606040" y="6368142"/>
            <a:ext cx="329184" cy="329184"/>
          </a:xfrm>
          <a:prstGeom prst="ellipse">
            <a:avLst/>
          </a:prstGeom>
          <a:solidFill>
            <a:srgbClr val="ED1548"/>
          </a:solidFill>
          <a:ln>
            <a:noFill/>
          </a:ln>
          <a:effectLst/>
        </p:spPr>
        <p:txBody>
          <a:bodyPr rtlCol="0" anchor="ctr" lIns="0" rIns="0" tIns="0" bIns="0"/>
          <a:lstStyle/>
          <a:p>
            <a:pPr algn="ctr"/>
            <a:r>
              <a:rPr sz="1317" b="1">
                <a:solidFill>
                  <a:srgbClr val="FFFFFF"/>
                </a:solidFill>
                <a:latin typeface="Arial"/>
              </a:rPr>
              <a:t>5</a:t>
            </a:r>
          </a:p>
        </p:txBody>
      </p:sp>
      <p:sp>
        <p:nvSpPr>
          <p:cNvPr id="18" name="TextBox 17"/>
          <p:cNvSpPr txBox="1"/>
          <p:nvPr/>
        </p:nvSpPr>
        <p:spPr>
          <a:xfrm>
            <a:off x="3108960" y="6368142"/>
            <a:ext cx="8001000" cy="721069"/>
          </a:xfrm>
          <a:prstGeom prst="rect">
            <a:avLst/>
          </a:prstGeom>
          <a:noFill/>
        </p:spPr>
        <p:txBody>
          <a:bodyPr wrap="square" lIns="0" rIns="0" tIns="0" bIns="0" anchor="t">
            <a:noAutofit/>
          </a:bodyPr>
          <a:lstStyle/>
          <a:p>
            <a:pPr algn="l">
              <a:lnSpc>
                <a:spcPct val="106000"/>
              </a:lnSpc>
              <a:spcBef>
                <a:spcPts val="0"/>
              </a:spcBef>
              <a:spcAft>
                <a:spcPts val="0"/>
              </a:spcAft>
            </a:pPr>
            <a:r>
              <a:rPr b="0" sz="1550" i="0">
                <a:solidFill>
                  <a:srgbClr val="1B3B47"/>
                </a:solidFill>
                <a:latin typeface="Arial"/>
              </a:rPr>
              <a:t>Tester </a:t>
            </a:r>
            <a:r>
              <a:rPr sz="1395" b="0" i="0">
                <a:solidFill>
                  <a:srgbClr val="ED1548"/>
                </a:solidFill>
                <a:latin typeface="Consolas"/>
              </a:rPr>
              <a:t>FactureListComponent</a:t>
            </a:r>
            <a:r>
              <a:rPr b="0" sz="1550" i="0">
                <a:solidFill>
                  <a:srgbClr val="1B3B47"/>
                </a:solidFill>
                <a:latin typeface="Arial"/>
              </a:rPr>
              <a:t> : 3 lignes, filtre, </a:t>
            </a:r>
            <a:r>
              <a:rPr sz="1395" b="0" i="0">
                <a:solidFill>
                  <a:srgbClr val="ED1548"/>
                </a:solidFill>
                <a:latin typeface="Consolas"/>
              </a:rPr>
              <a:t>@empty</a:t>
            </a:r>
            <a:r>
              <a:rPr b="0" sz="1550" i="0">
                <a:solidFill>
                  <a:srgbClr val="1B3B47"/>
                </a:solidFill>
                <a:latin typeface="Arial"/>
              </a:rPr>
              <a:t>.</a:t>
            </a:r>
          </a:p>
        </p:txBody>
      </p:sp>
      <p:sp>
        <p:nvSpPr>
          <p:cNvPr id="19" name="Oval 18"/>
          <p:cNvSpPr/>
          <p:nvPr/>
        </p:nvSpPr>
        <p:spPr>
          <a:xfrm>
            <a:off x="2606040" y="7189796"/>
            <a:ext cx="329184" cy="329184"/>
          </a:xfrm>
          <a:prstGeom prst="ellipse">
            <a:avLst/>
          </a:prstGeom>
          <a:solidFill>
            <a:srgbClr val="ED1548"/>
          </a:solidFill>
          <a:ln>
            <a:noFill/>
          </a:ln>
          <a:effectLst/>
        </p:spPr>
        <p:txBody>
          <a:bodyPr rtlCol="0" anchor="ctr" lIns="0" rIns="0" tIns="0" bIns="0"/>
          <a:lstStyle/>
          <a:p>
            <a:pPr algn="ctr"/>
            <a:r>
              <a:rPr sz="1317" b="1">
                <a:solidFill>
                  <a:srgbClr val="FFFFFF"/>
                </a:solidFill>
                <a:latin typeface="Arial"/>
              </a:rPr>
              <a:t>6</a:t>
            </a:r>
          </a:p>
        </p:txBody>
      </p:sp>
      <p:sp>
        <p:nvSpPr>
          <p:cNvPr id="20" name="TextBox 19"/>
          <p:cNvSpPr txBox="1"/>
          <p:nvPr/>
        </p:nvSpPr>
        <p:spPr>
          <a:xfrm>
            <a:off x="3108960" y="7189796"/>
            <a:ext cx="8001000" cy="721069"/>
          </a:xfrm>
          <a:prstGeom prst="rect">
            <a:avLst/>
          </a:prstGeom>
          <a:noFill/>
        </p:spPr>
        <p:txBody>
          <a:bodyPr wrap="square" lIns="0" rIns="0" tIns="0" bIns="0" anchor="t">
            <a:noAutofit/>
          </a:bodyPr>
          <a:lstStyle/>
          <a:p>
            <a:pPr algn="l">
              <a:lnSpc>
                <a:spcPct val="106000"/>
              </a:lnSpc>
              <a:spcBef>
                <a:spcPts val="0"/>
              </a:spcBef>
              <a:spcAft>
                <a:spcPts val="0"/>
              </a:spcAft>
            </a:pPr>
            <a:r>
              <a:rPr b="0" sz="1550" i="0">
                <a:solidFill>
                  <a:srgbClr val="1B3B47"/>
                </a:solidFill>
                <a:latin typeface="Arial"/>
              </a:rPr>
              <a:t>Tester la validation du formulaire (échéance &lt; émission).</a:t>
            </a:r>
          </a:p>
        </p:txBody>
      </p:sp>
      <p:sp>
        <p:nvSpPr>
          <p:cNvPr id="21" name="Oval 20"/>
          <p:cNvSpPr/>
          <p:nvPr/>
        </p:nvSpPr>
        <p:spPr>
          <a:xfrm>
            <a:off x="2606040" y="8011450"/>
            <a:ext cx="329184" cy="329184"/>
          </a:xfrm>
          <a:prstGeom prst="ellipse">
            <a:avLst/>
          </a:prstGeom>
          <a:solidFill>
            <a:srgbClr val="ED1548"/>
          </a:solidFill>
          <a:ln>
            <a:noFill/>
          </a:ln>
          <a:effectLst/>
        </p:spPr>
        <p:txBody>
          <a:bodyPr rtlCol="0" anchor="ctr" lIns="0" rIns="0" tIns="0" bIns="0"/>
          <a:lstStyle/>
          <a:p>
            <a:pPr algn="ctr"/>
            <a:r>
              <a:rPr sz="1317" b="1">
                <a:solidFill>
                  <a:srgbClr val="FFFFFF"/>
                </a:solidFill>
                <a:latin typeface="Arial"/>
              </a:rPr>
              <a:t>7</a:t>
            </a:r>
          </a:p>
        </p:txBody>
      </p:sp>
      <p:sp>
        <p:nvSpPr>
          <p:cNvPr id="22" name="TextBox 21"/>
          <p:cNvSpPr txBox="1"/>
          <p:nvPr/>
        </p:nvSpPr>
        <p:spPr>
          <a:xfrm>
            <a:off x="3108960" y="8011450"/>
            <a:ext cx="8001000" cy="721069"/>
          </a:xfrm>
          <a:prstGeom prst="rect">
            <a:avLst/>
          </a:prstGeom>
          <a:noFill/>
        </p:spPr>
        <p:txBody>
          <a:bodyPr wrap="square" lIns="0" rIns="0" tIns="0" bIns="0" anchor="t">
            <a:noAutofit/>
          </a:bodyPr>
          <a:lstStyle/>
          <a:p>
            <a:pPr algn="l">
              <a:lnSpc>
                <a:spcPct val="106000"/>
              </a:lnSpc>
              <a:spcBef>
                <a:spcPts val="0"/>
              </a:spcBef>
              <a:spcAft>
                <a:spcPts val="0"/>
              </a:spcAft>
            </a:pPr>
            <a:r>
              <a:rPr sz="1395" b="0" i="0">
                <a:solidFill>
                  <a:srgbClr val="ED1548"/>
                </a:solidFill>
                <a:latin typeface="Consolas"/>
              </a:rPr>
              <a:t>ng test --no-watch --coverage</a:t>
            </a:r>
            <a:r>
              <a:rPr b="0" sz="1550" i="0">
                <a:solidFill>
                  <a:srgbClr val="1B3B47"/>
                </a:solidFill>
                <a:latin typeface="Arial"/>
              </a:rPr>
              <a:t> ; viser &gt; 70 %.</a:t>
            </a:r>
          </a:p>
        </p:txBody>
      </p:sp>
      <p:sp>
        <p:nvSpPr>
          <p:cNvPr id="23" name="Rounded Rectangle 22"/>
          <p:cNvSpPr/>
          <p:nvPr/>
        </p:nvSpPr>
        <p:spPr>
          <a:xfrm>
            <a:off x="11475720" y="309067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4" name="TextBox 23"/>
          <p:cNvSpPr txBox="1"/>
          <p:nvPr/>
        </p:nvSpPr>
        <p:spPr>
          <a:xfrm>
            <a:off x="11841480" y="3063240"/>
            <a:ext cx="5349240"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Les tests métier ne montent pas de TestBed.</a:t>
            </a:r>
          </a:p>
        </p:txBody>
      </p:sp>
      <p:sp>
        <p:nvSpPr>
          <p:cNvPr id="25" name="Rounded Rectangle 24"/>
          <p:cNvSpPr/>
          <p:nvPr/>
        </p:nvSpPr>
        <p:spPr>
          <a:xfrm>
            <a:off x="11475720" y="3371977"/>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6" name="TextBox 25"/>
          <p:cNvSpPr txBox="1"/>
          <p:nvPr/>
        </p:nvSpPr>
        <p:spPr>
          <a:xfrm>
            <a:off x="11841480" y="3344545"/>
            <a:ext cx="5349240"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Les tests HTTP vérifient l'URL et les params.</a:t>
            </a:r>
          </a:p>
        </p:txBody>
      </p:sp>
      <p:sp>
        <p:nvSpPr>
          <p:cNvPr id="27" name="Rounded Rectangle 26"/>
          <p:cNvSpPr/>
          <p:nvPr/>
        </p:nvSpPr>
        <p:spPr>
          <a:xfrm>
            <a:off x="11475720" y="365328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8" name="TextBox 27"/>
          <p:cNvSpPr txBox="1"/>
          <p:nvPr/>
        </p:nvSpPr>
        <p:spPr>
          <a:xfrm>
            <a:off x="11841480" y="3625850"/>
            <a:ext cx="5349240"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Les tests de composant vérifient le rendu.</a:t>
            </a:r>
          </a:p>
        </p:txBody>
      </p:sp>
      <p:sp>
        <p:nvSpPr>
          <p:cNvPr id="29" name="Rounded Rectangle 28"/>
          <p:cNvSpPr/>
          <p:nvPr/>
        </p:nvSpPr>
        <p:spPr>
          <a:xfrm>
            <a:off x="11475720" y="3934587"/>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30" name="TextBox 29"/>
          <p:cNvSpPr txBox="1"/>
          <p:nvPr/>
        </p:nvSpPr>
        <p:spPr>
          <a:xfrm>
            <a:off x="11841480" y="3907155"/>
            <a:ext cx="5349240"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La couverture est mesurée, pas devinée.</a:t>
            </a:r>
          </a:p>
        </p:txBody>
      </p:sp>
      <p:sp>
        <p:nvSpPr>
          <p:cNvPr id="31" name="Rounded Rectangle 30"/>
          <p:cNvSpPr/>
          <p:nvPr/>
        </p:nvSpPr>
        <p:spPr>
          <a:xfrm>
            <a:off x="11475720" y="6035040"/>
            <a:ext cx="5715000" cy="173736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32" name="Oval 31"/>
          <p:cNvSpPr/>
          <p:nvPr/>
        </p:nvSpPr>
        <p:spPr>
          <a:xfrm>
            <a:off x="11695176" y="6208776"/>
            <a:ext cx="82296" cy="82296"/>
          </a:xfrm>
          <a:prstGeom prst="ellipse">
            <a:avLst/>
          </a:prstGeom>
          <a:solidFill>
            <a:srgbClr val="ED1548"/>
          </a:solidFill>
          <a:ln>
            <a:noFill/>
          </a:ln>
          <a:effectLst/>
        </p:spPr>
        <p:txBody>
          <a:bodyPr rtlCol="0" anchor="ctr"/>
          <a:lstStyle/>
          <a:p>
            <a:pPr algn="ctr"/>
          </a:p>
        </p:txBody>
      </p:sp>
      <p:sp>
        <p:nvSpPr>
          <p:cNvPr id="33" name="TextBox 32"/>
          <p:cNvSpPr txBox="1"/>
          <p:nvPr/>
        </p:nvSpPr>
        <p:spPr>
          <a:xfrm>
            <a:off x="11859768" y="6144768"/>
            <a:ext cx="521208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CI</a:t>
            </a:r>
          </a:p>
        </p:txBody>
      </p:sp>
      <p:sp>
        <p:nvSpPr>
          <p:cNvPr id="34" name="TextBox 33"/>
          <p:cNvSpPr txBox="1"/>
          <p:nvPr/>
        </p:nvSpPr>
        <p:spPr>
          <a:xfrm>
            <a:off x="11722608" y="6510527"/>
            <a:ext cx="5394960" cy="1097280"/>
          </a:xfrm>
          <a:prstGeom prst="rect">
            <a:avLst/>
          </a:prstGeom>
          <a:noFill/>
        </p:spPr>
        <p:txBody>
          <a:bodyPr wrap="none" lIns="0" rIns="0" tIns="0" bIns="0">
            <a:noAutofit/>
          </a:bodyPr>
          <a:lstStyle/>
          <a:p>
            <a:pPr>
              <a:lnSpc>
                <a:spcPct val="100000"/>
              </a:lnSpc>
              <a:spcBef>
                <a:spcPts val="0"/>
              </a:spcBef>
              <a:spcAft>
                <a:spcPts val="0"/>
              </a:spcAft>
            </a:pPr>
            <a:r>
              <a:rPr sz="1400">
                <a:solidFill>
                  <a:srgbClr val="EAF2F4"/>
                </a:solidFill>
                <a:latin typeface="Consolas"/>
              </a:rPr>
              <a:t>ng test --no-watch --coverage</a:t>
            </a:r>
          </a:p>
        </p:txBody>
      </p:sp>
      <p:sp>
        <p:nvSpPr>
          <p:cNvPr id="35" name="Rounded Rectangle 34"/>
          <p:cNvSpPr/>
          <p:nvPr/>
        </p:nvSpPr>
        <p:spPr>
          <a:xfrm>
            <a:off x="11475720" y="8001000"/>
            <a:ext cx="5715000" cy="1051560"/>
          </a:xfrm>
          <a:prstGeom prst="roundRect">
            <a:avLst>
              <a:gd name="adj" fmla="val 8000"/>
            </a:avLst>
          </a:prstGeom>
          <a:solidFill>
            <a:srgbClr val="FFF6E5"/>
          </a:solidFill>
          <a:ln>
            <a:noFill/>
          </a:ln>
          <a:effectLst/>
        </p:spPr>
        <p:txBody>
          <a:bodyPr rtlCol="0" anchor="ctr"/>
          <a:lstStyle/>
          <a:p>
            <a:pPr algn="ctr"/>
          </a:p>
        </p:txBody>
      </p:sp>
      <p:sp>
        <p:nvSpPr>
          <p:cNvPr id="36" name="Rectangle 35"/>
          <p:cNvSpPr/>
          <p:nvPr/>
        </p:nvSpPr>
        <p:spPr>
          <a:xfrm>
            <a:off x="11475720" y="8001000"/>
            <a:ext cx="64008" cy="1051560"/>
          </a:xfrm>
          <a:prstGeom prst="rect">
            <a:avLst/>
          </a:prstGeom>
          <a:solidFill>
            <a:srgbClr val="B26A00"/>
          </a:solidFill>
          <a:ln>
            <a:noFill/>
          </a:ln>
          <a:effectLst/>
        </p:spPr>
        <p:txBody>
          <a:bodyPr rtlCol="0" anchor="ctr"/>
          <a:lstStyle/>
          <a:p>
            <a:pPr algn="ctr"/>
          </a:p>
        </p:txBody>
      </p:sp>
      <p:sp>
        <p:nvSpPr>
          <p:cNvPr id="37" name="TextBox 36"/>
          <p:cNvSpPr txBox="1"/>
          <p:nvPr/>
        </p:nvSpPr>
        <p:spPr>
          <a:xfrm>
            <a:off x="11768328" y="8165592"/>
            <a:ext cx="534924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B26A00"/>
                </a:solidFill>
                <a:latin typeface="Arial"/>
              </a:rPr>
              <a:t>PIÈGE</a:t>
            </a:r>
          </a:p>
        </p:txBody>
      </p:sp>
      <p:sp>
        <p:nvSpPr>
          <p:cNvPr id="38" name="TextBox 37"/>
          <p:cNvSpPr txBox="1"/>
          <p:nvPr/>
        </p:nvSpPr>
        <p:spPr>
          <a:xfrm>
            <a:off x="11768328" y="8458200"/>
            <a:ext cx="5303520" cy="484631"/>
          </a:xfrm>
          <a:prstGeom prst="rect">
            <a:avLst/>
          </a:prstGeom>
          <a:noFill/>
        </p:spPr>
        <p:txBody>
          <a:bodyPr wrap="square" lIns="0" rIns="0" tIns="0" bIns="0" anchor="t">
            <a:noAutofit/>
          </a:bodyPr>
          <a:lstStyle/>
          <a:p>
            <a:pPr algn="l">
              <a:lnSpc>
                <a:spcPct val="106000"/>
              </a:lnSpc>
              <a:spcBef>
                <a:spcPts val="0"/>
              </a:spcBef>
              <a:spcAft>
                <a:spcPts val="0"/>
              </a:spcAft>
            </a:pPr>
            <a:r>
              <a:rPr b="0" sz="1300" i="0">
                <a:solidFill>
                  <a:srgbClr val="1B3B47"/>
                </a:solidFill>
                <a:latin typeface="Arial"/>
              </a:rPr>
              <a:t>Un test qui mocke tout ne teste rien. Préférez un vrai </a:t>
            </a:r>
            <a:r>
              <a:rPr sz="1170" b="0" i="0">
                <a:solidFill>
                  <a:srgbClr val="B26A00"/>
                </a:solidFill>
                <a:latin typeface="Consolas"/>
              </a:rPr>
              <a:t>score()</a:t>
            </a:r>
            <a:r>
              <a:rPr b="0" sz="1300" i="0">
                <a:solidFill>
                  <a:srgbClr val="1B3B47"/>
                </a:solidFill>
                <a:latin typeface="Arial"/>
              </a:rPr>
              <a:t> et un vrai pipe.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3  ·  E2E</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Playwright ou Cypress ?</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L'E2E pilote un vrai navigateur : lent, fragile, indispensable sur les parcours critiques.</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50 / 62</a:t>
            </a:r>
          </a:p>
        </p:txBody>
      </p:sp>
      <p:graphicFrame>
        <p:nvGraphicFramePr>
          <p:cNvPr id="9" name="Table 8"/>
          <p:cNvGraphicFramePr>
            <a:graphicFrameLocks noGrp="1"/>
          </p:cNvGraphicFramePr>
          <p:nvPr/>
        </p:nvGraphicFramePr>
        <p:xfrm>
          <a:off x="2606040" y="3063240"/>
          <a:ext cx="8686800" cy="3246120"/>
        </p:xfrm>
        <a:graphic>
          <a:graphicData uri="http://schemas.openxmlformats.org/drawingml/2006/table">
            <a:tbl>
              <a:tblPr>
                <a:tableStyleId>{5C22544A-7EE6-4342-B048-85BDC9FD1C3A}</a:tableStyleId>
              </a:tblPr>
              <a:tblGrid>
                <a:gridCol w="1828800"/>
                <a:gridCol w="3566160"/>
                <a:gridCol w="3291840"/>
              </a:tblGrid>
              <a:tr h="411480">
                <a:tc>
                  <a:txBody>
                    <a:bodyPr wrap="square"/>
                    <a:lstStyle/>
                    <a:p>
                      <a:pPr algn="l">
                        <a:lnSpc>
                          <a:spcPct val="100000"/>
                        </a:lnSpc>
                      </a:pPr>
                      <a:r>
                        <a:rPr b="1" sz="1250" i="0">
                          <a:solidFill>
                            <a:srgbClr val="FFFFFF"/>
                          </a:solidFill>
                          <a:latin typeface="Arial"/>
                        </a:rPr>
                        <a:t>Critère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250" i="0">
                          <a:solidFill>
                            <a:srgbClr val="FFFFFF"/>
                          </a:solidFill>
                          <a:latin typeface="Arial"/>
                        </a:rPr>
                        <a:t>Playwright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250" i="0">
                          <a:solidFill>
                            <a:srgbClr val="FFFFFF"/>
                          </a:solidFill>
                          <a:latin typeface="Arial"/>
                        </a:rPr>
                        <a:t>Cypress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r>
              <a:tr h="594360">
                <a:tc>
                  <a:txBody>
                    <a:bodyPr wrap="square"/>
                    <a:lstStyle/>
                    <a:p>
                      <a:pPr algn="l">
                        <a:lnSpc>
                          <a:spcPct val="100000"/>
                        </a:lnSpc>
                      </a:pPr>
                      <a:r>
                        <a:rPr b="0" sz="1250" i="0">
                          <a:solidFill>
                            <a:srgbClr val="1B3B47"/>
                          </a:solidFill>
                          <a:latin typeface="Arial"/>
                        </a:rPr>
                        <a:t>Installation</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sz="1125" b="0" i="0">
                          <a:solidFill>
                            <a:srgbClr val="ED1548"/>
                          </a:solidFill>
                          <a:latin typeface="Consolas"/>
                        </a:rPr>
                        <a:t>npm init playwright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sz="1125" b="0" i="0">
                          <a:solidFill>
                            <a:srgbClr val="ED1548"/>
                          </a:solidFill>
                          <a:latin typeface="Consolas"/>
                        </a:rPr>
                        <a:t>ng add @cypress/schematic</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594360">
                <a:tc>
                  <a:txBody>
                    <a:bodyPr wrap="square"/>
                    <a:lstStyle/>
                    <a:p>
                      <a:pPr algn="l">
                        <a:lnSpc>
                          <a:spcPct val="100000"/>
                        </a:lnSpc>
                      </a:pPr>
                      <a:r>
                        <a:rPr b="0" sz="1250" i="0">
                          <a:solidFill>
                            <a:srgbClr val="1B3B47"/>
                          </a:solidFill>
                          <a:latin typeface="Arial"/>
                        </a:rPr>
                        <a:t>Exécution</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250" i="0">
                          <a:solidFill>
                            <a:srgbClr val="1B3B47"/>
                          </a:solidFill>
                          <a:latin typeface="Arial"/>
                        </a:rPr>
                        <a:t>processus Node, 3 navigateurs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250" i="0">
                          <a:solidFill>
                            <a:srgbClr val="1B3B47"/>
                          </a:solidFill>
                          <a:latin typeface="Arial"/>
                        </a:rPr>
                        <a:t>dans l'onglet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548640">
                <a:tc>
                  <a:txBody>
                    <a:bodyPr wrap="square"/>
                    <a:lstStyle/>
                    <a:p>
                      <a:pPr algn="l">
                        <a:lnSpc>
                          <a:spcPct val="100000"/>
                        </a:lnSpc>
                      </a:pPr>
                      <a:r>
                        <a:rPr b="0" sz="1250" i="0">
                          <a:solidFill>
                            <a:srgbClr val="1B3B47"/>
                          </a:solidFill>
                          <a:latin typeface="Arial"/>
                        </a:rPr>
                        <a:t>Attentes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250" i="0">
                          <a:solidFill>
                            <a:srgbClr val="1B3B47"/>
                          </a:solidFill>
                          <a:latin typeface="Arial"/>
                        </a:rPr>
                        <a:t>auto-wait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250" i="0">
                          <a:solidFill>
                            <a:srgbClr val="1B3B47"/>
                          </a:solidFill>
                          <a:latin typeface="Arial"/>
                        </a:rPr>
                        <a:t>retry des commandes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548640">
                <a:tc>
                  <a:txBody>
                    <a:bodyPr wrap="square"/>
                    <a:lstStyle/>
                    <a:p>
                      <a:pPr algn="l">
                        <a:lnSpc>
                          <a:spcPct val="100000"/>
                        </a:lnSpc>
                      </a:pPr>
                      <a:r>
                        <a:rPr b="0" sz="1250" i="0">
                          <a:solidFill>
                            <a:srgbClr val="1B3B47"/>
                          </a:solidFill>
                          <a:latin typeface="Arial"/>
                        </a:rPr>
                        <a:t>Réseau</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sz="1125" b="0" i="0">
                          <a:solidFill>
                            <a:srgbClr val="ED1548"/>
                          </a:solidFill>
                          <a:latin typeface="Consolas"/>
                        </a:rPr>
                        <a:t>page.route()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sz="1125" b="0" i="0">
                          <a:solidFill>
                            <a:srgbClr val="ED1548"/>
                          </a:solidFill>
                          <a:latin typeface="Consolas"/>
                        </a:rPr>
                        <a:t>cy.intercept()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548640">
                <a:tc>
                  <a:txBody>
                    <a:bodyPr wrap="square"/>
                    <a:lstStyle/>
                    <a:p>
                      <a:pPr algn="l">
                        <a:lnSpc>
                          <a:spcPct val="100000"/>
                        </a:lnSpc>
                      </a:pPr>
                      <a:r>
                        <a:rPr b="0" sz="1250" i="0">
                          <a:solidFill>
                            <a:srgbClr val="1B3B47"/>
                          </a:solidFill>
                          <a:latin typeface="Arial"/>
                        </a:rPr>
                        <a:t>Debug</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250" i="0">
                          <a:solidFill>
                            <a:srgbClr val="1B3B47"/>
                          </a:solidFill>
                          <a:latin typeface="Arial"/>
                        </a:rPr>
                        <a:t>UI, trace, HTML</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250" i="0">
                          <a:solidFill>
                            <a:srgbClr val="1B3B47"/>
                          </a:solidFill>
                          <a:latin typeface="Arial"/>
                        </a:rPr>
                        <a:t>runner, time-travel</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bl>
          </a:graphicData>
        </a:graphic>
      </p:graphicFrame>
      <p:sp>
        <p:nvSpPr>
          <p:cNvPr id="10" name="Rounded Rectangle 9"/>
          <p:cNvSpPr/>
          <p:nvPr/>
        </p:nvSpPr>
        <p:spPr>
          <a:xfrm>
            <a:off x="11750040" y="3063240"/>
            <a:ext cx="5440680" cy="603504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1" name="TextBox 10"/>
          <p:cNvSpPr txBox="1"/>
          <p:nvPr/>
        </p:nvSpPr>
        <p:spPr>
          <a:xfrm>
            <a:off x="11978640" y="3227832"/>
            <a:ext cx="5120640" cy="274320"/>
          </a:xfrm>
          <a:prstGeom prst="rect">
            <a:avLst/>
          </a:prstGeom>
          <a:noFill/>
        </p:spPr>
        <p:txBody>
          <a:bodyPr wrap="square" lIns="0" rIns="0" tIns="0" bIns="0" anchor="t">
            <a:noAutofit/>
          </a:bodyPr>
          <a:lstStyle/>
          <a:p>
            <a:pPr algn="l">
              <a:lnSpc>
                <a:spcPct val="102000"/>
              </a:lnSpc>
              <a:spcBef>
                <a:spcPts val="0"/>
              </a:spcBef>
              <a:spcAft>
                <a:spcPts val="0"/>
              </a:spcAft>
            </a:pPr>
            <a:r>
              <a:rPr b="1" sz="1450" i="0">
                <a:solidFill>
                  <a:srgbClr val="ED1548"/>
                </a:solidFill>
                <a:latin typeface="Arial"/>
              </a:rPr>
              <a:t>TP 3 bis — démo guidée</a:t>
            </a:r>
          </a:p>
        </p:txBody>
      </p:sp>
      <p:sp>
        <p:nvSpPr>
          <p:cNvPr id="12" name="Oval 11"/>
          <p:cNvSpPr/>
          <p:nvPr/>
        </p:nvSpPr>
        <p:spPr>
          <a:xfrm>
            <a:off x="11978640" y="3675887"/>
            <a:ext cx="329184" cy="329184"/>
          </a:xfrm>
          <a:prstGeom prst="ellipse">
            <a:avLst/>
          </a:prstGeom>
          <a:solidFill>
            <a:srgbClr val="ED1548"/>
          </a:solidFill>
          <a:ln>
            <a:noFill/>
          </a:ln>
          <a:effectLst/>
        </p:spPr>
        <p:txBody>
          <a:bodyPr rtlCol="0" anchor="ctr" lIns="0" rIns="0" tIns="0" bIns="0"/>
          <a:lstStyle/>
          <a:p>
            <a:pPr algn="ctr"/>
            <a:r>
              <a:rPr sz="1105" b="1">
                <a:solidFill>
                  <a:srgbClr val="FFFFFF"/>
                </a:solidFill>
                <a:latin typeface="Arial"/>
              </a:rPr>
              <a:t>1</a:t>
            </a:r>
          </a:p>
        </p:txBody>
      </p:sp>
      <p:sp>
        <p:nvSpPr>
          <p:cNvPr id="13" name="TextBox 12"/>
          <p:cNvSpPr txBox="1"/>
          <p:nvPr/>
        </p:nvSpPr>
        <p:spPr>
          <a:xfrm>
            <a:off x="12481560" y="3675887"/>
            <a:ext cx="4617720" cy="797051"/>
          </a:xfrm>
          <a:prstGeom prst="rect">
            <a:avLst/>
          </a:prstGeom>
          <a:noFill/>
        </p:spPr>
        <p:txBody>
          <a:bodyPr wrap="square" lIns="0" rIns="0" tIns="0" bIns="0" anchor="t">
            <a:noAutofit/>
          </a:bodyPr>
          <a:lstStyle/>
          <a:p>
            <a:pPr algn="l">
              <a:lnSpc>
                <a:spcPct val="106000"/>
              </a:lnSpc>
              <a:spcBef>
                <a:spcPts val="0"/>
              </a:spcBef>
              <a:spcAft>
                <a:spcPts val="0"/>
              </a:spcAft>
            </a:pPr>
            <a:r>
              <a:rPr b="0" sz="1300" i="0">
                <a:solidFill>
                  <a:srgbClr val="1B3B47"/>
                </a:solidFill>
                <a:latin typeface="Arial"/>
              </a:rPr>
              <a:t>Ajouter </a:t>
            </a:r>
            <a:r>
              <a:rPr sz="1170" b="0" i="0">
                <a:solidFill>
                  <a:srgbClr val="ED1548"/>
                </a:solidFill>
                <a:latin typeface="Consolas"/>
              </a:rPr>
              <a:t>data-testid</a:t>
            </a:r>
            <a:r>
              <a:rPr b="0" sz="1300" i="0">
                <a:solidFill>
                  <a:srgbClr val="1B3B47"/>
                </a:solidFill>
                <a:latin typeface="Arial"/>
              </a:rPr>
              <a:t> : row, valider, badge.</a:t>
            </a:r>
          </a:p>
        </p:txBody>
      </p:sp>
      <p:sp>
        <p:nvSpPr>
          <p:cNvPr id="14" name="Oval 13"/>
          <p:cNvSpPr/>
          <p:nvPr/>
        </p:nvSpPr>
        <p:spPr>
          <a:xfrm>
            <a:off x="11978640" y="4536947"/>
            <a:ext cx="329184" cy="329184"/>
          </a:xfrm>
          <a:prstGeom prst="ellipse">
            <a:avLst/>
          </a:prstGeom>
          <a:solidFill>
            <a:srgbClr val="ED1548"/>
          </a:solidFill>
          <a:ln>
            <a:noFill/>
          </a:ln>
          <a:effectLst/>
        </p:spPr>
        <p:txBody>
          <a:bodyPr rtlCol="0" anchor="ctr" lIns="0" rIns="0" tIns="0" bIns="0"/>
          <a:lstStyle/>
          <a:p>
            <a:pPr algn="ctr"/>
            <a:r>
              <a:rPr sz="1105" b="1">
                <a:solidFill>
                  <a:srgbClr val="FFFFFF"/>
                </a:solidFill>
                <a:latin typeface="Arial"/>
              </a:rPr>
              <a:t>2</a:t>
            </a:r>
          </a:p>
        </p:txBody>
      </p:sp>
      <p:sp>
        <p:nvSpPr>
          <p:cNvPr id="15" name="TextBox 14"/>
          <p:cNvSpPr txBox="1"/>
          <p:nvPr/>
        </p:nvSpPr>
        <p:spPr>
          <a:xfrm>
            <a:off x="12481560" y="4536947"/>
            <a:ext cx="4617720" cy="797051"/>
          </a:xfrm>
          <a:prstGeom prst="rect">
            <a:avLst/>
          </a:prstGeom>
          <a:noFill/>
        </p:spPr>
        <p:txBody>
          <a:bodyPr wrap="square" lIns="0" rIns="0" tIns="0" bIns="0" anchor="t">
            <a:noAutofit/>
          </a:bodyPr>
          <a:lstStyle/>
          <a:p>
            <a:pPr algn="l">
              <a:lnSpc>
                <a:spcPct val="106000"/>
              </a:lnSpc>
              <a:spcBef>
                <a:spcPts val="0"/>
              </a:spcBef>
              <a:spcAft>
                <a:spcPts val="0"/>
              </a:spcAft>
            </a:pPr>
            <a:r>
              <a:rPr b="0" sz="1300" i="0">
                <a:solidFill>
                  <a:srgbClr val="1B3B47"/>
                </a:solidFill>
                <a:latin typeface="Arial"/>
              </a:rPr>
              <a:t>Installer Playwright et configurer </a:t>
            </a:r>
            <a:r>
              <a:rPr sz="1170" b="0" i="0">
                <a:solidFill>
                  <a:srgbClr val="ED1548"/>
                </a:solidFill>
                <a:latin typeface="Consolas"/>
              </a:rPr>
              <a:t>webServer</a:t>
            </a:r>
            <a:r>
              <a:rPr b="0" sz="1300" i="0">
                <a:solidFill>
                  <a:srgbClr val="1B3B47"/>
                </a:solidFill>
                <a:latin typeface="Arial"/>
              </a:rPr>
              <a:t>.</a:t>
            </a:r>
          </a:p>
        </p:txBody>
      </p:sp>
      <p:sp>
        <p:nvSpPr>
          <p:cNvPr id="16" name="Oval 15"/>
          <p:cNvSpPr/>
          <p:nvPr/>
        </p:nvSpPr>
        <p:spPr>
          <a:xfrm>
            <a:off x="11978640" y="5398007"/>
            <a:ext cx="329184" cy="329184"/>
          </a:xfrm>
          <a:prstGeom prst="ellipse">
            <a:avLst/>
          </a:prstGeom>
          <a:solidFill>
            <a:srgbClr val="ED1548"/>
          </a:solidFill>
          <a:ln>
            <a:noFill/>
          </a:ln>
          <a:effectLst/>
        </p:spPr>
        <p:txBody>
          <a:bodyPr rtlCol="0" anchor="ctr" lIns="0" rIns="0" tIns="0" bIns="0"/>
          <a:lstStyle/>
          <a:p>
            <a:pPr algn="ctr"/>
            <a:r>
              <a:rPr sz="1105" b="1">
                <a:solidFill>
                  <a:srgbClr val="FFFFFF"/>
                </a:solidFill>
                <a:latin typeface="Arial"/>
              </a:rPr>
              <a:t>3</a:t>
            </a:r>
          </a:p>
        </p:txBody>
      </p:sp>
      <p:sp>
        <p:nvSpPr>
          <p:cNvPr id="17" name="TextBox 16"/>
          <p:cNvSpPr txBox="1"/>
          <p:nvPr/>
        </p:nvSpPr>
        <p:spPr>
          <a:xfrm>
            <a:off x="12481560" y="5398007"/>
            <a:ext cx="4617720" cy="797051"/>
          </a:xfrm>
          <a:prstGeom prst="rect">
            <a:avLst/>
          </a:prstGeom>
          <a:noFill/>
        </p:spPr>
        <p:txBody>
          <a:bodyPr wrap="square" lIns="0" rIns="0" tIns="0" bIns="0" anchor="t">
            <a:noAutofit/>
          </a:bodyPr>
          <a:lstStyle/>
          <a:p>
            <a:pPr algn="l">
              <a:lnSpc>
                <a:spcPct val="106000"/>
              </a:lnSpc>
              <a:spcBef>
                <a:spcPts val="0"/>
              </a:spcBef>
              <a:spcAft>
                <a:spcPts val="0"/>
              </a:spcAft>
            </a:pPr>
            <a:r>
              <a:rPr b="0" sz="1300" i="0">
                <a:solidFill>
                  <a:srgbClr val="1B3B47"/>
                </a:solidFill>
                <a:latin typeface="Arial"/>
              </a:rPr>
              <a:t>Tester le parcours de rapprochement.</a:t>
            </a:r>
          </a:p>
        </p:txBody>
      </p:sp>
      <p:sp>
        <p:nvSpPr>
          <p:cNvPr id="18" name="Oval 17"/>
          <p:cNvSpPr/>
          <p:nvPr/>
        </p:nvSpPr>
        <p:spPr>
          <a:xfrm>
            <a:off x="11978640" y="6259068"/>
            <a:ext cx="329184" cy="329184"/>
          </a:xfrm>
          <a:prstGeom prst="ellipse">
            <a:avLst/>
          </a:prstGeom>
          <a:solidFill>
            <a:srgbClr val="ED1548"/>
          </a:solidFill>
          <a:ln>
            <a:noFill/>
          </a:ln>
          <a:effectLst/>
        </p:spPr>
        <p:txBody>
          <a:bodyPr rtlCol="0" anchor="ctr" lIns="0" rIns="0" tIns="0" bIns="0"/>
          <a:lstStyle/>
          <a:p>
            <a:pPr algn="ctr"/>
            <a:r>
              <a:rPr sz="1105" b="1">
                <a:solidFill>
                  <a:srgbClr val="FFFFFF"/>
                </a:solidFill>
                <a:latin typeface="Arial"/>
              </a:rPr>
              <a:t>4</a:t>
            </a:r>
          </a:p>
        </p:txBody>
      </p:sp>
      <p:sp>
        <p:nvSpPr>
          <p:cNvPr id="19" name="TextBox 18"/>
          <p:cNvSpPr txBox="1"/>
          <p:nvPr/>
        </p:nvSpPr>
        <p:spPr>
          <a:xfrm>
            <a:off x="12481560" y="6259068"/>
            <a:ext cx="4617720" cy="797051"/>
          </a:xfrm>
          <a:prstGeom prst="rect">
            <a:avLst/>
          </a:prstGeom>
          <a:noFill/>
        </p:spPr>
        <p:txBody>
          <a:bodyPr wrap="square" lIns="0" rIns="0" tIns="0" bIns="0" anchor="t">
            <a:noAutofit/>
          </a:bodyPr>
          <a:lstStyle/>
          <a:p>
            <a:pPr algn="l">
              <a:lnSpc>
                <a:spcPct val="106000"/>
              </a:lnSpc>
              <a:spcBef>
                <a:spcPts val="0"/>
              </a:spcBef>
              <a:spcAft>
                <a:spcPts val="0"/>
              </a:spcAft>
            </a:pPr>
            <a:r>
              <a:rPr b="0" sz="1300" i="0">
                <a:solidFill>
                  <a:srgbClr val="1B3B47"/>
                </a:solidFill>
                <a:latin typeface="Arial"/>
              </a:rPr>
              <a:t>Simuler une API en erreur avec </a:t>
            </a:r>
            <a:r>
              <a:rPr sz="1170" b="0" i="0">
                <a:solidFill>
                  <a:srgbClr val="ED1548"/>
                </a:solidFill>
                <a:latin typeface="Consolas"/>
              </a:rPr>
              <a:t>page.route()</a:t>
            </a:r>
            <a:r>
              <a:rPr b="0" sz="1300" i="0">
                <a:solidFill>
                  <a:srgbClr val="1B3B47"/>
                </a:solidFill>
                <a:latin typeface="Arial"/>
              </a:rPr>
              <a:t>.</a:t>
            </a:r>
          </a:p>
        </p:txBody>
      </p:sp>
      <p:sp>
        <p:nvSpPr>
          <p:cNvPr id="20" name="Oval 19"/>
          <p:cNvSpPr/>
          <p:nvPr/>
        </p:nvSpPr>
        <p:spPr>
          <a:xfrm>
            <a:off x="11978640" y="7120128"/>
            <a:ext cx="329184" cy="329184"/>
          </a:xfrm>
          <a:prstGeom prst="ellipse">
            <a:avLst/>
          </a:prstGeom>
          <a:solidFill>
            <a:srgbClr val="ED1548"/>
          </a:solidFill>
          <a:ln>
            <a:noFill/>
          </a:ln>
          <a:effectLst/>
        </p:spPr>
        <p:txBody>
          <a:bodyPr rtlCol="0" anchor="ctr" lIns="0" rIns="0" tIns="0" bIns="0"/>
          <a:lstStyle/>
          <a:p>
            <a:pPr algn="ctr"/>
            <a:r>
              <a:rPr sz="1105" b="1">
                <a:solidFill>
                  <a:srgbClr val="FFFFFF"/>
                </a:solidFill>
                <a:latin typeface="Arial"/>
              </a:rPr>
              <a:t>5</a:t>
            </a:r>
          </a:p>
        </p:txBody>
      </p:sp>
      <p:sp>
        <p:nvSpPr>
          <p:cNvPr id="21" name="TextBox 20"/>
          <p:cNvSpPr txBox="1"/>
          <p:nvPr/>
        </p:nvSpPr>
        <p:spPr>
          <a:xfrm>
            <a:off x="12481560" y="7120128"/>
            <a:ext cx="4617720" cy="797051"/>
          </a:xfrm>
          <a:prstGeom prst="rect">
            <a:avLst/>
          </a:prstGeom>
          <a:noFill/>
        </p:spPr>
        <p:txBody>
          <a:bodyPr wrap="square" lIns="0" rIns="0" tIns="0" bIns="0" anchor="t">
            <a:noAutofit/>
          </a:bodyPr>
          <a:lstStyle/>
          <a:p>
            <a:pPr algn="l">
              <a:lnSpc>
                <a:spcPct val="106000"/>
              </a:lnSpc>
              <a:spcBef>
                <a:spcPts val="0"/>
              </a:spcBef>
              <a:spcAft>
                <a:spcPts val="0"/>
              </a:spcAft>
            </a:pPr>
            <a:r>
              <a:rPr sz="1170" b="0" i="0">
                <a:solidFill>
                  <a:srgbClr val="ED1548"/>
                </a:solidFill>
                <a:latin typeface="Consolas"/>
              </a:rPr>
              <a:t>npx playwright test --ui</a:t>
            </a:r>
            <a:r>
              <a:rPr b="0" sz="1300" i="0">
                <a:solidFill>
                  <a:srgbClr val="1B3B47"/>
                </a:solidFill>
                <a:latin typeface="Arial"/>
              </a:rPr>
              <a:t> et rapport HTML.</a:t>
            </a:r>
          </a:p>
        </p:txBody>
      </p:sp>
      <p:sp>
        <p:nvSpPr>
          <p:cNvPr id="22" name="Oval 21"/>
          <p:cNvSpPr/>
          <p:nvPr/>
        </p:nvSpPr>
        <p:spPr>
          <a:xfrm>
            <a:off x="11978640" y="7981187"/>
            <a:ext cx="329184" cy="329184"/>
          </a:xfrm>
          <a:prstGeom prst="ellipse">
            <a:avLst/>
          </a:prstGeom>
          <a:solidFill>
            <a:srgbClr val="ED1548"/>
          </a:solidFill>
          <a:ln>
            <a:noFill/>
          </a:ln>
          <a:effectLst/>
        </p:spPr>
        <p:txBody>
          <a:bodyPr rtlCol="0" anchor="ctr" lIns="0" rIns="0" tIns="0" bIns="0"/>
          <a:lstStyle/>
          <a:p>
            <a:pPr algn="ctr"/>
            <a:r>
              <a:rPr sz="1105" b="1">
                <a:solidFill>
                  <a:srgbClr val="FFFFFF"/>
                </a:solidFill>
                <a:latin typeface="Arial"/>
              </a:rPr>
              <a:t>6</a:t>
            </a:r>
          </a:p>
        </p:txBody>
      </p:sp>
      <p:sp>
        <p:nvSpPr>
          <p:cNvPr id="23" name="TextBox 22"/>
          <p:cNvSpPr txBox="1"/>
          <p:nvPr/>
        </p:nvSpPr>
        <p:spPr>
          <a:xfrm>
            <a:off x="12481560" y="7981187"/>
            <a:ext cx="4617720" cy="797051"/>
          </a:xfrm>
          <a:prstGeom prst="rect">
            <a:avLst/>
          </a:prstGeom>
          <a:noFill/>
        </p:spPr>
        <p:txBody>
          <a:bodyPr wrap="square" lIns="0" rIns="0" tIns="0" bIns="0" anchor="t">
            <a:noAutofit/>
          </a:bodyPr>
          <a:lstStyle/>
          <a:p>
            <a:pPr algn="l">
              <a:lnSpc>
                <a:spcPct val="106000"/>
              </a:lnSpc>
              <a:spcBef>
                <a:spcPts val="0"/>
              </a:spcBef>
              <a:spcAft>
                <a:spcPts val="0"/>
              </a:spcAft>
            </a:pPr>
            <a:r>
              <a:rPr b="0" sz="1300" i="0">
                <a:solidFill>
                  <a:srgbClr val="1B3B47"/>
                </a:solidFill>
                <a:latin typeface="Arial"/>
              </a:rPr>
              <a:t>Restaurer </a:t>
            </a:r>
            <a:r>
              <a:rPr sz="1170" b="0" i="0">
                <a:solidFill>
                  <a:srgbClr val="ED1548"/>
                </a:solidFill>
                <a:latin typeface="Consolas"/>
              </a:rPr>
              <a:t>db.json</a:t>
            </a:r>
            <a:r>
              <a:rPr b="0" sz="1300" i="0">
                <a:solidFill>
                  <a:srgbClr val="1B3B47"/>
                </a:solidFill>
                <a:latin typeface="Arial"/>
              </a:rPr>
              <a:t> avant chaque run.</a:t>
            </a:r>
          </a:p>
        </p:txBody>
      </p:sp>
      <p:sp>
        <p:nvSpPr>
          <p:cNvPr id="24" name="Rounded Rectangle 23"/>
          <p:cNvSpPr/>
          <p:nvPr/>
        </p:nvSpPr>
        <p:spPr>
          <a:xfrm>
            <a:off x="2606040" y="7635240"/>
            <a:ext cx="8686800" cy="1371600"/>
          </a:xfrm>
          <a:prstGeom prst="roundRect">
            <a:avLst>
              <a:gd name="adj" fmla="val 8000"/>
            </a:avLst>
          </a:prstGeom>
          <a:solidFill>
            <a:srgbClr val="EBF6F8"/>
          </a:solidFill>
          <a:ln>
            <a:noFill/>
          </a:ln>
          <a:effectLst/>
        </p:spPr>
        <p:txBody>
          <a:bodyPr rtlCol="0" anchor="ctr"/>
          <a:lstStyle/>
          <a:p>
            <a:pPr algn="ctr"/>
          </a:p>
        </p:txBody>
      </p:sp>
      <p:sp>
        <p:nvSpPr>
          <p:cNvPr id="25" name="Rectangle 24"/>
          <p:cNvSpPr/>
          <p:nvPr/>
        </p:nvSpPr>
        <p:spPr>
          <a:xfrm>
            <a:off x="2606040" y="7635240"/>
            <a:ext cx="64008" cy="1371600"/>
          </a:xfrm>
          <a:prstGeom prst="rect">
            <a:avLst/>
          </a:prstGeom>
          <a:solidFill>
            <a:srgbClr val="0B4F6C"/>
          </a:solidFill>
          <a:ln>
            <a:noFill/>
          </a:ln>
          <a:effectLst/>
        </p:spPr>
        <p:txBody>
          <a:bodyPr rtlCol="0" anchor="ctr"/>
          <a:lstStyle/>
          <a:p>
            <a:pPr algn="ctr"/>
          </a:p>
        </p:txBody>
      </p:sp>
      <p:sp>
        <p:nvSpPr>
          <p:cNvPr id="26" name="TextBox 25"/>
          <p:cNvSpPr txBox="1"/>
          <p:nvPr/>
        </p:nvSpPr>
        <p:spPr>
          <a:xfrm>
            <a:off x="2898648" y="7799831"/>
            <a:ext cx="8183879"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UN TEST = UN PARCOURS</a:t>
            </a:r>
          </a:p>
        </p:txBody>
      </p:sp>
      <p:sp>
        <p:nvSpPr>
          <p:cNvPr id="27" name="TextBox 26"/>
          <p:cNvSpPr txBox="1"/>
          <p:nvPr/>
        </p:nvSpPr>
        <p:spPr>
          <a:xfrm>
            <a:off x="2898648" y="8092440"/>
            <a:ext cx="8138160" cy="804672"/>
          </a:xfrm>
          <a:prstGeom prst="rect">
            <a:avLst/>
          </a:prstGeom>
          <a:noFill/>
        </p:spPr>
        <p:txBody>
          <a:bodyPr wrap="square" lIns="0" rIns="0" tIns="0" bIns="0" anchor="t">
            <a:noAutofit/>
          </a:bodyPr>
          <a:lstStyle/>
          <a:p>
            <a:pPr algn="l">
              <a:lnSpc>
                <a:spcPct val="106000"/>
              </a:lnSpc>
              <a:spcBef>
                <a:spcPts val="0"/>
              </a:spcBef>
              <a:spcAft>
                <a:spcPts val="0"/>
              </a:spcAft>
            </a:pPr>
            <a:r>
              <a:rPr b="0" sz="1350" i="0">
                <a:solidFill>
                  <a:srgbClr val="1B3B47"/>
                </a:solidFill>
                <a:latin typeface="Arial"/>
              </a:rPr>
              <a:t>Sélecteurs stables (</a:t>
            </a:r>
            <a:r>
              <a:rPr sz="1215" b="0" i="0">
                <a:solidFill>
                  <a:srgbClr val="0B4F6C"/>
                </a:solidFill>
                <a:latin typeface="Consolas"/>
              </a:rPr>
              <a:t>data-testid</a:t>
            </a:r>
            <a:r>
              <a:rPr b="0" sz="1350" i="0">
                <a:solidFill>
                  <a:srgbClr val="1B3B47"/>
                </a:solidFill>
                <a:latin typeface="Arial"/>
              </a:rPr>
              <a:t>, rôles ARIA), jeu de données maîtrisé, un seul objectif par test.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3  ·  QUALITÉ</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Sécurité et performance : les réflexes</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Échapper, valider, mesurer — avant d'optimiser.</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51 / 62</a:t>
            </a:r>
          </a:p>
        </p:txBody>
      </p:sp>
      <p:sp>
        <p:nvSpPr>
          <p:cNvPr id="9" name="TextBox 8"/>
          <p:cNvSpPr txBox="1"/>
          <p:nvPr/>
        </p:nvSpPr>
        <p:spPr>
          <a:xfrm>
            <a:off x="2606040" y="3063240"/>
            <a:ext cx="6949440" cy="274320"/>
          </a:xfrm>
          <a:prstGeom prst="rect">
            <a:avLst/>
          </a:prstGeom>
          <a:noFill/>
        </p:spPr>
        <p:txBody>
          <a:bodyPr wrap="square" lIns="0" rIns="0" tIns="0" bIns="0" anchor="t">
            <a:noAutofit/>
          </a:bodyPr>
          <a:lstStyle/>
          <a:p>
            <a:pPr algn="l">
              <a:lnSpc>
                <a:spcPct val="102000"/>
              </a:lnSpc>
              <a:spcBef>
                <a:spcPts val="0"/>
              </a:spcBef>
              <a:spcAft>
                <a:spcPts val="0"/>
              </a:spcAft>
            </a:pPr>
            <a:r>
              <a:rPr b="1" sz="1150" i="0">
                <a:solidFill>
                  <a:srgbClr val="ED1548"/>
                </a:solidFill>
                <a:latin typeface="Arial"/>
              </a:rPr>
              <a:t>SÉCURITÉ</a:t>
            </a:r>
          </a:p>
        </p:txBody>
      </p:sp>
      <p:sp>
        <p:nvSpPr>
          <p:cNvPr id="10" name="TextBox 9"/>
          <p:cNvSpPr txBox="1"/>
          <p:nvPr/>
        </p:nvSpPr>
        <p:spPr>
          <a:xfrm>
            <a:off x="2606040" y="3410712"/>
            <a:ext cx="6949440" cy="3337560"/>
          </a:xfrm>
          <a:prstGeom prst="rect">
            <a:avLst/>
          </a:prstGeom>
          <a:noFill/>
        </p:spPr>
        <p:txBody>
          <a:bodyPr wrap="square" lIns="0" rIns="0" tIns="0" bIns="0">
            <a:noAutofit/>
          </a:bodyPr>
          <a:lstStyle/>
          <a:p>
            <a:pPr marL="274320" indent="-274320">
              <a:lnSpc>
                <a:spcPct val="102000"/>
              </a:lnSpc>
              <a:spcBef>
                <a:spcPts val="0"/>
              </a:spcBef>
              <a:spcAft>
                <a:spcPts val="576"/>
              </a:spcAft>
              <a:buClr>
                <a:srgbClr val="ED1548"/>
              </a:buClr>
              <a:buFont typeface="Arial"/>
              <a:buChar char="•"/>
            </a:pPr>
            <a:r>
              <a:rPr b="1" sz="1450" i="0">
                <a:solidFill>
                  <a:srgbClr val="093544"/>
                </a:solidFill>
                <a:latin typeface="Arial"/>
              </a:rPr>
              <a:t>Échappement automatique</a:t>
            </a:r>
            <a:r>
              <a:rPr b="0" sz="1450" i="0">
                <a:solidFill>
                  <a:srgbClr val="093544"/>
                </a:solidFill>
                <a:latin typeface="Arial"/>
              </a:rPr>
              <a:t> des templates : ne pas le contourner.</a:t>
            </a:r>
          </a:p>
          <a:p>
            <a:pPr marL="274320" indent="-274320">
              <a:lnSpc>
                <a:spcPct val="102000"/>
              </a:lnSpc>
              <a:spcBef>
                <a:spcPts val="0"/>
              </a:spcBef>
              <a:spcAft>
                <a:spcPts val="576"/>
              </a:spcAft>
              <a:buClr>
                <a:srgbClr val="ED1548"/>
              </a:buClr>
              <a:buFont typeface="Arial"/>
              <a:buChar char="•"/>
            </a:pPr>
            <a:r>
              <a:rPr b="1" sz="1450" i="0">
                <a:solidFill>
                  <a:srgbClr val="093544"/>
                </a:solidFill>
                <a:latin typeface="Arial"/>
              </a:rPr>
              <a:t>`DomSanitizer`</a:t>
            </a:r>
            <a:r>
              <a:rPr b="0" sz="1450" i="0">
                <a:solidFill>
                  <a:srgbClr val="093544"/>
                </a:solidFill>
                <a:latin typeface="Arial"/>
              </a:rPr>
              <a:t> : éviter </a:t>
            </a:r>
            <a:r>
              <a:rPr sz="1305" b="0" i="0">
                <a:solidFill>
                  <a:srgbClr val="ED1548"/>
                </a:solidFill>
                <a:latin typeface="Consolas"/>
              </a:rPr>
              <a:t>bypassSecurityTrust*</a:t>
            </a:r>
            <a:r>
              <a:rPr b="0" sz="1450" i="0">
                <a:solidFill>
                  <a:srgbClr val="093544"/>
                </a:solidFill>
                <a:latin typeface="Arial"/>
              </a:rPr>
              <a:t> ; jamais </a:t>
            </a:r>
            <a:r>
              <a:rPr sz="1305" b="0" i="0">
                <a:solidFill>
                  <a:srgbClr val="ED1548"/>
                </a:solidFill>
                <a:latin typeface="Consolas"/>
              </a:rPr>
              <a:t>innerHTML</a:t>
            </a:r>
            <a:r>
              <a:rPr b="0" sz="1450" i="0">
                <a:solidFill>
                  <a:srgbClr val="093544"/>
                </a:solidFill>
                <a:latin typeface="Arial"/>
              </a:rPr>
              <a:t> avec une donnée utilisateur.</a:t>
            </a:r>
          </a:p>
          <a:p>
            <a:pPr marL="274320" indent="-274320">
              <a:lnSpc>
                <a:spcPct val="102000"/>
              </a:lnSpc>
              <a:spcBef>
                <a:spcPts val="0"/>
              </a:spcBef>
              <a:spcAft>
                <a:spcPts val="576"/>
              </a:spcAft>
              <a:buClr>
                <a:srgbClr val="ED1548"/>
              </a:buClr>
              <a:buFont typeface="Arial"/>
              <a:buChar char="•"/>
            </a:pPr>
            <a:r>
              <a:rPr b="1" sz="1450" i="0">
                <a:solidFill>
                  <a:srgbClr val="093544"/>
                </a:solidFill>
                <a:latin typeface="Arial"/>
              </a:rPr>
              <a:t>XSRF</a:t>
            </a:r>
            <a:r>
              <a:rPr b="0" sz="1450" i="0">
                <a:solidFill>
                  <a:srgbClr val="093544"/>
                </a:solidFill>
                <a:latin typeface="Arial"/>
              </a:rPr>
              <a:t> : protection intégrée à </a:t>
            </a:r>
            <a:r>
              <a:rPr sz="1305" b="0" i="0">
                <a:solidFill>
                  <a:srgbClr val="ED1548"/>
                </a:solidFill>
                <a:latin typeface="Consolas"/>
              </a:rPr>
              <a:t>HttpClient</a:t>
            </a:r>
            <a:r>
              <a:rPr b="0" sz="1450" i="0">
                <a:solidFill>
                  <a:srgbClr val="093544"/>
                </a:solidFill>
                <a:latin typeface="Arial"/>
              </a:rPr>
              <a:t>.</a:t>
            </a:r>
          </a:p>
          <a:p>
            <a:pPr marL="274320" indent="-274320">
              <a:lnSpc>
                <a:spcPct val="102000"/>
              </a:lnSpc>
              <a:spcBef>
                <a:spcPts val="0"/>
              </a:spcBef>
              <a:spcAft>
                <a:spcPts val="576"/>
              </a:spcAft>
              <a:buClr>
                <a:srgbClr val="ED1548"/>
              </a:buClr>
              <a:buFont typeface="Arial"/>
              <a:buChar char="•"/>
            </a:pPr>
            <a:r>
              <a:rPr b="1" sz="1450" i="0">
                <a:solidFill>
                  <a:srgbClr val="093544"/>
                </a:solidFill>
                <a:latin typeface="Arial"/>
              </a:rPr>
              <a:t>Validation serveur</a:t>
            </a:r>
            <a:r>
              <a:rPr b="0" sz="1450" i="0">
                <a:solidFill>
                  <a:srgbClr val="093544"/>
                </a:solidFill>
                <a:latin typeface="Arial"/>
              </a:rPr>
              <a:t> : le front ne protège pas la base.</a:t>
            </a:r>
          </a:p>
          <a:p>
            <a:pPr marL="274320" indent="-274320">
              <a:lnSpc>
                <a:spcPct val="102000"/>
              </a:lnSpc>
              <a:spcBef>
                <a:spcPts val="0"/>
              </a:spcBef>
              <a:spcAft>
                <a:spcPts val="576"/>
              </a:spcAft>
              <a:buClr>
                <a:srgbClr val="ED1548"/>
              </a:buClr>
              <a:buFont typeface="Arial"/>
              <a:buChar char="•"/>
            </a:pPr>
            <a:r>
              <a:rPr b="1" sz="1450" i="0">
                <a:solidFill>
                  <a:srgbClr val="093544"/>
                </a:solidFill>
                <a:latin typeface="Arial"/>
              </a:rPr>
              <a:t>Secrets hors du front</a:t>
            </a:r>
            <a:r>
              <a:rPr b="0" sz="1450" i="0">
                <a:solidFill>
                  <a:srgbClr val="093544"/>
                </a:solidFill>
                <a:latin typeface="Arial"/>
              </a:rPr>
              <a:t> ; </a:t>
            </a:r>
            <a:r>
              <a:rPr sz="1305" b="0" i="0">
                <a:solidFill>
                  <a:srgbClr val="ED1548"/>
                </a:solidFill>
                <a:latin typeface="Consolas"/>
              </a:rPr>
              <a:t>npm audit</a:t>
            </a:r>
            <a:r>
              <a:rPr b="0" sz="1450" i="0">
                <a:solidFill>
                  <a:srgbClr val="093544"/>
                </a:solidFill>
                <a:latin typeface="Arial"/>
              </a:rPr>
              <a:t>.</a:t>
            </a:r>
          </a:p>
        </p:txBody>
      </p:sp>
      <p:sp>
        <p:nvSpPr>
          <p:cNvPr id="11" name="TextBox 10"/>
          <p:cNvSpPr txBox="1"/>
          <p:nvPr/>
        </p:nvSpPr>
        <p:spPr>
          <a:xfrm>
            <a:off x="10058400" y="3063240"/>
            <a:ext cx="7132320" cy="274320"/>
          </a:xfrm>
          <a:prstGeom prst="rect">
            <a:avLst/>
          </a:prstGeom>
          <a:noFill/>
        </p:spPr>
        <p:txBody>
          <a:bodyPr wrap="square" lIns="0" rIns="0" tIns="0" bIns="0" anchor="t">
            <a:noAutofit/>
          </a:bodyPr>
          <a:lstStyle/>
          <a:p>
            <a:pPr algn="l">
              <a:lnSpc>
                <a:spcPct val="102000"/>
              </a:lnSpc>
              <a:spcBef>
                <a:spcPts val="0"/>
              </a:spcBef>
              <a:spcAft>
                <a:spcPts val="0"/>
              </a:spcAft>
            </a:pPr>
            <a:r>
              <a:rPr b="1" sz="1150" i="0">
                <a:solidFill>
                  <a:srgbClr val="0B4F6C"/>
                </a:solidFill>
                <a:latin typeface="Arial"/>
              </a:rPr>
              <a:t>PERFORMANCE</a:t>
            </a:r>
          </a:p>
        </p:txBody>
      </p:sp>
      <p:sp>
        <p:nvSpPr>
          <p:cNvPr id="12" name="TextBox 11"/>
          <p:cNvSpPr txBox="1"/>
          <p:nvPr/>
        </p:nvSpPr>
        <p:spPr>
          <a:xfrm>
            <a:off x="10058400" y="3410712"/>
            <a:ext cx="7132320" cy="3337560"/>
          </a:xfrm>
          <a:prstGeom prst="rect">
            <a:avLst/>
          </a:prstGeom>
          <a:noFill/>
        </p:spPr>
        <p:txBody>
          <a:bodyPr wrap="square" lIns="0" rIns="0" tIns="0" bIns="0">
            <a:noAutofit/>
          </a:bodyPr>
          <a:lstStyle/>
          <a:p>
            <a:pPr marL="274320" indent="-274320">
              <a:lnSpc>
                <a:spcPct val="102000"/>
              </a:lnSpc>
              <a:spcBef>
                <a:spcPts val="0"/>
              </a:spcBef>
              <a:spcAft>
                <a:spcPts val="576"/>
              </a:spcAft>
              <a:buClr>
                <a:srgbClr val="ED1548"/>
              </a:buClr>
              <a:buFont typeface="Arial"/>
              <a:buChar char="•"/>
            </a:pPr>
            <a:r>
              <a:rPr b="1" sz="1450" i="0">
                <a:solidFill>
                  <a:srgbClr val="093544"/>
                </a:solidFill>
                <a:latin typeface="Arial"/>
              </a:rPr>
              <a:t>Lazy loading</a:t>
            </a:r>
            <a:r>
              <a:rPr b="0" sz="1450" i="0">
                <a:solidFill>
                  <a:srgbClr val="093544"/>
                </a:solidFill>
                <a:latin typeface="Arial"/>
              </a:rPr>
              <a:t> : le bundle initial reste léger.</a:t>
            </a:r>
          </a:p>
          <a:p>
            <a:pPr marL="274320" indent="-274320">
              <a:lnSpc>
                <a:spcPct val="102000"/>
              </a:lnSpc>
              <a:spcBef>
                <a:spcPts val="0"/>
              </a:spcBef>
              <a:spcAft>
                <a:spcPts val="576"/>
              </a:spcAft>
              <a:buClr>
                <a:srgbClr val="ED1548"/>
              </a:buClr>
              <a:buFont typeface="Arial"/>
              <a:buChar char="•"/>
            </a:pPr>
            <a:r>
              <a:rPr b="1" sz="1450" i="0">
                <a:solidFill>
                  <a:srgbClr val="093544"/>
                </a:solidFill>
                <a:latin typeface="Arial"/>
              </a:rPr>
              <a:t>`OnPush`</a:t>
            </a:r>
            <a:r>
              <a:rPr b="0" sz="1450" i="0">
                <a:solidFill>
                  <a:srgbClr val="093544"/>
                </a:solidFill>
                <a:latin typeface="Arial"/>
              </a:rPr>
              <a:t> : défaut v22, à vérifier sur l'existant.</a:t>
            </a:r>
          </a:p>
          <a:p>
            <a:pPr marL="274320" indent="-274320">
              <a:lnSpc>
                <a:spcPct val="102000"/>
              </a:lnSpc>
              <a:spcBef>
                <a:spcPts val="0"/>
              </a:spcBef>
              <a:spcAft>
                <a:spcPts val="576"/>
              </a:spcAft>
              <a:buClr>
                <a:srgbClr val="ED1548"/>
              </a:buClr>
              <a:buFont typeface="Arial"/>
              <a:buChar char="•"/>
            </a:pPr>
            <a:r>
              <a:rPr b="1" sz="1450" i="0">
                <a:solidFill>
                  <a:srgbClr val="093544"/>
                </a:solidFill>
                <a:latin typeface="Arial"/>
              </a:rPr>
              <a:t>`track`</a:t>
            </a:r>
            <a:r>
              <a:rPr b="0" sz="1450" i="0">
                <a:solidFill>
                  <a:srgbClr val="093544"/>
                </a:solidFill>
                <a:latin typeface="Arial"/>
              </a:rPr>
              <a:t> : évite de recréer le DOM.</a:t>
            </a:r>
          </a:p>
          <a:p>
            <a:pPr marL="274320" indent="-274320">
              <a:lnSpc>
                <a:spcPct val="102000"/>
              </a:lnSpc>
              <a:spcBef>
                <a:spcPts val="0"/>
              </a:spcBef>
              <a:spcAft>
                <a:spcPts val="576"/>
              </a:spcAft>
              <a:buClr>
                <a:srgbClr val="ED1548"/>
              </a:buClr>
              <a:buFont typeface="Arial"/>
              <a:buChar char="•"/>
            </a:pPr>
            <a:r>
              <a:rPr b="1" sz="1450" i="0">
                <a:solidFill>
                  <a:srgbClr val="093544"/>
                </a:solidFill>
                <a:latin typeface="Arial"/>
              </a:rPr>
              <a:t>`@defer`</a:t>
            </a:r>
            <a:r>
              <a:rPr b="0" sz="1450" i="0">
                <a:solidFill>
                  <a:srgbClr val="093544"/>
                </a:solidFill>
                <a:latin typeface="Arial"/>
              </a:rPr>
              <a:t> : charge les cartes et graphiques à la demande.</a:t>
            </a:r>
          </a:p>
          <a:p>
            <a:pPr marL="274320" indent="-274320">
              <a:lnSpc>
                <a:spcPct val="102000"/>
              </a:lnSpc>
              <a:spcBef>
                <a:spcPts val="0"/>
              </a:spcBef>
              <a:spcAft>
                <a:spcPts val="576"/>
              </a:spcAft>
              <a:buClr>
                <a:srgbClr val="ED1548"/>
              </a:buClr>
              <a:buFont typeface="Arial"/>
              <a:buChar char="•"/>
            </a:pPr>
            <a:r>
              <a:rPr b="1" sz="1450" i="0">
                <a:solidFill>
                  <a:srgbClr val="093544"/>
                </a:solidFill>
                <a:latin typeface="Arial"/>
              </a:rPr>
              <a:t>`NgOptimizedImage`</a:t>
            </a:r>
            <a:r>
              <a:rPr b="0" sz="1450" i="0">
                <a:solidFill>
                  <a:srgbClr val="093544"/>
                </a:solidFill>
                <a:latin typeface="Arial"/>
              </a:rPr>
              <a:t> et analyse du bundle.</a:t>
            </a:r>
          </a:p>
        </p:txBody>
      </p:sp>
      <p:sp>
        <p:nvSpPr>
          <p:cNvPr id="13" name="Rounded Rectangle 12"/>
          <p:cNvSpPr/>
          <p:nvPr/>
        </p:nvSpPr>
        <p:spPr>
          <a:xfrm>
            <a:off x="2606040" y="7040879"/>
            <a:ext cx="14584680" cy="1417320"/>
          </a:xfrm>
          <a:prstGeom prst="roundRect">
            <a:avLst>
              <a:gd name="adj" fmla="val 8000"/>
            </a:avLst>
          </a:prstGeom>
          <a:solidFill>
            <a:srgbClr val="FFF0F4"/>
          </a:solidFill>
          <a:ln>
            <a:noFill/>
          </a:ln>
          <a:effectLst/>
        </p:spPr>
        <p:txBody>
          <a:bodyPr rtlCol="0" anchor="ctr"/>
          <a:lstStyle/>
          <a:p>
            <a:pPr algn="ctr"/>
          </a:p>
        </p:txBody>
      </p:sp>
      <p:sp>
        <p:nvSpPr>
          <p:cNvPr id="14" name="Rectangle 13"/>
          <p:cNvSpPr/>
          <p:nvPr/>
        </p:nvSpPr>
        <p:spPr>
          <a:xfrm>
            <a:off x="2606040" y="7040879"/>
            <a:ext cx="64008" cy="1417320"/>
          </a:xfrm>
          <a:prstGeom prst="rect">
            <a:avLst/>
          </a:prstGeom>
          <a:solidFill>
            <a:srgbClr val="ED1548"/>
          </a:solidFill>
          <a:ln>
            <a:noFill/>
          </a:ln>
          <a:effectLst/>
        </p:spPr>
        <p:txBody>
          <a:bodyPr rtlCol="0" anchor="ctr"/>
          <a:lstStyle/>
          <a:p>
            <a:pPr algn="ctr"/>
          </a:p>
        </p:txBody>
      </p:sp>
      <p:sp>
        <p:nvSpPr>
          <p:cNvPr id="15" name="TextBox 14"/>
          <p:cNvSpPr txBox="1"/>
          <p:nvPr/>
        </p:nvSpPr>
        <p:spPr>
          <a:xfrm>
            <a:off x="2898648" y="7205471"/>
            <a:ext cx="14081759"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TP 4 — DÉMO OU OPTIONNEL</a:t>
            </a:r>
          </a:p>
        </p:txBody>
      </p:sp>
      <p:sp>
        <p:nvSpPr>
          <p:cNvPr id="16" name="TextBox 15"/>
          <p:cNvSpPr txBox="1"/>
          <p:nvPr/>
        </p:nvSpPr>
        <p:spPr>
          <a:xfrm>
            <a:off x="2898648" y="7498079"/>
            <a:ext cx="14036040" cy="850392"/>
          </a:xfrm>
          <a:prstGeom prst="rect">
            <a:avLst/>
          </a:prstGeom>
          <a:noFill/>
        </p:spPr>
        <p:txBody>
          <a:bodyPr wrap="square" lIns="0" rIns="0" tIns="0" bIns="0" anchor="t">
            <a:noAutofit/>
          </a:bodyPr>
          <a:lstStyle/>
          <a:p>
            <a:pPr algn="l">
              <a:lnSpc>
                <a:spcPct val="106000"/>
              </a:lnSpc>
              <a:spcBef>
                <a:spcPts val="0"/>
              </a:spcBef>
              <a:spcAft>
                <a:spcPts val="0"/>
              </a:spcAft>
            </a:pPr>
            <a:r>
              <a:rPr b="0" sz="1350" i="0">
                <a:solidFill>
                  <a:srgbClr val="1B3B47"/>
                </a:solidFill>
                <a:latin typeface="Arial"/>
              </a:rPr>
              <a:t>1. XSS dans un commentaire (</a:t>
            </a:r>
            <a:r>
              <a:rPr sz="1215" b="0" i="0">
                <a:solidFill>
                  <a:srgbClr val="ED1548"/>
                </a:solidFill>
                <a:latin typeface="Consolas"/>
              </a:rPr>
              <a:t>&lt;img src=x onerror=alert(1)&gt;</a:t>
            </a:r>
            <a:r>
              <a:rPr b="0" sz="1350" i="0">
                <a:solidFill>
                  <a:srgbClr val="1B3B47"/>
                </a:solidFill>
                <a:latin typeface="Arial"/>
              </a:rPr>
              <a:t>). 2. Vérifier la stratégie de changement de détection. 3. </a:t>
            </a:r>
            <a:r>
              <a:rPr sz="1215" b="0" i="0">
                <a:solidFill>
                  <a:srgbClr val="ED1548"/>
                </a:solidFill>
                <a:latin typeface="Consolas"/>
              </a:rPr>
              <a:t>ng build --stats-json</a:t>
            </a:r>
            <a:r>
              <a:rPr b="0" sz="1350" i="0">
                <a:solidFill>
                  <a:srgbClr val="1B3B47"/>
                </a:solidFill>
                <a:latin typeface="Arial"/>
              </a:rPr>
              <a:t> et comparer les chunks.</a:t>
            </a:r>
          </a:p>
        </p:txBody>
      </p:sp>
      <p:sp>
        <p:nvSpPr>
          <p:cNvPr id="17" name="TextBox 16"/>
          <p:cNvSpPr txBox="1"/>
          <p:nvPr/>
        </p:nvSpPr>
        <p:spPr>
          <a:xfrm>
            <a:off x="2606040" y="8686800"/>
            <a:ext cx="14538960" cy="274320"/>
          </a:xfrm>
          <a:prstGeom prst="rect">
            <a:avLst/>
          </a:prstGeom>
          <a:noFill/>
        </p:spPr>
        <p:txBody>
          <a:bodyPr wrap="square" lIns="0" rIns="0" tIns="0" bIns="0" anchor="t">
            <a:noAutofit/>
          </a:bodyPr>
          <a:lstStyle/>
          <a:p>
            <a:pPr algn="l">
              <a:lnSpc>
                <a:spcPct val="102000"/>
              </a:lnSpc>
              <a:spcBef>
                <a:spcPts val="0"/>
              </a:spcBef>
              <a:spcAft>
                <a:spcPts val="0"/>
              </a:spcAft>
            </a:pPr>
            <a:r>
              <a:rPr b="0" sz="1250" i="0">
                <a:solidFill>
                  <a:srgbClr val="5C6E76"/>
                </a:solidFill>
                <a:latin typeface="Arial"/>
              </a:rPr>
              <a:t>OnPush est déjà le défaut : mesurez avant d'ajouter des optimisations.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3  ·  LIVRAISON</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Documenter, mettre à jour, livrer</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Une application se maintient : doc, migrations, build de production.</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52 / 62</a:t>
            </a:r>
          </a:p>
        </p:txBody>
      </p:sp>
      <p:sp>
        <p:nvSpPr>
          <p:cNvPr id="9" name="Rounded Rectangle 8"/>
          <p:cNvSpPr/>
          <p:nvPr/>
        </p:nvSpPr>
        <p:spPr>
          <a:xfrm>
            <a:off x="2606040" y="3063240"/>
            <a:ext cx="6766560" cy="123444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0" name="Rectangle 9"/>
          <p:cNvSpPr/>
          <p:nvPr/>
        </p:nvSpPr>
        <p:spPr>
          <a:xfrm>
            <a:off x="2606040" y="3063240"/>
            <a:ext cx="6766560" cy="50292"/>
          </a:xfrm>
          <a:prstGeom prst="rect">
            <a:avLst/>
          </a:prstGeom>
          <a:solidFill>
            <a:srgbClr val="0B4F6C"/>
          </a:solidFill>
          <a:ln>
            <a:noFill/>
          </a:ln>
          <a:effectLst/>
        </p:spPr>
        <p:txBody>
          <a:bodyPr rtlCol="0" anchor="ctr"/>
          <a:lstStyle/>
          <a:p>
            <a:pPr algn="ctr"/>
          </a:p>
        </p:txBody>
      </p:sp>
      <p:sp>
        <p:nvSpPr>
          <p:cNvPr id="11" name="TextBox 10"/>
          <p:cNvSpPr txBox="1"/>
          <p:nvPr/>
        </p:nvSpPr>
        <p:spPr>
          <a:xfrm>
            <a:off x="2880360" y="3319272"/>
            <a:ext cx="6217920" cy="411480"/>
          </a:xfrm>
          <a:prstGeom prst="rect">
            <a:avLst/>
          </a:prstGeom>
          <a:noFill/>
        </p:spPr>
        <p:txBody>
          <a:bodyPr wrap="square" lIns="0" rIns="0" tIns="0" bIns="0" anchor="t">
            <a:noAutofit/>
          </a:bodyPr>
          <a:lstStyle/>
          <a:p>
            <a:pPr algn="l">
              <a:lnSpc>
                <a:spcPct val="102000"/>
              </a:lnSpc>
              <a:spcBef>
                <a:spcPts val="0"/>
              </a:spcBef>
              <a:spcAft>
                <a:spcPts val="0"/>
              </a:spcAft>
            </a:pPr>
            <a:r>
              <a:rPr b="1" sz="1550" i="0">
                <a:solidFill>
                  <a:srgbClr val="0B4F6C"/>
                </a:solidFill>
                <a:latin typeface="Arial"/>
              </a:rPr>
              <a:t>JSDoc + Compodoc</a:t>
            </a:r>
          </a:p>
        </p:txBody>
      </p:sp>
      <p:sp>
        <p:nvSpPr>
          <p:cNvPr id="12" name="TextBox 11"/>
          <p:cNvSpPr txBox="1"/>
          <p:nvPr/>
        </p:nvSpPr>
        <p:spPr>
          <a:xfrm>
            <a:off x="2880360" y="3758183"/>
            <a:ext cx="6217920" cy="365760"/>
          </a:xfrm>
          <a:prstGeom prst="rect">
            <a:avLst/>
          </a:prstGeom>
          <a:noFill/>
        </p:spPr>
        <p:txBody>
          <a:bodyPr wrap="square" lIns="0" rIns="0" tIns="0" bIns="0" anchor="t">
            <a:noAutofit/>
          </a:bodyPr>
          <a:lstStyle/>
          <a:p>
            <a:pPr algn="l">
              <a:lnSpc>
                <a:spcPct val="108000"/>
              </a:lnSpc>
              <a:spcBef>
                <a:spcPts val="0"/>
              </a:spcBef>
              <a:spcAft>
                <a:spcPts val="0"/>
              </a:spcAft>
            </a:pPr>
            <a:r>
              <a:rPr sz="1170" b="0" i="0">
                <a:solidFill>
                  <a:srgbClr val="0B4F6C"/>
                </a:solidFill>
                <a:latin typeface="Consolas"/>
              </a:rPr>
              <a:t>@param</a:t>
            </a:r>
            <a:r>
              <a:rPr b="0" sz="1300" i="0">
                <a:solidFill>
                  <a:srgbClr val="1B3B47"/>
                </a:solidFill>
                <a:latin typeface="Arial"/>
              </a:rPr>
              <a:t>, </a:t>
            </a:r>
            <a:r>
              <a:rPr sz="1170" b="0" i="0">
                <a:solidFill>
                  <a:srgbClr val="0B4F6C"/>
                </a:solidFill>
                <a:latin typeface="Consolas"/>
              </a:rPr>
              <a:t>@returns</a:t>
            </a:r>
            <a:r>
              <a:rPr b="0" sz="1300" i="0">
                <a:solidFill>
                  <a:srgbClr val="1B3B47"/>
                </a:solidFill>
                <a:latin typeface="Arial"/>
              </a:rPr>
              <a:t>, </a:t>
            </a:r>
            <a:r>
              <a:rPr sz="1170" b="0" i="0">
                <a:solidFill>
                  <a:srgbClr val="0B4F6C"/>
                </a:solidFill>
                <a:latin typeface="Consolas"/>
              </a:rPr>
              <a:t>@example</a:t>
            </a:r>
            <a:r>
              <a:rPr b="0" sz="1300" i="0">
                <a:solidFill>
                  <a:srgbClr val="1B3B47"/>
                </a:solidFill>
                <a:latin typeface="Arial"/>
              </a:rPr>
              <a:t> sur </a:t>
            </a:r>
            <a:r>
              <a:rPr sz="1170" b="0" i="0">
                <a:solidFill>
                  <a:srgbClr val="0B4F6C"/>
                </a:solidFill>
                <a:latin typeface="Consolas"/>
              </a:rPr>
              <a:t>score()</a:t>
            </a:r>
            <a:r>
              <a:rPr b="0" sz="1300" i="0">
                <a:solidFill>
                  <a:srgbClr val="1B3B47"/>
                </a:solidFill>
                <a:latin typeface="Arial"/>
              </a:rPr>
              <a:t> et le store.</a:t>
            </a:r>
          </a:p>
        </p:txBody>
      </p:sp>
      <p:sp>
        <p:nvSpPr>
          <p:cNvPr id="13" name="Rounded Rectangle 12"/>
          <p:cNvSpPr/>
          <p:nvPr/>
        </p:nvSpPr>
        <p:spPr>
          <a:xfrm>
            <a:off x="2606040" y="4480560"/>
            <a:ext cx="6766560" cy="123444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4" name="Rectangle 13"/>
          <p:cNvSpPr/>
          <p:nvPr/>
        </p:nvSpPr>
        <p:spPr>
          <a:xfrm>
            <a:off x="2606040" y="4480560"/>
            <a:ext cx="6766560" cy="50292"/>
          </a:xfrm>
          <a:prstGeom prst="rect">
            <a:avLst/>
          </a:prstGeom>
          <a:solidFill>
            <a:srgbClr val="ED1548"/>
          </a:solidFill>
          <a:ln>
            <a:noFill/>
          </a:ln>
          <a:effectLst/>
        </p:spPr>
        <p:txBody>
          <a:bodyPr rtlCol="0" anchor="ctr"/>
          <a:lstStyle/>
          <a:p>
            <a:pPr algn="ctr"/>
          </a:p>
        </p:txBody>
      </p:sp>
      <p:sp>
        <p:nvSpPr>
          <p:cNvPr id="15" name="TextBox 14"/>
          <p:cNvSpPr txBox="1"/>
          <p:nvPr/>
        </p:nvSpPr>
        <p:spPr>
          <a:xfrm>
            <a:off x="2880360" y="4736592"/>
            <a:ext cx="6217920" cy="411480"/>
          </a:xfrm>
          <a:prstGeom prst="rect">
            <a:avLst/>
          </a:prstGeom>
          <a:noFill/>
        </p:spPr>
        <p:txBody>
          <a:bodyPr wrap="square" lIns="0" rIns="0" tIns="0" bIns="0" anchor="t">
            <a:noAutofit/>
          </a:bodyPr>
          <a:lstStyle/>
          <a:p>
            <a:pPr algn="l">
              <a:lnSpc>
                <a:spcPct val="102000"/>
              </a:lnSpc>
              <a:spcBef>
                <a:spcPts val="0"/>
              </a:spcBef>
              <a:spcAft>
                <a:spcPts val="0"/>
              </a:spcAft>
            </a:pPr>
            <a:r>
              <a:rPr sz="1395" b="1" i="0">
                <a:solidFill>
                  <a:srgbClr val="ED1548"/>
                </a:solidFill>
                <a:latin typeface="Consolas"/>
              </a:rPr>
              <a:t>ng update</a:t>
            </a:r>
          </a:p>
        </p:txBody>
      </p:sp>
      <p:sp>
        <p:nvSpPr>
          <p:cNvPr id="16" name="TextBox 15"/>
          <p:cNvSpPr txBox="1"/>
          <p:nvPr/>
        </p:nvSpPr>
        <p:spPr>
          <a:xfrm>
            <a:off x="2880360" y="5175504"/>
            <a:ext cx="6217920" cy="365760"/>
          </a:xfrm>
          <a:prstGeom prst="rect">
            <a:avLst/>
          </a:prstGeom>
          <a:noFill/>
        </p:spPr>
        <p:txBody>
          <a:bodyPr wrap="square" lIns="0" rIns="0" tIns="0" bIns="0" anchor="t">
            <a:noAutofit/>
          </a:bodyPr>
          <a:lstStyle/>
          <a:p>
            <a:pPr algn="l">
              <a:lnSpc>
                <a:spcPct val="108000"/>
              </a:lnSpc>
              <a:spcBef>
                <a:spcPts val="0"/>
              </a:spcBef>
              <a:spcAft>
                <a:spcPts val="0"/>
              </a:spcAft>
            </a:pPr>
            <a:r>
              <a:rPr b="0" sz="1300" i="0">
                <a:solidFill>
                  <a:srgbClr val="1B3B47"/>
                </a:solidFill>
                <a:latin typeface="Arial"/>
              </a:rPr>
              <a:t>Migrations automatiques ; commencer par </a:t>
            </a:r>
            <a:r>
              <a:rPr sz="1170" b="0" i="0">
                <a:solidFill>
                  <a:srgbClr val="ED1548"/>
                </a:solidFill>
                <a:latin typeface="Consolas"/>
              </a:rPr>
              <a:t>--dry-run</a:t>
            </a:r>
            <a:r>
              <a:rPr b="0" sz="1300" i="0">
                <a:solidFill>
                  <a:srgbClr val="1B3B47"/>
                </a:solidFill>
                <a:latin typeface="Arial"/>
              </a:rPr>
              <a:t>.</a:t>
            </a:r>
          </a:p>
        </p:txBody>
      </p:sp>
      <p:sp>
        <p:nvSpPr>
          <p:cNvPr id="17" name="Rounded Rectangle 16"/>
          <p:cNvSpPr/>
          <p:nvPr/>
        </p:nvSpPr>
        <p:spPr>
          <a:xfrm>
            <a:off x="2606040" y="5897880"/>
            <a:ext cx="6766560" cy="123444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8" name="Rectangle 17"/>
          <p:cNvSpPr/>
          <p:nvPr/>
        </p:nvSpPr>
        <p:spPr>
          <a:xfrm>
            <a:off x="2606040" y="5897880"/>
            <a:ext cx="6766560" cy="50292"/>
          </a:xfrm>
          <a:prstGeom prst="rect">
            <a:avLst/>
          </a:prstGeom>
          <a:solidFill>
            <a:srgbClr val="B26A00"/>
          </a:solidFill>
          <a:ln>
            <a:noFill/>
          </a:ln>
          <a:effectLst/>
        </p:spPr>
        <p:txBody>
          <a:bodyPr rtlCol="0" anchor="ctr"/>
          <a:lstStyle/>
          <a:p>
            <a:pPr algn="ctr"/>
          </a:p>
        </p:txBody>
      </p:sp>
      <p:sp>
        <p:nvSpPr>
          <p:cNvPr id="19" name="TextBox 18"/>
          <p:cNvSpPr txBox="1"/>
          <p:nvPr/>
        </p:nvSpPr>
        <p:spPr>
          <a:xfrm>
            <a:off x="2880360" y="6153912"/>
            <a:ext cx="6217920" cy="411480"/>
          </a:xfrm>
          <a:prstGeom prst="rect">
            <a:avLst/>
          </a:prstGeom>
          <a:noFill/>
        </p:spPr>
        <p:txBody>
          <a:bodyPr wrap="square" lIns="0" rIns="0" tIns="0" bIns="0" anchor="t">
            <a:noAutofit/>
          </a:bodyPr>
          <a:lstStyle/>
          <a:p>
            <a:pPr algn="l">
              <a:lnSpc>
                <a:spcPct val="102000"/>
              </a:lnSpc>
              <a:spcBef>
                <a:spcPts val="0"/>
              </a:spcBef>
              <a:spcAft>
                <a:spcPts val="0"/>
              </a:spcAft>
            </a:pPr>
            <a:r>
              <a:rPr sz="1395" b="1" i="0">
                <a:solidFill>
                  <a:srgbClr val="B26A00"/>
                </a:solidFill>
                <a:latin typeface="Consolas"/>
              </a:rPr>
              <a:t>ng build</a:t>
            </a:r>
          </a:p>
        </p:txBody>
      </p:sp>
      <p:sp>
        <p:nvSpPr>
          <p:cNvPr id="20" name="TextBox 19"/>
          <p:cNvSpPr txBox="1"/>
          <p:nvPr/>
        </p:nvSpPr>
        <p:spPr>
          <a:xfrm>
            <a:off x="2880360" y="6592824"/>
            <a:ext cx="6217920" cy="365760"/>
          </a:xfrm>
          <a:prstGeom prst="rect">
            <a:avLst/>
          </a:prstGeom>
          <a:noFill/>
        </p:spPr>
        <p:txBody>
          <a:bodyPr wrap="square" lIns="0" rIns="0" tIns="0" bIns="0" anchor="t">
            <a:noAutofit/>
          </a:bodyPr>
          <a:lstStyle/>
          <a:p>
            <a:pPr algn="l">
              <a:lnSpc>
                <a:spcPct val="108000"/>
              </a:lnSpc>
              <a:spcBef>
                <a:spcPts val="0"/>
              </a:spcBef>
              <a:spcAft>
                <a:spcPts val="0"/>
              </a:spcAft>
            </a:pPr>
            <a:r>
              <a:rPr b="0" sz="1300" i="0">
                <a:solidFill>
                  <a:srgbClr val="1B3B47"/>
                </a:solidFill>
                <a:latin typeface="Arial"/>
              </a:rPr>
              <a:t>Build production, servir </a:t>
            </a:r>
            <a:r>
              <a:rPr sz="1170" b="0" i="0">
                <a:solidFill>
                  <a:srgbClr val="B26A00"/>
                </a:solidFill>
                <a:latin typeface="Consolas"/>
              </a:rPr>
              <a:t>dist/</a:t>
            </a:r>
            <a:r>
              <a:rPr b="0" sz="1300" i="0">
                <a:solidFill>
                  <a:srgbClr val="1B3B47"/>
                </a:solidFill>
                <a:latin typeface="Arial"/>
              </a:rPr>
              <a:t>, rejouer le parcours.</a:t>
            </a:r>
          </a:p>
        </p:txBody>
      </p:sp>
      <p:sp>
        <p:nvSpPr>
          <p:cNvPr id="21" name="Rounded Rectangle 20"/>
          <p:cNvSpPr/>
          <p:nvPr/>
        </p:nvSpPr>
        <p:spPr>
          <a:xfrm>
            <a:off x="9921240" y="3063240"/>
            <a:ext cx="7269480" cy="356616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22" name="Oval 21"/>
          <p:cNvSpPr/>
          <p:nvPr/>
        </p:nvSpPr>
        <p:spPr>
          <a:xfrm>
            <a:off x="10140696" y="3236976"/>
            <a:ext cx="82296" cy="82296"/>
          </a:xfrm>
          <a:prstGeom prst="ellipse">
            <a:avLst/>
          </a:prstGeom>
          <a:solidFill>
            <a:srgbClr val="ED1548"/>
          </a:solidFill>
          <a:ln>
            <a:noFill/>
          </a:ln>
          <a:effectLst/>
        </p:spPr>
        <p:txBody>
          <a:bodyPr rtlCol="0" anchor="ctr"/>
          <a:lstStyle/>
          <a:p>
            <a:pPr algn="ctr"/>
          </a:p>
        </p:txBody>
      </p:sp>
      <p:sp>
        <p:nvSpPr>
          <p:cNvPr id="23" name="TextBox 22"/>
          <p:cNvSpPr txBox="1"/>
          <p:nvPr/>
        </p:nvSpPr>
        <p:spPr>
          <a:xfrm>
            <a:off x="10305288" y="3172968"/>
            <a:ext cx="6766559"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commandes</a:t>
            </a:r>
          </a:p>
        </p:txBody>
      </p:sp>
      <p:sp>
        <p:nvSpPr>
          <p:cNvPr id="24" name="TextBox 23"/>
          <p:cNvSpPr txBox="1"/>
          <p:nvPr/>
        </p:nvSpPr>
        <p:spPr>
          <a:xfrm>
            <a:off x="10168128" y="3538728"/>
            <a:ext cx="6949440" cy="2926079"/>
          </a:xfrm>
          <a:prstGeom prst="rect">
            <a:avLst/>
          </a:prstGeom>
          <a:noFill/>
        </p:spPr>
        <p:txBody>
          <a:bodyPr wrap="none" lIns="0" rIns="0" tIns="0" bIns="0">
            <a:noAutofit/>
          </a:bodyPr>
          <a:lstStyle/>
          <a:p>
            <a:pPr>
              <a:lnSpc>
                <a:spcPct val="100000"/>
              </a:lnSpc>
              <a:spcBef>
                <a:spcPts val="0"/>
              </a:spcBef>
              <a:spcAft>
                <a:spcPts val="0"/>
              </a:spcAft>
            </a:pPr>
            <a:r>
              <a:rPr sz="1300">
                <a:solidFill>
                  <a:srgbClr val="EAF2F4"/>
                </a:solidFill>
                <a:latin typeface="Consolas"/>
              </a:rPr>
              <a:t>npx </a:t>
            </a:r>
            <a:r>
              <a:rPr sz="1300">
                <a:solidFill>
                  <a:srgbClr val="FFD166"/>
                </a:solidFill>
                <a:latin typeface="Consolas"/>
              </a:rPr>
              <a:t>@compodoc</a:t>
            </a:r>
            <a:r>
              <a:rPr sz="1300">
                <a:solidFill>
                  <a:srgbClr val="EAF2F4"/>
                </a:solidFill>
                <a:latin typeface="Consolas"/>
              </a:rPr>
              <a:t>/compodoc -p tsconfig.json -s</a:t>
            </a:r>
          </a:p>
          <a:p>
            <a:pPr>
              <a:lnSpc>
                <a:spcPct val="100000"/>
              </a:lnSpc>
              <a:spcBef>
                <a:spcPts val="0"/>
              </a:spcBef>
              <a:spcAft>
                <a:spcPts val="0"/>
              </a:spcAft>
            </a:pPr>
            <a:r>
              <a:rPr sz="1300">
                <a:solidFill>
                  <a:srgbClr val="EAF2F4"/>
                </a:solidFill>
                <a:latin typeface="Consolas"/>
              </a:rPr>
              <a:t>ng update --dry-run</a:t>
            </a:r>
          </a:p>
          <a:p>
            <a:pPr>
              <a:lnSpc>
                <a:spcPct val="100000"/>
              </a:lnSpc>
              <a:spcBef>
                <a:spcPts val="0"/>
              </a:spcBef>
              <a:spcAft>
                <a:spcPts val="0"/>
              </a:spcAft>
            </a:pPr>
            <a:r>
              <a:rPr sz="1300">
                <a:solidFill>
                  <a:srgbClr val="EAF2F4"/>
                </a:solidFill>
                <a:latin typeface="Consolas"/>
              </a:rPr>
              <a:t>ng build</a:t>
            </a:r>
          </a:p>
          <a:p>
            <a:pPr>
              <a:lnSpc>
                <a:spcPct val="100000"/>
              </a:lnSpc>
              <a:spcBef>
                <a:spcPts val="0"/>
              </a:spcBef>
              <a:spcAft>
                <a:spcPts val="0"/>
              </a:spcAft>
            </a:pPr>
            <a:r>
              <a:rPr sz="1300">
                <a:solidFill>
                  <a:srgbClr val="EAF2F4"/>
                </a:solidFill>
                <a:latin typeface="Consolas"/>
              </a:rPr>
              <a:t>npx http-server dist/rapprochement/browser</a:t>
            </a:r>
          </a:p>
        </p:txBody>
      </p:sp>
      <p:sp>
        <p:nvSpPr>
          <p:cNvPr id="25" name="Rounded Rectangle 24"/>
          <p:cNvSpPr/>
          <p:nvPr/>
        </p:nvSpPr>
        <p:spPr>
          <a:xfrm>
            <a:off x="9921240" y="6949440"/>
            <a:ext cx="7269480" cy="2286000"/>
          </a:xfrm>
          <a:prstGeom prst="roundRect">
            <a:avLst>
              <a:gd name="adj" fmla="val 8000"/>
            </a:avLst>
          </a:prstGeom>
          <a:solidFill>
            <a:srgbClr val="FFF0F4"/>
          </a:solidFill>
          <a:ln>
            <a:noFill/>
          </a:ln>
          <a:effectLst/>
        </p:spPr>
        <p:txBody>
          <a:bodyPr rtlCol="0" anchor="ctr"/>
          <a:lstStyle/>
          <a:p>
            <a:pPr algn="ctr"/>
          </a:p>
        </p:txBody>
      </p:sp>
      <p:sp>
        <p:nvSpPr>
          <p:cNvPr id="26" name="Rectangle 25"/>
          <p:cNvSpPr/>
          <p:nvPr/>
        </p:nvSpPr>
        <p:spPr>
          <a:xfrm>
            <a:off x="9921240" y="6949440"/>
            <a:ext cx="64008" cy="2286000"/>
          </a:xfrm>
          <a:prstGeom prst="rect">
            <a:avLst/>
          </a:prstGeom>
          <a:solidFill>
            <a:srgbClr val="ED1548"/>
          </a:solidFill>
          <a:ln>
            <a:noFill/>
          </a:ln>
          <a:effectLst/>
        </p:spPr>
        <p:txBody>
          <a:bodyPr rtlCol="0" anchor="ctr"/>
          <a:lstStyle/>
          <a:p>
            <a:pPr algn="ctr"/>
          </a:p>
        </p:txBody>
      </p:sp>
      <p:sp>
        <p:nvSpPr>
          <p:cNvPr id="27" name="TextBox 26"/>
          <p:cNvSpPr txBox="1"/>
          <p:nvPr/>
        </p:nvSpPr>
        <p:spPr>
          <a:xfrm>
            <a:off x="10213848" y="7114031"/>
            <a:ext cx="69037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IA : PROPOSE, VOUS VÉRIFIEZ</a:t>
            </a:r>
          </a:p>
        </p:txBody>
      </p:sp>
      <p:sp>
        <p:nvSpPr>
          <p:cNvPr id="28" name="TextBox 27"/>
          <p:cNvSpPr txBox="1"/>
          <p:nvPr/>
        </p:nvSpPr>
        <p:spPr>
          <a:xfrm>
            <a:off x="10213848" y="7406640"/>
            <a:ext cx="6858000" cy="1719072"/>
          </a:xfrm>
          <a:prstGeom prst="rect">
            <a:avLst/>
          </a:prstGeom>
          <a:noFill/>
        </p:spPr>
        <p:txBody>
          <a:bodyPr wrap="square" lIns="0" rIns="0" tIns="0" bIns="0" anchor="t">
            <a:noAutofit/>
          </a:bodyPr>
          <a:lstStyle/>
          <a:p>
            <a:pPr algn="l">
              <a:lnSpc>
                <a:spcPct val="106000"/>
              </a:lnSpc>
              <a:spcBef>
                <a:spcPts val="0"/>
              </a:spcBef>
              <a:spcAft>
                <a:spcPts val="0"/>
              </a:spcAft>
            </a:pPr>
            <a:r>
              <a:rPr b="0" sz="1350" i="0">
                <a:solidFill>
                  <a:srgbClr val="1B3B47"/>
                </a:solidFill>
                <a:latin typeface="Arial"/>
              </a:rPr>
              <a:t>Un composant « export CSV des rapprochements » et son test Vitest : relire le standalone, </a:t>
            </a:r>
            <a:r>
              <a:rPr sz="1215" b="0" i="0">
                <a:solidFill>
                  <a:srgbClr val="ED1548"/>
                </a:solidFill>
                <a:latin typeface="Consolas"/>
              </a:rPr>
              <a:t>inject()</a:t>
            </a:r>
            <a:r>
              <a:rPr b="0" sz="1350" i="0">
                <a:solidFill>
                  <a:srgbClr val="1B3B47"/>
                </a:solidFill>
                <a:latin typeface="Arial"/>
              </a:rPr>
              <a:t>, les signals, le control-flow, et remplacer tout Jasmine par Vitest.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3  ·  TP 5</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Documenter, builder, utiliser l'IA</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Objectif : une doc lisible, un build de prod, un composant généré puis relu.</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53 / 62</a:t>
            </a:r>
          </a:p>
        </p:txBody>
      </p:sp>
      <p:sp>
        <p:nvSpPr>
          <p:cNvPr id="9" name="Oval 8"/>
          <p:cNvSpPr/>
          <p:nvPr/>
        </p:nvSpPr>
        <p:spPr>
          <a:xfrm>
            <a:off x="2606040" y="3081528"/>
            <a:ext cx="329184" cy="329184"/>
          </a:xfrm>
          <a:prstGeom prst="ellipse">
            <a:avLst/>
          </a:prstGeom>
          <a:solidFill>
            <a:srgbClr val="ED1548"/>
          </a:solidFill>
          <a:ln>
            <a:noFill/>
          </a:ln>
          <a:effectLst/>
        </p:spPr>
        <p:txBody>
          <a:bodyPr rtlCol="0" anchor="ctr" lIns="0" rIns="0" tIns="0" bIns="0"/>
          <a:lstStyle/>
          <a:p>
            <a:pPr algn="ctr"/>
            <a:r>
              <a:rPr sz="1360" b="1">
                <a:solidFill>
                  <a:srgbClr val="FFFFFF"/>
                </a:solidFill>
                <a:latin typeface="Arial"/>
              </a:rPr>
              <a:t>1</a:t>
            </a:r>
          </a:p>
        </p:txBody>
      </p:sp>
      <p:sp>
        <p:nvSpPr>
          <p:cNvPr id="10" name="TextBox 9"/>
          <p:cNvSpPr txBox="1"/>
          <p:nvPr/>
        </p:nvSpPr>
        <p:spPr>
          <a:xfrm>
            <a:off x="3108960" y="3081528"/>
            <a:ext cx="7955279" cy="866851"/>
          </a:xfrm>
          <a:prstGeom prst="rect">
            <a:avLst/>
          </a:prstGeom>
          <a:noFill/>
        </p:spPr>
        <p:txBody>
          <a:bodyPr wrap="square" lIns="0" rIns="0" tIns="0" bIns="0" anchor="t">
            <a:noAutofit/>
          </a:bodyPr>
          <a:lstStyle/>
          <a:p>
            <a:pPr algn="l">
              <a:lnSpc>
                <a:spcPct val="106000"/>
              </a:lnSpc>
              <a:spcBef>
                <a:spcPts val="0"/>
              </a:spcBef>
              <a:spcAft>
                <a:spcPts val="0"/>
              </a:spcAft>
            </a:pPr>
            <a:r>
              <a:rPr b="0" sz="1600" i="0">
                <a:solidFill>
                  <a:srgbClr val="1B3B47"/>
                </a:solidFill>
                <a:latin typeface="Arial"/>
              </a:rPr>
              <a:t>Documenter </a:t>
            </a:r>
            <a:r>
              <a:rPr sz="1440" b="0" i="0">
                <a:solidFill>
                  <a:srgbClr val="ED1548"/>
                </a:solidFill>
                <a:latin typeface="Consolas"/>
              </a:rPr>
              <a:t>RapprochementStore</a:t>
            </a:r>
            <a:r>
              <a:rPr b="0" sz="1600" i="0">
                <a:solidFill>
                  <a:srgbClr val="1B3B47"/>
                </a:solidFill>
                <a:latin typeface="Arial"/>
              </a:rPr>
              <a:t> et </a:t>
            </a:r>
            <a:r>
              <a:rPr sz="1440" b="0" i="0">
                <a:solidFill>
                  <a:srgbClr val="ED1548"/>
                </a:solidFill>
                <a:latin typeface="Consolas"/>
              </a:rPr>
              <a:t>score()</a:t>
            </a:r>
            <a:r>
              <a:rPr b="0" sz="1600" i="0">
                <a:solidFill>
                  <a:srgbClr val="1B3B47"/>
                </a:solidFill>
                <a:latin typeface="Arial"/>
              </a:rPr>
              <a:t> en JSDoc.</a:t>
            </a:r>
          </a:p>
        </p:txBody>
      </p:sp>
      <p:sp>
        <p:nvSpPr>
          <p:cNvPr id="11" name="Oval 10"/>
          <p:cNvSpPr/>
          <p:nvPr/>
        </p:nvSpPr>
        <p:spPr>
          <a:xfrm>
            <a:off x="2606040" y="4094683"/>
            <a:ext cx="329184" cy="329184"/>
          </a:xfrm>
          <a:prstGeom prst="ellipse">
            <a:avLst/>
          </a:prstGeom>
          <a:solidFill>
            <a:srgbClr val="ED1548"/>
          </a:solidFill>
          <a:ln>
            <a:noFill/>
          </a:ln>
          <a:effectLst/>
        </p:spPr>
        <p:txBody>
          <a:bodyPr rtlCol="0" anchor="ctr" lIns="0" rIns="0" tIns="0" bIns="0"/>
          <a:lstStyle/>
          <a:p>
            <a:pPr algn="ctr"/>
            <a:r>
              <a:rPr sz="1360" b="1">
                <a:solidFill>
                  <a:srgbClr val="FFFFFF"/>
                </a:solidFill>
                <a:latin typeface="Arial"/>
              </a:rPr>
              <a:t>2</a:t>
            </a:r>
          </a:p>
        </p:txBody>
      </p:sp>
      <p:sp>
        <p:nvSpPr>
          <p:cNvPr id="12" name="TextBox 11"/>
          <p:cNvSpPr txBox="1"/>
          <p:nvPr/>
        </p:nvSpPr>
        <p:spPr>
          <a:xfrm>
            <a:off x="3108960" y="4094683"/>
            <a:ext cx="7955279" cy="866851"/>
          </a:xfrm>
          <a:prstGeom prst="rect">
            <a:avLst/>
          </a:prstGeom>
          <a:noFill/>
        </p:spPr>
        <p:txBody>
          <a:bodyPr wrap="square" lIns="0" rIns="0" tIns="0" bIns="0" anchor="t">
            <a:noAutofit/>
          </a:bodyPr>
          <a:lstStyle/>
          <a:p>
            <a:pPr algn="l">
              <a:lnSpc>
                <a:spcPct val="106000"/>
              </a:lnSpc>
              <a:spcBef>
                <a:spcPts val="0"/>
              </a:spcBef>
              <a:spcAft>
                <a:spcPts val="0"/>
              </a:spcAft>
            </a:pPr>
            <a:r>
              <a:rPr sz="1440" b="0" i="0">
                <a:solidFill>
                  <a:srgbClr val="ED1548"/>
                </a:solidFill>
                <a:latin typeface="Consolas"/>
              </a:rPr>
              <a:t>npx @compodoc/compodoc -p tsconfig.json -s</a:t>
            </a:r>
            <a:r>
              <a:rPr b="0" sz="1600" i="0">
                <a:solidFill>
                  <a:srgbClr val="1B3B47"/>
                </a:solidFill>
                <a:latin typeface="Arial"/>
              </a:rPr>
              <a:t> et consulter.</a:t>
            </a:r>
          </a:p>
        </p:txBody>
      </p:sp>
      <p:sp>
        <p:nvSpPr>
          <p:cNvPr id="13" name="Oval 12"/>
          <p:cNvSpPr/>
          <p:nvPr/>
        </p:nvSpPr>
        <p:spPr>
          <a:xfrm>
            <a:off x="2606040" y="5107838"/>
            <a:ext cx="329184" cy="329184"/>
          </a:xfrm>
          <a:prstGeom prst="ellipse">
            <a:avLst/>
          </a:prstGeom>
          <a:solidFill>
            <a:srgbClr val="ED1548"/>
          </a:solidFill>
          <a:ln>
            <a:noFill/>
          </a:ln>
          <a:effectLst/>
        </p:spPr>
        <p:txBody>
          <a:bodyPr rtlCol="0" anchor="ctr" lIns="0" rIns="0" tIns="0" bIns="0"/>
          <a:lstStyle/>
          <a:p>
            <a:pPr algn="ctr"/>
            <a:r>
              <a:rPr sz="1360" b="1">
                <a:solidFill>
                  <a:srgbClr val="FFFFFF"/>
                </a:solidFill>
                <a:latin typeface="Arial"/>
              </a:rPr>
              <a:t>3</a:t>
            </a:r>
          </a:p>
        </p:txBody>
      </p:sp>
      <p:sp>
        <p:nvSpPr>
          <p:cNvPr id="14" name="TextBox 13"/>
          <p:cNvSpPr txBox="1"/>
          <p:nvPr/>
        </p:nvSpPr>
        <p:spPr>
          <a:xfrm>
            <a:off x="3108960" y="5107838"/>
            <a:ext cx="7955279" cy="866851"/>
          </a:xfrm>
          <a:prstGeom prst="rect">
            <a:avLst/>
          </a:prstGeom>
          <a:noFill/>
        </p:spPr>
        <p:txBody>
          <a:bodyPr wrap="square" lIns="0" rIns="0" tIns="0" bIns="0" anchor="t">
            <a:noAutofit/>
          </a:bodyPr>
          <a:lstStyle/>
          <a:p>
            <a:pPr algn="l">
              <a:lnSpc>
                <a:spcPct val="106000"/>
              </a:lnSpc>
              <a:spcBef>
                <a:spcPts val="0"/>
              </a:spcBef>
              <a:spcAft>
                <a:spcPts val="0"/>
              </a:spcAft>
            </a:pPr>
            <a:r>
              <a:rPr sz="1440" b="0" i="0">
                <a:solidFill>
                  <a:srgbClr val="ED1548"/>
                </a:solidFill>
                <a:latin typeface="Consolas"/>
              </a:rPr>
              <a:t>ng update --dry-run</a:t>
            </a:r>
            <a:r>
              <a:rPr b="0" sz="1600" i="0">
                <a:solidFill>
                  <a:srgbClr val="1B3B47"/>
                </a:solidFill>
                <a:latin typeface="Arial"/>
              </a:rPr>
              <a:t> pour lister les mises à jour.</a:t>
            </a:r>
          </a:p>
        </p:txBody>
      </p:sp>
      <p:sp>
        <p:nvSpPr>
          <p:cNvPr id="15" name="Oval 14"/>
          <p:cNvSpPr/>
          <p:nvPr/>
        </p:nvSpPr>
        <p:spPr>
          <a:xfrm>
            <a:off x="2606040" y="6120993"/>
            <a:ext cx="329184" cy="329184"/>
          </a:xfrm>
          <a:prstGeom prst="ellipse">
            <a:avLst/>
          </a:prstGeom>
          <a:solidFill>
            <a:srgbClr val="ED1548"/>
          </a:solidFill>
          <a:ln>
            <a:noFill/>
          </a:ln>
          <a:effectLst/>
        </p:spPr>
        <p:txBody>
          <a:bodyPr rtlCol="0" anchor="ctr" lIns="0" rIns="0" tIns="0" bIns="0"/>
          <a:lstStyle/>
          <a:p>
            <a:pPr algn="ctr"/>
            <a:r>
              <a:rPr sz="1360" b="1">
                <a:solidFill>
                  <a:srgbClr val="FFFFFF"/>
                </a:solidFill>
                <a:latin typeface="Arial"/>
              </a:rPr>
              <a:t>4</a:t>
            </a:r>
          </a:p>
        </p:txBody>
      </p:sp>
      <p:sp>
        <p:nvSpPr>
          <p:cNvPr id="16" name="TextBox 15"/>
          <p:cNvSpPr txBox="1"/>
          <p:nvPr/>
        </p:nvSpPr>
        <p:spPr>
          <a:xfrm>
            <a:off x="3108960" y="6120993"/>
            <a:ext cx="7955279" cy="866851"/>
          </a:xfrm>
          <a:prstGeom prst="rect">
            <a:avLst/>
          </a:prstGeom>
          <a:noFill/>
        </p:spPr>
        <p:txBody>
          <a:bodyPr wrap="square" lIns="0" rIns="0" tIns="0" bIns="0" anchor="t">
            <a:noAutofit/>
          </a:bodyPr>
          <a:lstStyle/>
          <a:p>
            <a:pPr algn="l">
              <a:lnSpc>
                <a:spcPct val="106000"/>
              </a:lnSpc>
              <a:spcBef>
                <a:spcPts val="0"/>
              </a:spcBef>
              <a:spcAft>
                <a:spcPts val="0"/>
              </a:spcAft>
            </a:pPr>
            <a:r>
              <a:rPr sz="1440" b="0" i="0">
                <a:solidFill>
                  <a:srgbClr val="ED1548"/>
                </a:solidFill>
                <a:latin typeface="Consolas"/>
              </a:rPr>
              <a:t>ng build</a:t>
            </a:r>
            <a:r>
              <a:rPr b="0" sz="1600" i="0">
                <a:solidFill>
                  <a:srgbClr val="1B3B47"/>
                </a:solidFill>
                <a:latin typeface="Arial"/>
              </a:rPr>
              <a:t> puis servir </a:t>
            </a:r>
            <a:r>
              <a:rPr sz="1440" b="0" i="0">
                <a:solidFill>
                  <a:srgbClr val="ED1548"/>
                </a:solidFill>
                <a:latin typeface="Consolas"/>
              </a:rPr>
              <a:t>dist/</a:t>
            </a:r>
            <a:r>
              <a:rPr b="0" sz="1600" i="0">
                <a:solidFill>
                  <a:srgbClr val="1B3B47"/>
                </a:solidFill>
                <a:latin typeface="Arial"/>
              </a:rPr>
              <a:t> et rejouer le parcours.</a:t>
            </a:r>
          </a:p>
        </p:txBody>
      </p:sp>
      <p:sp>
        <p:nvSpPr>
          <p:cNvPr id="17" name="Oval 16"/>
          <p:cNvSpPr/>
          <p:nvPr/>
        </p:nvSpPr>
        <p:spPr>
          <a:xfrm>
            <a:off x="2606040" y="7134148"/>
            <a:ext cx="329184" cy="329184"/>
          </a:xfrm>
          <a:prstGeom prst="ellipse">
            <a:avLst/>
          </a:prstGeom>
          <a:solidFill>
            <a:srgbClr val="ED1548"/>
          </a:solidFill>
          <a:ln>
            <a:noFill/>
          </a:ln>
          <a:effectLst/>
        </p:spPr>
        <p:txBody>
          <a:bodyPr rtlCol="0" anchor="ctr" lIns="0" rIns="0" tIns="0" bIns="0"/>
          <a:lstStyle/>
          <a:p>
            <a:pPr algn="ctr"/>
            <a:r>
              <a:rPr sz="1360" b="1">
                <a:solidFill>
                  <a:srgbClr val="FFFFFF"/>
                </a:solidFill>
                <a:latin typeface="Arial"/>
              </a:rPr>
              <a:t>5</a:t>
            </a:r>
          </a:p>
        </p:txBody>
      </p:sp>
      <p:sp>
        <p:nvSpPr>
          <p:cNvPr id="18" name="TextBox 17"/>
          <p:cNvSpPr txBox="1"/>
          <p:nvPr/>
        </p:nvSpPr>
        <p:spPr>
          <a:xfrm>
            <a:off x="3108960" y="7134148"/>
            <a:ext cx="7955279" cy="866851"/>
          </a:xfrm>
          <a:prstGeom prst="rect">
            <a:avLst/>
          </a:prstGeom>
          <a:noFill/>
        </p:spPr>
        <p:txBody>
          <a:bodyPr wrap="square" lIns="0" rIns="0" tIns="0" bIns="0" anchor="t">
            <a:noAutofit/>
          </a:bodyPr>
          <a:lstStyle/>
          <a:p>
            <a:pPr algn="l">
              <a:lnSpc>
                <a:spcPct val="106000"/>
              </a:lnSpc>
              <a:spcBef>
                <a:spcPts val="0"/>
              </a:spcBef>
              <a:spcAft>
                <a:spcPts val="0"/>
              </a:spcAft>
            </a:pPr>
            <a:r>
              <a:rPr b="0" sz="1600" i="0">
                <a:solidFill>
                  <a:srgbClr val="1B3B47"/>
                </a:solidFill>
                <a:latin typeface="Arial"/>
              </a:rPr>
              <a:t>Atelier IA : générer l'export CSV + test, relire, corriger, intégrer.</a:t>
            </a:r>
          </a:p>
        </p:txBody>
      </p:sp>
      <p:sp>
        <p:nvSpPr>
          <p:cNvPr id="19" name="Rounded Rectangle 18"/>
          <p:cNvSpPr/>
          <p:nvPr/>
        </p:nvSpPr>
        <p:spPr>
          <a:xfrm>
            <a:off x="11475720" y="3063240"/>
            <a:ext cx="5715000" cy="324612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0" name="TextBox 19"/>
          <p:cNvSpPr txBox="1"/>
          <p:nvPr/>
        </p:nvSpPr>
        <p:spPr>
          <a:xfrm>
            <a:off x="11750040" y="3246120"/>
            <a:ext cx="5303520" cy="274320"/>
          </a:xfrm>
          <a:prstGeom prst="rect">
            <a:avLst/>
          </a:prstGeom>
          <a:noFill/>
        </p:spPr>
        <p:txBody>
          <a:bodyPr wrap="square" lIns="0" rIns="0" tIns="0" bIns="0" anchor="t">
            <a:noAutofit/>
          </a:bodyPr>
          <a:lstStyle/>
          <a:p>
            <a:pPr algn="l">
              <a:lnSpc>
                <a:spcPct val="102000"/>
              </a:lnSpc>
              <a:spcBef>
                <a:spcPts val="0"/>
              </a:spcBef>
              <a:spcAft>
                <a:spcPts val="0"/>
              </a:spcAft>
            </a:pPr>
            <a:r>
              <a:rPr b="1" sz="1150" i="0">
                <a:solidFill>
                  <a:srgbClr val="ED1548"/>
                </a:solidFill>
                <a:latin typeface="Arial"/>
              </a:rPr>
              <a:t>CHECKLIST DE RELECTURE IA</a:t>
            </a:r>
          </a:p>
        </p:txBody>
      </p:sp>
      <p:sp>
        <p:nvSpPr>
          <p:cNvPr id="21" name="Rounded Rectangle 20"/>
          <p:cNvSpPr/>
          <p:nvPr/>
        </p:nvSpPr>
        <p:spPr>
          <a:xfrm>
            <a:off x="11750040" y="3657600"/>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2" name="TextBox 21"/>
          <p:cNvSpPr txBox="1"/>
          <p:nvPr/>
        </p:nvSpPr>
        <p:spPr>
          <a:xfrm>
            <a:off x="12115800" y="3630168"/>
            <a:ext cx="4937759"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Composant standalone, pas de NgModule.</a:t>
            </a:r>
          </a:p>
        </p:txBody>
      </p:sp>
      <p:sp>
        <p:nvSpPr>
          <p:cNvPr id="23" name="Rounded Rectangle 22"/>
          <p:cNvSpPr/>
          <p:nvPr/>
        </p:nvSpPr>
        <p:spPr>
          <a:xfrm>
            <a:off x="11750040" y="3938905"/>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4" name="TextBox 23"/>
          <p:cNvSpPr txBox="1"/>
          <p:nvPr/>
        </p:nvSpPr>
        <p:spPr>
          <a:xfrm>
            <a:off x="12115800" y="3911473"/>
            <a:ext cx="4937759" cy="208152"/>
          </a:xfrm>
          <a:prstGeom prst="rect">
            <a:avLst/>
          </a:prstGeom>
          <a:noFill/>
        </p:spPr>
        <p:txBody>
          <a:bodyPr wrap="square" lIns="0" rIns="0" tIns="0" bIns="0" anchor="t">
            <a:noAutofit/>
          </a:bodyPr>
          <a:lstStyle/>
          <a:p>
            <a:pPr algn="l">
              <a:lnSpc>
                <a:spcPct val="105000"/>
              </a:lnSpc>
              <a:spcBef>
                <a:spcPts val="0"/>
              </a:spcBef>
              <a:spcAft>
                <a:spcPts val="0"/>
              </a:spcAft>
            </a:pPr>
            <a:r>
              <a:rPr sz="1170" b="0" i="0">
                <a:solidFill>
                  <a:srgbClr val="ED1548"/>
                </a:solidFill>
                <a:latin typeface="Consolas"/>
              </a:rPr>
              <a:t>inject()</a:t>
            </a:r>
            <a:r>
              <a:rPr b="0" sz="1300" i="0">
                <a:solidFill>
                  <a:srgbClr val="1B3B47"/>
                </a:solidFill>
                <a:latin typeface="Arial"/>
              </a:rPr>
              <a:t> plutôt que constructeur.</a:t>
            </a:r>
          </a:p>
        </p:txBody>
      </p:sp>
      <p:sp>
        <p:nvSpPr>
          <p:cNvPr id="25" name="Rounded Rectangle 24"/>
          <p:cNvSpPr/>
          <p:nvPr/>
        </p:nvSpPr>
        <p:spPr>
          <a:xfrm>
            <a:off x="11750040" y="4220210"/>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6" name="TextBox 25"/>
          <p:cNvSpPr txBox="1"/>
          <p:nvPr/>
        </p:nvSpPr>
        <p:spPr>
          <a:xfrm>
            <a:off x="12115800" y="4192778"/>
            <a:ext cx="4937759"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Signals et control-flow modernes.</a:t>
            </a:r>
          </a:p>
        </p:txBody>
      </p:sp>
      <p:sp>
        <p:nvSpPr>
          <p:cNvPr id="27" name="Rounded Rectangle 26"/>
          <p:cNvSpPr/>
          <p:nvPr/>
        </p:nvSpPr>
        <p:spPr>
          <a:xfrm>
            <a:off x="11750040" y="4501515"/>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8" name="TextBox 27"/>
          <p:cNvSpPr txBox="1"/>
          <p:nvPr/>
        </p:nvSpPr>
        <p:spPr>
          <a:xfrm>
            <a:off x="12115800" y="4474083"/>
            <a:ext cx="4937759"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Tests Vitest, pas Jasmine/Karma.</a:t>
            </a:r>
          </a:p>
        </p:txBody>
      </p:sp>
      <p:sp>
        <p:nvSpPr>
          <p:cNvPr id="29" name="Rounded Rectangle 28"/>
          <p:cNvSpPr/>
          <p:nvPr/>
        </p:nvSpPr>
        <p:spPr>
          <a:xfrm>
            <a:off x="11750040" y="4782820"/>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30" name="TextBox 29"/>
          <p:cNvSpPr txBox="1"/>
          <p:nvPr/>
        </p:nvSpPr>
        <p:spPr>
          <a:xfrm>
            <a:off x="12115800" y="4755387"/>
            <a:ext cx="4937759"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Pas d'API ou de secret inventé.</a:t>
            </a:r>
          </a:p>
        </p:txBody>
      </p:sp>
      <p:sp>
        <p:nvSpPr>
          <p:cNvPr id="31" name="Rounded Rectangle 30"/>
          <p:cNvSpPr/>
          <p:nvPr/>
        </p:nvSpPr>
        <p:spPr>
          <a:xfrm>
            <a:off x="11475720" y="6583680"/>
            <a:ext cx="5715000" cy="219456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32" name="Oval 31"/>
          <p:cNvSpPr/>
          <p:nvPr/>
        </p:nvSpPr>
        <p:spPr>
          <a:xfrm>
            <a:off x="11695176" y="6757416"/>
            <a:ext cx="82296" cy="82296"/>
          </a:xfrm>
          <a:prstGeom prst="ellipse">
            <a:avLst/>
          </a:prstGeom>
          <a:solidFill>
            <a:srgbClr val="ED1548"/>
          </a:solidFill>
          <a:ln>
            <a:noFill/>
          </a:ln>
          <a:effectLst/>
        </p:spPr>
        <p:txBody>
          <a:bodyPr rtlCol="0" anchor="ctr"/>
          <a:lstStyle/>
          <a:p>
            <a:pPr algn="ctr"/>
          </a:p>
        </p:txBody>
      </p:sp>
      <p:sp>
        <p:nvSpPr>
          <p:cNvPr id="33" name="TextBox 32"/>
          <p:cNvSpPr txBox="1"/>
          <p:nvPr/>
        </p:nvSpPr>
        <p:spPr>
          <a:xfrm>
            <a:off x="11859768" y="6693408"/>
            <a:ext cx="521208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prompt</a:t>
            </a:r>
          </a:p>
        </p:txBody>
      </p:sp>
      <p:sp>
        <p:nvSpPr>
          <p:cNvPr id="34" name="TextBox 33"/>
          <p:cNvSpPr txBox="1"/>
          <p:nvPr/>
        </p:nvSpPr>
        <p:spPr>
          <a:xfrm>
            <a:off x="11722608" y="7059168"/>
            <a:ext cx="5394960" cy="1554479"/>
          </a:xfrm>
          <a:prstGeom prst="rect">
            <a:avLst/>
          </a:prstGeom>
          <a:noFill/>
        </p:spPr>
        <p:txBody>
          <a:bodyPr wrap="none" lIns="0" rIns="0" tIns="0" bIns="0">
            <a:noAutofit/>
          </a:bodyPr>
          <a:lstStyle/>
          <a:p>
            <a:pPr>
              <a:lnSpc>
                <a:spcPct val="100000"/>
              </a:lnSpc>
              <a:spcBef>
                <a:spcPts val="0"/>
              </a:spcBef>
              <a:spcAft>
                <a:spcPts val="0"/>
              </a:spcAft>
            </a:pPr>
            <a:r>
              <a:rPr sz="1200">
                <a:solidFill>
                  <a:srgbClr val="EAF2F4"/>
                </a:solidFill>
                <a:latin typeface="Consolas"/>
              </a:rPr>
              <a:t>Génère un composant standalone</a:t>
            </a:r>
          </a:p>
          <a:p>
            <a:pPr>
              <a:lnSpc>
                <a:spcPct val="100000"/>
              </a:lnSpc>
              <a:spcBef>
                <a:spcPts val="0"/>
              </a:spcBef>
              <a:spcAft>
                <a:spcPts val="0"/>
              </a:spcAft>
            </a:pPr>
            <a:r>
              <a:rPr sz="1200">
                <a:solidFill>
                  <a:srgbClr val="EAF2F4"/>
                </a:solidFill>
                <a:latin typeface="Consolas"/>
              </a:rPr>
              <a:t>« </a:t>
            </a:r>
            <a:r>
              <a:rPr sz="1200">
                <a:solidFill>
                  <a:srgbClr val="7FD1E0"/>
                </a:solidFill>
                <a:latin typeface="Consolas"/>
              </a:rPr>
              <a:t>export</a:t>
            </a:r>
            <a:r>
              <a:rPr sz="1200">
                <a:solidFill>
                  <a:srgbClr val="EAF2F4"/>
                </a:solidFill>
                <a:latin typeface="Consolas"/>
              </a:rPr>
              <a:t> CSV des rapprochements »</a:t>
            </a:r>
          </a:p>
          <a:p>
            <a:pPr>
              <a:lnSpc>
                <a:spcPct val="100000"/>
              </a:lnSpc>
              <a:spcBef>
                <a:spcPts val="0"/>
              </a:spcBef>
              <a:spcAft>
                <a:spcPts val="0"/>
              </a:spcAft>
            </a:pPr>
            <a:r>
              <a:rPr sz="1200">
                <a:solidFill>
                  <a:srgbClr val="EAF2F4"/>
                </a:solidFill>
                <a:latin typeface="Consolas"/>
              </a:rPr>
              <a:t>avec un test Vitest. Contraintes :</a:t>
            </a:r>
          </a:p>
          <a:p>
            <a:pPr>
              <a:lnSpc>
                <a:spcPct val="100000"/>
              </a:lnSpc>
              <a:spcBef>
                <a:spcPts val="0"/>
              </a:spcBef>
              <a:spcAft>
                <a:spcPts val="0"/>
              </a:spcAft>
            </a:pPr>
            <a:r>
              <a:rPr sz="1200">
                <a:solidFill>
                  <a:srgbClr val="EAF2F4"/>
                </a:solidFill>
                <a:latin typeface="Consolas"/>
              </a:rPr>
              <a:t>signals, inject(), control-flow,</a:t>
            </a:r>
          </a:p>
          <a:p>
            <a:pPr>
              <a:lnSpc>
                <a:spcPct val="100000"/>
              </a:lnSpc>
              <a:spcBef>
                <a:spcPts val="0"/>
              </a:spcBef>
              <a:spcAft>
                <a:spcPts val="0"/>
              </a:spcAft>
            </a:pPr>
            <a:r>
              <a:rPr sz="1200">
                <a:solidFill>
                  <a:srgbClr val="EAF2F4"/>
                </a:solidFill>
                <a:latin typeface="Consolas"/>
              </a:rPr>
              <a:t>pas de NgModule.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BILAN</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Ce que vous savez faire</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La démo finale relie tout : lister, rapprocher, litige, dashboard.</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54 / 62</a:t>
            </a:r>
          </a:p>
        </p:txBody>
      </p:sp>
      <p:sp>
        <p:nvSpPr>
          <p:cNvPr id="9" name="TextBox 8"/>
          <p:cNvSpPr txBox="1"/>
          <p:nvPr/>
        </p:nvSpPr>
        <p:spPr>
          <a:xfrm>
            <a:off x="2606040" y="3063240"/>
            <a:ext cx="5852160" cy="274320"/>
          </a:xfrm>
          <a:prstGeom prst="rect">
            <a:avLst/>
          </a:prstGeom>
          <a:noFill/>
        </p:spPr>
        <p:txBody>
          <a:bodyPr wrap="square" lIns="0" rIns="0" tIns="0" bIns="0" anchor="t">
            <a:noAutofit/>
          </a:bodyPr>
          <a:lstStyle/>
          <a:p>
            <a:pPr algn="l">
              <a:lnSpc>
                <a:spcPct val="102000"/>
              </a:lnSpc>
              <a:spcBef>
                <a:spcPts val="0"/>
              </a:spcBef>
              <a:spcAft>
                <a:spcPts val="0"/>
              </a:spcAft>
            </a:pPr>
            <a:r>
              <a:rPr b="1" sz="1150" i="0">
                <a:solidFill>
                  <a:srgbClr val="ED1548"/>
                </a:solidFill>
                <a:latin typeface="Arial"/>
              </a:rPr>
              <a:t>DÉMO FINALE</a:t>
            </a:r>
          </a:p>
        </p:txBody>
      </p:sp>
      <p:sp>
        <p:nvSpPr>
          <p:cNvPr id="10" name="Oval 9"/>
          <p:cNvSpPr/>
          <p:nvPr/>
        </p:nvSpPr>
        <p:spPr>
          <a:xfrm>
            <a:off x="2606040" y="3493008"/>
            <a:ext cx="329184" cy="329184"/>
          </a:xfrm>
          <a:prstGeom prst="ellipse">
            <a:avLst/>
          </a:prstGeom>
          <a:solidFill>
            <a:srgbClr val="ED1548"/>
          </a:solidFill>
          <a:ln>
            <a:noFill/>
          </a:ln>
          <a:effectLst/>
        </p:spPr>
        <p:txBody>
          <a:bodyPr rtlCol="0" anchor="ctr" lIns="0" rIns="0" tIns="0" bIns="0"/>
          <a:lstStyle/>
          <a:p>
            <a:pPr algn="ctr"/>
            <a:r>
              <a:rPr sz="1190" b="1">
                <a:solidFill>
                  <a:srgbClr val="FFFFFF"/>
                </a:solidFill>
                <a:latin typeface="Arial"/>
              </a:rPr>
              <a:t>1</a:t>
            </a:r>
          </a:p>
        </p:txBody>
      </p:sp>
      <p:sp>
        <p:nvSpPr>
          <p:cNvPr id="11" name="TextBox 10"/>
          <p:cNvSpPr txBox="1"/>
          <p:nvPr/>
        </p:nvSpPr>
        <p:spPr>
          <a:xfrm>
            <a:off x="3108960" y="3493008"/>
            <a:ext cx="5349240" cy="749808"/>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Lister et filtrer les factures.</a:t>
            </a:r>
          </a:p>
        </p:txBody>
      </p:sp>
      <p:sp>
        <p:nvSpPr>
          <p:cNvPr id="12" name="Oval 11"/>
          <p:cNvSpPr/>
          <p:nvPr/>
        </p:nvSpPr>
        <p:spPr>
          <a:xfrm>
            <a:off x="2606040" y="4334256"/>
            <a:ext cx="329184" cy="329184"/>
          </a:xfrm>
          <a:prstGeom prst="ellipse">
            <a:avLst/>
          </a:prstGeom>
          <a:solidFill>
            <a:srgbClr val="ED1548"/>
          </a:solidFill>
          <a:ln>
            <a:noFill/>
          </a:ln>
          <a:effectLst/>
        </p:spPr>
        <p:txBody>
          <a:bodyPr rtlCol="0" anchor="ctr" lIns="0" rIns="0" tIns="0" bIns="0"/>
          <a:lstStyle/>
          <a:p>
            <a:pPr algn="ctr"/>
            <a:r>
              <a:rPr sz="1190" b="1">
                <a:solidFill>
                  <a:srgbClr val="FFFFFF"/>
                </a:solidFill>
                <a:latin typeface="Arial"/>
              </a:rPr>
              <a:t>2</a:t>
            </a:r>
          </a:p>
        </p:txBody>
      </p:sp>
      <p:sp>
        <p:nvSpPr>
          <p:cNvPr id="13" name="TextBox 12"/>
          <p:cNvSpPr txBox="1"/>
          <p:nvPr/>
        </p:nvSpPr>
        <p:spPr>
          <a:xfrm>
            <a:off x="3108960" y="4334256"/>
            <a:ext cx="5349240" cy="749808"/>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Ouvrir un détail, créer une facture.</a:t>
            </a:r>
          </a:p>
        </p:txBody>
      </p:sp>
      <p:sp>
        <p:nvSpPr>
          <p:cNvPr id="14" name="Oval 13"/>
          <p:cNvSpPr/>
          <p:nvPr/>
        </p:nvSpPr>
        <p:spPr>
          <a:xfrm>
            <a:off x="2606040" y="5175504"/>
            <a:ext cx="329184" cy="329184"/>
          </a:xfrm>
          <a:prstGeom prst="ellipse">
            <a:avLst/>
          </a:prstGeom>
          <a:solidFill>
            <a:srgbClr val="ED1548"/>
          </a:solidFill>
          <a:ln>
            <a:noFill/>
          </a:ln>
          <a:effectLst/>
        </p:spPr>
        <p:txBody>
          <a:bodyPr rtlCol="0" anchor="ctr" lIns="0" rIns="0" tIns="0" bIns="0"/>
          <a:lstStyle/>
          <a:p>
            <a:pPr algn="ctr"/>
            <a:r>
              <a:rPr sz="1190" b="1">
                <a:solidFill>
                  <a:srgbClr val="FFFFFF"/>
                </a:solidFill>
                <a:latin typeface="Arial"/>
              </a:rPr>
              <a:t>3</a:t>
            </a:r>
          </a:p>
        </p:txBody>
      </p:sp>
      <p:sp>
        <p:nvSpPr>
          <p:cNvPr id="15" name="TextBox 14"/>
          <p:cNvSpPr txBox="1"/>
          <p:nvPr/>
        </p:nvSpPr>
        <p:spPr>
          <a:xfrm>
            <a:off x="3108960" y="5175504"/>
            <a:ext cx="5349240" cy="749808"/>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Proposer et valider un rapprochement.</a:t>
            </a:r>
          </a:p>
        </p:txBody>
      </p:sp>
      <p:sp>
        <p:nvSpPr>
          <p:cNvPr id="16" name="Oval 15"/>
          <p:cNvSpPr/>
          <p:nvPr/>
        </p:nvSpPr>
        <p:spPr>
          <a:xfrm>
            <a:off x="2606040" y="6016752"/>
            <a:ext cx="329184" cy="329184"/>
          </a:xfrm>
          <a:prstGeom prst="ellipse">
            <a:avLst/>
          </a:prstGeom>
          <a:solidFill>
            <a:srgbClr val="ED1548"/>
          </a:solidFill>
          <a:ln>
            <a:noFill/>
          </a:ln>
          <a:effectLst/>
        </p:spPr>
        <p:txBody>
          <a:bodyPr rtlCol="0" anchor="ctr" lIns="0" rIns="0" tIns="0" bIns="0"/>
          <a:lstStyle/>
          <a:p>
            <a:pPr algn="ctr"/>
            <a:r>
              <a:rPr sz="1190" b="1">
                <a:solidFill>
                  <a:srgbClr val="FFFFFF"/>
                </a:solidFill>
                <a:latin typeface="Arial"/>
              </a:rPr>
              <a:t>4</a:t>
            </a:r>
          </a:p>
        </p:txBody>
      </p:sp>
      <p:sp>
        <p:nvSpPr>
          <p:cNvPr id="17" name="TextBox 16"/>
          <p:cNvSpPr txBox="1"/>
          <p:nvPr/>
        </p:nvSpPr>
        <p:spPr>
          <a:xfrm>
            <a:off x="3108960" y="6016752"/>
            <a:ext cx="5349240" cy="749808"/>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Ouvrir un litige, vérifier le dashboard.</a:t>
            </a:r>
          </a:p>
        </p:txBody>
      </p:sp>
      <p:sp>
        <p:nvSpPr>
          <p:cNvPr id="18" name="TextBox 17"/>
          <p:cNvSpPr txBox="1"/>
          <p:nvPr/>
        </p:nvSpPr>
        <p:spPr>
          <a:xfrm>
            <a:off x="9006840" y="3063240"/>
            <a:ext cx="8183880" cy="274320"/>
          </a:xfrm>
          <a:prstGeom prst="rect">
            <a:avLst/>
          </a:prstGeom>
          <a:noFill/>
        </p:spPr>
        <p:txBody>
          <a:bodyPr wrap="square" lIns="0" rIns="0" tIns="0" bIns="0" anchor="t">
            <a:noAutofit/>
          </a:bodyPr>
          <a:lstStyle/>
          <a:p>
            <a:pPr algn="l">
              <a:lnSpc>
                <a:spcPct val="102000"/>
              </a:lnSpc>
              <a:spcBef>
                <a:spcPts val="0"/>
              </a:spcBef>
              <a:spcAft>
                <a:spcPts val="0"/>
              </a:spcAft>
            </a:pPr>
            <a:r>
              <a:rPr b="1" sz="1150" i="0">
                <a:solidFill>
                  <a:srgbClr val="0B4F6C"/>
                </a:solidFill>
                <a:latin typeface="Arial"/>
              </a:rPr>
              <a:t>GRILLE D'AUTO-ÉVALUATION</a:t>
            </a:r>
          </a:p>
        </p:txBody>
      </p:sp>
      <p:sp>
        <p:nvSpPr>
          <p:cNvPr id="19" name="Rounded Rectangle 18"/>
          <p:cNvSpPr/>
          <p:nvPr/>
        </p:nvSpPr>
        <p:spPr>
          <a:xfrm>
            <a:off x="9006840" y="350215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0" name="TextBox 19"/>
          <p:cNvSpPr txBox="1"/>
          <p:nvPr/>
        </p:nvSpPr>
        <p:spPr>
          <a:xfrm>
            <a:off x="9372600" y="3474720"/>
            <a:ext cx="3611879"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CLI et workspace</a:t>
            </a:r>
          </a:p>
        </p:txBody>
      </p:sp>
      <p:sp>
        <p:nvSpPr>
          <p:cNvPr id="21" name="Rounded Rectangle 20"/>
          <p:cNvSpPr/>
          <p:nvPr/>
        </p:nvSpPr>
        <p:spPr>
          <a:xfrm>
            <a:off x="9006840" y="3783457"/>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2" name="TextBox 21"/>
          <p:cNvSpPr txBox="1"/>
          <p:nvPr/>
        </p:nvSpPr>
        <p:spPr>
          <a:xfrm>
            <a:off x="9372600" y="3756025"/>
            <a:ext cx="3611879"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Standalone et imports</a:t>
            </a:r>
          </a:p>
        </p:txBody>
      </p:sp>
      <p:sp>
        <p:nvSpPr>
          <p:cNvPr id="23" name="Rounded Rectangle 22"/>
          <p:cNvSpPr/>
          <p:nvPr/>
        </p:nvSpPr>
        <p:spPr>
          <a:xfrm>
            <a:off x="9006840" y="406476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4" name="TextBox 23"/>
          <p:cNvSpPr txBox="1"/>
          <p:nvPr/>
        </p:nvSpPr>
        <p:spPr>
          <a:xfrm>
            <a:off x="9372600" y="4037330"/>
            <a:ext cx="3611879"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Signals et computed</a:t>
            </a:r>
          </a:p>
        </p:txBody>
      </p:sp>
      <p:sp>
        <p:nvSpPr>
          <p:cNvPr id="25" name="Rounded Rectangle 24"/>
          <p:cNvSpPr/>
          <p:nvPr/>
        </p:nvSpPr>
        <p:spPr>
          <a:xfrm>
            <a:off x="9006840" y="4346067"/>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6" name="TextBox 25"/>
          <p:cNvSpPr txBox="1"/>
          <p:nvPr/>
        </p:nvSpPr>
        <p:spPr>
          <a:xfrm>
            <a:off x="9372600" y="4318635"/>
            <a:ext cx="3611879"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Control-flow et track</a:t>
            </a:r>
          </a:p>
        </p:txBody>
      </p:sp>
      <p:sp>
        <p:nvSpPr>
          <p:cNvPr id="27" name="Rounded Rectangle 26"/>
          <p:cNvSpPr/>
          <p:nvPr/>
        </p:nvSpPr>
        <p:spPr>
          <a:xfrm>
            <a:off x="9006840" y="462737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28" name="TextBox 27"/>
          <p:cNvSpPr txBox="1"/>
          <p:nvPr/>
        </p:nvSpPr>
        <p:spPr>
          <a:xfrm>
            <a:off x="9372600" y="4599939"/>
            <a:ext cx="3611879"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Pipes et directives</a:t>
            </a:r>
          </a:p>
        </p:txBody>
      </p:sp>
      <p:sp>
        <p:nvSpPr>
          <p:cNvPr id="29" name="Rounded Rectangle 28"/>
          <p:cNvSpPr/>
          <p:nvPr/>
        </p:nvSpPr>
        <p:spPr>
          <a:xfrm>
            <a:off x="13304520" y="350215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30" name="TextBox 29"/>
          <p:cNvSpPr txBox="1"/>
          <p:nvPr/>
        </p:nvSpPr>
        <p:spPr>
          <a:xfrm>
            <a:off x="13670280" y="3474720"/>
            <a:ext cx="3520440"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Routeur et lazy</a:t>
            </a:r>
          </a:p>
        </p:txBody>
      </p:sp>
      <p:sp>
        <p:nvSpPr>
          <p:cNvPr id="31" name="Rounded Rectangle 30"/>
          <p:cNvSpPr/>
          <p:nvPr/>
        </p:nvSpPr>
        <p:spPr>
          <a:xfrm>
            <a:off x="13304520" y="3783457"/>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32" name="TextBox 31"/>
          <p:cNvSpPr txBox="1"/>
          <p:nvPr/>
        </p:nvSpPr>
        <p:spPr>
          <a:xfrm>
            <a:off x="13670280" y="3756025"/>
            <a:ext cx="3520440"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HttpClient et RxJS</a:t>
            </a:r>
          </a:p>
        </p:txBody>
      </p:sp>
      <p:sp>
        <p:nvSpPr>
          <p:cNvPr id="33" name="Rounded Rectangle 32"/>
          <p:cNvSpPr/>
          <p:nvPr/>
        </p:nvSpPr>
        <p:spPr>
          <a:xfrm>
            <a:off x="13304520" y="406476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34" name="TextBox 33"/>
          <p:cNvSpPr txBox="1"/>
          <p:nvPr/>
        </p:nvSpPr>
        <p:spPr>
          <a:xfrm>
            <a:off x="13670280" y="4037330"/>
            <a:ext cx="3520440"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Reactive Forms</a:t>
            </a:r>
          </a:p>
        </p:txBody>
      </p:sp>
      <p:sp>
        <p:nvSpPr>
          <p:cNvPr id="35" name="Rounded Rectangle 34"/>
          <p:cNvSpPr/>
          <p:nvPr/>
        </p:nvSpPr>
        <p:spPr>
          <a:xfrm>
            <a:off x="13304520" y="4346067"/>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36" name="TextBox 35"/>
          <p:cNvSpPr txBox="1"/>
          <p:nvPr/>
        </p:nvSpPr>
        <p:spPr>
          <a:xfrm>
            <a:off x="13670280" y="4318635"/>
            <a:ext cx="3520440"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Vitest et couverture</a:t>
            </a:r>
          </a:p>
        </p:txBody>
      </p:sp>
      <p:sp>
        <p:nvSpPr>
          <p:cNvPr id="37" name="Rounded Rectangle 36"/>
          <p:cNvSpPr/>
          <p:nvPr/>
        </p:nvSpPr>
        <p:spPr>
          <a:xfrm>
            <a:off x="13304520" y="4627372"/>
            <a:ext cx="201168" cy="201168"/>
          </a:xfrm>
          <a:prstGeom prst="roundRect">
            <a:avLst>
              <a:gd name="adj" fmla="val 2000"/>
            </a:avLst>
          </a:prstGeom>
          <a:solidFill>
            <a:srgbClr val="FFFFFF"/>
          </a:solidFill>
          <a:ln w="17780">
            <a:solidFill>
              <a:srgbClr val="0B4F6C"/>
            </a:solidFill>
          </a:ln>
          <a:effectLst/>
        </p:spPr>
        <p:txBody>
          <a:bodyPr rtlCol="0" anchor="ctr"/>
          <a:lstStyle/>
          <a:p>
            <a:pPr algn="ctr"/>
          </a:p>
        </p:txBody>
      </p:sp>
      <p:sp>
        <p:nvSpPr>
          <p:cNvPr id="38" name="TextBox 37"/>
          <p:cNvSpPr txBox="1"/>
          <p:nvPr/>
        </p:nvSpPr>
        <p:spPr>
          <a:xfrm>
            <a:off x="13670280" y="4599939"/>
            <a:ext cx="3520440" cy="208152"/>
          </a:xfrm>
          <a:prstGeom prst="rect">
            <a:avLst/>
          </a:prstGeom>
          <a:noFill/>
        </p:spPr>
        <p:txBody>
          <a:bodyPr wrap="square" lIns="0" rIns="0" tIns="0" bIns="0" anchor="t">
            <a:noAutofit/>
          </a:bodyPr>
          <a:lstStyle/>
          <a:p>
            <a:pPr algn="l">
              <a:lnSpc>
                <a:spcPct val="105000"/>
              </a:lnSpc>
              <a:spcBef>
                <a:spcPts val="0"/>
              </a:spcBef>
              <a:spcAft>
                <a:spcPts val="0"/>
              </a:spcAft>
            </a:pPr>
            <a:r>
              <a:rPr b="0" sz="1300" i="0">
                <a:solidFill>
                  <a:srgbClr val="1B3B47"/>
                </a:solidFill>
                <a:latin typeface="Arial"/>
              </a:rPr>
              <a:t>Build et doc</a:t>
            </a:r>
          </a:p>
        </p:txBody>
      </p:sp>
      <p:sp>
        <p:nvSpPr>
          <p:cNvPr id="39" name="TextBox 38"/>
          <p:cNvSpPr txBox="1"/>
          <p:nvPr/>
        </p:nvSpPr>
        <p:spPr>
          <a:xfrm>
            <a:off x="2606040" y="7223760"/>
            <a:ext cx="14584680" cy="274320"/>
          </a:xfrm>
          <a:prstGeom prst="rect">
            <a:avLst/>
          </a:prstGeom>
          <a:noFill/>
        </p:spPr>
        <p:txBody>
          <a:bodyPr wrap="square" lIns="0" rIns="0" tIns="0" bIns="0" anchor="t">
            <a:noAutofit/>
          </a:bodyPr>
          <a:lstStyle/>
          <a:p>
            <a:pPr algn="l">
              <a:lnSpc>
                <a:spcPct val="102000"/>
              </a:lnSpc>
              <a:spcBef>
                <a:spcPts val="0"/>
              </a:spcBef>
              <a:spcAft>
                <a:spcPts val="0"/>
              </a:spcAft>
            </a:pPr>
            <a:r>
              <a:rPr b="1" sz="1150" i="0">
                <a:solidFill>
                  <a:srgbClr val="ED1548"/>
                </a:solidFill>
                <a:latin typeface="Arial"/>
              </a:rPr>
              <a:t>POUR ALLER PLUS LOIN</a:t>
            </a:r>
          </a:p>
        </p:txBody>
      </p:sp>
      <p:sp>
        <p:nvSpPr>
          <p:cNvPr id="40" name="Rounded Rectangle 39"/>
          <p:cNvSpPr/>
          <p:nvPr/>
        </p:nvSpPr>
        <p:spPr>
          <a:xfrm>
            <a:off x="2606040" y="7589520"/>
            <a:ext cx="1877568" cy="411480"/>
          </a:xfrm>
          <a:prstGeom prst="roundRect">
            <a:avLst>
              <a:gd name="adj" fmla="val 50000"/>
            </a:avLst>
          </a:prstGeom>
          <a:solidFill>
            <a:srgbClr val="0B4F6C"/>
          </a:solidFill>
          <a:ln>
            <a:noFill/>
          </a:ln>
          <a:effectLst/>
        </p:spPr>
        <p:txBody>
          <a:bodyPr rtlCol="0" anchor="ctr" lIns="0" rIns="0" tIns="0" bIns="0"/>
          <a:lstStyle/>
          <a:p>
            <a:pPr algn="ctr"/>
            <a:r>
              <a:rPr sz="1300" b="1">
                <a:solidFill>
                  <a:srgbClr val="FFFFFF"/>
                </a:solidFill>
                <a:latin typeface="Arial"/>
              </a:rPr>
              <a:t>NgRx SignalStore</a:t>
            </a:r>
          </a:p>
        </p:txBody>
      </p:sp>
      <p:sp>
        <p:nvSpPr>
          <p:cNvPr id="41" name="Rounded Rectangle 40"/>
          <p:cNvSpPr/>
          <p:nvPr/>
        </p:nvSpPr>
        <p:spPr>
          <a:xfrm>
            <a:off x="4620767" y="7589520"/>
            <a:ext cx="1976628" cy="411480"/>
          </a:xfrm>
          <a:prstGeom prst="roundRect">
            <a:avLst>
              <a:gd name="adj" fmla="val 50000"/>
            </a:avLst>
          </a:prstGeom>
          <a:solidFill>
            <a:srgbClr val="0B4F6C"/>
          </a:solidFill>
          <a:ln>
            <a:noFill/>
          </a:ln>
          <a:effectLst/>
        </p:spPr>
        <p:txBody>
          <a:bodyPr rtlCol="0" anchor="ctr" lIns="0" rIns="0" tIns="0" bIns="0"/>
          <a:lstStyle/>
          <a:p>
            <a:pPr algn="ctr"/>
            <a:r>
              <a:rPr sz="1300" b="1">
                <a:solidFill>
                  <a:srgbClr val="FFFFFF"/>
                </a:solidFill>
                <a:latin typeface="Arial"/>
              </a:rPr>
              <a:t>SSR / hydratation</a:t>
            </a:r>
          </a:p>
        </p:txBody>
      </p:sp>
      <p:sp>
        <p:nvSpPr>
          <p:cNvPr id="42" name="Rounded Rectangle 41"/>
          <p:cNvSpPr/>
          <p:nvPr/>
        </p:nvSpPr>
        <p:spPr>
          <a:xfrm>
            <a:off x="6734555" y="7589520"/>
            <a:ext cx="688848" cy="411480"/>
          </a:xfrm>
          <a:prstGeom prst="roundRect">
            <a:avLst>
              <a:gd name="adj" fmla="val 50000"/>
            </a:avLst>
          </a:prstGeom>
          <a:solidFill>
            <a:srgbClr val="0B4F6C"/>
          </a:solidFill>
          <a:ln>
            <a:noFill/>
          </a:ln>
          <a:effectLst/>
        </p:spPr>
        <p:txBody>
          <a:bodyPr rtlCol="0" anchor="ctr" lIns="0" rIns="0" tIns="0" bIns="0"/>
          <a:lstStyle/>
          <a:p>
            <a:pPr algn="ctr"/>
            <a:r>
              <a:rPr sz="1300" b="1">
                <a:solidFill>
                  <a:srgbClr val="FFFFFF"/>
                </a:solidFill>
                <a:latin typeface="Arial"/>
              </a:rPr>
              <a:t>i18n</a:t>
            </a:r>
          </a:p>
        </p:txBody>
      </p:sp>
      <p:sp>
        <p:nvSpPr>
          <p:cNvPr id="43" name="Rounded Rectangle 42"/>
          <p:cNvSpPr/>
          <p:nvPr/>
        </p:nvSpPr>
        <p:spPr>
          <a:xfrm>
            <a:off x="7560563" y="7589520"/>
            <a:ext cx="1184148" cy="411480"/>
          </a:xfrm>
          <a:prstGeom prst="roundRect">
            <a:avLst>
              <a:gd name="adj" fmla="val 50000"/>
            </a:avLst>
          </a:prstGeom>
          <a:solidFill>
            <a:srgbClr val="0B4F6C"/>
          </a:solidFill>
          <a:ln>
            <a:noFill/>
          </a:ln>
          <a:effectLst/>
        </p:spPr>
        <p:txBody>
          <a:bodyPr rtlCol="0" anchor="ctr" lIns="0" rIns="0" tIns="0" bIns="0"/>
          <a:lstStyle/>
          <a:p>
            <a:pPr algn="ctr"/>
            <a:r>
              <a:rPr sz="1300" b="1">
                <a:solidFill>
                  <a:srgbClr val="FFFFFF"/>
                </a:solidFill>
                <a:latin typeface="Arial"/>
              </a:rPr>
              <a:t>E2E en CI</a:t>
            </a:r>
          </a:p>
        </p:txBody>
      </p:sp>
      <p:sp>
        <p:nvSpPr>
          <p:cNvPr id="44" name="Rounded Rectangle 43"/>
          <p:cNvSpPr/>
          <p:nvPr/>
        </p:nvSpPr>
        <p:spPr>
          <a:xfrm>
            <a:off x="2606040" y="8275320"/>
            <a:ext cx="14584680" cy="914400"/>
          </a:xfrm>
          <a:prstGeom prst="roundRect">
            <a:avLst>
              <a:gd name="adj" fmla="val 8000"/>
            </a:avLst>
          </a:prstGeom>
          <a:solidFill>
            <a:srgbClr val="EBF6F8"/>
          </a:solidFill>
          <a:ln>
            <a:noFill/>
          </a:ln>
          <a:effectLst/>
        </p:spPr>
        <p:txBody>
          <a:bodyPr rtlCol="0" anchor="ctr"/>
          <a:lstStyle/>
          <a:p>
            <a:pPr algn="ctr"/>
          </a:p>
        </p:txBody>
      </p:sp>
      <p:sp>
        <p:nvSpPr>
          <p:cNvPr id="45" name="Rectangle 44"/>
          <p:cNvSpPr/>
          <p:nvPr/>
        </p:nvSpPr>
        <p:spPr>
          <a:xfrm>
            <a:off x="2606040" y="8275320"/>
            <a:ext cx="64008" cy="914400"/>
          </a:xfrm>
          <a:prstGeom prst="rect">
            <a:avLst/>
          </a:prstGeom>
          <a:solidFill>
            <a:srgbClr val="0B4F6C"/>
          </a:solidFill>
          <a:ln>
            <a:noFill/>
          </a:ln>
          <a:effectLst/>
        </p:spPr>
        <p:txBody>
          <a:bodyPr rtlCol="0" anchor="ctr"/>
          <a:lstStyle/>
          <a:p>
            <a:pPr algn="ctr"/>
          </a:p>
        </p:txBody>
      </p:sp>
      <p:sp>
        <p:nvSpPr>
          <p:cNvPr id="46" name="TextBox 45"/>
          <p:cNvSpPr txBox="1"/>
          <p:nvPr/>
        </p:nvSpPr>
        <p:spPr>
          <a:xfrm>
            <a:off x="2898648" y="8439912"/>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LE PROCHAIN PAS</a:t>
            </a:r>
          </a:p>
        </p:txBody>
      </p:sp>
      <p:sp>
        <p:nvSpPr>
          <p:cNvPr id="47" name="TextBox 46"/>
          <p:cNvSpPr txBox="1"/>
          <p:nvPr/>
        </p:nvSpPr>
        <p:spPr>
          <a:xfrm>
            <a:off x="2898648" y="8732520"/>
            <a:ext cx="14173200" cy="347472"/>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Refaire le parcours sans le support, puis ajouter une fonctionnalité qui n'était pas dans le TP. C'est là que l'apprentissage se fixe.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3  ·  QUIZ</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Trois questions pour vérifier les réflexes</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À faire seul ou en binôme ; les corrigés sont en annexe.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55 / 62</a:t>
            </a:r>
          </a:p>
        </p:txBody>
      </p:sp>
      <p:sp>
        <p:nvSpPr>
          <p:cNvPr id="9" name="Rounded Rectangle 8"/>
          <p:cNvSpPr/>
          <p:nvPr/>
        </p:nvSpPr>
        <p:spPr>
          <a:xfrm>
            <a:off x="2606040" y="3200400"/>
            <a:ext cx="4572000" cy="448056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0" name="Rectangle 9"/>
          <p:cNvSpPr/>
          <p:nvPr/>
        </p:nvSpPr>
        <p:spPr>
          <a:xfrm>
            <a:off x="2606040" y="3200400"/>
            <a:ext cx="4572000" cy="50292"/>
          </a:xfrm>
          <a:prstGeom prst="rect">
            <a:avLst/>
          </a:prstGeom>
          <a:solidFill>
            <a:srgbClr val="ED1548"/>
          </a:solidFill>
          <a:ln>
            <a:noFill/>
          </a:ln>
          <a:effectLst/>
        </p:spPr>
        <p:txBody>
          <a:bodyPr rtlCol="0" anchor="ctr"/>
          <a:lstStyle/>
          <a:p>
            <a:pPr algn="ctr"/>
          </a:p>
        </p:txBody>
      </p:sp>
      <p:sp>
        <p:nvSpPr>
          <p:cNvPr id="11" name="TextBox 10"/>
          <p:cNvSpPr txBox="1"/>
          <p:nvPr/>
        </p:nvSpPr>
        <p:spPr>
          <a:xfrm>
            <a:off x="2926080" y="3429000"/>
            <a:ext cx="1371600" cy="731520"/>
          </a:xfrm>
          <a:prstGeom prst="rect">
            <a:avLst/>
          </a:prstGeom>
          <a:noFill/>
        </p:spPr>
        <p:txBody>
          <a:bodyPr wrap="square" lIns="0" rIns="0" tIns="0" bIns="0" anchor="t">
            <a:noAutofit/>
          </a:bodyPr>
          <a:lstStyle/>
          <a:p>
            <a:pPr algn="l">
              <a:lnSpc>
                <a:spcPct val="102000"/>
              </a:lnSpc>
              <a:spcBef>
                <a:spcPts val="0"/>
              </a:spcBef>
              <a:spcAft>
                <a:spcPts val="0"/>
              </a:spcAft>
            </a:pPr>
            <a:r>
              <a:rPr b="1" sz="4600" i="0">
                <a:solidFill>
                  <a:srgbClr val="ED1548"/>
                </a:solidFill>
                <a:latin typeface="Arial"/>
              </a:rPr>
              <a:t>01</a:t>
            </a:r>
          </a:p>
        </p:txBody>
      </p:sp>
      <p:sp>
        <p:nvSpPr>
          <p:cNvPr id="12" name="TextBox 11"/>
          <p:cNvSpPr txBox="1"/>
          <p:nvPr/>
        </p:nvSpPr>
        <p:spPr>
          <a:xfrm>
            <a:off x="2926080" y="4297680"/>
            <a:ext cx="3931920" cy="1828800"/>
          </a:xfrm>
          <a:prstGeom prst="rect">
            <a:avLst/>
          </a:prstGeom>
          <a:noFill/>
        </p:spPr>
        <p:txBody>
          <a:bodyPr wrap="square" lIns="0" rIns="0" tIns="0" bIns="0" anchor="t">
            <a:noAutofit/>
          </a:bodyPr>
          <a:lstStyle/>
          <a:p>
            <a:pPr algn="l">
              <a:lnSpc>
                <a:spcPct val="108000"/>
              </a:lnSpc>
              <a:spcBef>
                <a:spcPts val="0"/>
              </a:spcBef>
              <a:spcAft>
                <a:spcPts val="0"/>
              </a:spcAft>
            </a:pPr>
            <a:r>
              <a:rPr b="1" sz="1950" i="0">
                <a:solidFill>
                  <a:srgbClr val="093544"/>
                </a:solidFill>
                <a:latin typeface="Arial"/>
              </a:rPr>
              <a:t>Pourquoi tester </a:t>
            </a:r>
            <a:r>
              <a:rPr sz="1755" b="1" i="0">
                <a:solidFill>
                  <a:srgbClr val="ED1548"/>
                </a:solidFill>
                <a:latin typeface="Consolas"/>
              </a:rPr>
              <a:t>score()</a:t>
            </a:r>
            <a:r>
              <a:rPr b="1" sz="1950" i="0">
                <a:solidFill>
                  <a:srgbClr val="093544"/>
                </a:solidFill>
                <a:latin typeface="Arial"/>
              </a:rPr>
              <a:t> en test pur plutôt qu'en test de composant ?</a:t>
            </a:r>
          </a:p>
        </p:txBody>
      </p:sp>
      <p:sp>
        <p:nvSpPr>
          <p:cNvPr id="13" name="TextBox 12"/>
          <p:cNvSpPr txBox="1"/>
          <p:nvPr/>
        </p:nvSpPr>
        <p:spPr>
          <a:xfrm>
            <a:off x="2926080" y="6492240"/>
            <a:ext cx="3931920" cy="731520"/>
          </a:xfrm>
          <a:prstGeom prst="rect">
            <a:avLst/>
          </a:prstGeom>
          <a:noFill/>
        </p:spPr>
        <p:txBody>
          <a:bodyPr wrap="square" lIns="0" rIns="0" tIns="0" bIns="0" anchor="t">
            <a:noAutofit/>
          </a:bodyPr>
          <a:lstStyle/>
          <a:p>
            <a:pPr algn="l">
              <a:lnSpc>
                <a:spcPct val="102000"/>
              </a:lnSpc>
              <a:spcBef>
                <a:spcPts val="0"/>
              </a:spcBef>
              <a:spcAft>
                <a:spcPts val="0"/>
              </a:spcAft>
            </a:pPr>
            <a:r>
              <a:rPr b="0" sz="1350" i="0">
                <a:solidFill>
                  <a:srgbClr val="5C6E76"/>
                </a:solidFill>
                <a:latin typeface="Arial"/>
              </a:rPr>
              <a:t>Pensez vitesse et cas limites.</a:t>
            </a:r>
          </a:p>
        </p:txBody>
      </p:sp>
      <p:sp>
        <p:nvSpPr>
          <p:cNvPr id="14" name="Rounded Rectangle 13"/>
          <p:cNvSpPr/>
          <p:nvPr/>
        </p:nvSpPr>
        <p:spPr>
          <a:xfrm>
            <a:off x="7680960" y="3200400"/>
            <a:ext cx="4572000" cy="448056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5" name="Rectangle 14"/>
          <p:cNvSpPr/>
          <p:nvPr/>
        </p:nvSpPr>
        <p:spPr>
          <a:xfrm>
            <a:off x="7680960" y="3200400"/>
            <a:ext cx="4572000" cy="50292"/>
          </a:xfrm>
          <a:prstGeom prst="rect">
            <a:avLst/>
          </a:prstGeom>
          <a:solidFill>
            <a:srgbClr val="ED1548"/>
          </a:solidFill>
          <a:ln>
            <a:noFill/>
          </a:ln>
          <a:effectLst/>
        </p:spPr>
        <p:txBody>
          <a:bodyPr rtlCol="0" anchor="ctr"/>
          <a:lstStyle/>
          <a:p>
            <a:pPr algn="ctr"/>
          </a:p>
        </p:txBody>
      </p:sp>
      <p:sp>
        <p:nvSpPr>
          <p:cNvPr id="16" name="TextBox 15"/>
          <p:cNvSpPr txBox="1"/>
          <p:nvPr/>
        </p:nvSpPr>
        <p:spPr>
          <a:xfrm>
            <a:off x="8001000" y="3429000"/>
            <a:ext cx="1371600" cy="731520"/>
          </a:xfrm>
          <a:prstGeom prst="rect">
            <a:avLst/>
          </a:prstGeom>
          <a:noFill/>
        </p:spPr>
        <p:txBody>
          <a:bodyPr wrap="square" lIns="0" rIns="0" tIns="0" bIns="0" anchor="t">
            <a:noAutofit/>
          </a:bodyPr>
          <a:lstStyle/>
          <a:p>
            <a:pPr algn="l">
              <a:lnSpc>
                <a:spcPct val="102000"/>
              </a:lnSpc>
              <a:spcBef>
                <a:spcPts val="0"/>
              </a:spcBef>
              <a:spcAft>
                <a:spcPts val="0"/>
              </a:spcAft>
            </a:pPr>
            <a:r>
              <a:rPr b="1" sz="4600" i="0">
                <a:solidFill>
                  <a:srgbClr val="ED1548"/>
                </a:solidFill>
                <a:latin typeface="Arial"/>
              </a:rPr>
              <a:t>02</a:t>
            </a:r>
          </a:p>
        </p:txBody>
      </p:sp>
      <p:sp>
        <p:nvSpPr>
          <p:cNvPr id="17" name="TextBox 16"/>
          <p:cNvSpPr txBox="1"/>
          <p:nvPr/>
        </p:nvSpPr>
        <p:spPr>
          <a:xfrm>
            <a:off x="8001000" y="4297680"/>
            <a:ext cx="3931920" cy="1828800"/>
          </a:xfrm>
          <a:prstGeom prst="rect">
            <a:avLst/>
          </a:prstGeom>
          <a:noFill/>
        </p:spPr>
        <p:txBody>
          <a:bodyPr wrap="square" lIns="0" rIns="0" tIns="0" bIns="0" anchor="t">
            <a:noAutofit/>
          </a:bodyPr>
          <a:lstStyle/>
          <a:p>
            <a:pPr algn="l">
              <a:lnSpc>
                <a:spcPct val="108000"/>
              </a:lnSpc>
              <a:spcBef>
                <a:spcPts val="0"/>
              </a:spcBef>
              <a:spcAft>
                <a:spcPts val="0"/>
              </a:spcAft>
            </a:pPr>
            <a:r>
              <a:rPr b="1" sz="1950" i="0">
                <a:solidFill>
                  <a:srgbClr val="093544"/>
                </a:solidFill>
                <a:latin typeface="Arial"/>
              </a:rPr>
              <a:t>Que faire si le deuxième PATCH échoue ?</a:t>
            </a:r>
          </a:p>
        </p:txBody>
      </p:sp>
      <p:sp>
        <p:nvSpPr>
          <p:cNvPr id="18" name="TextBox 17"/>
          <p:cNvSpPr txBox="1"/>
          <p:nvPr/>
        </p:nvSpPr>
        <p:spPr>
          <a:xfrm>
            <a:off x="8001000" y="6492240"/>
            <a:ext cx="3931920" cy="731520"/>
          </a:xfrm>
          <a:prstGeom prst="rect">
            <a:avLst/>
          </a:prstGeom>
          <a:noFill/>
        </p:spPr>
        <p:txBody>
          <a:bodyPr wrap="square" lIns="0" rIns="0" tIns="0" bIns="0" anchor="t">
            <a:noAutofit/>
          </a:bodyPr>
          <a:lstStyle/>
          <a:p>
            <a:pPr algn="l">
              <a:lnSpc>
                <a:spcPct val="102000"/>
              </a:lnSpc>
              <a:spcBef>
                <a:spcPts val="0"/>
              </a:spcBef>
              <a:spcAft>
                <a:spcPts val="0"/>
              </a:spcAft>
            </a:pPr>
            <a:r>
              <a:rPr b="0" sz="1350" i="0">
                <a:solidFill>
                  <a:srgbClr val="5C6E76"/>
                </a:solidFill>
                <a:latin typeface="Arial"/>
              </a:rPr>
              <a:t>Pensez transaction et reprise.</a:t>
            </a:r>
          </a:p>
        </p:txBody>
      </p:sp>
      <p:sp>
        <p:nvSpPr>
          <p:cNvPr id="19" name="Rounded Rectangle 18"/>
          <p:cNvSpPr/>
          <p:nvPr/>
        </p:nvSpPr>
        <p:spPr>
          <a:xfrm>
            <a:off x="12755880" y="3200400"/>
            <a:ext cx="4434840" cy="448056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0" name="Rectangle 19"/>
          <p:cNvSpPr/>
          <p:nvPr/>
        </p:nvSpPr>
        <p:spPr>
          <a:xfrm>
            <a:off x="12755880" y="3200400"/>
            <a:ext cx="4434840" cy="50292"/>
          </a:xfrm>
          <a:prstGeom prst="rect">
            <a:avLst/>
          </a:prstGeom>
          <a:solidFill>
            <a:srgbClr val="ED1548"/>
          </a:solidFill>
          <a:ln>
            <a:noFill/>
          </a:ln>
          <a:effectLst/>
        </p:spPr>
        <p:txBody>
          <a:bodyPr rtlCol="0" anchor="ctr"/>
          <a:lstStyle/>
          <a:p>
            <a:pPr algn="ctr"/>
          </a:p>
        </p:txBody>
      </p:sp>
      <p:sp>
        <p:nvSpPr>
          <p:cNvPr id="21" name="TextBox 20"/>
          <p:cNvSpPr txBox="1"/>
          <p:nvPr/>
        </p:nvSpPr>
        <p:spPr>
          <a:xfrm>
            <a:off x="13075919" y="3429000"/>
            <a:ext cx="1371600" cy="731520"/>
          </a:xfrm>
          <a:prstGeom prst="rect">
            <a:avLst/>
          </a:prstGeom>
          <a:noFill/>
        </p:spPr>
        <p:txBody>
          <a:bodyPr wrap="square" lIns="0" rIns="0" tIns="0" bIns="0" anchor="t">
            <a:noAutofit/>
          </a:bodyPr>
          <a:lstStyle/>
          <a:p>
            <a:pPr algn="l">
              <a:lnSpc>
                <a:spcPct val="102000"/>
              </a:lnSpc>
              <a:spcBef>
                <a:spcPts val="0"/>
              </a:spcBef>
              <a:spcAft>
                <a:spcPts val="0"/>
              </a:spcAft>
            </a:pPr>
            <a:r>
              <a:rPr b="1" sz="4600" i="0">
                <a:solidFill>
                  <a:srgbClr val="ED1548"/>
                </a:solidFill>
                <a:latin typeface="Arial"/>
              </a:rPr>
              <a:t>03</a:t>
            </a:r>
          </a:p>
        </p:txBody>
      </p:sp>
      <p:sp>
        <p:nvSpPr>
          <p:cNvPr id="22" name="TextBox 21"/>
          <p:cNvSpPr txBox="1"/>
          <p:nvPr/>
        </p:nvSpPr>
        <p:spPr>
          <a:xfrm>
            <a:off x="13075919" y="4297680"/>
            <a:ext cx="3931920" cy="1828800"/>
          </a:xfrm>
          <a:prstGeom prst="rect">
            <a:avLst/>
          </a:prstGeom>
          <a:noFill/>
        </p:spPr>
        <p:txBody>
          <a:bodyPr wrap="square" lIns="0" rIns="0" tIns="0" bIns="0" anchor="t">
            <a:noAutofit/>
          </a:bodyPr>
          <a:lstStyle/>
          <a:p>
            <a:pPr algn="l">
              <a:lnSpc>
                <a:spcPct val="108000"/>
              </a:lnSpc>
              <a:spcBef>
                <a:spcPts val="0"/>
              </a:spcBef>
              <a:spcAft>
                <a:spcPts val="0"/>
              </a:spcAft>
            </a:pPr>
            <a:r>
              <a:rPr b="1" sz="1950" i="0">
                <a:solidFill>
                  <a:srgbClr val="093544"/>
                </a:solidFill>
                <a:latin typeface="Arial"/>
              </a:rPr>
              <a:t>Quels parcours réserver à l'E2E ?</a:t>
            </a:r>
          </a:p>
        </p:txBody>
      </p:sp>
      <p:sp>
        <p:nvSpPr>
          <p:cNvPr id="23" name="TextBox 22"/>
          <p:cNvSpPr txBox="1"/>
          <p:nvPr/>
        </p:nvSpPr>
        <p:spPr>
          <a:xfrm>
            <a:off x="13075919" y="6492240"/>
            <a:ext cx="3931920" cy="731520"/>
          </a:xfrm>
          <a:prstGeom prst="rect">
            <a:avLst/>
          </a:prstGeom>
          <a:noFill/>
        </p:spPr>
        <p:txBody>
          <a:bodyPr wrap="square" lIns="0" rIns="0" tIns="0" bIns="0" anchor="t">
            <a:noAutofit/>
          </a:bodyPr>
          <a:lstStyle/>
          <a:p>
            <a:pPr algn="l">
              <a:lnSpc>
                <a:spcPct val="102000"/>
              </a:lnSpc>
              <a:spcBef>
                <a:spcPts val="0"/>
              </a:spcBef>
              <a:spcAft>
                <a:spcPts val="0"/>
              </a:spcAft>
            </a:pPr>
            <a:r>
              <a:rPr b="0" sz="1350" i="0">
                <a:solidFill>
                  <a:srgbClr val="5C6E76"/>
                </a:solidFill>
                <a:latin typeface="Arial"/>
              </a:rPr>
              <a:t>Pensez criticité et fragilité.</a:t>
            </a:r>
          </a:p>
        </p:txBody>
      </p:sp>
      <p:sp>
        <p:nvSpPr>
          <p:cNvPr id="24" name="Rounded Rectangle 23"/>
          <p:cNvSpPr/>
          <p:nvPr/>
        </p:nvSpPr>
        <p:spPr>
          <a:xfrm>
            <a:off x="2606040" y="7955279"/>
            <a:ext cx="14584680" cy="777240"/>
          </a:xfrm>
          <a:prstGeom prst="roundRect">
            <a:avLst>
              <a:gd name="adj" fmla="val 8000"/>
            </a:avLst>
          </a:prstGeom>
          <a:solidFill>
            <a:srgbClr val="EBF6F8"/>
          </a:solidFill>
          <a:ln>
            <a:noFill/>
          </a:ln>
          <a:effectLst/>
        </p:spPr>
        <p:txBody>
          <a:bodyPr rtlCol="0" anchor="ctr"/>
          <a:lstStyle/>
          <a:p>
            <a:pPr algn="ctr"/>
          </a:p>
        </p:txBody>
      </p:sp>
      <p:sp>
        <p:nvSpPr>
          <p:cNvPr id="25" name="Rectangle 24"/>
          <p:cNvSpPr/>
          <p:nvPr/>
        </p:nvSpPr>
        <p:spPr>
          <a:xfrm>
            <a:off x="2606040" y="7955279"/>
            <a:ext cx="64008" cy="777240"/>
          </a:xfrm>
          <a:prstGeom prst="rect">
            <a:avLst/>
          </a:prstGeom>
          <a:solidFill>
            <a:srgbClr val="0B4F6C"/>
          </a:solidFill>
          <a:ln>
            <a:noFill/>
          </a:ln>
          <a:effectLst/>
        </p:spPr>
        <p:txBody>
          <a:bodyPr rtlCol="0" anchor="ctr"/>
          <a:lstStyle/>
          <a:p>
            <a:pPr algn="ctr"/>
          </a:p>
        </p:txBody>
      </p:sp>
      <p:sp>
        <p:nvSpPr>
          <p:cNvPr id="26" name="TextBox 25"/>
          <p:cNvSpPr txBox="1"/>
          <p:nvPr/>
        </p:nvSpPr>
        <p:spPr>
          <a:xfrm>
            <a:off x="2898648" y="8119871"/>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CORRIGÉS</a:t>
            </a:r>
          </a:p>
        </p:txBody>
      </p:sp>
      <p:sp>
        <p:nvSpPr>
          <p:cNvPr id="27" name="TextBox 26"/>
          <p:cNvSpPr txBox="1"/>
          <p:nvPr/>
        </p:nvSpPr>
        <p:spPr>
          <a:xfrm>
            <a:off x="2898648" y="8412480"/>
            <a:ext cx="14173200" cy="210311"/>
          </a:xfrm>
          <a:prstGeom prst="rect">
            <a:avLst/>
          </a:prstGeom>
          <a:noFill/>
        </p:spPr>
        <p:txBody>
          <a:bodyPr wrap="square" lIns="0" rIns="0" tIns="0" bIns="0" anchor="t">
            <a:noAutofit/>
          </a:bodyPr>
          <a:lstStyle/>
          <a:p>
            <a:pPr algn="l">
              <a:lnSpc>
                <a:spcPct val="106000"/>
              </a:lnSpc>
              <a:spcBef>
                <a:spcPts val="0"/>
              </a:spcBef>
              <a:spcAft>
                <a:spcPts val="0"/>
              </a:spcAft>
            </a:pPr>
            <a:r>
              <a:rPr b="0" sz="1400" i="0">
                <a:solidFill>
                  <a:srgbClr val="1B3B47"/>
                </a:solidFill>
                <a:latin typeface="Arial"/>
              </a:rPr>
              <a:t>Les réponses commentées sont page 60.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JOUR 3  ·  À RETENIR</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Quatre réflexes, trois pièges</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Le jour 3 transforme une application en produit.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56 / 62</a:t>
            </a:r>
          </a:p>
        </p:txBody>
      </p:sp>
      <p:sp>
        <p:nvSpPr>
          <p:cNvPr id="9" name="Rounded Rectangle 8"/>
          <p:cNvSpPr/>
          <p:nvPr/>
        </p:nvSpPr>
        <p:spPr>
          <a:xfrm>
            <a:off x="2606040" y="3063240"/>
            <a:ext cx="7223760" cy="4160520"/>
          </a:xfrm>
          <a:prstGeom prst="roundRect">
            <a:avLst>
              <a:gd name="adj" fmla="val 8000"/>
            </a:avLst>
          </a:prstGeom>
          <a:solidFill>
            <a:srgbClr val="FFF0F4"/>
          </a:solidFill>
          <a:ln>
            <a:noFill/>
          </a:ln>
          <a:effectLst/>
        </p:spPr>
        <p:txBody>
          <a:bodyPr rtlCol="0" anchor="ctr"/>
          <a:lstStyle/>
          <a:p>
            <a:pPr algn="ctr"/>
          </a:p>
        </p:txBody>
      </p:sp>
      <p:sp>
        <p:nvSpPr>
          <p:cNvPr id="10" name="Rectangle 9"/>
          <p:cNvSpPr/>
          <p:nvPr/>
        </p:nvSpPr>
        <p:spPr>
          <a:xfrm>
            <a:off x="2606040" y="3063240"/>
            <a:ext cx="64008" cy="4160520"/>
          </a:xfrm>
          <a:prstGeom prst="rect">
            <a:avLst/>
          </a:prstGeom>
          <a:solidFill>
            <a:srgbClr val="ED1548"/>
          </a:solidFill>
          <a:ln>
            <a:noFill/>
          </a:ln>
          <a:effectLst/>
        </p:spPr>
        <p:txBody>
          <a:bodyPr rtlCol="0" anchor="ctr"/>
          <a:lstStyle/>
          <a:p>
            <a:pPr algn="ctr"/>
          </a:p>
        </p:txBody>
      </p:sp>
      <p:sp>
        <p:nvSpPr>
          <p:cNvPr id="11" name="TextBox 10"/>
          <p:cNvSpPr txBox="1"/>
          <p:nvPr/>
        </p:nvSpPr>
        <p:spPr>
          <a:xfrm>
            <a:off x="2926080" y="3246120"/>
            <a:ext cx="6583680" cy="320040"/>
          </a:xfrm>
          <a:prstGeom prst="rect">
            <a:avLst/>
          </a:prstGeom>
          <a:noFill/>
        </p:spPr>
        <p:txBody>
          <a:bodyPr wrap="square" lIns="0" rIns="0" tIns="0" bIns="0" anchor="t">
            <a:noAutofit/>
          </a:bodyPr>
          <a:lstStyle/>
          <a:p>
            <a:pPr algn="l">
              <a:lnSpc>
                <a:spcPct val="102000"/>
              </a:lnSpc>
              <a:spcBef>
                <a:spcPts val="0"/>
              </a:spcBef>
              <a:spcAft>
                <a:spcPts val="0"/>
              </a:spcAft>
            </a:pPr>
            <a:r>
              <a:rPr b="1" sz="1300" i="0">
                <a:solidFill>
                  <a:srgbClr val="ED1548"/>
                </a:solidFill>
                <a:latin typeface="Arial"/>
              </a:rPr>
              <a:t>À RETENIR</a:t>
            </a:r>
          </a:p>
        </p:txBody>
      </p:sp>
      <p:sp>
        <p:nvSpPr>
          <p:cNvPr id="12" name="TextBox 11"/>
          <p:cNvSpPr txBox="1"/>
          <p:nvPr/>
        </p:nvSpPr>
        <p:spPr>
          <a:xfrm>
            <a:off x="2926080" y="3703320"/>
            <a:ext cx="6537960" cy="3383280"/>
          </a:xfrm>
          <a:prstGeom prst="rect">
            <a:avLst/>
          </a:prstGeom>
          <a:noFill/>
        </p:spPr>
        <p:txBody>
          <a:bodyPr wrap="square" lIns="0" rIns="0" tIns="0" bIns="0">
            <a:noAutofit/>
          </a:bodyPr>
          <a:lstStyle/>
          <a:p>
            <a:pPr marL="274320" indent="-274320">
              <a:lnSpc>
                <a:spcPct val="102000"/>
              </a:lnSpc>
              <a:spcBef>
                <a:spcPts val="0"/>
              </a:spcBef>
              <a:spcAft>
                <a:spcPts val="720"/>
              </a:spcAft>
              <a:buClr>
                <a:srgbClr val="ED1548"/>
              </a:buClr>
              <a:buFont typeface="Arial"/>
              <a:buChar char="•"/>
            </a:pPr>
            <a:r>
              <a:rPr b="0" sz="1700" i="0">
                <a:solidFill>
                  <a:srgbClr val="093544"/>
                </a:solidFill>
                <a:latin typeface="Arial"/>
              </a:rPr>
              <a:t>Un store = état + dérivés, pas de logique dans le template.</a:t>
            </a:r>
          </a:p>
          <a:p>
            <a:pPr marL="274320" indent="-274320">
              <a:lnSpc>
                <a:spcPct val="102000"/>
              </a:lnSpc>
              <a:spcBef>
                <a:spcPts val="0"/>
              </a:spcBef>
              <a:spcAft>
                <a:spcPts val="720"/>
              </a:spcAft>
              <a:buClr>
                <a:srgbClr val="ED1548"/>
              </a:buClr>
              <a:buFont typeface="Arial"/>
              <a:buChar char="•"/>
            </a:pPr>
            <a:r>
              <a:rPr b="0" sz="1700" i="0">
                <a:solidFill>
                  <a:srgbClr val="093544"/>
                </a:solidFill>
                <a:latin typeface="Arial"/>
              </a:rPr>
              <a:t>Le scoring est une fonction pure, donc testable.</a:t>
            </a:r>
          </a:p>
          <a:p>
            <a:pPr marL="274320" indent="-274320">
              <a:lnSpc>
                <a:spcPct val="102000"/>
              </a:lnSpc>
              <a:spcBef>
                <a:spcPts val="0"/>
              </a:spcBef>
              <a:spcAft>
                <a:spcPts val="720"/>
              </a:spcAft>
              <a:buClr>
                <a:srgbClr val="ED1548"/>
              </a:buClr>
              <a:buFont typeface="Arial"/>
              <a:buChar char="•"/>
            </a:pPr>
            <a:r>
              <a:rPr b="0" sz="1700" i="0">
                <a:solidFill>
                  <a:srgbClr val="093544"/>
                </a:solidFill>
                <a:latin typeface="Arial"/>
              </a:rPr>
              <a:t>Deux PATCH ne sont pas une transaction : gérer l'échec.</a:t>
            </a:r>
          </a:p>
          <a:p>
            <a:pPr marL="274320" indent="-274320">
              <a:lnSpc>
                <a:spcPct val="102000"/>
              </a:lnSpc>
              <a:spcBef>
                <a:spcPts val="0"/>
              </a:spcBef>
              <a:spcAft>
                <a:spcPts val="720"/>
              </a:spcAft>
              <a:buClr>
                <a:srgbClr val="ED1548"/>
              </a:buClr>
              <a:buFont typeface="Arial"/>
              <a:buChar char="•"/>
            </a:pPr>
            <a:r>
              <a:rPr b="0" sz="1700" i="0">
                <a:solidFill>
                  <a:srgbClr val="093544"/>
                </a:solidFill>
                <a:latin typeface="Arial"/>
              </a:rPr>
              <a:t>L'E2E se réserve aux parcours critiques.</a:t>
            </a:r>
          </a:p>
        </p:txBody>
      </p:sp>
      <p:sp>
        <p:nvSpPr>
          <p:cNvPr id="13" name="Rounded Rectangle 12"/>
          <p:cNvSpPr/>
          <p:nvPr/>
        </p:nvSpPr>
        <p:spPr>
          <a:xfrm>
            <a:off x="10058400" y="3063240"/>
            <a:ext cx="7132320" cy="4160520"/>
          </a:xfrm>
          <a:prstGeom prst="roundRect">
            <a:avLst>
              <a:gd name="adj" fmla="val 8000"/>
            </a:avLst>
          </a:prstGeom>
          <a:solidFill>
            <a:srgbClr val="FFF6E5"/>
          </a:solidFill>
          <a:ln>
            <a:noFill/>
          </a:ln>
          <a:effectLst/>
        </p:spPr>
        <p:txBody>
          <a:bodyPr rtlCol="0" anchor="ctr"/>
          <a:lstStyle/>
          <a:p>
            <a:pPr algn="ctr"/>
          </a:p>
        </p:txBody>
      </p:sp>
      <p:sp>
        <p:nvSpPr>
          <p:cNvPr id="14" name="Rectangle 13"/>
          <p:cNvSpPr/>
          <p:nvPr/>
        </p:nvSpPr>
        <p:spPr>
          <a:xfrm>
            <a:off x="10058400" y="3063240"/>
            <a:ext cx="64008" cy="4160520"/>
          </a:xfrm>
          <a:prstGeom prst="rect">
            <a:avLst/>
          </a:prstGeom>
          <a:solidFill>
            <a:srgbClr val="B26A00"/>
          </a:solidFill>
          <a:ln>
            <a:noFill/>
          </a:ln>
          <a:effectLst/>
        </p:spPr>
        <p:txBody>
          <a:bodyPr rtlCol="0" anchor="ctr"/>
          <a:lstStyle/>
          <a:p>
            <a:pPr algn="ctr"/>
          </a:p>
        </p:txBody>
      </p:sp>
      <p:sp>
        <p:nvSpPr>
          <p:cNvPr id="15" name="TextBox 14"/>
          <p:cNvSpPr txBox="1"/>
          <p:nvPr/>
        </p:nvSpPr>
        <p:spPr>
          <a:xfrm>
            <a:off x="10378440" y="3246120"/>
            <a:ext cx="6583680" cy="320040"/>
          </a:xfrm>
          <a:prstGeom prst="rect">
            <a:avLst/>
          </a:prstGeom>
          <a:noFill/>
        </p:spPr>
        <p:txBody>
          <a:bodyPr wrap="square" lIns="0" rIns="0" tIns="0" bIns="0" anchor="t">
            <a:noAutofit/>
          </a:bodyPr>
          <a:lstStyle/>
          <a:p>
            <a:pPr algn="l">
              <a:lnSpc>
                <a:spcPct val="102000"/>
              </a:lnSpc>
              <a:spcBef>
                <a:spcPts val="0"/>
              </a:spcBef>
              <a:spcAft>
                <a:spcPts val="0"/>
              </a:spcAft>
            </a:pPr>
            <a:r>
              <a:rPr b="1" sz="1300" i="0">
                <a:solidFill>
                  <a:srgbClr val="B26A00"/>
                </a:solidFill>
                <a:latin typeface="Arial"/>
              </a:rPr>
              <a:t>PIÈGES</a:t>
            </a:r>
          </a:p>
        </p:txBody>
      </p:sp>
      <p:sp>
        <p:nvSpPr>
          <p:cNvPr id="16" name="TextBox 15"/>
          <p:cNvSpPr txBox="1"/>
          <p:nvPr/>
        </p:nvSpPr>
        <p:spPr>
          <a:xfrm>
            <a:off x="10378440" y="3703320"/>
            <a:ext cx="6537960" cy="3383280"/>
          </a:xfrm>
          <a:prstGeom prst="rect">
            <a:avLst/>
          </a:prstGeom>
          <a:noFill/>
        </p:spPr>
        <p:txBody>
          <a:bodyPr wrap="square" lIns="0" rIns="0" tIns="0" bIns="0">
            <a:noAutofit/>
          </a:bodyPr>
          <a:lstStyle/>
          <a:p>
            <a:pPr marL="274320" indent="-274320">
              <a:lnSpc>
                <a:spcPct val="102000"/>
              </a:lnSpc>
              <a:spcBef>
                <a:spcPts val="0"/>
              </a:spcBef>
              <a:spcAft>
                <a:spcPts val="720"/>
              </a:spcAft>
              <a:buClr>
                <a:srgbClr val="B26A00"/>
              </a:buClr>
              <a:buFont typeface="Arial"/>
              <a:buChar char="•"/>
            </a:pPr>
            <a:r>
              <a:rPr b="0" sz="1700" i="0">
                <a:solidFill>
                  <a:srgbClr val="093544"/>
                </a:solidFill>
                <a:latin typeface="Arial"/>
              </a:rPr>
              <a:t>Mettre à jour le store avant la réussite des PATCH.</a:t>
            </a:r>
          </a:p>
          <a:p>
            <a:pPr marL="274320" indent="-274320">
              <a:lnSpc>
                <a:spcPct val="102000"/>
              </a:lnSpc>
              <a:spcBef>
                <a:spcPts val="0"/>
              </a:spcBef>
              <a:spcAft>
                <a:spcPts val="720"/>
              </a:spcAft>
              <a:buClr>
                <a:srgbClr val="B26A00"/>
              </a:buClr>
              <a:buFont typeface="Arial"/>
              <a:buChar char="•"/>
            </a:pPr>
            <a:r>
              <a:rPr b="0" sz="1700" i="0">
                <a:solidFill>
                  <a:srgbClr val="093544"/>
                </a:solidFill>
                <a:latin typeface="Arial"/>
              </a:rPr>
              <a:t>Tester l'implémentation plutôt que le comportement.</a:t>
            </a:r>
          </a:p>
          <a:p>
            <a:pPr marL="274320" indent="-274320">
              <a:lnSpc>
                <a:spcPct val="102000"/>
              </a:lnSpc>
              <a:spcBef>
                <a:spcPts val="0"/>
              </a:spcBef>
              <a:spcAft>
                <a:spcPts val="720"/>
              </a:spcAft>
              <a:buClr>
                <a:srgbClr val="B26A00"/>
              </a:buClr>
              <a:buFont typeface="Arial"/>
              <a:buChar char="•"/>
            </a:pPr>
            <a:r>
              <a:rPr b="0" sz="1700" i="0">
                <a:solidFill>
                  <a:srgbClr val="093544"/>
                </a:solidFill>
                <a:latin typeface="Arial"/>
              </a:rPr>
              <a:t>Optimiser sans mesurer (OnPush est déjà le défaut).</a:t>
            </a:r>
          </a:p>
          <a:p>
            <a:pPr marL="274320" indent="-274320">
              <a:lnSpc>
                <a:spcPct val="102000"/>
              </a:lnSpc>
              <a:spcBef>
                <a:spcPts val="0"/>
              </a:spcBef>
              <a:spcAft>
                <a:spcPts val="720"/>
              </a:spcAft>
              <a:buClr>
                <a:srgbClr val="B26A00"/>
              </a:buClr>
              <a:buFont typeface="Arial"/>
              <a:buChar char="•"/>
            </a:pPr>
            <a:r>
              <a:rPr b="0" sz="1700" i="0">
                <a:solidFill>
                  <a:srgbClr val="093544"/>
                </a:solidFill>
                <a:latin typeface="Arial"/>
              </a:rPr>
              <a:t>Oublier de restaurer </a:t>
            </a:r>
            <a:r>
              <a:rPr sz="1530" b="0" i="0">
                <a:solidFill>
                  <a:srgbClr val="ED1548"/>
                </a:solidFill>
                <a:latin typeface="Consolas"/>
              </a:rPr>
              <a:t>db.json</a:t>
            </a:r>
            <a:r>
              <a:rPr b="0" sz="1700" i="0">
                <a:solidFill>
                  <a:srgbClr val="093544"/>
                </a:solidFill>
                <a:latin typeface="Arial"/>
              </a:rPr>
              <a:t> entre deux runs E2E.</a:t>
            </a:r>
          </a:p>
        </p:txBody>
      </p:sp>
      <p:sp>
        <p:nvSpPr>
          <p:cNvPr id="17" name="Rounded Rectangle 16"/>
          <p:cNvSpPr/>
          <p:nvPr/>
        </p:nvSpPr>
        <p:spPr>
          <a:xfrm>
            <a:off x="2606040" y="7498079"/>
            <a:ext cx="14584680" cy="128016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8" name="Oval 17"/>
          <p:cNvSpPr/>
          <p:nvPr/>
        </p:nvSpPr>
        <p:spPr>
          <a:xfrm>
            <a:off x="2825496" y="7671815"/>
            <a:ext cx="82296" cy="82296"/>
          </a:xfrm>
          <a:prstGeom prst="ellipse">
            <a:avLst/>
          </a:prstGeom>
          <a:solidFill>
            <a:srgbClr val="ED1548"/>
          </a:solidFill>
          <a:ln>
            <a:noFill/>
          </a:ln>
          <a:effectLst/>
        </p:spPr>
        <p:txBody>
          <a:bodyPr rtlCol="0" anchor="ctr"/>
          <a:lstStyle/>
          <a:p>
            <a:pPr algn="ctr"/>
          </a:p>
        </p:txBody>
      </p:sp>
      <p:sp>
        <p:nvSpPr>
          <p:cNvPr id="19" name="TextBox 18"/>
          <p:cNvSpPr txBox="1"/>
          <p:nvPr/>
        </p:nvSpPr>
        <p:spPr>
          <a:xfrm>
            <a:off x="2990088" y="7607807"/>
            <a:ext cx="1408176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les commandes du jour</a:t>
            </a:r>
          </a:p>
        </p:txBody>
      </p:sp>
      <p:sp>
        <p:nvSpPr>
          <p:cNvPr id="20" name="TextBox 19"/>
          <p:cNvSpPr txBox="1"/>
          <p:nvPr/>
        </p:nvSpPr>
        <p:spPr>
          <a:xfrm>
            <a:off x="2852928" y="7973567"/>
            <a:ext cx="14264640" cy="640080"/>
          </a:xfrm>
          <a:prstGeom prst="rect">
            <a:avLst/>
          </a:prstGeom>
          <a:noFill/>
        </p:spPr>
        <p:txBody>
          <a:bodyPr wrap="none" lIns="0" rIns="0" tIns="0" bIns="0">
            <a:noAutofit/>
          </a:bodyPr>
          <a:lstStyle/>
          <a:p>
            <a:pPr>
              <a:lnSpc>
                <a:spcPct val="100000"/>
              </a:lnSpc>
              <a:spcBef>
                <a:spcPts val="0"/>
              </a:spcBef>
              <a:spcAft>
                <a:spcPts val="0"/>
              </a:spcAft>
            </a:pPr>
            <a:r>
              <a:rPr sz="1250">
                <a:solidFill>
                  <a:srgbClr val="EAF2F4"/>
                </a:solidFill>
                <a:latin typeface="Consolas"/>
              </a:rPr>
              <a:t>ng test --no-watch --coverage</a:t>
            </a:r>
          </a:p>
          <a:p>
            <a:pPr>
              <a:lnSpc>
                <a:spcPct val="100000"/>
              </a:lnSpc>
              <a:spcBef>
                <a:spcPts val="0"/>
              </a:spcBef>
              <a:spcAft>
                <a:spcPts val="0"/>
              </a:spcAft>
            </a:pPr>
            <a:r>
              <a:rPr sz="1250">
                <a:solidFill>
                  <a:srgbClr val="EAF2F4"/>
                </a:solidFill>
                <a:latin typeface="Consolas"/>
              </a:rPr>
              <a:t>ng build</a:t>
            </a:r>
          </a:p>
          <a:p>
            <a:pPr>
              <a:lnSpc>
                <a:spcPct val="100000"/>
              </a:lnSpc>
              <a:spcBef>
                <a:spcPts val="0"/>
              </a:spcBef>
              <a:spcAft>
                <a:spcPts val="0"/>
              </a:spcAft>
            </a:pPr>
            <a:r>
              <a:rPr sz="1250">
                <a:solidFill>
                  <a:srgbClr val="EAF2F4"/>
                </a:solidFill>
                <a:latin typeface="Consolas"/>
              </a:rPr>
              <a:t>npx </a:t>
            </a:r>
            <a:r>
              <a:rPr sz="1250">
                <a:solidFill>
                  <a:srgbClr val="FFD166"/>
                </a:solidFill>
                <a:latin typeface="Consolas"/>
              </a:rPr>
              <a:t>@compodoc</a:t>
            </a:r>
            <a:r>
              <a:rPr sz="1250">
                <a:solidFill>
                  <a:srgbClr val="EAF2F4"/>
                </a:solidFill>
                <a:latin typeface="Consolas"/>
              </a:rPr>
              <a:t>/compodoc -p tsconfig.json -s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MÉMO  ·  CLI</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Les commandes à garder sous la main</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sz="1800" b="0" i="0">
                <a:solidFill>
                  <a:srgbClr val="ED1548"/>
                </a:solidFill>
                <a:latin typeface="Consolas"/>
              </a:rPr>
              <a:t>ng g</a:t>
            </a:r>
            <a:r>
              <a:rPr b="0" sz="2000" i="0">
                <a:solidFill>
                  <a:srgbClr val="5C6E76"/>
                </a:solidFill>
                <a:latin typeface="Arial"/>
              </a:rPr>
              <a:t> = </a:t>
            </a:r>
            <a:r>
              <a:rPr sz="1800" b="0" i="0">
                <a:solidFill>
                  <a:srgbClr val="ED1548"/>
                </a:solidFill>
                <a:latin typeface="Consolas"/>
              </a:rPr>
              <a:t>ng generate</a:t>
            </a:r>
            <a:r>
              <a:rPr b="0" sz="2000" i="0">
                <a:solidFill>
                  <a:srgbClr val="5C6E76"/>
                </a:solidFill>
                <a:latin typeface="Arial"/>
              </a:rPr>
              <a:t> · </a:t>
            </a:r>
            <a:r>
              <a:rPr sz="1800" b="0" i="0">
                <a:solidFill>
                  <a:srgbClr val="ED1548"/>
                </a:solidFill>
                <a:latin typeface="Consolas"/>
              </a:rPr>
              <a:t>ng t</a:t>
            </a:r>
            <a:r>
              <a:rPr b="0" sz="2000" i="0">
                <a:solidFill>
                  <a:srgbClr val="5C6E76"/>
                </a:solidFill>
                <a:latin typeface="Arial"/>
              </a:rPr>
              <a:t> = </a:t>
            </a:r>
            <a:r>
              <a:rPr sz="1800" b="0" i="0">
                <a:solidFill>
                  <a:srgbClr val="ED1548"/>
                </a:solidFill>
                <a:latin typeface="Consolas"/>
              </a:rPr>
              <a:t>ng test</a:t>
            </a:r>
            <a:r>
              <a:rPr b="0" sz="2000" i="0">
                <a:solidFill>
                  <a:srgbClr val="5C6E76"/>
                </a:solidFill>
                <a:latin typeface="Arial"/>
              </a:rPr>
              <a:t> · </a:t>
            </a:r>
            <a:r>
              <a:rPr sz="1800" b="0" i="0">
                <a:solidFill>
                  <a:srgbClr val="ED1548"/>
                </a:solidFill>
                <a:latin typeface="Consolas"/>
              </a:rPr>
              <a:t>ng s</a:t>
            </a:r>
            <a:r>
              <a:rPr b="0" sz="2000" i="0">
                <a:solidFill>
                  <a:srgbClr val="5C6E76"/>
                </a:solidFill>
                <a:latin typeface="Arial"/>
              </a:rPr>
              <a:t> = </a:t>
            </a:r>
            <a:r>
              <a:rPr sz="1800" b="0" i="0">
                <a:solidFill>
                  <a:srgbClr val="ED1548"/>
                </a:solidFill>
                <a:latin typeface="Consolas"/>
              </a:rPr>
              <a:t>ng serve</a:t>
            </a:r>
            <a:r>
              <a:rPr b="0" sz="2000" i="0">
                <a:solidFill>
                  <a:srgbClr val="5C6E76"/>
                </a:solidFill>
                <a:latin typeface="Arial"/>
              </a:rPr>
              <a: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57 / 62</a:t>
            </a:r>
          </a:p>
        </p:txBody>
      </p:sp>
      <p:graphicFrame>
        <p:nvGraphicFramePr>
          <p:cNvPr id="9" name="Table 8"/>
          <p:cNvGraphicFramePr>
            <a:graphicFrameLocks noGrp="1"/>
          </p:cNvGraphicFramePr>
          <p:nvPr/>
        </p:nvGraphicFramePr>
        <p:xfrm>
          <a:off x="2606040" y="3063240"/>
          <a:ext cx="14584679" cy="5440680"/>
        </p:xfrm>
        <a:graphic>
          <a:graphicData uri="http://schemas.openxmlformats.org/drawingml/2006/table">
            <a:tbl>
              <a:tblPr>
                <a:tableStyleId>{5C22544A-7EE6-4342-B048-85BDC9FD1C3A}</a:tableStyleId>
              </a:tblPr>
              <a:tblGrid>
                <a:gridCol w="6612929"/>
                <a:gridCol w="7971750"/>
              </a:tblGrid>
              <a:tr h="411480">
                <a:tc>
                  <a:txBody>
                    <a:bodyPr wrap="square"/>
                    <a:lstStyle/>
                    <a:p>
                      <a:pPr algn="l">
                        <a:lnSpc>
                          <a:spcPct val="100000"/>
                        </a:lnSpc>
                      </a:pPr>
                      <a:r>
                        <a:rPr b="1" sz="1300" i="0">
                          <a:solidFill>
                            <a:srgbClr val="FFFFFF"/>
                          </a:solidFill>
                          <a:latin typeface="Arial"/>
                        </a:rPr>
                        <a:t>Commande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300" i="0">
                          <a:solidFill>
                            <a:srgbClr val="FFFFFF"/>
                          </a:solidFill>
                          <a:latin typeface="Arial"/>
                        </a:rPr>
                        <a:t>À quoi ça sert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r>
              <a:tr h="457200">
                <a:tc>
                  <a:txBody>
                    <a:bodyPr wrap="square"/>
                    <a:lstStyle/>
                    <a:p>
                      <a:pPr algn="l">
                        <a:lnSpc>
                          <a:spcPct val="100000"/>
                        </a:lnSpc>
                      </a:pPr>
                      <a:r>
                        <a:rPr sz="1215" b="0" i="0">
                          <a:solidFill>
                            <a:srgbClr val="ED1548"/>
                          </a:solidFill>
                          <a:latin typeface="Consolas"/>
                        </a:rPr>
                        <a:t>ng new mon-app --style=scss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350" i="0">
                          <a:solidFill>
                            <a:srgbClr val="1B3B47"/>
                          </a:solidFill>
                          <a:latin typeface="Arial"/>
                        </a:rPr>
                        <a:t>Créer un workspace standalone, zoneless, OnPush</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457200">
                <a:tc>
                  <a:txBody>
                    <a:bodyPr wrap="square"/>
                    <a:lstStyle/>
                    <a:p>
                      <a:pPr algn="l">
                        <a:lnSpc>
                          <a:spcPct val="100000"/>
                        </a:lnSpc>
                      </a:pPr>
                      <a:r>
                        <a:rPr sz="1215" b="0" i="0">
                          <a:solidFill>
                            <a:srgbClr val="ED1548"/>
                          </a:solidFill>
                          <a:latin typeface="Consolas"/>
                        </a:rPr>
                        <a:t>ng serve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350" i="0">
                          <a:solidFill>
                            <a:srgbClr val="1B3B47"/>
                          </a:solidFill>
                          <a:latin typeface="Arial"/>
                        </a:rPr>
                        <a:t>Serveur de dev avec rechargement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457200">
                <a:tc>
                  <a:txBody>
                    <a:bodyPr wrap="square"/>
                    <a:lstStyle/>
                    <a:p>
                      <a:pPr algn="l">
                        <a:lnSpc>
                          <a:spcPct val="100000"/>
                        </a:lnSpc>
                      </a:pPr>
                      <a:r>
                        <a:rPr sz="1215" b="0" i="0">
                          <a:solidFill>
                            <a:srgbClr val="ED1548"/>
                          </a:solidFill>
                          <a:latin typeface="Consolas"/>
                        </a:rPr>
                        <a:t>ng build</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350" i="0">
                          <a:solidFill>
                            <a:srgbClr val="1B3B47"/>
                          </a:solidFill>
                          <a:latin typeface="Arial"/>
                        </a:rPr>
                        <a:t>Build de production dans </a:t>
                      </a:r>
                      <a:r>
                        <a:rPr sz="1215" b="0" i="0">
                          <a:solidFill>
                            <a:srgbClr val="ED1548"/>
                          </a:solidFill>
                          <a:latin typeface="Consolas"/>
                        </a:rPr>
                        <a:t>dist/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457200">
                <a:tc>
                  <a:txBody>
                    <a:bodyPr wrap="square"/>
                    <a:lstStyle/>
                    <a:p>
                      <a:pPr algn="l">
                        <a:lnSpc>
                          <a:spcPct val="100000"/>
                        </a:lnSpc>
                      </a:pPr>
                      <a:r>
                        <a:rPr sz="1215" b="0" i="0">
                          <a:solidFill>
                            <a:srgbClr val="ED1548"/>
                          </a:solidFill>
                          <a:latin typeface="Consolas"/>
                        </a:rPr>
                        <a:t>ng test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350" i="0">
                          <a:solidFill>
                            <a:srgbClr val="1B3B47"/>
                          </a:solidFill>
                          <a:latin typeface="Arial"/>
                        </a:rPr>
                        <a:t>Tests Vitest (builder </a:t>
                      </a:r>
                      <a:r>
                        <a:rPr sz="1215" b="0" i="0">
                          <a:solidFill>
                            <a:srgbClr val="ED1548"/>
                          </a:solidFill>
                          <a:latin typeface="Consolas"/>
                        </a:rPr>
                        <a:t>@angular/build:unit-test</a:t>
                      </a:r>
                      <a:r>
                        <a:rPr b="0" sz="1350" i="0">
                          <a:solidFill>
                            <a:srgbClr val="1B3B47"/>
                          </a:solidFill>
                          <a:latin typeface="Arial"/>
                        </a:rPr>
                        <a: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457200">
                <a:tc>
                  <a:txBody>
                    <a:bodyPr wrap="square"/>
                    <a:lstStyle/>
                    <a:p>
                      <a:pPr algn="l">
                        <a:lnSpc>
                          <a:spcPct val="100000"/>
                        </a:lnSpc>
                      </a:pPr>
                      <a:r>
                        <a:rPr sz="1215" b="0" i="0">
                          <a:solidFill>
                            <a:srgbClr val="ED1548"/>
                          </a:solidFill>
                          <a:latin typeface="Consolas"/>
                        </a:rPr>
                        <a:t>ng g c features/factures/facture-list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350" i="0">
                          <a:solidFill>
                            <a:srgbClr val="1B3B47"/>
                          </a:solidFill>
                          <a:latin typeface="Arial"/>
                        </a:rPr>
                        <a:t>Composant standalone + template + styles + spec</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457200">
                <a:tc>
                  <a:txBody>
                    <a:bodyPr wrap="square"/>
                    <a:lstStyle/>
                    <a:p>
                      <a:pPr algn="l">
                        <a:lnSpc>
                          <a:spcPct val="100000"/>
                        </a:lnSpc>
                      </a:pPr>
                      <a:r>
                        <a:rPr sz="1215" b="0" i="0">
                          <a:solidFill>
                            <a:srgbClr val="ED1548"/>
                          </a:solidFill>
                          <a:latin typeface="Consolas"/>
                        </a:rPr>
                        <a:t>ng g s core/services/facture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350" i="0">
                          <a:solidFill>
                            <a:srgbClr val="1B3B47"/>
                          </a:solidFill>
                          <a:latin typeface="Arial"/>
                        </a:rPr>
                        <a:t>Service </a:t>
                      </a:r>
                      <a:r>
                        <a:rPr sz="1215" b="0" i="0">
                          <a:solidFill>
                            <a:srgbClr val="ED1548"/>
                          </a:solidFill>
                          <a:latin typeface="Consolas"/>
                        </a:rPr>
                        <a:t>@Service()</a:t>
                      </a:r>
                      <a:r>
                        <a:rPr b="0" sz="1350" i="0">
                          <a:solidFill>
                            <a:srgbClr val="1B3B47"/>
                          </a:solidFill>
                          <a:latin typeface="Arial"/>
                        </a:rPr>
                        <a:t> (ou </a:t>
                      </a:r>
                      <a:r>
                        <a:rPr sz="1215" b="0" i="0">
                          <a:solidFill>
                            <a:srgbClr val="ED1548"/>
                          </a:solidFill>
                          <a:latin typeface="Consolas"/>
                        </a:rPr>
                        <a:t>--injectable</a:t>
                      </a:r>
                      <a:r>
                        <a:rPr b="0" sz="1350" i="0">
                          <a:solidFill>
                            <a:srgbClr val="1B3B47"/>
                          </a:solidFill>
                          <a:latin typeface="Arial"/>
                        </a:rPr>
                        <a: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457200">
                <a:tc>
                  <a:txBody>
                    <a:bodyPr wrap="square"/>
                    <a:lstStyle/>
                    <a:p>
                      <a:pPr algn="l">
                        <a:lnSpc>
                          <a:spcPct val="100000"/>
                        </a:lnSpc>
                      </a:pPr>
                      <a:r>
                        <a:rPr sz="1215" b="0" i="0">
                          <a:solidFill>
                            <a:srgbClr val="ED1548"/>
                          </a:solidFill>
                          <a:latin typeface="Consolas"/>
                        </a:rPr>
                        <a:t>ng g p shared/pipes/statut-label</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350" i="0">
                          <a:solidFill>
                            <a:srgbClr val="1B3B47"/>
                          </a:solidFill>
                          <a:latin typeface="Arial"/>
                        </a:rPr>
                        <a:t>Pipe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457200">
                <a:tc>
                  <a:txBody>
                    <a:bodyPr wrap="square"/>
                    <a:lstStyle/>
                    <a:p>
                      <a:pPr algn="l">
                        <a:lnSpc>
                          <a:spcPct val="100000"/>
                        </a:lnSpc>
                      </a:pPr>
                      <a:r>
                        <a:rPr sz="1215" b="0" i="0">
                          <a:solidFill>
                            <a:srgbClr val="ED1548"/>
                          </a:solidFill>
                          <a:latin typeface="Consolas"/>
                        </a:rPr>
                        <a:t>ng g d shared/directives/statut-badge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350" i="0">
                          <a:solidFill>
                            <a:srgbClr val="1B3B47"/>
                          </a:solidFill>
                          <a:latin typeface="Arial"/>
                        </a:rPr>
                        <a:t>Directive d'attribut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457200">
                <a:tc>
                  <a:txBody>
                    <a:bodyPr wrap="square"/>
                    <a:lstStyle/>
                    <a:p>
                      <a:pPr algn="l">
                        <a:lnSpc>
                          <a:spcPct val="100000"/>
                        </a:lnSpc>
                      </a:pPr>
                      <a:r>
                        <a:rPr sz="1215" b="0" i="0">
                          <a:solidFill>
                            <a:srgbClr val="ED1548"/>
                          </a:solidFill>
                          <a:latin typeface="Consolas"/>
                        </a:rPr>
                        <a:t>ng g guard core/guards/unsaved-changes</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350" i="0">
                          <a:solidFill>
                            <a:srgbClr val="1B3B47"/>
                          </a:solidFill>
                          <a:latin typeface="Arial"/>
                        </a:rPr>
                        <a:t>Guard fonctionnel</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457200">
                <a:tc>
                  <a:txBody>
                    <a:bodyPr wrap="square"/>
                    <a:lstStyle/>
                    <a:p>
                      <a:pPr algn="l">
                        <a:lnSpc>
                          <a:spcPct val="100000"/>
                        </a:lnSpc>
                      </a:pPr>
                      <a:r>
                        <a:rPr sz="1215" b="0" i="0">
                          <a:solidFill>
                            <a:srgbClr val="ED1548"/>
                          </a:solidFill>
                          <a:latin typeface="Consolas"/>
                        </a:rPr>
                        <a:t>ng g interceptor core/interceptors/error</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350" i="0">
                          <a:solidFill>
                            <a:srgbClr val="1B3B47"/>
                          </a:solidFill>
                          <a:latin typeface="Arial"/>
                        </a:rPr>
                        <a:t>Interceptor fonctionnel</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457200">
                <a:tc>
                  <a:txBody>
                    <a:bodyPr wrap="square"/>
                    <a:lstStyle/>
                    <a:p>
                      <a:pPr algn="l">
                        <a:lnSpc>
                          <a:spcPct val="100000"/>
                        </a:lnSpc>
                      </a:pPr>
                      <a:r>
                        <a:rPr sz="1215" b="0" i="0">
                          <a:solidFill>
                            <a:srgbClr val="ED1548"/>
                          </a:solidFill>
                          <a:latin typeface="Consolas"/>
                        </a:rPr>
                        <a:t>ng update --dry-run</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350" i="0">
                          <a:solidFill>
                            <a:srgbClr val="1B3B47"/>
                          </a:solidFill>
                          <a:latin typeface="Arial"/>
                        </a:rPr>
                        <a:t>Simuler les migrations de version</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bl>
          </a:graphicData>
        </a:graphic>
      </p:graphicFrame>
      <p:sp>
        <p:nvSpPr>
          <p:cNvPr id="10" name="Rounded Rectangle 9"/>
          <p:cNvSpPr/>
          <p:nvPr/>
        </p:nvSpPr>
        <p:spPr>
          <a:xfrm>
            <a:off x="2606040" y="8869680"/>
            <a:ext cx="14584680" cy="640080"/>
          </a:xfrm>
          <a:prstGeom prst="roundRect">
            <a:avLst>
              <a:gd name="adj" fmla="val 8000"/>
            </a:avLst>
          </a:prstGeom>
          <a:solidFill>
            <a:srgbClr val="EBF6F8"/>
          </a:solidFill>
          <a:ln>
            <a:noFill/>
          </a:ln>
          <a:effectLst/>
        </p:spPr>
        <p:txBody>
          <a:bodyPr rtlCol="0" anchor="ctr"/>
          <a:lstStyle/>
          <a:p>
            <a:pPr algn="ctr"/>
          </a:p>
        </p:txBody>
      </p:sp>
      <p:sp>
        <p:nvSpPr>
          <p:cNvPr id="11" name="Rectangle 10"/>
          <p:cNvSpPr/>
          <p:nvPr/>
        </p:nvSpPr>
        <p:spPr>
          <a:xfrm>
            <a:off x="2606040" y="8869680"/>
            <a:ext cx="64008" cy="640080"/>
          </a:xfrm>
          <a:prstGeom prst="rect">
            <a:avLst/>
          </a:prstGeom>
          <a:solidFill>
            <a:srgbClr val="0B4F6C"/>
          </a:solidFill>
          <a:ln>
            <a:noFill/>
          </a:ln>
          <a:effectLst/>
        </p:spPr>
        <p:txBody>
          <a:bodyPr rtlCol="0" anchor="ctr"/>
          <a:lstStyle/>
          <a:p>
            <a:pPr algn="ctr"/>
          </a:p>
        </p:txBody>
      </p:sp>
      <p:sp>
        <p:nvSpPr>
          <p:cNvPr id="12" name="TextBox 11"/>
          <p:cNvSpPr txBox="1"/>
          <p:nvPr/>
        </p:nvSpPr>
        <p:spPr>
          <a:xfrm>
            <a:off x="2898648" y="9034272"/>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RACCOURCI</a:t>
            </a:r>
          </a:p>
        </p:txBody>
      </p:sp>
      <p:sp>
        <p:nvSpPr>
          <p:cNvPr id="13" name="TextBox 12"/>
          <p:cNvSpPr txBox="1"/>
          <p:nvPr/>
        </p:nvSpPr>
        <p:spPr>
          <a:xfrm>
            <a:off x="2898648" y="9326880"/>
            <a:ext cx="14173200" cy="73151"/>
          </a:xfrm>
          <a:prstGeom prst="rect">
            <a:avLst/>
          </a:prstGeom>
          <a:noFill/>
        </p:spPr>
        <p:txBody>
          <a:bodyPr wrap="square" lIns="0" rIns="0" tIns="0" bIns="0" anchor="t">
            <a:noAutofit/>
          </a:bodyPr>
          <a:lstStyle/>
          <a:p>
            <a:pPr algn="l">
              <a:lnSpc>
                <a:spcPct val="106000"/>
              </a:lnSpc>
              <a:spcBef>
                <a:spcPts val="0"/>
              </a:spcBef>
              <a:spcAft>
                <a:spcPts val="0"/>
              </a:spcAft>
            </a:pPr>
            <a:r>
              <a:rPr sz="1000" b="0" i="0">
                <a:solidFill>
                  <a:srgbClr val="0B4F6C"/>
                </a:solidFill>
                <a:latin typeface="Consolas"/>
              </a:rPr>
              <a:t>ng g</a:t>
            </a:r>
            <a:r>
              <a:rPr b="0" sz="1100" i="0">
                <a:solidFill>
                  <a:srgbClr val="1B3B47"/>
                </a:solidFill>
                <a:latin typeface="Arial"/>
              </a:rPr>
              <a:t> fonctionne aussi avec </a:t>
            </a:r>
            <a:r>
              <a:rPr sz="1000" b="0" i="0">
                <a:solidFill>
                  <a:srgbClr val="0B4F6C"/>
                </a:solidFill>
                <a:latin typeface="Consolas"/>
              </a:rPr>
              <a:t>ng generate</a:t>
            </a:r>
            <a:r>
              <a:rPr b="0" sz="1100" i="0">
                <a:solidFill>
                  <a:srgbClr val="1B3B47"/>
                </a:solidFill>
                <a:latin typeface="Arial"/>
              </a:rPr>
              <a:t> ; </a:t>
            </a:r>
            <a:r>
              <a:rPr sz="1000" b="0" i="0">
                <a:solidFill>
                  <a:srgbClr val="0B4F6C"/>
                </a:solidFill>
                <a:latin typeface="Consolas"/>
              </a:rPr>
              <a:t>ng t</a:t>
            </a:r>
            <a:r>
              <a:rPr b="0" sz="1100" i="0">
                <a:solidFill>
                  <a:srgbClr val="1B3B47"/>
                </a:solidFill>
                <a:latin typeface="Arial"/>
              </a:rPr>
              <a:t> avec </a:t>
            </a:r>
            <a:r>
              <a:rPr sz="1000" b="0" i="0">
                <a:solidFill>
                  <a:srgbClr val="0B4F6C"/>
                </a:solidFill>
                <a:latin typeface="Consolas"/>
              </a:rPr>
              <a:t>ng test</a:t>
            </a:r>
            <a:r>
              <a:rPr b="0" sz="1100" i="0">
                <a:solidFill>
                  <a:srgbClr val="1B3B47"/>
                </a:solidFill>
                <a:latin typeface="Arial"/>
              </a:rPr>
              <a:t>. La CLI 22 génère </a:t>
            </a:r>
            <a:r>
              <a:rPr sz="1000" b="0" i="0">
                <a:solidFill>
                  <a:srgbClr val="0B4F6C"/>
                </a:solidFill>
                <a:latin typeface="Consolas"/>
              </a:rPr>
              <a:t>@Service()</a:t>
            </a:r>
            <a:r>
              <a:rPr b="0" sz="1100" i="0">
                <a:solidFill>
                  <a:srgbClr val="1B3B47"/>
                </a:solidFill>
                <a:latin typeface="Arial"/>
              </a:rPr>
              <a:t> par défaut pour les services.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MÉMO  ·  SYNTAXE</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Les syntaxes à connaître par cœur</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Trois familles : template, signals, formulaires et HTTP.</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58 / 62</a:t>
            </a:r>
          </a:p>
        </p:txBody>
      </p:sp>
      <p:sp>
        <p:nvSpPr>
          <p:cNvPr id="9" name="TextBox 8"/>
          <p:cNvSpPr txBox="1"/>
          <p:nvPr/>
        </p:nvSpPr>
        <p:spPr>
          <a:xfrm>
            <a:off x="2606040" y="3063240"/>
            <a:ext cx="4572000" cy="274320"/>
          </a:xfrm>
          <a:prstGeom prst="rect">
            <a:avLst/>
          </a:prstGeom>
          <a:noFill/>
        </p:spPr>
        <p:txBody>
          <a:bodyPr wrap="square" lIns="0" rIns="0" tIns="0" bIns="0" anchor="t">
            <a:noAutofit/>
          </a:bodyPr>
          <a:lstStyle/>
          <a:p>
            <a:pPr algn="l">
              <a:lnSpc>
                <a:spcPct val="102000"/>
              </a:lnSpc>
              <a:spcBef>
                <a:spcPts val="0"/>
              </a:spcBef>
              <a:spcAft>
                <a:spcPts val="0"/>
              </a:spcAft>
            </a:pPr>
            <a:r>
              <a:rPr b="1" sz="1150" i="0">
                <a:solidFill>
                  <a:srgbClr val="ED1548"/>
                </a:solidFill>
                <a:latin typeface="Arial"/>
              </a:rPr>
              <a:t>TEMPLATE</a:t>
            </a:r>
          </a:p>
        </p:txBody>
      </p:sp>
      <p:sp>
        <p:nvSpPr>
          <p:cNvPr id="10" name="Rounded Rectangle 9"/>
          <p:cNvSpPr/>
          <p:nvPr/>
        </p:nvSpPr>
        <p:spPr>
          <a:xfrm>
            <a:off x="2606040" y="3429000"/>
            <a:ext cx="4572000" cy="512064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1" name="Oval 10"/>
          <p:cNvSpPr/>
          <p:nvPr/>
        </p:nvSpPr>
        <p:spPr>
          <a:xfrm>
            <a:off x="2825496" y="3602736"/>
            <a:ext cx="82296" cy="82296"/>
          </a:xfrm>
          <a:prstGeom prst="ellipse">
            <a:avLst/>
          </a:prstGeom>
          <a:solidFill>
            <a:srgbClr val="ED1548"/>
          </a:solidFill>
          <a:ln>
            <a:noFill/>
          </a:ln>
          <a:effectLst/>
        </p:spPr>
        <p:txBody>
          <a:bodyPr rtlCol="0" anchor="ctr"/>
          <a:lstStyle/>
          <a:p>
            <a:pPr algn="ctr"/>
          </a:p>
        </p:txBody>
      </p:sp>
      <p:sp>
        <p:nvSpPr>
          <p:cNvPr id="12" name="TextBox 11"/>
          <p:cNvSpPr txBox="1"/>
          <p:nvPr/>
        </p:nvSpPr>
        <p:spPr>
          <a:xfrm>
            <a:off x="2990088" y="3538728"/>
            <a:ext cx="393192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template</a:t>
            </a:r>
          </a:p>
        </p:txBody>
      </p:sp>
      <p:sp>
        <p:nvSpPr>
          <p:cNvPr id="13" name="TextBox 12"/>
          <p:cNvSpPr txBox="1"/>
          <p:nvPr/>
        </p:nvSpPr>
        <p:spPr>
          <a:xfrm>
            <a:off x="2852928" y="3904487"/>
            <a:ext cx="4114800" cy="4480560"/>
          </a:xfrm>
          <a:prstGeom prst="rect">
            <a:avLst/>
          </a:prstGeom>
          <a:noFill/>
        </p:spPr>
        <p:txBody>
          <a:bodyPr wrap="none" lIns="0" rIns="0" tIns="0" bIns="0">
            <a:noAutofit/>
          </a:bodyPr>
          <a:lstStyle/>
          <a:p>
            <a:pPr>
              <a:lnSpc>
                <a:spcPct val="100000"/>
              </a:lnSpc>
              <a:spcBef>
                <a:spcPts val="0"/>
              </a:spcBef>
              <a:spcAft>
                <a:spcPts val="0"/>
              </a:spcAft>
            </a:pPr>
            <a:r>
              <a:rPr sz="1200">
                <a:solidFill>
                  <a:srgbClr val="EAF2F4"/>
                </a:solidFill>
                <a:latin typeface="Consolas"/>
              </a:rPr>
              <a:t>{{ facture().numero }}</a:t>
            </a:r>
          </a:p>
          <a:p>
            <a:pPr>
              <a:lnSpc>
                <a:spcPct val="100000"/>
              </a:lnSpc>
              <a:spcBef>
                <a:spcPts val="0"/>
              </a:spcBef>
              <a:spcAft>
                <a:spcPts val="0"/>
              </a:spcAft>
            </a:pPr>
          </a:p>
          <a:p>
            <a:pPr>
              <a:lnSpc>
                <a:spcPct val="100000"/>
              </a:lnSpc>
              <a:spcBef>
                <a:spcPts val="0"/>
              </a:spcBef>
              <a:spcAft>
                <a:spcPts val="0"/>
              </a:spcAft>
            </a:pPr>
            <a:r>
              <a:rPr sz="1200">
                <a:solidFill>
                  <a:srgbClr val="FFD166"/>
                </a:solidFill>
                <a:latin typeface="Consolas"/>
              </a:rPr>
              <a:t>@if</a:t>
            </a:r>
            <a:r>
              <a:rPr sz="1200">
                <a:solidFill>
                  <a:srgbClr val="EAF2F4"/>
                </a:solidFill>
                <a:latin typeface="Consolas"/>
              </a:rPr>
              <a:t> (facture(); as f) {</a:t>
            </a:r>
          </a:p>
          <a:p>
            <a:pPr>
              <a:lnSpc>
                <a:spcPct val="100000"/>
              </a:lnSpc>
              <a:spcBef>
                <a:spcPts val="0"/>
              </a:spcBef>
              <a:spcAft>
                <a:spcPts val="0"/>
              </a:spcAft>
            </a:pPr>
            <a:r>
              <a:rPr sz="1200">
                <a:solidFill>
                  <a:srgbClr val="EAF2F4"/>
                </a:solidFill>
                <a:latin typeface="Consolas"/>
              </a:rPr>
              <a:t>  &lt;p&gt;{{ f.statut }}&lt;/p&gt;</a:t>
            </a:r>
          </a:p>
          <a:p>
            <a:pPr>
              <a:lnSpc>
                <a:spcPct val="100000"/>
              </a:lnSpc>
              <a:spcBef>
                <a:spcPts val="0"/>
              </a:spcBef>
              <a:spcAft>
                <a:spcPts val="0"/>
              </a:spcAft>
            </a:pPr>
            <a:r>
              <a:rPr sz="1200">
                <a:solidFill>
                  <a:srgbClr val="EAF2F4"/>
                </a:solidFill>
                <a:latin typeface="Consolas"/>
              </a:rPr>
              <a:t>}</a:t>
            </a:r>
          </a:p>
          <a:p>
            <a:pPr>
              <a:lnSpc>
                <a:spcPct val="100000"/>
              </a:lnSpc>
              <a:spcBef>
                <a:spcPts val="0"/>
              </a:spcBef>
              <a:spcAft>
                <a:spcPts val="0"/>
              </a:spcAft>
            </a:pPr>
          </a:p>
          <a:p>
            <a:pPr>
              <a:lnSpc>
                <a:spcPct val="100000"/>
              </a:lnSpc>
              <a:spcBef>
                <a:spcPts val="0"/>
              </a:spcBef>
              <a:spcAft>
                <a:spcPts val="0"/>
              </a:spcAft>
            </a:pPr>
            <a:r>
              <a:rPr sz="1200">
                <a:solidFill>
                  <a:srgbClr val="FFD166"/>
                </a:solidFill>
                <a:latin typeface="Consolas"/>
              </a:rPr>
              <a:t>@for</a:t>
            </a:r>
            <a:r>
              <a:rPr sz="1200">
                <a:solidFill>
                  <a:srgbClr val="EAF2F4"/>
                </a:solidFill>
                <a:latin typeface="Consolas"/>
              </a:rPr>
              <a:t> (f </a:t>
            </a:r>
            <a:r>
              <a:rPr sz="1200">
                <a:solidFill>
                  <a:srgbClr val="7FD1E0"/>
                </a:solidFill>
                <a:latin typeface="Consolas"/>
              </a:rPr>
              <a:t>of</a:t>
            </a:r>
            <a:r>
              <a:rPr sz="1200">
                <a:solidFill>
                  <a:srgbClr val="EAF2F4"/>
                </a:solidFill>
                <a:latin typeface="Consolas"/>
              </a:rPr>
              <a:t> factures(); track f.id) {</a:t>
            </a:r>
          </a:p>
          <a:p>
            <a:pPr>
              <a:lnSpc>
                <a:spcPct val="100000"/>
              </a:lnSpc>
              <a:spcBef>
                <a:spcPts val="0"/>
              </a:spcBef>
              <a:spcAft>
                <a:spcPts val="0"/>
              </a:spcAft>
            </a:pPr>
            <a:r>
              <a:rPr sz="1200">
                <a:solidFill>
                  <a:srgbClr val="EAF2F4"/>
                </a:solidFill>
                <a:latin typeface="Consolas"/>
              </a:rPr>
              <a:t>  &lt;tr&gt;{{ f.numero }}&lt;/tr&gt;</a:t>
            </a:r>
          </a:p>
          <a:p>
            <a:pPr>
              <a:lnSpc>
                <a:spcPct val="100000"/>
              </a:lnSpc>
              <a:spcBef>
                <a:spcPts val="0"/>
              </a:spcBef>
              <a:spcAft>
                <a:spcPts val="0"/>
              </a:spcAft>
            </a:pPr>
            <a:r>
              <a:rPr sz="1200">
                <a:solidFill>
                  <a:srgbClr val="EAF2F4"/>
                </a:solidFill>
                <a:latin typeface="Consolas"/>
              </a:rPr>
              <a:t>} </a:t>
            </a:r>
            <a:r>
              <a:rPr sz="1200">
                <a:solidFill>
                  <a:srgbClr val="FFD166"/>
                </a:solidFill>
                <a:latin typeface="Consolas"/>
              </a:rPr>
              <a:t>@empty</a:t>
            </a:r>
            <a:r>
              <a:rPr sz="1200">
                <a:solidFill>
                  <a:srgbClr val="EAF2F4"/>
                </a:solidFill>
                <a:latin typeface="Consolas"/>
              </a:rPr>
              <a:t> {</a:t>
            </a:r>
          </a:p>
          <a:p>
            <a:pPr>
              <a:lnSpc>
                <a:spcPct val="100000"/>
              </a:lnSpc>
              <a:spcBef>
                <a:spcPts val="0"/>
              </a:spcBef>
              <a:spcAft>
                <a:spcPts val="0"/>
              </a:spcAft>
            </a:pPr>
            <a:r>
              <a:rPr sz="1200">
                <a:solidFill>
                  <a:srgbClr val="EAF2F4"/>
                </a:solidFill>
                <a:latin typeface="Consolas"/>
              </a:rPr>
              <a:t>  &lt;p&gt;Aucune facture&lt;/p&gt;</a:t>
            </a:r>
          </a:p>
          <a:p>
            <a:pPr>
              <a:lnSpc>
                <a:spcPct val="100000"/>
              </a:lnSpc>
              <a:spcBef>
                <a:spcPts val="0"/>
              </a:spcBef>
              <a:spcAft>
                <a:spcPts val="0"/>
              </a:spcAft>
            </a:pPr>
            <a:r>
              <a:rPr sz="1200">
                <a:solidFill>
                  <a:srgbClr val="EAF2F4"/>
                </a:solidFill>
                <a:latin typeface="Consolas"/>
              </a:rPr>
              <a:t>}</a:t>
            </a:r>
          </a:p>
          <a:p>
            <a:pPr>
              <a:lnSpc>
                <a:spcPct val="100000"/>
              </a:lnSpc>
              <a:spcBef>
                <a:spcPts val="0"/>
              </a:spcBef>
              <a:spcAft>
                <a:spcPts val="0"/>
              </a:spcAft>
            </a:pPr>
          </a:p>
          <a:p>
            <a:pPr>
              <a:lnSpc>
                <a:spcPct val="100000"/>
              </a:lnSpc>
              <a:spcBef>
                <a:spcPts val="0"/>
              </a:spcBef>
              <a:spcAft>
                <a:spcPts val="0"/>
              </a:spcAft>
            </a:pPr>
            <a:r>
              <a:rPr sz="1200">
                <a:solidFill>
                  <a:srgbClr val="FFD166"/>
                </a:solidFill>
                <a:latin typeface="Consolas"/>
              </a:rPr>
              <a:t>@switch</a:t>
            </a:r>
            <a:r>
              <a:rPr sz="1200">
                <a:solidFill>
                  <a:srgbClr val="EAF2F4"/>
                </a:solidFill>
                <a:latin typeface="Consolas"/>
              </a:rPr>
              <a:t> (f.statut) {</a:t>
            </a:r>
          </a:p>
          <a:p>
            <a:pPr>
              <a:lnSpc>
                <a:spcPct val="100000"/>
              </a:lnSpc>
              <a:spcBef>
                <a:spcPts val="0"/>
              </a:spcBef>
              <a:spcAft>
                <a:spcPts val="0"/>
              </a:spcAft>
            </a:pPr>
            <a:r>
              <a:rPr sz="1200">
                <a:solidFill>
                  <a:srgbClr val="EAF2F4"/>
                </a:solidFill>
                <a:latin typeface="Consolas"/>
              </a:rPr>
              <a:t>  </a:t>
            </a:r>
            <a:r>
              <a:rPr sz="1200">
                <a:solidFill>
                  <a:srgbClr val="FFD166"/>
                </a:solidFill>
                <a:latin typeface="Consolas"/>
              </a:rPr>
              <a:t>@case</a:t>
            </a:r>
            <a:r>
              <a:rPr sz="1200">
                <a:solidFill>
                  <a:srgbClr val="EAF2F4"/>
                </a:solidFill>
                <a:latin typeface="Consolas"/>
              </a:rPr>
              <a:t> (</a:t>
            </a:r>
            <a:r>
              <a:rPr sz="1200">
                <a:solidFill>
                  <a:srgbClr val="FFB3C1"/>
                </a:solidFill>
                <a:latin typeface="Consolas"/>
              </a:rPr>
              <a:t>'litige'</a:t>
            </a:r>
            <a:r>
              <a:rPr sz="1200">
                <a:solidFill>
                  <a:srgbClr val="EAF2F4"/>
                </a:solidFill>
                <a:latin typeface="Consolas"/>
              </a:rPr>
              <a:t>) { &lt;b&gt;Litige&lt;/b&gt; }</a:t>
            </a:r>
          </a:p>
          <a:p>
            <a:pPr>
              <a:lnSpc>
                <a:spcPct val="100000"/>
              </a:lnSpc>
              <a:spcBef>
                <a:spcPts val="0"/>
              </a:spcBef>
              <a:spcAft>
                <a:spcPts val="0"/>
              </a:spcAft>
            </a:pPr>
            <a:r>
              <a:rPr sz="1200">
                <a:solidFill>
                  <a:srgbClr val="EAF2F4"/>
                </a:solidFill>
                <a:latin typeface="Consolas"/>
              </a:rPr>
              <a:t>}</a:t>
            </a:r>
          </a:p>
          <a:p>
            <a:pPr>
              <a:lnSpc>
                <a:spcPct val="100000"/>
              </a:lnSpc>
              <a:spcBef>
                <a:spcPts val="0"/>
              </a:spcBef>
              <a:spcAft>
                <a:spcPts val="0"/>
              </a:spcAft>
            </a:pPr>
          </a:p>
          <a:p>
            <a:pPr>
              <a:lnSpc>
                <a:spcPct val="100000"/>
              </a:lnSpc>
              <a:spcBef>
                <a:spcPts val="0"/>
              </a:spcBef>
              <a:spcAft>
                <a:spcPts val="0"/>
              </a:spcAft>
            </a:pPr>
            <a:r>
              <a:rPr sz="1200">
                <a:solidFill>
                  <a:srgbClr val="EAF2F4"/>
                </a:solidFill>
                <a:latin typeface="Consolas"/>
              </a:rPr>
              <a:t>[</a:t>
            </a:r>
            <a:r>
              <a:rPr sz="1200">
                <a:solidFill>
                  <a:srgbClr val="7FD1E0"/>
                </a:solidFill>
                <a:latin typeface="Consolas"/>
              </a:rPr>
              <a:t>class</a:t>
            </a:r>
            <a:r>
              <a:rPr sz="1200">
                <a:solidFill>
                  <a:srgbClr val="EAF2F4"/>
                </a:solidFill>
                <a:latin typeface="Consolas"/>
              </a:rPr>
              <a:t>.litige]=</a:t>
            </a:r>
            <a:r>
              <a:rPr sz="1200">
                <a:solidFill>
                  <a:srgbClr val="FFB3C1"/>
                </a:solidFill>
                <a:latin typeface="Consolas"/>
              </a:rPr>
              <a:t>"f.statut === 'litige'"</a:t>
            </a:r>
          </a:p>
          <a:p>
            <a:pPr>
              <a:lnSpc>
                <a:spcPct val="100000"/>
              </a:lnSpc>
              <a:spcBef>
                <a:spcPts val="0"/>
              </a:spcBef>
              <a:spcAft>
                <a:spcPts val="0"/>
              </a:spcAft>
            </a:pPr>
            <a:r>
              <a:rPr sz="1200">
                <a:solidFill>
                  <a:srgbClr val="EAF2F4"/>
                </a:solidFill>
                <a:latin typeface="Consolas"/>
              </a:rPr>
              <a:t>(click)=</a:t>
            </a:r>
            <a:r>
              <a:rPr sz="1200">
                <a:solidFill>
                  <a:srgbClr val="FFB3C1"/>
                </a:solidFill>
                <a:latin typeface="Consolas"/>
              </a:rPr>
              <a:t>"selection.set(f)"</a:t>
            </a:r>
          </a:p>
        </p:txBody>
      </p:sp>
      <p:sp>
        <p:nvSpPr>
          <p:cNvPr id="14" name="TextBox 13"/>
          <p:cNvSpPr txBox="1"/>
          <p:nvPr/>
        </p:nvSpPr>
        <p:spPr>
          <a:xfrm>
            <a:off x="7635240" y="3063240"/>
            <a:ext cx="4572000" cy="274320"/>
          </a:xfrm>
          <a:prstGeom prst="rect">
            <a:avLst/>
          </a:prstGeom>
          <a:noFill/>
        </p:spPr>
        <p:txBody>
          <a:bodyPr wrap="square" lIns="0" rIns="0" tIns="0" bIns="0" anchor="t">
            <a:noAutofit/>
          </a:bodyPr>
          <a:lstStyle/>
          <a:p>
            <a:pPr algn="l">
              <a:lnSpc>
                <a:spcPct val="102000"/>
              </a:lnSpc>
              <a:spcBef>
                <a:spcPts val="0"/>
              </a:spcBef>
              <a:spcAft>
                <a:spcPts val="0"/>
              </a:spcAft>
            </a:pPr>
            <a:r>
              <a:rPr b="1" sz="1150" i="0">
                <a:solidFill>
                  <a:srgbClr val="0B4F6C"/>
                </a:solidFill>
                <a:latin typeface="Arial"/>
              </a:rPr>
              <a:t>SIGNALS</a:t>
            </a:r>
          </a:p>
        </p:txBody>
      </p:sp>
      <p:sp>
        <p:nvSpPr>
          <p:cNvPr id="15" name="Rounded Rectangle 14"/>
          <p:cNvSpPr/>
          <p:nvPr/>
        </p:nvSpPr>
        <p:spPr>
          <a:xfrm>
            <a:off x="7635240" y="3429000"/>
            <a:ext cx="4572000" cy="512064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16" name="Oval 15"/>
          <p:cNvSpPr/>
          <p:nvPr/>
        </p:nvSpPr>
        <p:spPr>
          <a:xfrm>
            <a:off x="7854696" y="3602736"/>
            <a:ext cx="82296" cy="82296"/>
          </a:xfrm>
          <a:prstGeom prst="ellipse">
            <a:avLst/>
          </a:prstGeom>
          <a:solidFill>
            <a:srgbClr val="ED1548"/>
          </a:solidFill>
          <a:ln>
            <a:noFill/>
          </a:ln>
          <a:effectLst/>
        </p:spPr>
        <p:txBody>
          <a:bodyPr rtlCol="0" anchor="ctr"/>
          <a:lstStyle/>
          <a:p>
            <a:pPr algn="ctr"/>
          </a:p>
        </p:txBody>
      </p:sp>
      <p:sp>
        <p:nvSpPr>
          <p:cNvPr id="17" name="TextBox 16"/>
          <p:cNvSpPr txBox="1"/>
          <p:nvPr/>
        </p:nvSpPr>
        <p:spPr>
          <a:xfrm>
            <a:off x="8019288" y="3538728"/>
            <a:ext cx="3931920"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signals</a:t>
            </a:r>
          </a:p>
        </p:txBody>
      </p:sp>
      <p:sp>
        <p:nvSpPr>
          <p:cNvPr id="18" name="TextBox 17"/>
          <p:cNvSpPr txBox="1"/>
          <p:nvPr/>
        </p:nvSpPr>
        <p:spPr>
          <a:xfrm>
            <a:off x="7882127" y="3904487"/>
            <a:ext cx="4114800" cy="4480560"/>
          </a:xfrm>
          <a:prstGeom prst="rect">
            <a:avLst/>
          </a:prstGeom>
          <a:noFill/>
        </p:spPr>
        <p:txBody>
          <a:bodyPr wrap="none" lIns="0" rIns="0" tIns="0" bIns="0">
            <a:noAutofit/>
          </a:bodyPr>
          <a:lstStyle/>
          <a:p>
            <a:pPr>
              <a:lnSpc>
                <a:spcPct val="100000"/>
              </a:lnSpc>
              <a:spcBef>
                <a:spcPts val="0"/>
              </a:spcBef>
              <a:spcAft>
                <a:spcPts val="0"/>
              </a:spcAft>
            </a:pPr>
            <a:r>
              <a:rPr sz="1200">
                <a:solidFill>
                  <a:srgbClr val="EAF2F4"/>
                </a:solidFill>
                <a:latin typeface="Consolas"/>
              </a:rPr>
              <a:t>factures = signal&lt;Facture[]&gt;([]);</a:t>
            </a:r>
          </a:p>
          <a:p>
            <a:pPr>
              <a:lnSpc>
                <a:spcPct val="100000"/>
              </a:lnSpc>
              <a:spcBef>
                <a:spcPts val="0"/>
              </a:spcBef>
              <a:spcAft>
                <a:spcPts val="0"/>
              </a:spcAft>
            </a:pPr>
            <a:r>
              <a:rPr sz="1200">
                <a:solidFill>
                  <a:srgbClr val="EAF2F4"/>
                </a:solidFill>
                <a:latin typeface="Consolas"/>
              </a:rPr>
              <a:t>filtre = signal&lt;</a:t>
            </a:r>
            <a:r>
              <a:rPr sz="1200">
                <a:solidFill>
                  <a:srgbClr val="FFB3C1"/>
                </a:solidFill>
                <a:latin typeface="Consolas"/>
              </a:rPr>
              <a:t>'tous'</a:t>
            </a:r>
            <a:r>
              <a:rPr sz="1200">
                <a:solidFill>
                  <a:srgbClr val="EAF2F4"/>
                </a:solidFill>
                <a:latin typeface="Consolas"/>
              </a:rPr>
              <a:t> | Statut&gt;(</a:t>
            </a:r>
            <a:r>
              <a:rPr sz="1200">
                <a:solidFill>
                  <a:srgbClr val="FFB3C1"/>
                </a:solidFill>
                <a:latin typeface="Consolas"/>
              </a:rPr>
              <a:t>'tous'</a:t>
            </a:r>
            <a:r>
              <a:rPr sz="1200">
                <a:solidFill>
                  <a:srgbClr val="EAF2F4"/>
                </a:solidFill>
                <a:latin typeface="Consolas"/>
              </a:rPr>
              <a:t>);</a:t>
            </a:r>
          </a:p>
          <a:p>
            <a:pPr>
              <a:lnSpc>
                <a:spcPct val="100000"/>
              </a:lnSpc>
              <a:spcBef>
                <a:spcPts val="0"/>
              </a:spcBef>
              <a:spcAft>
                <a:spcPts val="0"/>
              </a:spcAft>
            </a:pPr>
          </a:p>
          <a:p>
            <a:pPr>
              <a:lnSpc>
                <a:spcPct val="100000"/>
              </a:lnSpc>
              <a:spcBef>
                <a:spcPts val="0"/>
              </a:spcBef>
              <a:spcAft>
                <a:spcPts val="0"/>
              </a:spcAft>
            </a:pPr>
            <a:r>
              <a:rPr sz="1200">
                <a:solidFill>
                  <a:srgbClr val="EAF2F4"/>
                </a:solidFill>
                <a:latin typeface="Consolas"/>
              </a:rPr>
              <a:t>facturesFiltrees = computed(() =&gt;</a:t>
            </a:r>
          </a:p>
          <a:p>
            <a:pPr>
              <a:lnSpc>
                <a:spcPct val="100000"/>
              </a:lnSpc>
              <a:spcBef>
                <a:spcPts val="0"/>
              </a:spcBef>
              <a:spcAft>
                <a:spcPts val="0"/>
              </a:spcAft>
            </a:pPr>
            <a:r>
              <a:rPr sz="1200">
                <a:solidFill>
                  <a:srgbClr val="EAF2F4"/>
                </a:solidFill>
                <a:latin typeface="Consolas"/>
              </a:rPr>
              <a:t>  </a:t>
            </a:r>
            <a:r>
              <a:rPr sz="1200">
                <a:solidFill>
                  <a:srgbClr val="7FD1E0"/>
                </a:solidFill>
                <a:latin typeface="Consolas"/>
              </a:rPr>
              <a:t>this</a:t>
            </a:r>
            <a:r>
              <a:rPr sz="1200">
                <a:solidFill>
                  <a:srgbClr val="EAF2F4"/>
                </a:solidFill>
                <a:latin typeface="Consolas"/>
              </a:rPr>
              <a:t>.factures().filter(f =&gt;</a:t>
            </a:r>
          </a:p>
          <a:p>
            <a:pPr>
              <a:lnSpc>
                <a:spcPct val="100000"/>
              </a:lnSpc>
              <a:spcBef>
                <a:spcPts val="0"/>
              </a:spcBef>
              <a:spcAft>
                <a:spcPts val="0"/>
              </a:spcAft>
            </a:pPr>
            <a:r>
              <a:rPr sz="1200">
                <a:solidFill>
                  <a:srgbClr val="EAF2F4"/>
                </a:solidFill>
                <a:latin typeface="Consolas"/>
              </a:rPr>
              <a:t>    </a:t>
            </a:r>
            <a:r>
              <a:rPr sz="1200">
                <a:solidFill>
                  <a:srgbClr val="7FD1E0"/>
                </a:solidFill>
                <a:latin typeface="Consolas"/>
              </a:rPr>
              <a:t>this</a:t>
            </a:r>
            <a:r>
              <a:rPr sz="1200">
                <a:solidFill>
                  <a:srgbClr val="EAF2F4"/>
                </a:solidFill>
                <a:latin typeface="Consolas"/>
              </a:rPr>
              <a:t>.filtre() === </a:t>
            </a:r>
            <a:r>
              <a:rPr sz="1200">
                <a:solidFill>
                  <a:srgbClr val="FFB3C1"/>
                </a:solidFill>
                <a:latin typeface="Consolas"/>
              </a:rPr>
              <a:t>'tous'</a:t>
            </a:r>
          </a:p>
          <a:p>
            <a:pPr>
              <a:lnSpc>
                <a:spcPct val="100000"/>
              </a:lnSpc>
              <a:spcBef>
                <a:spcPts val="0"/>
              </a:spcBef>
              <a:spcAft>
                <a:spcPts val="0"/>
              </a:spcAft>
            </a:pPr>
            <a:r>
              <a:rPr sz="1200">
                <a:solidFill>
                  <a:srgbClr val="EAF2F4"/>
                </a:solidFill>
                <a:latin typeface="Consolas"/>
              </a:rPr>
              <a:t>    || f.statut === </a:t>
            </a:r>
            <a:r>
              <a:rPr sz="1200">
                <a:solidFill>
                  <a:srgbClr val="7FD1E0"/>
                </a:solidFill>
                <a:latin typeface="Consolas"/>
              </a:rPr>
              <a:t>this</a:t>
            </a:r>
            <a:r>
              <a:rPr sz="1200">
                <a:solidFill>
                  <a:srgbClr val="EAF2F4"/>
                </a:solidFill>
                <a:latin typeface="Consolas"/>
              </a:rPr>
              <a:t>.filtre()));</a:t>
            </a:r>
          </a:p>
          <a:p>
            <a:pPr>
              <a:lnSpc>
                <a:spcPct val="100000"/>
              </a:lnSpc>
              <a:spcBef>
                <a:spcPts val="0"/>
              </a:spcBef>
              <a:spcAft>
                <a:spcPts val="0"/>
              </a:spcAft>
            </a:pPr>
          </a:p>
          <a:p>
            <a:pPr>
              <a:lnSpc>
                <a:spcPct val="100000"/>
              </a:lnSpc>
              <a:spcBef>
                <a:spcPts val="0"/>
              </a:spcBef>
              <a:spcAft>
                <a:spcPts val="0"/>
              </a:spcAft>
            </a:pPr>
            <a:r>
              <a:rPr sz="1200">
                <a:solidFill>
                  <a:srgbClr val="7FD1E0"/>
                </a:solidFill>
                <a:latin typeface="Consolas"/>
              </a:rPr>
              <a:t>this</a:t>
            </a:r>
            <a:r>
              <a:rPr sz="1200">
                <a:solidFill>
                  <a:srgbClr val="EAF2F4"/>
                </a:solidFill>
                <a:latin typeface="Consolas"/>
              </a:rPr>
              <a:t>.factures.update(l =&gt; [...l, f]);</a:t>
            </a:r>
          </a:p>
          <a:p>
            <a:pPr>
              <a:lnSpc>
                <a:spcPct val="100000"/>
              </a:lnSpc>
              <a:spcBef>
                <a:spcPts val="0"/>
              </a:spcBef>
              <a:spcAft>
                <a:spcPts val="0"/>
              </a:spcAft>
            </a:pPr>
          </a:p>
          <a:p>
            <a:pPr>
              <a:lnSpc>
                <a:spcPct val="100000"/>
              </a:lnSpc>
              <a:spcBef>
                <a:spcPts val="0"/>
              </a:spcBef>
              <a:spcAft>
                <a:spcPts val="0"/>
              </a:spcAft>
            </a:pPr>
            <a:r>
              <a:rPr sz="1200">
                <a:solidFill>
                  <a:srgbClr val="EAF2F4"/>
                </a:solidFill>
                <a:latin typeface="Consolas"/>
              </a:rPr>
              <a:t>id = input.required&lt;string&gt;();</a:t>
            </a:r>
          </a:p>
          <a:p>
            <a:pPr>
              <a:lnSpc>
                <a:spcPct val="100000"/>
              </a:lnSpc>
              <a:spcBef>
                <a:spcPts val="0"/>
              </a:spcBef>
              <a:spcAft>
                <a:spcPts val="0"/>
              </a:spcAft>
            </a:pPr>
            <a:r>
              <a:rPr sz="1200">
                <a:solidFill>
                  <a:srgbClr val="EAF2F4"/>
                </a:solidFill>
                <a:latin typeface="Consolas"/>
              </a:rPr>
              <a:t>selected = output&lt;Facture&gt;();</a:t>
            </a:r>
          </a:p>
          <a:p>
            <a:pPr>
              <a:lnSpc>
                <a:spcPct val="100000"/>
              </a:lnSpc>
              <a:spcBef>
                <a:spcPts val="0"/>
              </a:spcBef>
              <a:spcAft>
                <a:spcPts val="0"/>
              </a:spcAft>
            </a:pPr>
            <a:r>
              <a:rPr sz="1200">
                <a:solidFill>
                  <a:srgbClr val="EAF2F4"/>
                </a:solidFill>
                <a:latin typeface="Consolas"/>
              </a:rPr>
              <a:t>value = model(</a:t>
            </a:r>
            <a:r>
              <a:rPr sz="1200">
                <a:solidFill>
                  <a:srgbClr val="FFD166"/>
                </a:solidFill>
                <a:latin typeface="Consolas"/>
              </a:rPr>
              <a:t>0</a:t>
            </a:r>
            <a:r>
              <a:rPr sz="1200">
                <a:solidFill>
                  <a:srgbClr val="EAF2F4"/>
                </a:solidFill>
                <a:latin typeface="Consolas"/>
              </a:rPr>
              <a:t>);</a:t>
            </a:r>
          </a:p>
        </p:txBody>
      </p:sp>
      <p:sp>
        <p:nvSpPr>
          <p:cNvPr id="19" name="TextBox 18"/>
          <p:cNvSpPr txBox="1"/>
          <p:nvPr/>
        </p:nvSpPr>
        <p:spPr>
          <a:xfrm>
            <a:off x="12664440" y="3063240"/>
            <a:ext cx="4526280" cy="274320"/>
          </a:xfrm>
          <a:prstGeom prst="rect">
            <a:avLst/>
          </a:prstGeom>
          <a:noFill/>
        </p:spPr>
        <p:txBody>
          <a:bodyPr wrap="square" lIns="0" rIns="0" tIns="0" bIns="0" anchor="t">
            <a:noAutofit/>
          </a:bodyPr>
          <a:lstStyle/>
          <a:p>
            <a:pPr algn="l">
              <a:lnSpc>
                <a:spcPct val="102000"/>
              </a:lnSpc>
              <a:spcBef>
                <a:spcPts val="0"/>
              </a:spcBef>
              <a:spcAft>
                <a:spcPts val="0"/>
              </a:spcAft>
            </a:pPr>
            <a:r>
              <a:rPr b="1" sz="1150" i="0">
                <a:solidFill>
                  <a:srgbClr val="B26A00"/>
                </a:solidFill>
                <a:latin typeface="Arial"/>
              </a:rPr>
              <a:t>FORMS &amp; HTTP</a:t>
            </a:r>
          </a:p>
        </p:txBody>
      </p:sp>
      <p:sp>
        <p:nvSpPr>
          <p:cNvPr id="20" name="Rounded Rectangle 19"/>
          <p:cNvSpPr/>
          <p:nvPr/>
        </p:nvSpPr>
        <p:spPr>
          <a:xfrm>
            <a:off x="12664440" y="3429000"/>
            <a:ext cx="4526280" cy="5120640"/>
          </a:xfrm>
          <a:prstGeom prst="roundRect">
            <a:avLst>
              <a:gd name="adj" fmla="val 6000"/>
            </a:avLst>
          </a:prstGeom>
          <a:solidFill>
            <a:srgbClr val="093544"/>
          </a:solidFill>
          <a:ln w="9525">
            <a:solidFill>
              <a:srgbClr val="1C4B5A"/>
            </a:solidFill>
          </a:ln>
          <a:effectLst/>
        </p:spPr>
        <p:txBody>
          <a:bodyPr rtlCol="0" anchor="ctr"/>
          <a:lstStyle/>
          <a:p>
            <a:pPr algn="ctr"/>
          </a:p>
        </p:txBody>
      </p:sp>
      <p:sp>
        <p:nvSpPr>
          <p:cNvPr id="21" name="Oval 20"/>
          <p:cNvSpPr/>
          <p:nvPr/>
        </p:nvSpPr>
        <p:spPr>
          <a:xfrm>
            <a:off x="12883896" y="3602736"/>
            <a:ext cx="82296" cy="82296"/>
          </a:xfrm>
          <a:prstGeom prst="ellipse">
            <a:avLst/>
          </a:prstGeom>
          <a:solidFill>
            <a:srgbClr val="ED1548"/>
          </a:solidFill>
          <a:ln>
            <a:noFill/>
          </a:ln>
          <a:effectLst/>
        </p:spPr>
        <p:txBody>
          <a:bodyPr rtlCol="0" anchor="ctr"/>
          <a:lstStyle/>
          <a:p>
            <a:pPr algn="ctr"/>
          </a:p>
        </p:txBody>
      </p:sp>
      <p:sp>
        <p:nvSpPr>
          <p:cNvPr id="22" name="TextBox 21"/>
          <p:cNvSpPr txBox="1"/>
          <p:nvPr/>
        </p:nvSpPr>
        <p:spPr>
          <a:xfrm>
            <a:off x="13048488" y="3538728"/>
            <a:ext cx="4023359" cy="219456"/>
          </a:xfrm>
          <a:prstGeom prst="rect">
            <a:avLst/>
          </a:prstGeom>
          <a:noFill/>
        </p:spPr>
        <p:txBody>
          <a:bodyPr wrap="square" lIns="0" rIns="0" tIns="0" bIns="0" anchor="t">
            <a:noAutofit/>
          </a:bodyPr>
          <a:lstStyle/>
          <a:p>
            <a:pPr algn="l">
              <a:lnSpc>
                <a:spcPct val="102000"/>
              </a:lnSpc>
              <a:spcBef>
                <a:spcPts val="0"/>
              </a:spcBef>
              <a:spcAft>
                <a:spcPts val="0"/>
              </a:spcAft>
            </a:pPr>
            <a:r>
              <a:rPr b="1" sz="1050" i="0">
                <a:solidFill>
                  <a:srgbClr val="B9CBD2"/>
                </a:solidFill>
                <a:latin typeface="Consolas"/>
              </a:rPr>
              <a:t>forms &amp; http</a:t>
            </a:r>
          </a:p>
        </p:txBody>
      </p:sp>
      <p:sp>
        <p:nvSpPr>
          <p:cNvPr id="23" name="TextBox 22"/>
          <p:cNvSpPr txBox="1"/>
          <p:nvPr/>
        </p:nvSpPr>
        <p:spPr>
          <a:xfrm>
            <a:off x="12911328" y="3904487"/>
            <a:ext cx="4206240" cy="4480560"/>
          </a:xfrm>
          <a:prstGeom prst="rect">
            <a:avLst/>
          </a:prstGeom>
          <a:noFill/>
        </p:spPr>
        <p:txBody>
          <a:bodyPr wrap="none" lIns="0" rIns="0" tIns="0" bIns="0">
            <a:noAutofit/>
          </a:bodyPr>
          <a:lstStyle/>
          <a:p>
            <a:pPr>
              <a:lnSpc>
                <a:spcPct val="100000"/>
              </a:lnSpc>
              <a:spcBef>
                <a:spcPts val="0"/>
              </a:spcBef>
              <a:spcAft>
                <a:spcPts val="0"/>
              </a:spcAft>
            </a:pPr>
            <a:r>
              <a:rPr sz="1150">
                <a:solidFill>
                  <a:srgbClr val="EAF2F4"/>
                </a:solidFill>
                <a:latin typeface="Consolas"/>
              </a:rPr>
              <a:t>form = inject(NonNullableFormBuilder)</a:t>
            </a:r>
          </a:p>
          <a:p>
            <a:pPr>
              <a:lnSpc>
                <a:spcPct val="100000"/>
              </a:lnSpc>
              <a:spcBef>
                <a:spcPts val="0"/>
              </a:spcBef>
              <a:spcAft>
                <a:spcPts val="0"/>
              </a:spcAft>
            </a:pPr>
            <a:r>
              <a:rPr sz="1150">
                <a:solidFill>
                  <a:srgbClr val="EAF2F4"/>
                </a:solidFill>
                <a:latin typeface="Consolas"/>
              </a:rPr>
              <a:t>  .group({</a:t>
            </a:r>
          </a:p>
          <a:p>
            <a:pPr>
              <a:lnSpc>
                <a:spcPct val="100000"/>
              </a:lnSpc>
              <a:spcBef>
                <a:spcPts val="0"/>
              </a:spcBef>
              <a:spcAft>
                <a:spcPts val="0"/>
              </a:spcAft>
            </a:pPr>
            <a:r>
              <a:rPr sz="1150">
                <a:solidFill>
                  <a:srgbClr val="EAF2F4"/>
                </a:solidFill>
                <a:latin typeface="Consolas"/>
              </a:rPr>
              <a:t>    numero: [</a:t>
            </a:r>
            <a:r>
              <a:rPr sz="1150">
                <a:solidFill>
                  <a:srgbClr val="FFB3C1"/>
                </a:solidFill>
                <a:latin typeface="Consolas"/>
              </a:rPr>
              <a:t>''</a:t>
            </a:r>
            <a:r>
              <a:rPr sz="1150">
                <a:solidFill>
                  <a:srgbClr val="EAF2F4"/>
                </a:solidFill>
                <a:latin typeface="Consolas"/>
              </a:rPr>
              <a:t>, Validators.required],</a:t>
            </a:r>
          </a:p>
          <a:p>
            <a:pPr>
              <a:lnSpc>
                <a:spcPct val="100000"/>
              </a:lnSpc>
              <a:spcBef>
                <a:spcPts val="0"/>
              </a:spcBef>
              <a:spcAft>
                <a:spcPts val="0"/>
              </a:spcAft>
            </a:pPr>
            <a:r>
              <a:rPr sz="1150">
                <a:solidFill>
                  <a:srgbClr val="EAF2F4"/>
                </a:solidFill>
                <a:latin typeface="Consolas"/>
              </a:rPr>
              <a:t>    montantHT: [</a:t>
            </a:r>
            <a:r>
              <a:rPr sz="1150">
                <a:solidFill>
                  <a:srgbClr val="FFD166"/>
                </a:solidFill>
                <a:latin typeface="Consolas"/>
              </a:rPr>
              <a:t>0</a:t>
            </a:r>
            <a:r>
              <a:rPr sz="1150">
                <a:solidFill>
                  <a:srgbClr val="EAF2F4"/>
                </a:solidFill>
                <a:latin typeface="Consolas"/>
              </a:rPr>
              <a:t>, Validators.min(</a:t>
            </a:r>
            <a:r>
              <a:rPr sz="1150">
                <a:solidFill>
                  <a:srgbClr val="FFD166"/>
                </a:solidFill>
                <a:latin typeface="Consolas"/>
              </a:rPr>
              <a:t>0.01</a:t>
            </a:r>
            <a:r>
              <a:rPr sz="1150">
                <a:solidFill>
                  <a:srgbClr val="EAF2F4"/>
                </a:solidFill>
                <a:latin typeface="Consolas"/>
              </a:rPr>
              <a:t>)],</a:t>
            </a:r>
          </a:p>
          <a:p>
            <a:pPr>
              <a:lnSpc>
                <a:spcPct val="100000"/>
              </a:lnSpc>
              <a:spcBef>
                <a:spcPts val="0"/>
              </a:spcBef>
              <a:spcAft>
                <a:spcPts val="0"/>
              </a:spcAft>
            </a:pPr>
            <a:r>
              <a:rPr sz="1150">
                <a:solidFill>
                  <a:srgbClr val="EAF2F4"/>
                </a:solidFill>
                <a:latin typeface="Consolas"/>
              </a:rPr>
              <a:t>  });</a:t>
            </a:r>
          </a:p>
          <a:p>
            <a:pPr>
              <a:lnSpc>
                <a:spcPct val="100000"/>
              </a:lnSpc>
              <a:spcBef>
                <a:spcPts val="0"/>
              </a:spcBef>
              <a:spcAft>
                <a:spcPts val="0"/>
              </a:spcAft>
            </a:pPr>
          </a:p>
          <a:p>
            <a:pPr>
              <a:lnSpc>
                <a:spcPct val="100000"/>
              </a:lnSpc>
              <a:spcBef>
                <a:spcPts val="0"/>
              </a:spcBef>
              <a:spcAft>
                <a:spcPts val="0"/>
              </a:spcAft>
            </a:pPr>
            <a:r>
              <a:rPr sz="1150">
                <a:solidFill>
                  <a:srgbClr val="7FD1E0"/>
                </a:solidFill>
                <a:latin typeface="Consolas"/>
              </a:rPr>
              <a:t>this</a:t>
            </a:r>
            <a:r>
              <a:rPr sz="1150">
                <a:solidFill>
                  <a:srgbClr val="EAF2F4"/>
                </a:solidFill>
                <a:latin typeface="Consolas"/>
              </a:rPr>
              <a:t>.http.get&lt;Facture[]&gt;(url).pipe(</a:t>
            </a:r>
          </a:p>
          <a:p>
            <a:pPr>
              <a:lnSpc>
                <a:spcPct val="100000"/>
              </a:lnSpc>
              <a:spcBef>
                <a:spcPts val="0"/>
              </a:spcBef>
              <a:spcAft>
                <a:spcPts val="0"/>
              </a:spcAft>
            </a:pPr>
            <a:r>
              <a:rPr sz="1150">
                <a:solidFill>
                  <a:srgbClr val="EAF2F4"/>
                </a:solidFill>
                <a:latin typeface="Consolas"/>
              </a:rPr>
              <a:t>  switchMap(q =&gt; </a:t>
            </a:r>
            <a:r>
              <a:rPr sz="1150">
                <a:solidFill>
                  <a:srgbClr val="7FD1E0"/>
                </a:solidFill>
                <a:latin typeface="Consolas"/>
              </a:rPr>
              <a:t>this</a:t>
            </a:r>
            <a:r>
              <a:rPr sz="1150">
                <a:solidFill>
                  <a:srgbClr val="EAF2F4"/>
                </a:solidFill>
                <a:latin typeface="Consolas"/>
              </a:rPr>
              <a:t>.http.get(url, { params: { q } })),</a:t>
            </a:r>
          </a:p>
          <a:p>
            <a:pPr>
              <a:lnSpc>
                <a:spcPct val="100000"/>
              </a:lnSpc>
              <a:spcBef>
                <a:spcPts val="0"/>
              </a:spcBef>
              <a:spcAft>
                <a:spcPts val="0"/>
              </a:spcAft>
            </a:pPr>
            <a:r>
              <a:rPr sz="1150">
                <a:solidFill>
                  <a:srgbClr val="EAF2F4"/>
                </a:solidFill>
                <a:latin typeface="Consolas"/>
              </a:rPr>
              <a:t>  catchError(() =&gt; </a:t>
            </a:r>
            <a:r>
              <a:rPr sz="1150">
                <a:solidFill>
                  <a:srgbClr val="7FD1E0"/>
                </a:solidFill>
                <a:latin typeface="Consolas"/>
              </a:rPr>
              <a:t>of</a:t>
            </a:r>
            <a:r>
              <a:rPr sz="1150">
                <a:solidFill>
                  <a:srgbClr val="EAF2F4"/>
                </a:solidFill>
                <a:latin typeface="Consolas"/>
              </a:rPr>
              <a:t>([])),</a:t>
            </a:r>
          </a:p>
          <a:p>
            <a:pPr>
              <a:lnSpc>
                <a:spcPct val="100000"/>
              </a:lnSpc>
              <a:spcBef>
                <a:spcPts val="0"/>
              </a:spcBef>
              <a:spcAft>
                <a:spcPts val="0"/>
              </a:spcAft>
            </a:pPr>
            <a:r>
              <a:rPr sz="1150">
                <a:solidFill>
                  <a:srgbClr val="EAF2F4"/>
                </a:solidFill>
                <a:latin typeface="Consolas"/>
              </a:rPr>
              <a:t>);</a:t>
            </a:r>
          </a:p>
          <a:p>
            <a:pPr>
              <a:lnSpc>
                <a:spcPct val="100000"/>
              </a:lnSpc>
              <a:spcBef>
                <a:spcPts val="0"/>
              </a:spcBef>
              <a:spcAft>
                <a:spcPts val="0"/>
              </a:spcAft>
            </a:pPr>
          </a:p>
          <a:p>
            <a:pPr>
              <a:lnSpc>
                <a:spcPct val="100000"/>
              </a:lnSpc>
              <a:spcBef>
                <a:spcPts val="0"/>
              </a:spcBef>
              <a:spcAft>
                <a:spcPts val="0"/>
              </a:spcAft>
            </a:pPr>
            <a:r>
              <a:rPr sz="1150">
                <a:solidFill>
                  <a:srgbClr val="EAF2F4"/>
                </a:solidFill>
                <a:latin typeface="Consolas"/>
              </a:rPr>
              <a:t>toSignal(obs, { initialValue: [] });</a:t>
            </a:r>
          </a:p>
          <a:p>
            <a:pPr>
              <a:lnSpc>
                <a:spcPct val="100000"/>
              </a:lnSpc>
              <a:spcBef>
                <a:spcPts val="0"/>
              </a:spcBef>
              <a:spcAft>
                <a:spcPts val="0"/>
              </a:spcAft>
            </a:pPr>
            <a:r>
              <a:rPr sz="1150">
                <a:solidFill>
                  <a:srgbClr val="EAF2F4"/>
                </a:solidFill>
                <a:latin typeface="Consolas"/>
              </a:rPr>
              <a:t>provideHttpClient(withInterceptors([...]));</a:t>
            </a:r>
          </a:p>
        </p:txBody>
      </p:sp>
      <p:sp>
        <p:nvSpPr>
          <p:cNvPr id="24" name="Rounded Rectangle 23"/>
          <p:cNvSpPr/>
          <p:nvPr/>
        </p:nvSpPr>
        <p:spPr>
          <a:xfrm>
            <a:off x="2606040" y="8732520"/>
            <a:ext cx="14584680" cy="731520"/>
          </a:xfrm>
          <a:prstGeom prst="roundRect">
            <a:avLst>
              <a:gd name="adj" fmla="val 8000"/>
            </a:avLst>
          </a:prstGeom>
          <a:solidFill>
            <a:srgbClr val="FFF0F4"/>
          </a:solidFill>
          <a:ln>
            <a:noFill/>
          </a:ln>
          <a:effectLst/>
        </p:spPr>
        <p:txBody>
          <a:bodyPr rtlCol="0" anchor="ctr"/>
          <a:lstStyle/>
          <a:p>
            <a:pPr algn="ctr"/>
          </a:p>
        </p:txBody>
      </p:sp>
      <p:sp>
        <p:nvSpPr>
          <p:cNvPr id="25" name="Rectangle 24"/>
          <p:cNvSpPr/>
          <p:nvPr/>
        </p:nvSpPr>
        <p:spPr>
          <a:xfrm>
            <a:off x="2606040" y="8732520"/>
            <a:ext cx="64008" cy="731520"/>
          </a:xfrm>
          <a:prstGeom prst="rect">
            <a:avLst/>
          </a:prstGeom>
          <a:solidFill>
            <a:srgbClr val="ED1548"/>
          </a:solidFill>
          <a:ln>
            <a:noFill/>
          </a:ln>
          <a:effectLst/>
        </p:spPr>
        <p:txBody>
          <a:bodyPr rtlCol="0" anchor="ctr"/>
          <a:lstStyle/>
          <a:p>
            <a:pPr algn="ctr"/>
          </a:p>
        </p:txBody>
      </p:sp>
      <p:sp>
        <p:nvSpPr>
          <p:cNvPr id="26" name="TextBox 25"/>
          <p:cNvSpPr txBox="1"/>
          <p:nvPr/>
        </p:nvSpPr>
        <p:spPr>
          <a:xfrm>
            <a:off x="2898648" y="8897112"/>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C40E39"/>
                </a:solidFill>
                <a:latin typeface="Arial"/>
              </a:rPr>
              <a:t>COPIER, ADAPTER, TESTER</a:t>
            </a:r>
          </a:p>
        </p:txBody>
      </p:sp>
      <p:sp>
        <p:nvSpPr>
          <p:cNvPr id="27" name="TextBox 26"/>
          <p:cNvSpPr txBox="1"/>
          <p:nvPr/>
        </p:nvSpPr>
        <p:spPr>
          <a:xfrm>
            <a:off x="2898648" y="9189720"/>
            <a:ext cx="14173200" cy="164592"/>
          </a:xfrm>
          <a:prstGeom prst="rect">
            <a:avLst/>
          </a:prstGeom>
          <a:noFill/>
        </p:spPr>
        <p:txBody>
          <a:bodyPr wrap="square" lIns="0" rIns="0" tIns="0" bIns="0" anchor="t">
            <a:noAutofit/>
          </a:bodyPr>
          <a:lstStyle/>
          <a:p>
            <a:pPr algn="l">
              <a:lnSpc>
                <a:spcPct val="106000"/>
              </a:lnSpc>
              <a:spcBef>
                <a:spcPts val="0"/>
              </a:spcBef>
              <a:spcAft>
                <a:spcPts val="0"/>
              </a:spcAft>
            </a:pPr>
            <a:r>
              <a:rPr b="0" sz="1100" i="0">
                <a:solidFill>
                  <a:srgbClr val="1B3B47"/>
                </a:solidFill>
                <a:latin typeface="Arial"/>
              </a:rPr>
              <a:t>Ces extraits viennent des TPs. Adaptez les noms et les types ; ne copiez jamais un import sans vérifier qu'il existe dans votre version.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MÉMO  ·  DÉPANNAGE</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Les erreurs qui font perdre 10 minutes</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Symptôme → cause → correction.</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59 / 62</a:t>
            </a:r>
          </a:p>
        </p:txBody>
      </p:sp>
      <p:graphicFrame>
        <p:nvGraphicFramePr>
          <p:cNvPr id="9" name="Table 8"/>
          <p:cNvGraphicFramePr>
            <a:graphicFrameLocks noGrp="1"/>
          </p:cNvGraphicFramePr>
          <p:nvPr/>
        </p:nvGraphicFramePr>
        <p:xfrm>
          <a:off x="2606040" y="3063240"/>
          <a:ext cx="14584679" cy="5239512"/>
        </p:xfrm>
        <a:graphic>
          <a:graphicData uri="http://schemas.openxmlformats.org/drawingml/2006/table">
            <a:tbl>
              <a:tblPr>
                <a:tableStyleId>{5C22544A-7EE6-4342-B048-85BDC9FD1C3A}</a:tableStyleId>
              </a:tblPr>
              <a:tblGrid>
                <a:gridCol w="5163520"/>
                <a:gridCol w="3985875"/>
                <a:gridCol w="5435284"/>
              </a:tblGrid>
              <a:tr h="411480">
                <a:tc>
                  <a:txBody>
                    <a:bodyPr wrap="square"/>
                    <a:lstStyle/>
                    <a:p>
                      <a:pPr algn="l">
                        <a:lnSpc>
                          <a:spcPct val="100000"/>
                        </a:lnSpc>
                      </a:pPr>
                      <a:r>
                        <a:rPr b="1" sz="1250" i="0">
                          <a:solidFill>
                            <a:srgbClr val="FFFFFF"/>
                          </a:solidFill>
                          <a:latin typeface="Arial"/>
                        </a:rPr>
                        <a:t>Symptôme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250" i="0">
                          <a:solidFill>
                            <a:srgbClr val="FFFFFF"/>
                          </a:solidFill>
                          <a:latin typeface="Arial"/>
                        </a:rPr>
                        <a:t>Cause probable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wrap="square"/>
                    <a:lstStyle/>
                    <a:p>
                      <a:pPr algn="l">
                        <a:lnSpc>
                          <a:spcPct val="100000"/>
                        </a:lnSpc>
                      </a:pPr>
                      <a:r>
                        <a:rPr b="1" sz="1250" i="0">
                          <a:solidFill>
                            <a:srgbClr val="FFFFFF"/>
                          </a:solidFill>
                          <a:latin typeface="Arial"/>
                        </a:rPr>
                        <a:t>Correction</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r>
              <a:tr h="603504">
                <a:tc>
                  <a:txBody>
                    <a:bodyPr wrap="square"/>
                    <a:lstStyle/>
                    <a:p>
                      <a:pPr algn="l">
                        <a:lnSpc>
                          <a:spcPct val="100000"/>
                        </a:lnSpc>
                      </a:pPr>
                      <a:r>
                        <a:rPr sz="1125" b="0" i="0">
                          <a:solidFill>
                            <a:srgbClr val="ED1548"/>
                          </a:solidFill>
                          <a:latin typeface="Consolas"/>
                        </a:rPr>
                        <a:t>NG8001: 'app-x' is not a known element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250" i="0">
                          <a:solidFill>
                            <a:srgbClr val="1B3B47"/>
                          </a:solidFill>
                          <a:latin typeface="Arial"/>
                        </a:rPr>
                        <a:t>Import manquant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250" i="0">
                          <a:solidFill>
                            <a:srgbClr val="1B3B47"/>
                          </a:solidFill>
                          <a:latin typeface="Arial"/>
                        </a:rPr>
                        <a:t>Ajouter dans </a:t>
                      </a:r>
                      <a:r>
                        <a:rPr sz="1125" b="0" i="0">
                          <a:solidFill>
                            <a:srgbClr val="ED1548"/>
                          </a:solidFill>
                          <a:latin typeface="Consolas"/>
                        </a:rPr>
                        <a:t>imports</a:t>
                      </a:r>
                      <a:r>
                        <a:rPr b="0" sz="1250" i="0">
                          <a:solidFill>
                            <a:srgbClr val="1B3B47"/>
                          </a:solidFill>
                          <a:latin typeface="Arial"/>
                        </a:rPr>
                        <a:t> du composant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603504">
                <a:tc>
                  <a:txBody>
                    <a:bodyPr wrap="square"/>
                    <a:lstStyle/>
                    <a:p>
                      <a:pPr algn="l">
                        <a:lnSpc>
                          <a:spcPct val="100000"/>
                        </a:lnSpc>
                      </a:pPr>
                      <a:r>
                        <a:rPr sz="1125" b="0" i="0">
                          <a:solidFill>
                            <a:srgbClr val="ED1548"/>
                          </a:solidFill>
                          <a:latin typeface="Consolas"/>
                        </a:rPr>
                        <a:t>Can't bind to 'ngModel'</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sz="1125" b="0" i="0">
                          <a:solidFill>
                            <a:srgbClr val="ED1548"/>
                          </a:solidFill>
                          <a:latin typeface="Consolas"/>
                        </a:rPr>
                        <a:t>FormsModule</a:t>
                      </a:r>
                      <a:r>
                        <a:rPr b="0" sz="1250" i="0">
                          <a:solidFill>
                            <a:srgbClr val="1B3B47"/>
                          </a:solidFill>
                          <a:latin typeface="Arial"/>
                        </a:rPr>
                        <a:t> absent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250" i="0">
                          <a:solidFill>
                            <a:srgbClr val="1B3B47"/>
                          </a:solidFill>
                          <a:latin typeface="Arial"/>
                        </a:rPr>
                        <a:t>Reactive Forms ou importer </a:t>
                      </a:r>
                      <a:r>
                        <a:rPr sz="1125" b="0" i="0">
                          <a:solidFill>
                            <a:srgbClr val="ED1548"/>
                          </a:solidFill>
                          <a:latin typeface="Consolas"/>
                        </a:rPr>
                        <a:t>FormsModule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603504">
                <a:tc>
                  <a:txBody>
                    <a:bodyPr wrap="square"/>
                    <a:lstStyle/>
                    <a:p>
                      <a:pPr algn="l">
                        <a:lnSpc>
                          <a:spcPct val="100000"/>
                        </a:lnSpc>
                      </a:pPr>
                      <a:r>
                        <a:rPr sz="1125" b="0" i="0">
                          <a:solidFill>
                            <a:srgbClr val="ED1548"/>
                          </a:solidFill>
                          <a:latin typeface="Consolas"/>
                        </a:rPr>
                        <a:t>NullInjectorError: No provider</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250" i="0">
                          <a:solidFill>
                            <a:srgbClr val="1B3B47"/>
                          </a:solidFill>
                          <a:latin typeface="Arial"/>
                        </a:rPr>
                        <a:t>Service non fourni</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sz="1125" b="0" i="0">
                          <a:solidFill>
                            <a:srgbClr val="ED1548"/>
                          </a:solidFill>
                          <a:latin typeface="Consolas"/>
                        </a:rPr>
                        <a:t>@Service()</a:t>
                      </a:r>
                      <a:r>
                        <a:rPr b="0" sz="1250" i="0">
                          <a:solidFill>
                            <a:srgbClr val="1B3B47"/>
                          </a:solidFill>
                          <a:latin typeface="Arial"/>
                        </a:rPr>
                        <a:t> ou provider explicite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603504">
                <a:tc>
                  <a:txBody>
                    <a:bodyPr wrap="square"/>
                    <a:lstStyle/>
                    <a:p>
                      <a:pPr algn="l">
                        <a:lnSpc>
                          <a:spcPct val="100000"/>
                        </a:lnSpc>
                      </a:pPr>
                      <a:r>
                        <a:rPr sz="1125" b="0" i="0">
                          <a:solidFill>
                            <a:srgbClr val="ED1548"/>
                          </a:solidFill>
                          <a:latin typeface="Consolas"/>
                        </a:rPr>
                        <a:t>GET /factures 404</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250" i="0">
                          <a:solidFill>
                            <a:srgbClr val="1B3B47"/>
                          </a:solidFill>
                          <a:latin typeface="Arial"/>
                        </a:rPr>
                        <a:t>json-server arrêté / URL fausse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sz="1125" b="0" i="0">
                          <a:solidFill>
                            <a:srgbClr val="ED1548"/>
                          </a:solidFill>
                          <a:latin typeface="Consolas"/>
                        </a:rPr>
                        <a:t>npm run api</a:t>
                      </a:r>
                      <a:r>
                        <a:rPr b="0" sz="1250" i="0">
                          <a:solidFill>
                            <a:srgbClr val="1B3B47"/>
                          </a:solidFill>
                          <a:latin typeface="Arial"/>
                        </a:rPr>
                        <a:t>, vérifier </a:t>
                      </a:r>
                      <a:r>
                        <a:rPr sz="1125" b="0" i="0">
                          <a:solidFill>
                            <a:srgbClr val="ED1548"/>
                          </a:solidFill>
                          <a:latin typeface="Consolas"/>
                        </a:rPr>
                        <a:t>apiUrl</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603504">
                <a:tc>
                  <a:txBody>
                    <a:bodyPr wrap="square"/>
                    <a:lstStyle/>
                    <a:p>
                      <a:pPr algn="l">
                        <a:lnSpc>
                          <a:spcPct val="100000"/>
                        </a:lnSpc>
                      </a:pPr>
                      <a:r>
                        <a:rPr b="0" sz="1250" i="0">
                          <a:solidFill>
                            <a:srgbClr val="1B3B47"/>
                          </a:solidFill>
                          <a:latin typeface="Arial"/>
                        </a:rPr>
                        <a:t>La vue ne se met pas à jour</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250" i="0">
                          <a:solidFill>
                            <a:srgbClr val="1B3B47"/>
                          </a:solidFill>
                          <a:latin typeface="Arial"/>
                        </a:rPr>
                        <a:t>Mutation + OnPush</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sz="1125" b="0" i="0">
                          <a:solidFill>
                            <a:srgbClr val="ED1548"/>
                          </a:solidFill>
                          <a:latin typeface="Consolas"/>
                        </a:rPr>
                        <a:t>set()</a:t>
                      </a:r>
                      <a:r>
                        <a:rPr b="0" sz="1250" i="0">
                          <a:solidFill>
                            <a:srgbClr val="1B3B47"/>
                          </a:solidFill>
                          <a:latin typeface="Arial"/>
                        </a:rPr>
                        <a:t> / </a:t>
                      </a:r>
                      <a:r>
                        <a:rPr sz="1125" b="0" i="0">
                          <a:solidFill>
                            <a:srgbClr val="ED1548"/>
                          </a:solidFill>
                          <a:latin typeface="Consolas"/>
                        </a:rPr>
                        <a:t>update()</a:t>
                      </a:r>
                      <a:r>
                        <a:rPr b="0" sz="1250" i="0">
                          <a:solidFill>
                            <a:srgbClr val="1B3B47"/>
                          </a:solidFill>
                          <a:latin typeface="Arial"/>
                        </a:rPr>
                        <a:t>, nouveau tableau</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603504">
                <a:tc>
                  <a:txBody>
                    <a:bodyPr wrap="square"/>
                    <a:lstStyle/>
                    <a:p>
                      <a:pPr algn="l">
                        <a:lnSpc>
                          <a:spcPct val="100000"/>
                        </a:lnSpc>
                      </a:pPr>
                      <a:r>
                        <a:rPr sz="1125" b="0" i="0">
                          <a:solidFill>
                            <a:srgbClr val="ED1548"/>
                          </a:solidFill>
                          <a:latin typeface="Consolas"/>
                        </a:rPr>
                        <a:t>@for must have a track</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sz="1125" b="0" i="0">
                          <a:solidFill>
                            <a:srgbClr val="ED1548"/>
                          </a:solidFill>
                          <a:latin typeface="Consolas"/>
                        </a:rPr>
                        <a:t>track</a:t>
                      </a:r>
                      <a:r>
                        <a:rPr b="0" sz="1250" i="0">
                          <a:solidFill>
                            <a:srgbClr val="1B3B47"/>
                          </a:solidFill>
                          <a:latin typeface="Arial"/>
                        </a:rPr>
                        <a:t> manquant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sz="1125" b="0" i="0">
                          <a:solidFill>
                            <a:srgbClr val="ED1548"/>
                          </a:solidFill>
                          <a:latin typeface="Consolas"/>
                        </a:rPr>
                        <a:t>track f.id</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r h="603504">
                <a:tc>
                  <a:txBody>
                    <a:bodyPr wrap="square"/>
                    <a:lstStyle/>
                    <a:p>
                      <a:pPr algn="l">
                        <a:lnSpc>
                          <a:spcPct val="100000"/>
                        </a:lnSpc>
                      </a:pPr>
                      <a:r>
                        <a:rPr b="0" sz="1250" i="0">
                          <a:solidFill>
                            <a:srgbClr val="1B3B47"/>
                          </a:solidFill>
                          <a:latin typeface="Arial"/>
                        </a:rPr>
                        <a:t>Test HTTP : </a:t>
                      </a:r>
                      <a:r>
                        <a:rPr sz="1125" b="0" i="0">
                          <a:solidFill>
                            <a:srgbClr val="ED1548"/>
                          </a:solidFill>
                          <a:latin typeface="Consolas"/>
                        </a:rPr>
                        <a:t>no matching request</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b="0" sz="1250" i="0">
                          <a:solidFill>
                            <a:srgbClr val="1B3B47"/>
                          </a:solidFill>
                          <a:latin typeface="Arial"/>
                        </a:rPr>
                        <a:t>Requête non flush</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wrap="square"/>
                    <a:lstStyle/>
                    <a:p>
                      <a:pPr algn="l">
                        <a:lnSpc>
                          <a:spcPct val="100000"/>
                        </a:lnSpc>
                      </a:pPr>
                      <a:r>
                        <a:rPr sz="1125" b="0" i="0">
                          <a:solidFill>
                            <a:srgbClr val="ED1548"/>
                          </a:solidFill>
                          <a:latin typeface="Consolas"/>
                        </a:rPr>
                        <a:t>req.flush(...)</a:t>
                      </a:r>
                      <a:r>
                        <a:rPr b="0" sz="1250" i="0">
                          <a:solidFill>
                            <a:srgbClr val="1B3B47"/>
                          </a:solidFill>
                          <a:latin typeface="Arial"/>
                        </a:rPr>
                        <a:t> puis </a:t>
                      </a:r>
                      <a:r>
                        <a:rPr sz="1125" b="0" i="0">
                          <a:solidFill>
                            <a:srgbClr val="ED1548"/>
                          </a:solidFill>
                          <a:latin typeface="Consolas"/>
                        </a:rPr>
                        <a:t>http.verify()</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r>
              <a:tr h="603504">
                <a:tc>
                  <a:txBody>
                    <a:bodyPr wrap="square"/>
                    <a:lstStyle/>
                    <a:p>
                      <a:pPr algn="l">
                        <a:lnSpc>
                          <a:spcPct val="100000"/>
                        </a:lnSpc>
                      </a:pPr>
                      <a:r>
                        <a:rPr b="0" sz="1250" i="0">
                          <a:solidFill>
                            <a:srgbClr val="1B3B47"/>
                          </a:solidFill>
                          <a:latin typeface="Arial"/>
                        </a:rPr>
                        <a:t>Le chunk n'est pas lazy</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b="0" sz="1250" i="0">
                          <a:solidFill>
                            <a:srgbClr val="1B3B47"/>
                          </a:solidFill>
                          <a:latin typeface="Arial"/>
                        </a:rPr>
                        <a:t>Import statique</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wrap="square"/>
                    <a:lstStyle/>
                    <a:p>
                      <a:pPr algn="l">
                        <a:lnSpc>
                          <a:spcPct val="100000"/>
                        </a:lnSpc>
                      </a:pPr>
                      <a:r>
                        <a:rPr sz="1125" b="0" i="0">
                          <a:solidFill>
                            <a:srgbClr val="ED1548"/>
                          </a:solidFill>
                          <a:latin typeface="Consolas"/>
                        </a:rPr>
                        <a:t>loadComponent</a:t>
                      </a:r>
                      <a:r>
                        <a:rPr b="0" sz="1250" i="0">
                          <a:solidFill>
                            <a:srgbClr val="1B3B47"/>
                          </a:solidFill>
                          <a:latin typeface="Arial"/>
                        </a:rPr>
                        <a:t> / </a:t>
                      </a:r>
                      <a:r>
                        <a:rPr sz="1125" b="0" i="0">
                          <a:solidFill>
                            <a:srgbClr val="ED1548"/>
                          </a:solidFill>
                          <a:latin typeface="Consolas"/>
                        </a:rPr>
                        <a:t>loadChildren</a:t>
                      </a:r>
                    </a:p>
                  </a:txBody>
                  <a:tcPr marL="109728" marR="91440"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r>
            </a:tbl>
          </a:graphicData>
        </a:graphic>
      </p:graphicFrame>
      <p:sp>
        <p:nvSpPr>
          <p:cNvPr id="10" name="Rounded Rectangle 9"/>
          <p:cNvSpPr/>
          <p:nvPr/>
        </p:nvSpPr>
        <p:spPr>
          <a:xfrm>
            <a:off x="2606040" y="8595360"/>
            <a:ext cx="14584680" cy="868680"/>
          </a:xfrm>
          <a:prstGeom prst="roundRect">
            <a:avLst>
              <a:gd name="adj" fmla="val 8000"/>
            </a:avLst>
          </a:prstGeom>
          <a:solidFill>
            <a:srgbClr val="EBF6F8"/>
          </a:solidFill>
          <a:ln>
            <a:noFill/>
          </a:ln>
          <a:effectLst/>
        </p:spPr>
        <p:txBody>
          <a:bodyPr rtlCol="0" anchor="ctr"/>
          <a:lstStyle/>
          <a:p>
            <a:pPr algn="ctr"/>
          </a:p>
        </p:txBody>
      </p:sp>
      <p:sp>
        <p:nvSpPr>
          <p:cNvPr id="11" name="Rectangle 10"/>
          <p:cNvSpPr/>
          <p:nvPr/>
        </p:nvSpPr>
        <p:spPr>
          <a:xfrm>
            <a:off x="2606040" y="8595360"/>
            <a:ext cx="64008" cy="868680"/>
          </a:xfrm>
          <a:prstGeom prst="rect">
            <a:avLst/>
          </a:prstGeom>
          <a:solidFill>
            <a:srgbClr val="0B4F6C"/>
          </a:solidFill>
          <a:ln>
            <a:noFill/>
          </a:ln>
          <a:effectLst/>
        </p:spPr>
        <p:txBody>
          <a:bodyPr rtlCol="0" anchor="ctr"/>
          <a:lstStyle/>
          <a:p>
            <a:pPr algn="ctr"/>
          </a:p>
        </p:txBody>
      </p:sp>
      <p:sp>
        <p:nvSpPr>
          <p:cNvPr id="12" name="TextBox 11"/>
          <p:cNvSpPr txBox="1"/>
          <p:nvPr/>
        </p:nvSpPr>
        <p:spPr>
          <a:xfrm>
            <a:off x="2898648" y="8759952"/>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RÉFLEXE</a:t>
            </a:r>
          </a:p>
        </p:txBody>
      </p:sp>
      <p:sp>
        <p:nvSpPr>
          <p:cNvPr id="13" name="TextBox 12"/>
          <p:cNvSpPr txBox="1"/>
          <p:nvPr/>
        </p:nvSpPr>
        <p:spPr>
          <a:xfrm>
            <a:off x="2898648" y="9052560"/>
            <a:ext cx="14173200" cy="301751"/>
          </a:xfrm>
          <a:prstGeom prst="rect">
            <a:avLst/>
          </a:prstGeom>
          <a:noFill/>
        </p:spPr>
        <p:txBody>
          <a:bodyPr wrap="square" lIns="0" rIns="0" tIns="0" bIns="0" anchor="t">
            <a:noAutofit/>
          </a:bodyPr>
          <a:lstStyle/>
          <a:p>
            <a:pPr algn="l">
              <a:lnSpc>
                <a:spcPct val="106000"/>
              </a:lnSpc>
              <a:spcBef>
                <a:spcPts val="0"/>
              </a:spcBef>
              <a:spcAft>
                <a:spcPts val="0"/>
              </a:spcAft>
            </a:pPr>
            <a:r>
              <a:rPr b="0" sz="1300" i="0">
                <a:solidFill>
                  <a:srgbClr val="1B3B47"/>
                </a:solidFill>
                <a:latin typeface="Arial"/>
              </a:rPr>
              <a:t>Lire le message complet, pas seulement la première ligne. Angular donne souvent le fichier et la ligne exacte.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ANNEXE</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Corrigés des quiz</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Une réponse courte, à compléter en discussion.</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60 / 62</a:t>
            </a:r>
          </a:p>
        </p:txBody>
      </p:sp>
      <p:sp>
        <p:nvSpPr>
          <p:cNvPr id="9" name="Rounded Rectangle 8"/>
          <p:cNvSpPr/>
          <p:nvPr/>
        </p:nvSpPr>
        <p:spPr>
          <a:xfrm>
            <a:off x="2606040" y="3108960"/>
            <a:ext cx="4572000" cy="566928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0" name="Rectangle 9"/>
          <p:cNvSpPr/>
          <p:nvPr/>
        </p:nvSpPr>
        <p:spPr>
          <a:xfrm>
            <a:off x="2606040" y="3108960"/>
            <a:ext cx="4572000" cy="50292"/>
          </a:xfrm>
          <a:prstGeom prst="rect">
            <a:avLst/>
          </a:prstGeom>
          <a:solidFill>
            <a:srgbClr val="ED1548"/>
          </a:solidFill>
          <a:ln>
            <a:noFill/>
          </a:ln>
          <a:effectLst/>
        </p:spPr>
        <p:txBody>
          <a:bodyPr rtlCol="0" anchor="ctr"/>
          <a:lstStyle/>
          <a:p>
            <a:pPr algn="ctr"/>
          </a:p>
        </p:txBody>
      </p:sp>
      <p:sp>
        <p:nvSpPr>
          <p:cNvPr id="11" name="TextBox 10"/>
          <p:cNvSpPr txBox="1"/>
          <p:nvPr/>
        </p:nvSpPr>
        <p:spPr>
          <a:xfrm>
            <a:off x="2880360" y="3291840"/>
            <a:ext cx="4023360" cy="320040"/>
          </a:xfrm>
          <a:prstGeom prst="rect">
            <a:avLst/>
          </a:prstGeom>
          <a:noFill/>
        </p:spPr>
        <p:txBody>
          <a:bodyPr wrap="square" lIns="0" rIns="0" tIns="0" bIns="0" anchor="t">
            <a:noAutofit/>
          </a:bodyPr>
          <a:lstStyle/>
          <a:p>
            <a:pPr algn="l">
              <a:lnSpc>
                <a:spcPct val="102000"/>
              </a:lnSpc>
              <a:spcBef>
                <a:spcPts val="0"/>
              </a:spcBef>
              <a:spcAft>
                <a:spcPts val="0"/>
              </a:spcAft>
            </a:pPr>
            <a:r>
              <a:rPr b="1" sz="1700" i="0">
                <a:solidFill>
                  <a:srgbClr val="ED1548"/>
                </a:solidFill>
                <a:latin typeface="Arial"/>
              </a:rPr>
              <a:t>Jour 1</a:t>
            </a:r>
          </a:p>
        </p:txBody>
      </p:sp>
      <p:sp>
        <p:nvSpPr>
          <p:cNvPr id="12" name="TextBox 11"/>
          <p:cNvSpPr txBox="1"/>
          <p:nvPr/>
        </p:nvSpPr>
        <p:spPr>
          <a:xfrm>
            <a:off x="2880360" y="3749039"/>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093544"/>
                </a:solidFill>
                <a:latin typeface="Arial"/>
              </a:rPr>
              <a:t>Pourquoi </a:t>
            </a:r>
            <a:r>
              <a:rPr sz="1125" b="1" i="0">
                <a:solidFill>
                  <a:srgbClr val="ED1548"/>
                </a:solidFill>
                <a:latin typeface="Consolas"/>
              </a:rPr>
              <a:t>track</a:t>
            </a:r>
            <a:r>
              <a:rPr b="1" sz="1250" i="0">
                <a:solidFill>
                  <a:srgbClr val="093544"/>
                </a:solidFill>
                <a:latin typeface="Arial"/>
              </a:rPr>
              <a:t> ?</a:t>
            </a:r>
          </a:p>
        </p:txBody>
      </p:sp>
      <p:sp>
        <p:nvSpPr>
          <p:cNvPr id="13" name="TextBox 12"/>
          <p:cNvSpPr txBox="1"/>
          <p:nvPr/>
        </p:nvSpPr>
        <p:spPr>
          <a:xfrm>
            <a:off x="2880360" y="4005072"/>
            <a:ext cx="4023360" cy="1051560"/>
          </a:xfrm>
          <a:prstGeom prst="rect">
            <a:avLst/>
          </a:prstGeom>
          <a:noFill/>
        </p:spPr>
        <p:txBody>
          <a:bodyPr wrap="square" lIns="0" rIns="0" tIns="0" bIns="0" anchor="t">
            <a:noAutofit/>
          </a:bodyPr>
          <a:lstStyle/>
          <a:p>
            <a:pPr algn="l">
              <a:lnSpc>
                <a:spcPct val="105000"/>
              </a:lnSpc>
              <a:spcBef>
                <a:spcPts val="0"/>
              </a:spcBef>
              <a:spcAft>
                <a:spcPts val="0"/>
              </a:spcAft>
            </a:pPr>
            <a:r>
              <a:rPr b="0" sz="1250" i="0">
                <a:solidFill>
                  <a:srgbClr val="1B3B47"/>
                </a:solidFill>
                <a:latin typeface="Arial"/>
              </a:rPr>
              <a:t>Il identifie chaque élément. Sans lui, Angular ne peut pas savoir quoi conserver et recrée le DOM : perte d'état et de performance.</a:t>
            </a:r>
          </a:p>
        </p:txBody>
      </p:sp>
      <p:sp>
        <p:nvSpPr>
          <p:cNvPr id="14" name="TextBox 13"/>
          <p:cNvSpPr txBox="1"/>
          <p:nvPr/>
        </p:nvSpPr>
        <p:spPr>
          <a:xfrm>
            <a:off x="2880360" y="5321807"/>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sz="1125" b="1" i="0">
                <a:solidFill>
                  <a:srgbClr val="ED1548"/>
                </a:solidFill>
                <a:latin typeface="Consolas"/>
              </a:rPr>
              <a:t>computed</a:t>
            </a:r>
            <a:r>
              <a:rPr b="1" sz="1250" i="0">
                <a:solidFill>
                  <a:srgbClr val="093544"/>
                </a:solidFill>
                <a:latin typeface="Arial"/>
              </a:rPr>
              <a:t> vs méthode ?</a:t>
            </a:r>
          </a:p>
        </p:txBody>
      </p:sp>
      <p:sp>
        <p:nvSpPr>
          <p:cNvPr id="15" name="TextBox 14"/>
          <p:cNvSpPr txBox="1"/>
          <p:nvPr/>
        </p:nvSpPr>
        <p:spPr>
          <a:xfrm>
            <a:off x="2880360" y="5577840"/>
            <a:ext cx="4023360" cy="1051560"/>
          </a:xfrm>
          <a:prstGeom prst="rect">
            <a:avLst/>
          </a:prstGeom>
          <a:noFill/>
        </p:spPr>
        <p:txBody>
          <a:bodyPr wrap="square" lIns="0" rIns="0" tIns="0" bIns="0" anchor="t">
            <a:noAutofit/>
          </a:bodyPr>
          <a:lstStyle/>
          <a:p>
            <a:pPr algn="l">
              <a:lnSpc>
                <a:spcPct val="105000"/>
              </a:lnSpc>
              <a:spcBef>
                <a:spcPts val="0"/>
              </a:spcBef>
              <a:spcAft>
                <a:spcPts val="0"/>
              </a:spcAft>
            </a:pPr>
            <a:r>
              <a:rPr sz="1125" b="0" i="0">
                <a:solidFill>
                  <a:srgbClr val="ED1548"/>
                </a:solidFill>
                <a:latin typeface="Consolas"/>
              </a:rPr>
              <a:t>computed</a:t>
            </a:r>
            <a:r>
              <a:rPr b="0" sz="1250" i="0">
                <a:solidFill>
                  <a:srgbClr val="1B3B47"/>
                </a:solidFill>
                <a:latin typeface="Arial"/>
              </a:rPr>
              <a:t> mémoïse et ne recalcule que si une dépendance change. Une méthode est rappelée à chaque détection de changement.</a:t>
            </a:r>
          </a:p>
        </p:txBody>
      </p:sp>
      <p:sp>
        <p:nvSpPr>
          <p:cNvPr id="16" name="TextBox 15"/>
          <p:cNvSpPr txBox="1"/>
          <p:nvPr/>
        </p:nvSpPr>
        <p:spPr>
          <a:xfrm>
            <a:off x="2880360" y="6894575"/>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093544"/>
                </a:solidFill>
                <a:latin typeface="Arial"/>
              </a:rPr>
              <a:t>Directive ou composant ?</a:t>
            </a:r>
          </a:p>
        </p:txBody>
      </p:sp>
      <p:sp>
        <p:nvSpPr>
          <p:cNvPr id="17" name="TextBox 16"/>
          <p:cNvSpPr txBox="1"/>
          <p:nvPr/>
        </p:nvSpPr>
        <p:spPr>
          <a:xfrm>
            <a:off x="2880360" y="7150607"/>
            <a:ext cx="4023360" cy="1051560"/>
          </a:xfrm>
          <a:prstGeom prst="rect">
            <a:avLst/>
          </a:prstGeom>
          <a:noFill/>
        </p:spPr>
        <p:txBody>
          <a:bodyPr wrap="square" lIns="0" rIns="0" tIns="0" bIns="0" anchor="t">
            <a:noAutofit/>
          </a:bodyPr>
          <a:lstStyle/>
          <a:p>
            <a:pPr algn="l">
              <a:lnSpc>
                <a:spcPct val="105000"/>
              </a:lnSpc>
              <a:spcBef>
                <a:spcPts val="0"/>
              </a:spcBef>
              <a:spcAft>
                <a:spcPts val="0"/>
              </a:spcAft>
            </a:pPr>
            <a:r>
              <a:rPr b="0" sz="1250" i="0">
                <a:solidFill>
                  <a:srgbClr val="1B3B47"/>
                </a:solidFill>
                <a:latin typeface="Arial"/>
              </a:rPr>
              <a:t>Directive quand on modifie un élément existant sans créer de DOM (badge, highlight) ou qu'on cumule des comportements.</a:t>
            </a:r>
          </a:p>
        </p:txBody>
      </p:sp>
      <p:sp>
        <p:nvSpPr>
          <p:cNvPr id="18" name="Rounded Rectangle 17"/>
          <p:cNvSpPr/>
          <p:nvPr/>
        </p:nvSpPr>
        <p:spPr>
          <a:xfrm>
            <a:off x="7680960" y="3108960"/>
            <a:ext cx="4572000" cy="566928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9" name="Rectangle 18"/>
          <p:cNvSpPr/>
          <p:nvPr/>
        </p:nvSpPr>
        <p:spPr>
          <a:xfrm>
            <a:off x="7680960" y="3108960"/>
            <a:ext cx="4572000" cy="50292"/>
          </a:xfrm>
          <a:prstGeom prst="rect">
            <a:avLst/>
          </a:prstGeom>
          <a:solidFill>
            <a:srgbClr val="0B4F6C"/>
          </a:solidFill>
          <a:ln>
            <a:noFill/>
          </a:ln>
          <a:effectLst/>
        </p:spPr>
        <p:txBody>
          <a:bodyPr rtlCol="0" anchor="ctr"/>
          <a:lstStyle/>
          <a:p>
            <a:pPr algn="ctr"/>
          </a:p>
        </p:txBody>
      </p:sp>
      <p:sp>
        <p:nvSpPr>
          <p:cNvPr id="20" name="TextBox 19"/>
          <p:cNvSpPr txBox="1"/>
          <p:nvPr/>
        </p:nvSpPr>
        <p:spPr>
          <a:xfrm>
            <a:off x="7955280" y="3291840"/>
            <a:ext cx="4023360" cy="320040"/>
          </a:xfrm>
          <a:prstGeom prst="rect">
            <a:avLst/>
          </a:prstGeom>
          <a:noFill/>
        </p:spPr>
        <p:txBody>
          <a:bodyPr wrap="square" lIns="0" rIns="0" tIns="0" bIns="0" anchor="t">
            <a:noAutofit/>
          </a:bodyPr>
          <a:lstStyle/>
          <a:p>
            <a:pPr algn="l">
              <a:lnSpc>
                <a:spcPct val="102000"/>
              </a:lnSpc>
              <a:spcBef>
                <a:spcPts val="0"/>
              </a:spcBef>
              <a:spcAft>
                <a:spcPts val="0"/>
              </a:spcAft>
            </a:pPr>
            <a:r>
              <a:rPr b="1" sz="1700" i="0">
                <a:solidFill>
                  <a:srgbClr val="0B4F6C"/>
                </a:solidFill>
                <a:latin typeface="Arial"/>
              </a:rPr>
              <a:t>Jour 2</a:t>
            </a:r>
          </a:p>
        </p:txBody>
      </p:sp>
      <p:sp>
        <p:nvSpPr>
          <p:cNvPr id="21" name="TextBox 20"/>
          <p:cNvSpPr txBox="1"/>
          <p:nvPr/>
        </p:nvSpPr>
        <p:spPr>
          <a:xfrm>
            <a:off x="7955280" y="3749039"/>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093544"/>
                </a:solidFill>
                <a:latin typeface="Arial"/>
              </a:rPr>
              <a:t>Pas d'abonnement ?</a:t>
            </a:r>
          </a:p>
        </p:txBody>
      </p:sp>
      <p:sp>
        <p:nvSpPr>
          <p:cNvPr id="22" name="TextBox 21"/>
          <p:cNvSpPr txBox="1"/>
          <p:nvPr/>
        </p:nvSpPr>
        <p:spPr>
          <a:xfrm>
            <a:off x="7955280" y="4005072"/>
            <a:ext cx="4023360" cy="1051560"/>
          </a:xfrm>
          <a:prstGeom prst="rect">
            <a:avLst/>
          </a:prstGeom>
          <a:noFill/>
        </p:spPr>
        <p:txBody>
          <a:bodyPr wrap="square" lIns="0" rIns="0" tIns="0" bIns="0" anchor="t">
            <a:noAutofit/>
          </a:bodyPr>
          <a:lstStyle/>
          <a:p>
            <a:pPr algn="l">
              <a:lnSpc>
                <a:spcPct val="105000"/>
              </a:lnSpc>
              <a:spcBef>
                <a:spcPts val="0"/>
              </a:spcBef>
              <a:spcAft>
                <a:spcPts val="0"/>
              </a:spcAft>
            </a:pPr>
            <a:r>
              <a:rPr b="0" sz="1250" i="0">
                <a:solidFill>
                  <a:srgbClr val="1B3B47"/>
                </a:solidFill>
                <a:latin typeface="Arial"/>
              </a:rPr>
              <a:t>Rien ne part : un Observable </a:t>
            </a:r>
            <a:r>
              <a:rPr sz="1125" b="0" i="0">
                <a:solidFill>
                  <a:srgbClr val="ED1548"/>
                </a:solidFill>
                <a:latin typeface="Consolas"/>
              </a:rPr>
              <a:t>HttpClient</a:t>
            </a:r>
            <a:r>
              <a:rPr b="0" sz="1250" i="0">
                <a:solidFill>
                  <a:srgbClr val="1B3B47"/>
                </a:solidFill>
                <a:latin typeface="Arial"/>
              </a:rPr>
              <a:t> est froid. Il faut </a:t>
            </a:r>
            <a:r>
              <a:rPr sz="1125" b="0" i="0">
                <a:solidFill>
                  <a:srgbClr val="ED1548"/>
                </a:solidFill>
                <a:latin typeface="Consolas"/>
              </a:rPr>
              <a:t>subscribe</a:t>
            </a:r>
            <a:r>
              <a:rPr b="0" sz="1250" i="0">
                <a:solidFill>
                  <a:srgbClr val="1B3B47"/>
                </a:solidFill>
                <a:latin typeface="Arial"/>
              </a:rPr>
              <a:t>, </a:t>
            </a:r>
            <a:r>
              <a:rPr sz="1125" b="0" i="0">
                <a:solidFill>
                  <a:srgbClr val="ED1548"/>
                </a:solidFill>
                <a:latin typeface="Consolas"/>
              </a:rPr>
              <a:t>toSignal</a:t>
            </a:r>
            <a:r>
              <a:rPr b="0" sz="1250" i="0">
                <a:solidFill>
                  <a:srgbClr val="1B3B47"/>
                </a:solidFill>
                <a:latin typeface="Arial"/>
              </a:rPr>
              <a:t> ou le pipe </a:t>
            </a:r>
            <a:r>
              <a:rPr sz="1125" b="0" i="0">
                <a:solidFill>
                  <a:srgbClr val="ED1548"/>
                </a:solidFill>
                <a:latin typeface="Consolas"/>
              </a:rPr>
              <a:t>async</a:t>
            </a:r>
            <a:r>
              <a:rPr b="0" sz="1250" i="0">
                <a:solidFill>
                  <a:srgbClr val="1B3B47"/>
                </a:solidFill>
                <a:latin typeface="Arial"/>
              </a:rPr>
              <a:t>.</a:t>
            </a:r>
          </a:p>
        </p:txBody>
      </p:sp>
      <p:sp>
        <p:nvSpPr>
          <p:cNvPr id="23" name="TextBox 22"/>
          <p:cNvSpPr txBox="1"/>
          <p:nvPr/>
        </p:nvSpPr>
        <p:spPr>
          <a:xfrm>
            <a:off x="7955280" y="5321807"/>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sz="1125" b="1" i="0">
                <a:solidFill>
                  <a:srgbClr val="ED1548"/>
                </a:solidFill>
                <a:latin typeface="Consolas"/>
              </a:rPr>
              <a:t>switchMap</a:t>
            </a:r>
            <a:r>
              <a:rPr b="1" sz="1250" i="0">
                <a:solidFill>
                  <a:srgbClr val="093544"/>
                </a:solidFill>
                <a:latin typeface="Arial"/>
              </a:rPr>
              <a:t> ou </a:t>
            </a:r>
            <a:r>
              <a:rPr sz="1125" b="1" i="0">
                <a:solidFill>
                  <a:srgbClr val="ED1548"/>
                </a:solidFill>
                <a:latin typeface="Consolas"/>
              </a:rPr>
              <a:t>mergeMap</a:t>
            </a:r>
            <a:r>
              <a:rPr b="1" sz="1250" i="0">
                <a:solidFill>
                  <a:srgbClr val="093544"/>
                </a:solidFill>
                <a:latin typeface="Arial"/>
              </a:rPr>
              <a:t> ?</a:t>
            </a:r>
          </a:p>
        </p:txBody>
      </p:sp>
      <p:sp>
        <p:nvSpPr>
          <p:cNvPr id="24" name="TextBox 23"/>
          <p:cNvSpPr txBox="1"/>
          <p:nvPr/>
        </p:nvSpPr>
        <p:spPr>
          <a:xfrm>
            <a:off x="7955280" y="5577840"/>
            <a:ext cx="4023360" cy="1051560"/>
          </a:xfrm>
          <a:prstGeom prst="rect">
            <a:avLst/>
          </a:prstGeom>
          <a:noFill/>
        </p:spPr>
        <p:txBody>
          <a:bodyPr wrap="square" lIns="0" rIns="0" tIns="0" bIns="0" anchor="t">
            <a:noAutofit/>
          </a:bodyPr>
          <a:lstStyle/>
          <a:p>
            <a:pPr algn="l">
              <a:lnSpc>
                <a:spcPct val="105000"/>
              </a:lnSpc>
              <a:spcBef>
                <a:spcPts val="0"/>
              </a:spcBef>
              <a:spcAft>
                <a:spcPts val="0"/>
              </a:spcAft>
            </a:pPr>
            <a:r>
              <a:rPr sz="1125" b="0" i="0">
                <a:solidFill>
                  <a:srgbClr val="ED1548"/>
                </a:solidFill>
                <a:latin typeface="Consolas"/>
              </a:rPr>
              <a:t>switchMap</a:t>
            </a:r>
            <a:r>
              <a:rPr b="0" sz="1250" i="0">
                <a:solidFill>
                  <a:srgbClr val="1B3B47"/>
                </a:solidFill>
                <a:latin typeface="Arial"/>
              </a:rPr>
              <a:t> pour une recherche : il annule la requête précédente. </a:t>
            </a:r>
            <a:r>
              <a:rPr sz="1125" b="0" i="0">
                <a:solidFill>
                  <a:srgbClr val="ED1548"/>
                </a:solidFill>
                <a:latin typeface="Consolas"/>
              </a:rPr>
              <a:t>mergeMap</a:t>
            </a:r>
            <a:r>
              <a:rPr b="0" sz="1250" i="0">
                <a:solidFill>
                  <a:srgbClr val="1B3B47"/>
                </a:solidFill>
                <a:latin typeface="Arial"/>
              </a:rPr>
              <a:t> laisse les réponses arriver dans le désordre.</a:t>
            </a:r>
          </a:p>
        </p:txBody>
      </p:sp>
      <p:sp>
        <p:nvSpPr>
          <p:cNvPr id="25" name="TextBox 24"/>
          <p:cNvSpPr txBox="1"/>
          <p:nvPr/>
        </p:nvSpPr>
        <p:spPr>
          <a:xfrm>
            <a:off x="7955280" y="6894575"/>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sz="1125" b="1" i="0">
                <a:solidFill>
                  <a:srgbClr val="ED1548"/>
                </a:solidFill>
                <a:latin typeface="Consolas"/>
              </a:rPr>
              <a:t>model()</a:t>
            </a:r>
            <a:r>
              <a:rPr b="1" sz="1250" i="0">
                <a:solidFill>
                  <a:srgbClr val="093544"/>
                </a:solidFill>
                <a:latin typeface="Arial"/>
              </a:rPr>
              <a:t> ?</a:t>
            </a:r>
          </a:p>
        </p:txBody>
      </p:sp>
      <p:sp>
        <p:nvSpPr>
          <p:cNvPr id="26" name="TextBox 25"/>
          <p:cNvSpPr txBox="1"/>
          <p:nvPr/>
        </p:nvSpPr>
        <p:spPr>
          <a:xfrm>
            <a:off x="7955280" y="7150607"/>
            <a:ext cx="4023360" cy="1051560"/>
          </a:xfrm>
          <a:prstGeom prst="rect">
            <a:avLst/>
          </a:prstGeom>
          <a:noFill/>
        </p:spPr>
        <p:txBody>
          <a:bodyPr wrap="square" lIns="0" rIns="0" tIns="0" bIns="0" anchor="t">
            <a:noAutofit/>
          </a:bodyPr>
          <a:lstStyle/>
          <a:p>
            <a:pPr algn="l">
              <a:lnSpc>
                <a:spcPct val="105000"/>
              </a:lnSpc>
              <a:spcBef>
                <a:spcPts val="0"/>
              </a:spcBef>
              <a:spcAft>
                <a:spcPts val="0"/>
              </a:spcAft>
            </a:pPr>
            <a:r>
              <a:rPr b="0" sz="1250" i="0">
                <a:solidFill>
                  <a:srgbClr val="1B3B47"/>
                </a:solidFill>
                <a:latin typeface="Arial"/>
              </a:rPr>
              <a:t>Quand l'enfant doit lire et écrire la valeur (two-way). Sinon </a:t>
            </a:r>
            <a:r>
              <a:rPr sz="1125" b="0" i="0">
                <a:solidFill>
                  <a:srgbClr val="ED1548"/>
                </a:solidFill>
                <a:latin typeface="Consolas"/>
              </a:rPr>
              <a:t>input()</a:t>
            </a:r>
            <a:r>
              <a:rPr b="0" sz="1250" i="0">
                <a:solidFill>
                  <a:srgbClr val="1B3B47"/>
                </a:solidFill>
                <a:latin typeface="Arial"/>
              </a:rPr>
              <a:t> + </a:t>
            </a:r>
            <a:r>
              <a:rPr sz="1125" b="0" i="0">
                <a:solidFill>
                  <a:srgbClr val="ED1548"/>
                </a:solidFill>
                <a:latin typeface="Consolas"/>
              </a:rPr>
              <a:t>output()</a:t>
            </a:r>
            <a:r>
              <a:rPr b="0" sz="1250" i="0">
                <a:solidFill>
                  <a:srgbClr val="1B3B47"/>
                </a:solidFill>
                <a:latin typeface="Arial"/>
              </a:rPr>
              <a:t> séparent mieux les responsabilités.</a:t>
            </a:r>
          </a:p>
        </p:txBody>
      </p:sp>
      <p:sp>
        <p:nvSpPr>
          <p:cNvPr id="27" name="Rounded Rectangle 26"/>
          <p:cNvSpPr/>
          <p:nvPr/>
        </p:nvSpPr>
        <p:spPr>
          <a:xfrm>
            <a:off x="12755880" y="3108960"/>
            <a:ext cx="4434840" cy="566928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8" name="Rectangle 27"/>
          <p:cNvSpPr/>
          <p:nvPr/>
        </p:nvSpPr>
        <p:spPr>
          <a:xfrm>
            <a:off x="12755880" y="3108960"/>
            <a:ext cx="4434840" cy="50292"/>
          </a:xfrm>
          <a:prstGeom prst="rect">
            <a:avLst/>
          </a:prstGeom>
          <a:solidFill>
            <a:srgbClr val="B26A00"/>
          </a:solidFill>
          <a:ln>
            <a:noFill/>
          </a:ln>
          <a:effectLst/>
        </p:spPr>
        <p:txBody>
          <a:bodyPr rtlCol="0" anchor="ctr"/>
          <a:lstStyle/>
          <a:p>
            <a:pPr algn="ctr"/>
          </a:p>
        </p:txBody>
      </p:sp>
      <p:sp>
        <p:nvSpPr>
          <p:cNvPr id="29" name="TextBox 28"/>
          <p:cNvSpPr txBox="1"/>
          <p:nvPr/>
        </p:nvSpPr>
        <p:spPr>
          <a:xfrm>
            <a:off x="13030200" y="3291840"/>
            <a:ext cx="4023360" cy="320040"/>
          </a:xfrm>
          <a:prstGeom prst="rect">
            <a:avLst/>
          </a:prstGeom>
          <a:noFill/>
        </p:spPr>
        <p:txBody>
          <a:bodyPr wrap="square" lIns="0" rIns="0" tIns="0" bIns="0" anchor="t">
            <a:noAutofit/>
          </a:bodyPr>
          <a:lstStyle/>
          <a:p>
            <a:pPr algn="l">
              <a:lnSpc>
                <a:spcPct val="102000"/>
              </a:lnSpc>
              <a:spcBef>
                <a:spcPts val="0"/>
              </a:spcBef>
              <a:spcAft>
                <a:spcPts val="0"/>
              </a:spcAft>
            </a:pPr>
            <a:r>
              <a:rPr b="1" sz="1700" i="0">
                <a:solidFill>
                  <a:srgbClr val="B26A00"/>
                </a:solidFill>
                <a:latin typeface="Arial"/>
              </a:rPr>
              <a:t>Jour 3</a:t>
            </a:r>
          </a:p>
        </p:txBody>
      </p:sp>
      <p:sp>
        <p:nvSpPr>
          <p:cNvPr id="30" name="TextBox 29"/>
          <p:cNvSpPr txBox="1"/>
          <p:nvPr/>
        </p:nvSpPr>
        <p:spPr>
          <a:xfrm>
            <a:off x="13030200" y="3749039"/>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093544"/>
                </a:solidFill>
                <a:latin typeface="Arial"/>
              </a:rPr>
              <a:t>Tester </a:t>
            </a:r>
            <a:r>
              <a:rPr sz="1125" b="1" i="0">
                <a:solidFill>
                  <a:srgbClr val="ED1548"/>
                </a:solidFill>
                <a:latin typeface="Consolas"/>
              </a:rPr>
              <a:t>score()</a:t>
            </a:r>
            <a:r>
              <a:rPr b="1" sz="1250" i="0">
                <a:solidFill>
                  <a:srgbClr val="093544"/>
                </a:solidFill>
                <a:latin typeface="Arial"/>
              </a:rPr>
              <a:t> ?</a:t>
            </a:r>
          </a:p>
        </p:txBody>
      </p:sp>
      <p:sp>
        <p:nvSpPr>
          <p:cNvPr id="31" name="TextBox 30"/>
          <p:cNvSpPr txBox="1"/>
          <p:nvPr/>
        </p:nvSpPr>
        <p:spPr>
          <a:xfrm>
            <a:off x="13030200" y="4005072"/>
            <a:ext cx="4023360" cy="1051560"/>
          </a:xfrm>
          <a:prstGeom prst="rect">
            <a:avLst/>
          </a:prstGeom>
          <a:noFill/>
        </p:spPr>
        <p:txBody>
          <a:bodyPr wrap="square" lIns="0" rIns="0" tIns="0" bIns="0" anchor="t">
            <a:noAutofit/>
          </a:bodyPr>
          <a:lstStyle/>
          <a:p>
            <a:pPr algn="l">
              <a:lnSpc>
                <a:spcPct val="105000"/>
              </a:lnSpc>
              <a:spcBef>
                <a:spcPts val="0"/>
              </a:spcBef>
              <a:spcAft>
                <a:spcPts val="0"/>
              </a:spcAft>
            </a:pPr>
            <a:r>
              <a:rPr b="0" sz="1250" i="0">
                <a:solidFill>
                  <a:srgbClr val="1B3B47"/>
                </a:solidFill>
                <a:latin typeface="Arial"/>
              </a:rPr>
              <a:t>Fonction pure : test en millisecondes, sans TestBed, cas limites (0,01 €, IBAN, libellé) faciles à énumérer.</a:t>
            </a:r>
          </a:p>
        </p:txBody>
      </p:sp>
      <p:sp>
        <p:nvSpPr>
          <p:cNvPr id="32" name="TextBox 31"/>
          <p:cNvSpPr txBox="1"/>
          <p:nvPr/>
        </p:nvSpPr>
        <p:spPr>
          <a:xfrm>
            <a:off x="13030200" y="5321807"/>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093544"/>
                </a:solidFill>
                <a:latin typeface="Arial"/>
              </a:rPr>
              <a:t>2e PATCH en échec ?</a:t>
            </a:r>
          </a:p>
        </p:txBody>
      </p:sp>
      <p:sp>
        <p:nvSpPr>
          <p:cNvPr id="33" name="TextBox 32"/>
          <p:cNvSpPr txBox="1"/>
          <p:nvPr/>
        </p:nvSpPr>
        <p:spPr>
          <a:xfrm>
            <a:off x="13030200" y="5577840"/>
            <a:ext cx="4023360" cy="1051560"/>
          </a:xfrm>
          <a:prstGeom prst="rect">
            <a:avLst/>
          </a:prstGeom>
          <a:noFill/>
        </p:spPr>
        <p:txBody>
          <a:bodyPr wrap="square" lIns="0" rIns="0" tIns="0" bIns="0" anchor="t">
            <a:noAutofit/>
          </a:bodyPr>
          <a:lstStyle/>
          <a:p>
            <a:pPr algn="l">
              <a:lnSpc>
                <a:spcPct val="105000"/>
              </a:lnSpc>
              <a:spcBef>
                <a:spcPts val="0"/>
              </a:spcBef>
              <a:spcAft>
                <a:spcPts val="0"/>
              </a:spcAft>
            </a:pPr>
            <a:r>
              <a:rPr b="0" sz="1250" i="0">
                <a:solidFill>
                  <a:srgbClr val="1B3B47"/>
                </a:solidFill>
                <a:latin typeface="Arial"/>
              </a:rPr>
              <a:t>Les deux PATCH ne sont pas transactionnels. Prévoir rollback, idempotence ou endpoint métier unique ; ne pas mettre à jour le store avant succès.</a:t>
            </a:r>
          </a:p>
        </p:txBody>
      </p:sp>
      <p:sp>
        <p:nvSpPr>
          <p:cNvPr id="34" name="TextBox 33"/>
          <p:cNvSpPr txBox="1"/>
          <p:nvPr/>
        </p:nvSpPr>
        <p:spPr>
          <a:xfrm>
            <a:off x="13030200" y="6894575"/>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250" i="0">
                <a:solidFill>
                  <a:srgbClr val="093544"/>
                </a:solidFill>
                <a:latin typeface="Arial"/>
              </a:rPr>
              <a:t>Quels E2E ?</a:t>
            </a:r>
          </a:p>
        </p:txBody>
      </p:sp>
      <p:sp>
        <p:nvSpPr>
          <p:cNvPr id="35" name="TextBox 34"/>
          <p:cNvSpPr txBox="1"/>
          <p:nvPr/>
        </p:nvSpPr>
        <p:spPr>
          <a:xfrm>
            <a:off x="13030200" y="7150607"/>
            <a:ext cx="4023360" cy="1051560"/>
          </a:xfrm>
          <a:prstGeom prst="rect">
            <a:avLst/>
          </a:prstGeom>
          <a:noFill/>
        </p:spPr>
        <p:txBody>
          <a:bodyPr wrap="square" lIns="0" rIns="0" tIns="0" bIns="0" anchor="t">
            <a:noAutofit/>
          </a:bodyPr>
          <a:lstStyle/>
          <a:p>
            <a:pPr algn="l">
              <a:lnSpc>
                <a:spcPct val="105000"/>
              </a:lnSpc>
              <a:spcBef>
                <a:spcPts val="0"/>
              </a:spcBef>
              <a:spcAft>
                <a:spcPts val="0"/>
              </a:spcAft>
            </a:pPr>
            <a:r>
              <a:rPr b="0" sz="1250" i="0">
                <a:solidFill>
                  <a:srgbClr val="1B3B47"/>
                </a:solidFill>
                <a:latin typeface="Arial"/>
              </a:rPr>
              <a:t>Les parcours critiques : routeur, lazy, API, rapprochement. Pas chaque règle métier : les tests unitaires le font mieux.</a:t>
            </a:r>
          </a:p>
        </p:txBody>
      </p:sp>
      <p:sp>
        <p:nvSpPr>
          <p:cNvPr id="36" name="Rounded Rectangle 35"/>
          <p:cNvSpPr/>
          <p:nvPr/>
        </p:nvSpPr>
        <p:spPr>
          <a:xfrm>
            <a:off x="2606040" y="8961120"/>
            <a:ext cx="14584680" cy="502920"/>
          </a:xfrm>
          <a:prstGeom prst="roundRect">
            <a:avLst>
              <a:gd name="adj" fmla="val 8000"/>
            </a:avLst>
          </a:prstGeom>
          <a:solidFill>
            <a:srgbClr val="EBF6F8"/>
          </a:solidFill>
          <a:ln>
            <a:noFill/>
          </a:ln>
          <a:effectLst/>
        </p:spPr>
        <p:txBody>
          <a:bodyPr rtlCol="0" anchor="ctr"/>
          <a:lstStyle/>
          <a:p>
            <a:pPr algn="ctr"/>
          </a:p>
        </p:txBody>
      </p:sp>
      <p:sp>
        <p:nvSpPr>
          <p:cNvPr id="37" name="Rectangle 36"/>
          <p:cNvSpPr/>
          <p:nvPr/>
        </p:nvSpPr>
        <p:spPr>
          <a:xfrm>
            <a:off x="2606040" y="8961120"/>
            <a:ext cx="64008" cy="502920"/>
          </a:xfrm>
          <a:prstGeom prst="rect">
            <a:avLst/>
          </a:prstGeom>
          <a:solidFill>
            <a:srgbClr val="0B4F6C"/>
          </a:solidFill>
          <a:ln>
            <a:noFill/>
          </a:ln>
          <a:effectLst/>
        </p:spPr>
        <p:txBody>
          <a:bodyPr rtlCol="0" anchor="ctr"/>
          <a:lstStyle/>
          <a:p>
            <a:pPr algn="ctr"/>
          </a:p>
        </p:txBody>
      </p:sp>
      <p:sp>
        <p:nvSpPr>
          <p:cNvPr id="38" name="TextBox 37"/>
          <p:cNvSpPr txBox="1"/>
          <p:nvPr/>
        </p:nvSpPr>
        <p:spPr>
          <a:xfrm>
            <a:off x="2898648" y="9125712"/>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DISCUSSION</a:t>
            </a:r>
          </a:p>
        </p:txBody>
      </p:sp>
      <p:sp>
        <p:nvSpPr>
          <p:cNvPr id="39" name="TextBox 38"/>
          <p:cNvSpPr txBox="1"/>
          <p:nvPr/>
        </p:nvSpPr>
        <p:spPr>
          <a:xfrm>
            <a:off x="2898648" y="9418320"/>
            <a:ext cx="14173200" cy="-64007"/>
          </a:xfrm>
          <a:prstGeom prst="rect">
            <a:avLst/>
          </a:prstGeom>
          <a:noFill/>
        </p:spPr>
        <p:txBody>
          <a:bodyPr wrap="square" lIns="0" rIns="0" tIns="0" bIns="0" anchor="t">
            <a:noAutofit/>
          </a:bodyPr>
          <a:lstStyle/>
          <a:p>
            <a:pPr algn="l">
              <a:lnSpc>
                <a:spcPct val="106000"/>
              </a:lnSpc>
              <a:spcBef>
                <a:spcPts val="0"/>
              </a:spcBef>
              <a:spcAft>
                <a:spcPts val="0"/>
              </a:spcAft>
            </a:pPr>
            <a:r>
              <a:rPr b="0" sz="1100" i="0">
                <a:solidFill>
                  <a:srgbClr val="1B3B47"/>
                </a:solidFill>
                <a:latin typeface="Arial"/>
              </a:rPr>
              <a:t>Les réponses sont des points de départ, pas des vérités uniques.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06040" y="1225296"/>
            <a:ext cx="1280160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ED1548"/>
                </a:solidFill>
                <a:latin typeface="Arial"/>
              </a:rPr>
              <a:t>RESSOURCES</a:t>
            </a:r>
          </a:p>
        </p:txBody>
      </p:sp>
      <p:sp>
        <p:nvSpPr>
          <p:cNvPr id="3" name="TextBox 2"/>
          <p:cNvSpPr txBox="1"/>
          <p:nvPr/>
        </p:nvSpPr>
        <p:spPr>
          <a:xfrm>
            <a:off x="2606040" y="1609344"/>
            <a:ext cx="14584680" cy="1371600"/>
          </a:xfrm>
          <a:prstGeom prst="rect">
            <a:avLst/>
          </a:prstGeom>
          <a:noFill/>
        </p:spPr>
        <p:txBody>
          <a:bodyPr wrap="square" lIns="0" rIns="0" tIns="0" bIns="0" anchor="t">
            <a:noAutofit/>
          </a:bodyPr>
          <a:lstStyle/>
          <a:p>
            <a:pPr algn="l">
              <a:lnSpc>
                <a:spcPct val="96000"/>
              </a:lnSpc>
              <a:spcBef>
                <a:spcPts val="0"/>
              </a:spcBef>
              <a:spcAft>
                <a:spcPts val="0"/>
              </a:spcAft>
            </a:pPr>
            <a:r>
              <a:rPr b="1" sz="3800" i="0">
                <a:solidFill>
                  <a:srgbClr val="093544"/>
                </a:solidFill>
                <a:latin typeface="Arial"/>
              </a:rPr>
              <a:t>Pour continuer après la formation</a:t>
            </a:r>
          </a:p>
        </p:txBody>
      </p:sp>
      <p:sp>
        <p:nvSpPr>
          <p:cNvPr id="4" name="TextBox 3"/>
          <p:cNvSpPr txBox="1"/>
          <p:nvPr/>
        </p:nvSpPr>
        <p:spPr>
          <a:xfrm>
            <a:off x="2606040" y="2249932"/>
            <a:ext cx="14584680" cy="685800"/>
          </a:xfrm>
          <a:prstGeom prst="rect">
            <a:avLst/>
          </a:prstGeom>
          <a:noFill/>
        </p:spPr>
        <p:txBody>
          <a:bodyPr wrap="square" lIns="0" rIns="0" tIns="0" bIns="0" anchor="t">
            <a:noAutofit/>
          </a:bodyPr>
          <a:lstStyle/>
          <a:p>
            <a:pPr algn="l">
              <a:lnSpc>
                <a:spcPct val="108000"/>
              </a:lnSpc>
              <a:spcBef>
                <a:spcPts val="0"/>
              </a:spcBef>
              <a:spcAft>
                <a:spcPts val="0"/>
              </a:spcAft>
            </a:pPr>
            <a:r>
              <a:rPr b="0" sz="2000" i="0">
                <a:solidFill>
                  <a:srgbClr val="5C6E76"/>
                </a:solidFill>
                <a:latin typeface="Arial"/>
              </a:rPr>
              <a:t>La doc officielle, les outils, et trois pistes pour progresser.</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p>
        </p:txBody>
      </p:sp>
      <p:sp>
        <p:nvSpPr>
          <p:cNvPr id="7" name="TextBox 6"/>
          <p:cNvSpPr txBox="1"/>
          <p:nvPr/>
        </p:nvSpPr>
        <p:spPr>
          <a:xfrm>
            <a:off x="2606040" y="9966960"/>
            <a:ext cx="6400800" cy="22860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rIns="0" tIns="0" bIns="0" anchor="t">
            <a:noAutofit/>
          </a:bodyPr>
          <a:lstStyle/>
          <a:p>
            <a:pPr algn="r">
              <a:lnSpc>
                <a:spcPct val="102000"/>
              </a:lnSpc>
              <a:spcBef>
                <a:spcPts val="0"/>
              </a:spcBef>
              <a:spcAft>
                <a:spcPts val="0"/>
              </a:spcAft>
            </a:pPr>
            <a:r>
              <a:rPr b="1" sz="950" i="0">
                <a:solidFill>
                  <a:srgbClr val="5C6E76"/>
                </a:solidFill>
                <a:latin typeface="Arial"/>
              </a:rPr>
              <a:t>61 / 62</a:t>
            </a:r>
          </a:p>
        </p:txBody>
      </p:sp>
      <p:sp>
        <p:nvSpPr>
          <p:cNvPr id="9" name="Rounded Rectangle 8"/>
          <p:cNvSpPr/>
          <p:nvPr/>
        </p:nvSpPr>
        <p:spPr>
          <a:xfrm>
            <a:off x="2606040" y="3063240"/>
            <a:ext cx="4572000" cy="521208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10" name="Rectangle 9"/>
          <p:cNvSpPr/>
          <p:nvPr/>
        </p:nvSpPr>
        <p:spPr>
          <a:xfrm>
            <a:off x="2606040" y="3063240"/>
            <a:ext cx="4572000" cy="50292"/>
          </a:xfrm>
          <a:prstGeom prst="rect">
            <a:avLst/>
          </a:prstGeom>
          <a:solidFill>
            <a:srgbClr val="0B4F6C"/>
          </a:solidFill>
          <a:ln>
            <a:noFill/>
          </a:ln>
          <a:effectLst/>
        </p:spPr>
        <p:txBody>
          <a:bodyPr rtlCol="0" anchor="ctr"/>
          <a:lstStyle/>
          <a:p>
            <a:pPr algn="ctr"/>
          </a:p>
        </p:txBody>
      </p:sp>
      <p:sp>
        <p:nvSpPr>
          <p:cNvPr id="11" name="TextBox 10"/>
          <p:cNvSpPr txBox="1"/>
          <p:nvPr/>
        </p:nvSpPr>
        <p:spPr>
          <a:xfrm>
            <a:off x="2880360" y="3264408"/>
            <a:ext cx="4023360" cy="320040"/>
          </a:xfrm>
          <a:prstGeom prst="rect">
            <a:avLst/>
          </a:prstGeom>
          <a:noFill/>
        </p:spPr>
        <p:txBody>
          <a:bodyPr wrap="square" lIns="0" rIns="0" tIns="0" bIns="0" anchor="t">
            <a:noAutofit/>
          </a:bodyPr>
          <a:lstStyle/>
          <a:p>
            <a:pPr algn="l">
              <a:lnSpc>
                <a:spcPct val="102000"/>
              </a:lnSpc>
              <a:spcBef>
                <a:spcPts val="0"/>
              </a:spcBef>
              <a:spcAft>
                <a:spcPts val="0"/>
              </a:spcAft>
            </a:pPr>
            <a:r>
              <a:rPr b="1" sz="1700" i="0">
                <a:solidFill>
                  <a:srgbClr val="0B4F6C"/>
                </a:solidFill>
                <a:latin typeface="Arial"/>
              </a:rPr>
              <a:t>Documentation</a:t>
            </a:r>
          </a:p>
        </p:txBody>
      </p:sp>
      <p:sp>
        <p:nvSpPr>
          <p:cNvPr id="12" name="TextBox 11"/>
          <p:cNvSpPr txBox="1"/>
          <p:nvPr/>
        </p:nvSpPr>
        <p:spPr>
          <a:xfrm>
            <a:off x="2880360" y="3794760"/>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093544"/>
                </a:solidFill>
                <a:latin typeface="Arial"/>
              </a:rPr>
              <a:t>angular.dev</a:t>
            </a:r>
          </a:p>
        </p:txBody>
      </p:sp>
      <p:sp>
        <p:nvSpPr>
          <p:cNvPr id="13" name="TextBox 12"/>
          <p:cNvSpPr txBox="1"/>
          <p:nvPr/>
        </p:nvSpPr>
        <p:spPr>
          <a:xfrm>
            <a:off x="2880360" y="4041648"/>
            <a:ext cx="4023360" cy="228600"/>
          </a:xfrm>
          <a:prstGeom prst="rect">
            <a:avLst/>
          </a:prstGeom>
          <a:noFill/>
        </p:spPr>
        <p:txBody>
          <a:bodyPr wrap="square" lIns="0" rIns="0" tIns="0" bIns="0" anchor="t">
            <a:noAutofit/>
          </a:bodyPr>
          <a:lstStyle/>
          <a:p>
            <a:pPr algn="l">
              <a:lnSpc>
                <a:spcPct val="102000"/>
              </a:lnSpc>
              <a:spcBef>
                <a:spcPts val="0"/>
              </a:spcBef>
              <a:spcAft>
                <a:spcPts val="0"/>
              </a:spcAft>
            </a:pPr>
            <a:r>
              <a:rPr b="0" sz="1050" i="0">
                <a:solidFill>
                  <a:srgbClr val="5C6E76"/>
                </a:solidFill>
                <a:latin typeface="Arial"/>
              </a:rPr>
              <a:t>Guide, référence, tutoriels</a:t>
            </a:r>
          </a:p>
        </p:txBody>
      </p:sp>
      <p:sp>
        <p:nvSpPr>
          <p:cNvPr id="14" name="TextBox 13"/>
          <p:cNvSpPr txBox="1"/>
          <p:nvPr/>
        </p:nvSpPr>
        <p:spPr>
          <a:xfrm>
            <a:off x="2880360" y="4270248"/>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0B4F6C"/>
                </a:solidFill>
                <a:latin typeface="Consolas"/>
              </a:rPr>
              <a:t>angular.dev</a:t>
            </a:r>
          </a:p>
        </p:txBody>
      </p:sp>
      <p:sp>
        <p:nvSpPr>
          <p:cNvPr id="15" name="TextBox 14"/>
          <p:cNvSpPr txBox="1"/>
          <p:nvPr/>
        </p:nvSpPr>
        <p:spPr>
          <a:xfrm>
            <a:off x="2880360" y="4873752"/>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093544"/>
                </a:solidFill>
                <a:latin typeface="Arial"/>
              </a:rPr>
              <a:t>Angular CLI</a:t>
            </a:r>
          </a:p>
        </p:txBody>
      </p:sp>
      <p:sp>
        <p:nvSpPr>
          <p:cNvPr id="16" name="TextBox 15"/>
          <p:cNvSpPr txBox="1"/>
          <p:nvPr/>
        </p:nvSpPr>
        <p:spPr>
          <a:xfrm>
            <a:off x="2880360" y="5120640"/>
            <a:ext cx="4023360" cy="228600"/>
          </a:xfrm>
          <a:prstGeom prst="rect">
            <a:avLst/>
          </a:prstGeom>
          <a:noFill/>
        </p:spPr>
        <p:txBody>
          <a:bodyPr wrap="square" lIns="0" rIns="0" tIns="0" bIns="0" anchor="t">
            <a:noAutofit/>
          </a:bodyPr>
          <a:lstStyle/>
          <a:p>
            <a:pPr algn="l">
              <a:lnSpc>
                <a:spcPct val="102000"/>
              </a:lnSpc>
              <a:spcBef>
                <a:spcPts val="0"/>
              </a:spcBef>
              <a:spcAft>
                <a:spcPts val="0"/>
              </a:spcAft>
            </a:pPr>
            <a:r>
              <a:rPr b="0" sz="1050" i="0">
                <a:solidFill>
                  <a:srgbClr val="5C6E76"/>
                </a:solidFill>
                <a:latin typeface="Arial"/>
              </a:rPr>
              <a:t>Toutes les commandes</a:t>
            </a:r>
          </a:p>
        </p:txBody>
      </p:sp>
      <p:sp>
        <p:nvSpPr>
          <p:cNvPr id="17" name="TextBox 16"/>
          <p:cNvSpPr txBox="1"/>
          <p:nvPr/>
        </p:nvSpPr>
        <p:spPr>
          <a:xfrm>
            <a:off x="2880360" y="5349240"/>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0B4F6C"/>
                </a:solidFill>
                <a:latin typeface="Consolas"/>
              </a:rPr>
              <a:t>angular.dev/cli</a:t>
            </a:r>
          </a:p>
        </p:txBody>
      </p:sp>
      <p:sp>
        <p:nvSpPr>
          <p:cNvPr id="18" name="TextBox 17"/>
          <p:cNvSpPr txBox="1"/>
          <p:nvPr/>
        </p:nvSpPr>
        <p:spPr>
          <a:xfrm>
            <a:off x="2880360" y="5952744"/>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093544"/>
                </a:solidFill>
                <a:latin typeface="Arial"/>
              </a:rPr>
              <a:t>Signals</a:t>
            </a:r>
          </a:p>
        </p:txBody>
      </p:sp>
      <p:sp>
        <p:nvSpPr>
          <p:cNvPr id="19" name="TextBox 18"/>
          <p:cNvSpPr txBox="1"/>
          <p:nvPr/>
        </p:nvSpPr>
        <p:spPr>
          <a:xfrm>
            <a:off x="2880360" y="6199631"/>
            <a:ext cx="4023360" cy="228600"/>
          </a:xfrm>
          <a:prstGeom prst="rect">
            <a:avLst/>
          </a:prstGeom>
          <a:noFill/>
        </p:spPr>
        <p:txBody>
          <a:bodyPr wrap="square" lIns="0" rIns="0" tIns="0" bIns="0" anchor="t">
            <a:noAutofit/>
          </a:bodyPr>
          <a:lstStyle/>
          <a:p>
            <a:pPr algn="l">
              <a:lnSpc>
                <a:spcPct val="102000"/>
              </a:lnSpc>
              <a:spcBef>
                <a:spcPts val="0"/>
              </a:spcBef>
              <a:spcAft>
                <a:spcPts val="0"/>
              </a:spcAft>
            </a:pPr>
            <a:r>
              <a:rPr b="0" sz="1050" i="0">
                <a:solidFill>
                  <a:srgbClr val="5C6E76"/>
                </a:solidFill>
                <a:latin typeface="Arial"/>
              </a:rPr>
              <a:t>signal, computed, effect</a:t>
            </a:r>
          </a:p>
        </p:txBody>
      </p:sp>
      <p:sp>
        <p:nvSpPr>
          <p:cNvPr id="20" name="TextBox 19"/>
          <p:cNvSpPr txBox="1"/>
          <p:nvPr/>
        </p:nvSpPr>
        <p:spPr>
          <a:xfrm>
            <a:off x="2880360" y="6428231"/>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0B4F6C"/>
                </a:solidFill>
                <a:latin typeface="Consolas"/>
              </a:rPr>
              <a:t>angular.dev/guide/signals</a:t>
            </a:r>
          </a:p>
        </p:txBody>
      </p:sp>
      <p:sp>
        <p:nvSpPr>
          <p:cNvPr id="21" name="TextBox 20"/>
          <p:cNvSpPr txBox="1"/>
          <p:nvPr/>
        </p:nvSpPr>
        <p:spPr>
          <a:xfrm>
            <a:off x="2880360" y="7031736"/>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093544"/>
                </a:solidFill>
                <a:latin typeface="Arial"/>
              </a:rPr>
              <a:t>Forms</a:t>
            </a:r>
          </a:p>
        </p:txBody>
      </p:sp>
      <p:sp>
        <p:nvSpPr>
          <p:cNvPr id="22" name="TextBox 21"/>
          <p:cNvSpPr txBox="1"/>
          <p:nvPr/>
        </p:nvSpPr>
        <p:spPr>
          <a:xfrm>
            <a:off x="2880360" y="7278624"/>
            <a:ext cx="4023360" cy="228600"/>
          </a:xfrm>
          <a:prstGeom prst="rect">
            <a:avLst/>
          </a:prstGeom>
          <a:noFill/>
        </p:spPr>
        <p:txBody>
          <a:bodyPr wrap="square" lIns="0" rIns="0" tIns="0" bIns="0" anchor="t">
            <a:noAutofit/>
          </a:bodyPr>
          <a:lstStyle/>
          <a:p>
            <a:pPr algn="l">
              <a:lnSpc>
                <a:spcPct val="102000"/>
              </a:lnSpc>
              <a:spcBef>
                <a:spcPts val="0"/>
              </a:spcBef>
              <a:spcAft>
                <a:spcPts val="0"/>
              </a:spcAft>
            </a:pPr>
            <a:r>
              <a:rPr b="0" sz="1050" i="0">
                <a:solidFill>
                  <a:srgbClr val="5C6E76"/>
                </a:solidFill>
                <a:latin typeface="Arial"/>
              </a:rPr>
              <a:t>Reactive et Signal Forms</a:t>
            </a:r>
          </a:p>
        </p:txBody>
      </p:sp>
      <p:sp>
        <p:nvSpPr>
          <p:cNvPr id="23" name="TextBox 22"/>
          <p:cNvSpPr txBox="1"/>
          <p:nvPr/>
        </p:nvSpPr>
        <p:spPr>
          <a:xfrm>
            <a:off x="2880360" y="7507224"/>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0B4F6C"/>
                </a:solidFill>
                <a:latin typeface="Consolas"/>
              </a:rPr>
              <a:t>angular.dev/guide/forms</a:t>
            </a:r>
          </a:p>
        </p:txBody>
      </p:sp>
      <p:sp>
        <p:nvSpPr>
          <p:cNvPr id="24" name="Rounded Rectangle 23"/>
          <p:cNvSpPr/>
          <p:nvPr/>
        </p:nvSpPr>
        <p:spPr>
          <a:xfrm>
            <a:off x="7680960" y="3063240"/>
            <a:ext cx="4572000" cy="521208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25" name="Rectangle 24"/>
          <p:cNvSpPr/>
          <p:nvPr/>
        </p:nvSpPr>
        <p:spPr>
          <a:xfrm>
            <a:off x="7680960" y="3063240"/>
            <a:ext cx="4572000" cy="50292"/>
          </a:xfrm>
          <a:prstGeom prst="rect">
            <a:avLst/>
          </a:prstGeom>
          <a:solidFill>
            <a:srgbClr val="ED1548"/>
          </a:solidFill>
          <a:ln>
            <a:noFill/>
          </a:ln>
          <a:effectLst/>
        </p:spPr>
        <p:txBody>
          <a:bodyPr rtlCol="0" anchor="ctr"/>
          <a:lstStyle/>
          <a:p>
            <a:pPr algn="ctr"/>
          </a:p>
        </p:txBody>
      </p:sp>
      <p:sp>
        <p:nvSpPr>
          <p:cNvPr id="26" name="TextBox 25"/>
          <p:cNvSpPr txBox="1"/>
          <p:nvPr/>
        </p:nvSpPr>
        <p:spPr>
          <a:xfrm>
            <a:off x="7955280" y="3264408"/>
            <a:ext cx="4023360" cy="320040"/>
          </a:xfrm>
          <a:prstGeom prst="rect">
            <a:avLst/>
          </a:prstGeom>
          <a:noFill/>
        </p:spPr>
        <p:txBody>
          <a:bodyPr wrap="square" lIns="0" rIns="0" tIns="0" bIns="0" anchor="t">
            <a:noAutofit/>
          </a:bodyPr>
          <a:lstStyle/>
          <a:p>
            <a:pPr algn="l">
              <a:lnSpc>
                <a:spcPct val="102000"/>
              </a:lnSpc>
              <a:spcBef>
                <a:spcPts val="0"/>
              </a:spcBef>
              <a:spcAft>
                <a:spcPts val="0"/>
              </a:spcAft>
            </a:pPr>
            <a:r>
              <a:rPr b="1" sz="1700" i="0">
                <a:solidFill>
                  <a:srgbClr val="ED1548"/>
                </a:solidFill>
                <a:latin typeface="Arial"/>
              </a:rPr>
              <a:t>Outils</a:t>
            </a:r>
          </a:p>
        </p:txBody>
      </p:sp>
      <p:sp>
        <p:nvSpPr>
          <p:cNvPr id="27" name="TextBox 26"/>
          <p:cNvSpPr txBox="1"/>
          <p:nvPr/>
        </p:nvSpPr>
        <p:spPr>
          <a:xfrm>
            <a:off x="7955280" y="3794760"/>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093544"/>
                </a:solidFill>
                <a:latin typeface="Arial"/>
              </a:rPr>
              <a:t>Vitest</a:t>
            </a:r>
          </a:p>
        </p:txBody>
      </p:sp>
      <p:sp>
        <p:nvSpPr>
          <p:cNvPr id="28" name="TextBox 27"/>
          <p:cNvSpPr txBox="1"/>
          <p:nvPr/>
        </p:nvSpPr>
        <p:spPr>
          <a:xfrm>
            <a:off x="7955280" y="4041648"/>
            <a:ext cx="4023360" cy="228600"/>
          </a:xfrm>
          <a:prstGeom prst="rect">
            <a:avLst/>
          </a:prstGeom>
          <a:noFill/>
        </p:spPr>
        <p:txBody>
          <a:bodyPr wrap="square" lIns="0" rIns="0" tIns="0" bIns="0" anchor="t">
            <a:noAutofit/>
          </a:bodyPr>
          <a:lstStyle/>
          <a:p>
            <a:pPr algn="l">
              <a:lnSpc>
                <a:spcPct val="102000"/>
              </a:lnSpc>
              <a:spcBef>
                <a:spcPts val="0"/>
              </a:spcBef>
              <a:spcAft>
                <a:spcPts val="0"/>
              </a:spcAft>
            </a:pPr>
            <a:r>
              <a:rPr b="0" sz="1050" i="0">
                <a:solidFill>
                  <a:srgbClr val="5C6E76"/>
                </a:solidFill>
                <a:latin typeface="Arial"/>
              </a:rPr>
              <a:t>Tests unitaires</a:t>
            </a:r>
          </a:p>
        </p:txBody>
      </p:sp>
      <p:sp>
        <p:nvSpPr>
          <p:cNvPr id="29" name="TextBox 28"/>
          <p:cNvSpPr txBox="1"/>
          <p:nvPr/>
        </p:nvSpPr>
        <p:spPr>
          <a:xfrm>
            <a:off x="7955280" y="4270248"/>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ED1548"/>
                </a:solidFill>
                <a:latin typeface="Consolas"/>
              </a:rPr>
              <a:t>vitest.dev</a:t>
            </a:r>
          </a:p>
        </p:txBody>
      </p:sp>
      <p:sp>
        <p:nvSpPr>
          <p:cNvPr id="30" name="TextBox 29"/>
          <p:cNvSpPr txBox="1"/>
          <p:nvPr/>
        </p:nvSpPr>
        <p:spPr>
          <a:xfrm>
            <a:off x="7955280" y="4873752"/>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093544"/>
                </a:solidFill>
                <a:latin typeface="Arial"/>
              </a:rPr>
              <a:t>Playwright</a:t>
            </a:r>
          </a:p>
        </p:txBody>
      </p:sp>
      <p:sp>
        <p:nvSpPr>
          <p:cNvPr id="31" name="TextBox 30"/>
          <p:cNvSpPr txBox="1"/>
          <p:nvPr/>
        </p:nvSpPr>
        <p:spPr>
          <a:xfrm>
            <a:off x="7955280" y="5120640"/>
            <a:ext cx="4023360" cy="228600"/>
          </a:xfrm>
          <a:prstGeom prst="rect">
            <a:avLst/>
          </a:prstGeom>
          <a:noFill/>
        </p:spPr>
        <p:txBody>
          <a:bodyPr wrap="square" lIns="0" rIns="0" tIns="0" bIns="0" anchor="t">
            <a:noAutofit/>
          </a:bodyPr>
          <a:lstStyle/>
          <a:p>
            <a:pPr algn="l">
              <a:lnSpc>
                <a:spcPct val="102000"/>
              </a:lnSpc>
              <a:spcBef>
                <a:spcPts val="0"/>
              </a:spcBef>
              <a:spcAft>
                <a:spcPts val="0"/>
              </a:spcAft>
            </a:pPr>
            <a:r>
              <a:rPr b="0" sz="1050" i="0">
                <a:solidFill>
                  <a:srgbClr val="5C6E76"/>
                </a:solidFill>
                <a:latin typeface="Arial"/>
              </a:rPr>
              <a:t>E2E multi-navigateurs</a:t>
            </a:r>
          </a:p>
        </p:txBody>
      </p:sp>
      <p:sp>
        <p:nvSpPr>
          <p:cNvPr id="32" name="TextBox 31"/>
          <p:cNvSpPr txBox="1"/>
          <p:nvPr/>
        </p:nvSpPr>
        <p:spPr>
          <a:xfrm>
            <a:off x="7955280" y="5349240"/>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ED1548"/>
                </a:solidFill>
                <a:latin typeface="Consolas"/>
              </a:rPr>
              <a:t>playwright.dev</a:t>
            </a:r>
          </a:p>
        </p:txBody>
      </p:sp>
      <p:sp>
        <p:nvSpPr>
          <p:cNvPr id="33" name="TextBox 32"/>
          <p:cNvSpPr txBox="1"/>
          <p:nvPr/>
        </p:nvSpPr>
        <p:spPr>
          <a:xfrm>
            <a:off x="7955280" y="5952744"/>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093544"/>
                </a:solidFill>
                <a:latin typeface="Arial"/>
              </a:rPr>
              <a:t>Cypress</a:t>
            </a:r>
          </a:p>
        </p:txBody>
      </p:sp>
      <p:sp>
        <p:nvSpPr>
          <p:cNvPr id="34" name="TextBox 33"/>
          <p:cNvSpPr txBox="1"/>
          <p:nvPr/>
        </p:nvSpPr>
        <p:spPr>
          <a:xfrm>
            <a:off x="7955280" y="6199631"/>
            <a:ext cx="4023360" cy="228600"/>
          </a:xfrm>
          <a:prstGeom prst="rect">
            <a:avLst/>
          </a:prstGeom>
          <a:noFill/>
        </p:spPr>
        <p:txBody>
          <a:bodyPr wrap="square" lIns="0" rIns="0" tIns="0" bIns="0" anchor="t">
            <a:noAutofit/>
          </a:bodyPr>
          <a:lstStyle/>
          <a:p>
            <a:pPr algn="l">
              <a:lnSpc>
                <a:spcPct val="102000"/>
              </a:lnSpc>
              <a:spcBef>
                <a:spcPts val="0"/>
              </a:spcBef>
              <a:spcAft>
                <a:spcPts val="0"/>
              </a:spcAft>
            </a:pPr>
            <a:r>
              <a:rPr b="0" sz="1050" i="0">
                <a:solidFill>
                  <a:srgbClr val="5C6E76"/>
                </a:solidFill>
                <a:latin typeface="Arial"/>
              </a:rPr>
              <a:t>E2E avec runner</a:t>
            </a:r>
          </a:p>
        </p:txBody>
      </p:sp>
      <p:sp>
        <p:nvSpPr>
          <p:cNvPr id="35" name="TextBox 34"/>
          <p:cNvSpPr txBox="1"/>
          <p:nvPr/>
        </p:nvSpPr>
        <p:spPr>
          <a:xfrm>
            <a:off x="7955280" y="6428231"/>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ED1548"/>
                </a:solidFill>
                <a:latin typeface="Consolas"/>
              </a:rPr>
              <a:t>cypress.io</a:t>
            </a:r>
          </a:p>
        </p:txBody>
      </p:sp>
      <p:sp>
        <p:nvSpPr>
          <p:cNvPr id="36" name="TextBox 35"/>
          <p:cNvSpPr txBox="1"/>
          <p:nvPr/>
        </p:nvSpPr>
        <p:spPr>
          <a:xfrm>
            <a:off x="7955280" y="7031736"/>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093544"/>
                </a:solidFill>
                <a:latin typeface="Arial"/>
              </a:rPr>
              <a:t>Compodoc</a:t>
            </a:r>
          </a:p>
        </p:txBody>
      </p:sp>
      <p:sp>
        <p:nvSpPr>
          <p:cNvPr id="37" name="TextBox 36"/>
          <p:cNvSpPr txBox="1"/>
          <p:nvPr/>
        </p:nvSpPr>
        <p:spPr>
          <a:xfrm>
            <a:off x="7955280" y="7278624"/>
            <a:ext cx="4023360" cy="228600"/>
          </a:xfrm>
          <a:prstGeom prst="rect">
            <a:avLst/>
          </a:prstGeom>
          <a:noFill/>
        </p:spPr>
        <p:txBody>
          <a:bodyPr wrap="square" lIns="0" rIns="0" tIns="0" bIns="0" anchor="t">
            <a:noAutofit/>
          </a:bodyPr>
          <a:lstStyle/>
          <a:p>
            <a:pPr algn="l">
              <a:lnSpc>
                <a:spcPct val="102000"/>
              </a:lnSpc>
              <a:spcBef>
                <a:spcPts val="0"/>
              </a:spcBef>
              <a:spcAft>
                <a:spcPts val="0"/>
              </a:spcAft>
            </a:pPr>
            <a:r>
              <a:rPr b="0" sz="1050" i="0">
                <a:solidFill>
                  <a:srgbClr val="5C6E76"/>
                </a:solidFill>
                <a:latin typeface="Arial"/>
              </a:rPr>
              <a:t>Documentation Angular</a:t>
            </a:r>
          </a:p>
        </p:txBody>
      </p:sp>
      <p:sp>
        <p:nvSpPr>
          <p:cNvPr id="38" name="TextBox 37"/>
          <p:cNvSpPr txBox="1"/>
          <p:nvPr/>
        </p:nvSpPr>
        <p:spPr>
          <a:xfrm>
            <a:off x="7955280" y="7507224"/>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ED1548"/>
                </a:solidFill>
                <a:latin typeface="Consolas"/>
              </a:rPr>
              <a:t>compodoc.app</a:t>
            </a:r>
          </a:p>
        </p:txBody>
      </p:sp>
      <p:sp>
        <p:nvSpPr>
          <p:cNvPr id="39" name="Rounded Rectangle 38"/>
          <p:cNvSpPr/>
          <p:nvPr/>
        </p:nvSpPr>
        <p:spPr>
          <a:xfrm>
            <a:off x="12755880" y="3063240"/>
            <a:ext cx="4434840" cy="5212080"/>
          </a:xfrm>
          <a:prstGeom prst="roundRect">
            <a:avLst>
              <a:gd name="adj" fmla="val 8000"/>
            </a:avLst>
          </a:prstGeom>
          <a:solidFill>
            <a:srgbClr val="F5F7F8"/>
          </a:solidFill>
          <a:ln w="9525">
            <a:solidFill>
              <a:srgbClr val="E0E6E8"/>
            </a:solidFill>
          </a:ln>
          <a:effectLst/>
        </p:spPr>
        <p:txBody>
          <a:bodyPr rtlCol="0" anchor="ctr"/>
          <a:lstStyle/>
          <a:p>
            <a:pPr algn="ctr"/>
          </a:p>
        </p:txBody>
      </p:sp>
      <p:sp>
        <p:nvSpPr>
          <p:cNvPr id="40" name="Rectangle 39"/>
          <p:cNvSpPr/>
          <p:nvPr/>
        </p:nvSpPr>
        <p:spPr>
          <a:xfrm>
            <a:off x="12755880" y="3063240"/>
            <a:ext cx="4434840" cy="50292"/>
          </a:xfrm>
          <a:prstGeom prst="rect">
            <a:avLst/>
          </a:prstGeom>
          <a:solidFill>
            <a:srgbClr val="B26A00"/>
          </a:solidFill>
          <a:ln>
            <a:noFill/>
          </a:ln>
          <a:effectLst/>
        </p:spPr>
        <p:txBody>
          <a:bodyPr rtlCol="0" anchor="ctr"/>
          <a:lstStyle/>
          <a:p>
            <a:pPr algn="ctr"/>
          </a:p>
        </p:txBody>
      </p:sp>
      <p:sp>
        <p:nvSpPr>
          <p:cNvPr id="41" name="TextBox 40"/>
          <p:cNvSpPr txBox="1"/>
          <p:nvPr/>
        </p:nvSpPr>
        <p:spPr>
          <a:xfrm>
            <a:off x="13030200" y="3264408"/>
            <a:ext cx="4023360" cy="320040"/>
          </a:xfrm>
          <a:prstGeom prst="rect">
            <a:avLst/>
          </a:prstGeom>
          <a:noFill/>
        </p:spPr>
        <p:txBody>
          <a:bodyPr wrap="square" lIns="0" rIns="0" tIns="0" bIns="0" anchor="t">
            <a:noAutofit/>
          </a:bodyPr>
          <a:lstStyle/>
          <a:p>
            <a:pPr algn="l">
              <a:lnSpc>
                <a:spcPct val="102000"/>
              </a:lnSpc>
              <a:spcBef>
                <a:spcPts val="0"/>
              </a:spcBef>
              <a:spcAft>
                <a:spcPts val="0"/>
              </a:spcAft>
            </a:pPr>
            <a:r>
              <a:rPr b="1" sz="1700" i="0">
                <a:solidFill>
                  <a:srgbClr val="B26A00"/>
                </a:solidFill>
                <a:latin typeface="Arial"/>
              </a:rPr>
              <a:t>Pour aller plus loin</a:t>
            </a:r>
          </a:p>
        </p:txBody>
      </p:sp>
      <p:sp>
        <p:nvSpPr>
          <p:cNvPr id="42" name="TextBox 41"/>
          <p:cNvSpPr txBox="1"/>
          <p:nvPr/>
        </p:nvSpPr>
        <p:spPr>
          <a:xfrm>
            <a:off x="13030200" y="3794760"/>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093544"/>
                </a:solidFill>
                <a:latin typeface="Arial"/>
              </a:rPr>
              <a:t>NgRx SignalStore</a:t>
            </a:r>
          </a:p>
        </p:txBody>
      </p:sp>
      <p:sp>
        <p:nvSpPr>
          <p:cNvPr id="43" name="TextBox 42"/>
          <p:cNvSpPr txBox="1"/>
          <p:nvPr/>
        </p:nvSpPr>
        <p:spPr>
          <a:xfrm>
            <a:off x="13030200" y="4041648"/>
            <a:ext cx="4023360" cy="228600"/>
          </a:xfrm>
          <a:prstGeom prst="rect">
            <a:avLst/>
          </a:prstGeom>
          <a:noFill/>
        </p:spPr>
        <p:txBody>
          <a:bodyPr wrap="square" lIns="0" rIns="0" tIns="0" bIns="0" anchor="t">
            <a:noAutofit/>
          </a:bodyPr>
          <a:lstStyle/>
          <a:p>
            <a:pPr algn="l">
              <a:lnSpc>
                <a:spcPct val="102000"/>
              </a:lnSpc>
              <a:spcBef>
                <a:spcPts val="0"/>
              </a:spcBef>
              <a:spcAft>
                <a:spcPts val="0"/>
              </a:spcAft>
            </a:pPr>
            <a:r>
              <a:rPr b="0" sz="1050" i="0">
                <a:solidFill>
                  <a:srgbClr val="5C6E76"/>
                </a:solidFill>
                <a:latin typeface="Arial"/>
              </a:rPr>
              <a:t>State management</a:t>
            </a:r>
          </a:p>
        </p:txBody>
      </p:sp>
      <p:sp>
        <p:nvSpPr>
          <p:cNvPr id="44" name="TextBox 43"/>
          <p:cNvSpPr txBox="1"/>
          <p:nvPr/>
        </p:nvSpPr>
        <p:spPr>
          <a:xfrm>
            <a:off x="13030200" y="4270248"/>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B26A00"/>
                </a:solidFill>
                <a:latin typeface="Consolas"/>
              </a:rPr>
              <a:t>ngrx.io/guide/signals</a:t>
            </a:r>
          </a:p>
        </p:txBody>
      </p:sp>
      <p:sp>
        <p:nvSpPr>
          <p:cNvPr id="45" name="TextBox 44"/>
          <p:cNvSpPr txBox="1"/>
          <p:nvPr/>
        </p:nvSpPr>
        <p:spPr>
          <a:xfrm>
            <a:off x="13030200" y="4873752"/>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093544"/>
                </a:solidFill>
                <a:latin typeface="Arial"/>
              </a:rPr>
              <a:t>SSR / hydratation</a:t>
            </a:r>
          </a:p>
        </p:txBody>
      </p:sp>
      <p:sp>
        <p:nvSpPr>
          <p:cNvPr id="46" name="TextBox 45"/>
          <p:cNvSpPr txBox="1"/>
          <p:nvPr/>
        </p:nvSpPr>
        <p:spPr>
          <a:xfrm>
            <a:off x="13030200" y="5120640"/>
            <a:ext cx="4023360" cy="228600"/>
          </a:xfrm>
          <a:prstGeom prst="rect">
            <a:avLst/>
          </a:prstGeom>
          <a:noFill/>
        </p:spPr>
        <p:txBody>
          <a:bodyPr wrap="square" lIns="0" rIns="0" tIns="0" bIns="0" anchor="t">
            <a:noAutofit/>
          </a:bodyPr>
          <a:lstStyle/>
          <a:p>
            <a:pPr algn="l">
              <a:lnSpc>
                <a:spcPct val="102000"/>
              </a:lnSpc>
              <a:spcBef>
                <a:spcPts val="0"/>
              </a:spcBef>
              <a:spcAft>
                <a:spcPts val="0"/>
              </a:spcAft>
            </a:pPr>
            <a:r>
              <a:rPr b="0" sz="1050" i="0">
                <a:solidFill>
                  <a:srgbClr val="5C6E76"/>
                </a:solidFill>
                <a:latin typeface="Arial"/>
              </a:rPr>
              <a:t>Rendu serveur</a:t>
            </a:r>
          </a:p>
        </p:txBody>
      </p:sp>
      <p:sp>
        <p:nvSpPr>
          <p:cNvPr id="47" name="TextBox 46"/>
          <p:cNvSpPr txBox="1"/>
          <p:nvPr/>
        </p:nvSpPr>
        <p:spPr>
          <a:xfrm>
            <a:off x="13030200" y="5349240"/>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B26A00"/>
                </a:solidFill>
                <a:latin typeface="Consolas"/>
              </a:rPr>
              <a:t>angular.dev/guide/ssr</a:t>
            </a:r>
          </a:p>
        </p:txBody>
      </p:sp>
      <p:sp>
        <p:nvSpPr>
          <p:cNvPr id="48" name="TextBox 47"/>
          <p:cNvSpPr txBox="1"/>
          <p:nvPr/>
        </p:nvSpPr>
        <p:spPr>
          <a:xfrm>
            <a:off x="13030200" y="5952744"/>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093544"/>
                </a:solidFill>
                <a:latin typeface="Arial"/>
              </a:rPr>
              <a:t>i18n</a:t>
            </a:r>
          </a:p>
        </p:txBody>
      </p:sp>
      <p:sp>
        <p:nvSpPr>
          <p:cNvPr id="49" name="TextBox 48"/>
          <p:cNvSpPr txBox="1"/>
          <p:nvPr/>
        </p:nvSpPr>
        <p:spPr>
          <a:xfrm>
            <a:off x="13030200" y="6199631"/>
            <a:ext cx="4023360" cy="228600"/>
          </a:xfrm>
          <a:prstGeom prst="rect">
            <a:avLst/>
          </a:prstGeom>
          <a:noFill/>
        </p:spPr>
        <p:txBody>
          <a:bodyPr wrap="square" lIns="0" rIns="0" tIns="0" bIns="0" anchor="t">
            <a:noAutofit/>
          </a:bodyPr>
          <a:lstStyle/>
          <a:p>
            <a:pPr algn="l">
              <a:lnSpc>
                <a:spcPct val="102000"/>
              </a:lnSpc>
              <a:spcBef>
                <a:spcPts val="0"/>
              </a:spcBef>
              <a:spcAft>
                <a:spcPts val="0"/>
              </a:spcAft>
            </a:pPr>
            <a:r>
              <a:rPr b="0" sz="1050" i="0">
                <a:solidFill>
                  <a:srgbClr val="5C6E76"/>
                </a:solidFill>
                <a:latin typeface="Arial"/>
              </a:rPr>
              <a:t>Internationalisation</a:t>
            </a:r>
          </a:p>
        </p:txBody>
      </p:sp>
      <p:sp>
        <p:nvSpPr>
          <p:cNvPr id="50" name="TextBox 49"/>
          <p:cNvSpPr txBox="1"/>
          <p:nvPr/>
        </p:nvSpPr>
        <p:spPr>
          <a:xfrm>
            <a:off x="13030200" y="6428231"/>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B26A00"/>
                </a:solidFill>
                <a:latin typeface="Consolas"/>
              </a:rPr>
              <a:t>angular.dev/guide/i18n</a:t>
            </a:r>
          </a:p>
        </p:txBody>
      </p:sp>
      <p:sp>
        <p:nvSpPr>
          <p:cNvPr id="51" name="TextBox 50"/>
          <p:cNvSpPr txBox="1"/>
          <p:nvPr/>
        </p:nvSpPr>
        <p:spPr>
          <a:xfrm>
            <a:off x="13030200" y="7031736"/>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1" sz="1350" i="0">
                <a:solidFill>
                  <a:srgbClr val="093544"/>
                </a:solidFill>
                <a:latin typeface="Arial"/>
              </a:rPr>
              <a:t>json-server</a:t>
            </a:r>
          </a:p>
        </p:txBody>
      </p:sp>
      <p:sp>
        <p:nvSpPr>
          <p:cNvPr id="52" name="TextBox 51"/>
          <p:cNvSpPr txBox="1"/>
          <p:nvPr/>
        </p:nvSpPr>
        <p:spPr>
          <a:xfrm>
            <a:off x="13030200" y="7278624"/>
            <a:ext cx="4023360" cy="228600"/>
          </a:xfrm>
          <a:prstGeom prst="rect">
            <a:avLst/>
          </a:prstGeom>
          <a:noFill/>
        </p:spPr>
        <p:txBody>
          <a:bodyPr wrap="square" lIns="0" rIns="0" tIns="0" bIns="0" anchor="t">
            <a:noAutofit/>
          </a:bodyPr>
          <a:lstStyle/>
          <a:p>
            <a:pPr algn="l">
              <a:lnSpc>
                <a:spcPct val="102000"/>
              </a:lnSpc>
              <a:spcBef>
                <a:spcPts val="0"/>
              </a:spcBef>
              <a:spcAft>
                <a:spcPts val="0"/>
              </a:spcAft>
            </a:pPr>
            <a:r>
              <a:rPr b="0" sz="1050" i="0">
                <a:solidFill>
                  <a:srgbClr val="5C6E76"/>
                </a:solidFill>
                <a:latin typeface="Arial"/>
              </a:rPr>
              <a:t>Backend de TP</a:t>
            </a:r>
          </a:p>
        </p:txBody>
      </p:sp>
      <p:sp>
        <p:nvSpPr>
          <p:cNvPr id="53" name="TextBox 52"/>
          <p:cNvSpPr txBox="1"/>
          <p:nvPr/>
        </p:nvSpPr>
        <p:spPr>
          <a:xfrm>
            <a:off x="13030200" y="7507224"/>
            <a:ext cx="4023360" cy="274320"/>
          </a:xfrm>
          <a:prstGeom prst="rect">
            <a:avLst/>
          </a:prstGeom>
          <a:noFill/>
        </p:spPr>
        <p:txBody>
          <a:bodyPr wrap="square" lIns="0" rIns="0" tIns="0" bIns="0" anchor="t">
            <a:noAutofit/>
          </a:bodyPr>
          <a:lstStyle/>
          <a:p>
            <a:pPr algn="l">
              <a:lnSpc>
                <a:spcPct val="102000"/>
              </a:lnSpc>
              <a:spcBef>
                <a:spcPts val="0"/>
              </a:spcBef>
              <a:spcAft>
                <a:spcPts val="0"/>
              </a:spcAft>
            </a:pPr>
            <a:r>
              <a:rPr b="0" sz="950" i="0">
                <a:solidFill>
                  <a:srgbClr val="B26A00"/>
                </a:solidFill>
                <a:latin typeface="Consolas"/>
              </a:rPr>
              <a:t>github.com/typicode/json-server</a:t>
            </a:r>
          </a:p>
        </p:txBody>
      </p:sp>
      <p:sp>
        <p:nvSpPr>
          <p:cNvPr id="54" name="Rounded Rectangle 53"/>
          <p:cNvSpPr/>
          <p:nvPr/>
        </p:nvSpPr>
        <p:spPr>
          <a:xfrm>
            <a:off x="2606040" y="8503920"/>
            <a:ext cx="14584680" cy="822960"/>
          </a:xfrm>
          <a:prstGeom prst="roundRect">
            <a:avLst>
              <a:gd name="adj" fmla="val 8000"/>
            </a:avLst>
          </a:prstGeom>
          <a:solidFill>
            <a:srgbClr val="EBF6F8"/>
          </a:solidFill>
          <a:ln>
            <a:noFill/>
          </a:ln>
          <a:effectLst/>
        </p:spPr>
        <p:txBody>
          <a:bodyPr rtlCol="0" anchor="ctr"/>
          <a:lstStyle/>
          <a:p>
            <a:pPr algn="ctr"/>
          </a:p>
        </p:txBody>
      </p:sp>
      <p:sp>
        <p:nvSpPr>
          <p:cNvPr id="55" name="Rectangle 54"/>
          <p:cNvSpPr/>
          <p:nvPr/>
        </p:nvSpPr>
        <p:spPr>
          <a:xfrm>
            <a:off x="2606040" y="8503920"/>
            <a:ext cx="64008" cy="822960"/>
          </a:xfrm>
          <a:prstGeom prst="rect">
            <a:avLst/>
          </a:prstGeom>
          <a:solidFill>
            <a:srgbClr val="0B4F6C"/>
          </a:solidFill>
          <a:ln>
            <a:noFill/>
          </a:ln>
          <a:effectLst/>
        </p:spPr>
        <p:txBody>
          <a:bodyPr rtlCol="0" anchor="ctr"/>
          <a:lstStyle/>
          <a:p>
            <a:pPr algn="ctr"/>
          </a:p>
        </p:txBody>
      </p:sp>
      <p:sp>
        <p:nvSpPr>
          <p:cNvPr id="56" name="TextBox 55"/>
          <p:cNvSpPr txBox="1"/>
          <p:nvPr/>
        </p:nvSpPr>
        <p:spPr>
          <a:xfrm>
            <a:off x="2898648" y="8668512"/>
            <a:ext cx="14218920" cy="274320"/>
          </a:xfrm>
          <a:prstGeom prst="rect">
            <a:avLst/>
          </a:prstGeom>
          <a:noFill/>
        </p:spPr>
        <p:txBody>
          <a:bodyPr wrap="square" lIns="0" rIns="0" tIns="0" bIns="0" anchor="t">
            <a:noAutofit/>
          </a:bodyPr>
          <a:lstStyle/>
          <a:p>
            <a:pPr algn="l">
              <a:lnSpc>
                <a:spcPct val="102000"/>
              </a:lnSpc>
              <a:spcBef>
                <a:spcPts val="0"/>
              </a:spcBef>
              <a:spcAft>
                <a:spcPts val="0"/>
              </a:spcAft>
            </a:pPr>
            <a:r>
              <a:rPr b="1" sz="1200" i="0">
                <a:solidFill>
                  <a:srgbClr val="0B4F6C"/>
                </a:solidFill>
                <a:latin typeface="Arial"/>
              </a:rPr>
              <a:t>LE MEILLEUR PROCHAIN PAS</a:t>
            </a:r>
          </a:p>
        </p:txBody>
      </p:sp>
      <p:sp>
        <p:nvSpPr>
          <p:cNvPr id="57" name="TextBox 56"/>
          <p:cNvSpPr txBox="1"/>
          <p:nvPr/>
        </p:nvSpPr>
        <p:spPr>
          <a:xfrm>
            <a:off x="2898648" y="8961120"/>
            <a:ext cx="14173200" cy="256032"/>
          </a:xfrm>
          <a:prstGeom prst="rect">
            <a:avLst/>
          </a:prstGeom>
          <a:noFill/>
        </p:spPr>
        <p:txBody>
          <a:bodyPr wrap="square" lIns="0" rIns="0" tIns="0" bIns="0" anchor="t">
            <a:noAutofit/>
          </a:bodyPr>
          <a:lstStyle/>
          <a:p>
            <a:pPr algn="l">
              <a:lnSpc>
                <a:spcPct val="106000"/>
              </a:lnSpc>
              <a:spcBef>
                <a:spcPts val="0"/>
              </a:spcBef>
              <a:spcAft>
                <a:spcPts val="0"/>
              </a:spcAft>
            </a:pPr>
            <a:r>
              <a:rPr b="0" sz="1300" i="0">
                <a:solidFill>
                  <a:srgbClr val="1B3B47"/>
                </a:solidFill>
                <a:latin typeface="Arial"/>
              </a:rPr>
              <a:t>Refaire le parcours sans le support, puis ajouter une fonctionnalité absente des TPs. C'est là que l'apprentissage se fixe.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a:xfrm>
            <a:off x="832104" y="6080760"/>
            <a:ext cx="14538960" cy="1051560"/>
          </a:xfrm>
        </p:spPr>
        <p:txBody>
          <a:bodyPr wrap="square"/>
          <a:lstStyle/>
          <a:p>
            <a:pPr algn="l"/>
            <a:r>
              <a:rPr sz="4800" b="1">
                <a:solidFill>
                  <a:srgbClr val="FFFFFF"/>
                </a:solidFill>
                <a:latin typeface="Arial"/>
              </a:rPr>
              <a:t>Merci de votre attention !</a:t>
            </a:r>
          </a:p>
        </p:txBody>
      </p:sp>
      <p:sp>
        <p:nvSpPr>
          <p:cNvPr id="3" name="TextBox 2"/>
          <p:cNvSpPr txBox="1"/>
          <p:nvPr/>
        </p:nvSpPr>
        <p:spPr>
          <a:xfrm>
            <a:off x="868680" y="7178040"/>
            <a:ext cx="13716000" cy="365760"/>
          </a:xfrm>
          <a:prstGeom prst="rect">
            <a:avLst/>
          </a:prstGeom>
          <a:noFill/>
        </p:spPr>
        <p:txBody>
          <a:bodyPr wrap="square" lIns="0" rIns="0" tIns="0" bIns="0" anchor="t">
            <a:noAutofit/>
          </a:bodyPr>
          <a:lstStyle/>
          <a:p>
            <a:pPr algn="l">
              <a:lnSpc>
                <a:spcPct val="102000"/>
              </a:lnSpc>
              <a:spcBef>
                <a:spcPts val="0"/>
              </a:spcBef>
              <a:spcAft>
                <a:spcPts val="0"/>
              </a:spcAft>
            </a:pPr>
            <a:r>
              <a:rPr b="0" sz="2200" i="0">
                <a:solidFill>
                  <a:srgbClr val="F6D7DE"/>
                </a:solidFill>
                <a:latin typeface="Arial"/>
              </a:rPr>
              <a:t>Le support reste votre référence.</a:t>
            </a:r>
          </a:p>
        </p:txBody>
      </p:sp>
      <p:sp>
        <p:nvSpPr>
          <p:cNvPr id="4" name="TextBox 3"/>
          <p:cNvSpPr txBox="1"/>
          <p:nvPr/>
        </p:nvSpPr>
        <p:spPr>
          <a:xfrm>
            <a:off x="868680" y="7818120"/>
            <a:ext cx="14173200" cy="822960"/>
          </a:xfrm>
          <a:prstGeom prst="rect">
            <a:avLst/>
          </a:prstGeom>
          <a:noFill/>
        </p:spPr>
        <p:txBody>
          <a:bodyPr wrap="square" lIns="0" rIns="0" tIns="0" bIns="0" anchor="t">
            <a:noAutofit/>
          </a:bodyPr>
          <a:lstStyle/>
          <a:p>
            <a:pPr algn="l">
              <a:lnSpc>
                <a:spcPct val="110000"/>
              </a:lnSpc>
              <a:spcBef>
                <a:spcPts val="0"/>
              </a:spcBef>
              <a:spcAft>
                <a:spcPts val="0"/>
              </a:spcAft>
            </a:pPr>
            <a:r>
              <a:rPr b="0" sz="1500" i="0">
                <a:solidFill>
                  <a:srgbClr val="FFFFFF"/>
                </a:solidFill>
                <a:latin typeface="Arial"/>
              </a:rPr>
              <a:t>À vous de jouer : relisez le mémo, refaites le parcours, explorez Signal Forms et les resources.</a:t>
            </a:r>
          </a:p>
        </p:txBody>
      </p:sp>
    </p:spTree>
  </p:cSld>
  <p:clrMapOvr>
    <a:masterClrMapping/>
  </p:clrMapOvr>
</p:sld>
</file>

<file path=ppt/theme/theme1.xml><?xml version="1.0" encoding="utf-8"?>
<a:theme xmlns:a="http://schemas.openxmlformats.org/drawingml/2006/main" name="Thème Office">
  <a:themeElements>
    <a:clrScheme name="Couleurs Aelion">
      <a:dk1>
        <a:srgbClr val="093544"/>
      </a:dk1>
      <a:lt1>
        <a:sysClr val="window" lastClr="FFFFFF"/>
      </a:lt1>
      <a:dk2>
        <a:srgbClr val="0B4F6C"/>
      </a:dk2>
      <a:lt2>
        <a:srgbClr val="EAEAEA"/>
      </a:lt2>
      <a:accent1>
        <a:srgbClr val="0B4F6C"/>
      </a:accent1>
      <a:accent2>
        <a:srgbClr val="ED1548"/>
      </a:accent2>
      <a:accent3>
        <a:srgbClr val="EAEAEA"/>
      </a:accent3>
      <a:accent4>
        <a:srgbClr val="0B4F6C"/>
      </a:accent4>
      <a:accent5>
        <a:srgbClr val="4BACC6"/>
      </a:accent5>
      <a:accent6>
        <a:srgbClr val="093544"/>
      </a:accent6>
      <a:hlink>
        <a:srgbClr val="FFFFFF"/>
      </a:hlink>
      <a:folHlink>
        <a:srgbClr val="ED1548"/>
      </a:folHlink>
    </a:clrScheme>
    <a:fontScheme name="Personnalisé 3">
      <a:majorFont>
        <a:latin typeface="Manrope"/>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odèle PPT Formateur" id="{85CB15FB-3A6D-486A-8820-AAB1D7F9E6B6}" vid="{2826A780-9A71-4365-84EF-FC05B8077D9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162</TotalTime>
  <Words>0</Words>
  <Application>Microsoft Office PowerPoint</Application>
  <PresentationFormat>Personnalisé</PresentationFormat>
  <Paragraphs>0</Paragraphs>
  <Slides>15</Slides>
  <Notes>0</Notes>
  <HiddenSlides>0</HiddenSlides>
  <MMClips>0</MMClips>
  <ScaleCrop>false</ScaleCrop>
  <HeadingPairs>
    <vt:vector size="4" baseType="variant">
      <vt:variant>
        <vt:lpstr>Thème</vt:lpstr>
      </vt:variant>
      <vt:variant>
        <vt:i4>1</vt:i4>
      </vt:variant>
      <vt:variant>
        <vt:lpstr>Titres des diapositives</vt:lpstr>
      </vt:variant>
      <vt:variant>
        <vt:i4>15</vt:i4>
      </vt:variant>
    </vt:vector>
  </HeadingPairs>
  <TitlesOfParts>
    <vt:vector size="16" baseType="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Formation Angular 22.2 — Support apprenant</dc:title>
  <dc:creator>AELION</dc:creator>
  <cp:lastModifiedBy>AELION</cp:lastModifiedBy>
  <cp:revision>6</cp:revision>
  <dcterms:created xsi:type="dcterms:W3CDTF">2025-11-21T12:03:41Z</dcterms:created>
  <dcterms:modified xsi:type="dcterms:W3CDTF">2025-11-21T14:46:18Z</dcterms:modified>
  <dc:subject>Du premier écran au rapprochement de factures — 3 jours, 21 heures</dc:subject>
  <cp:keywords>Angular 22, CLI, signals, standalone, Vitest, Reactive Forms, json-server, formation</cp:keywords>
  <cp:category>Formation</cp:category>
  <dc:description>Support de révision apprenant construit à partir des fiches JOUR-1/2/3 et du modèle AELION.</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2025-02-07T00:00:00Z</vt:filetime>
  </property>
  <property fmtid="{D5CDD505-2E9C-101B-9397-08002B2CF9AE}" pid="3" name="Creator">
    <vt:lpwstr>Adobe Illustrator 29.1 (Macintosh)</vt:lpwstr>
  </property>
  <property fmtid="{D5CDD505-2E9C-101B-9397-08002B2CF9AE}" pid="4" name="CreatorVersion">
    <vt:lpwstr>21.0.0</vt:lpwstr>
  </property>
  <property fmtid="{D5CDD505-2E9C-101B-9397-08002B2CF9AE}" pid="5" name="LastSaved">
    <vt:filetime>2025-08-20T00:00:00Z</vt:filetime>
  </property>
  <property fmtid="{D5CDD505-2E9C-101B-9397-08002B2CF9AE}" pid="6" name="Producer">
    <vt:lpwstr>Adobe PDF library 17.00</vt:lpwstr>
  </property>
</Properties>
</file>